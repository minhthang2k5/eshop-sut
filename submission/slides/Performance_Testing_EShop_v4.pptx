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86.xml" ContentType="application/vnd.openxmlformats-officedocument.presentationml.notesSlide+xml"/>
  <Override PartName="/ppt/notesSlides/notesSlide83.xml" ContentType="application/vnd.openxmlformats-officedocument.presentationml.notesSlide+xml"/>
  <Override PartName="/ppt/notesSlides/notesSlide82.xml" ContentType="application/vnd.openxmlformats-officedocument.presentationml.notesSlide+xml"/>
  <Override PartName="/ppt/notesSlides/notesSlide80.xml" ContentType="application/vnd.openxmlformats-officedocument.presentationml.notesSlide+xml"/>
  <Override PartName="/ppt/notesSlides/notesSlide85.xml" ContentType="application/vnd.openxmlformats-officedocument.presentationml.notesSlide+xml"/>
  <Override PartName="/ppt/notesSlides/notesSlide79.xml" ContentType="application/vnd.openxmlformats-officedocument.presentationml.notesSlide+xml"/>
  <Override PartName="/ppt/notesSlides/notesSlide77.xml" ContentType="application/vnd.openxmlformats-officedocument.presentationml.notesSlide+xml"/>
  <Override PartName="/ppt/notesSlides/notesSlide71.xml" ContentType="application/vnd.openxmlformats-officedocument.presentationml.notesSlide+xml"/>
  <Override PartName="/ppt/notesSlides/notesSlide69.xml" ContentType="application/vnd.openxmlformats-officedocument.presentationml.notesSlide+xml"/>
  <Override PartName="/ppt/notesSlides/notesSlide66.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7.xml" ContentType="application/vnd.openxmlformats-officedocument.presentationml.notesSlide+xml"/>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62.xml" ContentType="application/vnd.openxmlformats-officedocument.presentationml.notesSlide+xml"/>
  <Override PartName="/ppt/notesSlides/notesSlide35.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74.xml" ContentType="application/vnd.openxmlformats-officedocument.presentationml.notesSlide+xml"/>
  <Override PartName="/ppt/notesSlides/notesSlide28.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3.xml" ContentType="application/vnd.openxmlformats-officedocument.presentationml.notesSlide+xml"/>
  <Override PartName="/ppt/notesSlides/notesSlide67.xml" ContentType="application/vnd.openxmlformats-officedocument.presentationml.notesSlide+xml"/>
  <Override PartName="/ppt/notesSlides/notesSlide21.xml" ContentType="application/vnd.openxmlformats-officedocument.presentationml.notesSlide+xml"/>
  <Override PartName="/ppt/notesSlides/notesSlide76.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68.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84.xml" ContentType="application/vnd.openxmlformats-officedocument.presentationml.notes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55.xml" ContentType="application/vnd.openxmlformats-officedocument.presentationml.notesSlide+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notesSlides/notesSlide72.xml" ContentType="application/vnd.openxmlformats-officedocument.presentationml.notesSlide+xml"/>
  <Override PartName="/ppt/notesSlides/notesSlide61.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s/slide86.xml" ContentType="application/vnd.openxmlformats-officedocument.presentationml.slide+xml"/>
  <Override PartName="/ppt/slides/slide84.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notesSlides/notesSlide40.xml" ContentType="application/vnd.openxmlformats-officedocument.presentationml.notesSlide+xml"/>
  <Override PartName="/ppt/slides/slide56.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56.xml" ContentType="application/vnd.openxmlformats-officedocument.presentationml.notesSlide+xml"/>
  <Override PartName="/ppt/notesSlides/notesSlide22.xml" ContentType="application/vnd.openxmlformats-officedocument.presentationml.notesSlide+xml"/>
  <Override PartName="/ppt/handoutMasters/handoutMaster1.xml" ContentType="application/vnd.openxmlformats-officedocument.presentationml.handoutMaster+xml"/>
  <Override PartName="/ppt/slides/slide16.xml" ContentType="application/vnd.openxmlformats-officedocument.presentationml.slide+xml"/>
  <Override PartName="/ppt/slides/slide15.xml" ContentType="application/vnd.openxmlformats-officedocument.presentationml.slide+xml"/>
  <Override PartName="/ppt/slides/slide29.xml" ContentType="application/vnd.openxmlformats-officedocument.presentationml.slide+xml"/>
  <Override PartName="/ppt/notesSlides/notesSlide12.xml" ContentType="application/vnd.openxmlformats-officedocument.presentationml.notesSlide+xml"/>
  <Override PartName="/ppt/slides/slide11.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15.xml" ContentType="application/vnd.openxmlformats-officedocument.presentationml.notesSlide+xml"/>
  <Override PartName="/ppt/slides/slide13.xml" ContentType="application/vnd.openxmlformats-officedocument.presentationml.slide+xml"/>
  <Override PartName="/ppt/slides/slide6.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slides/slide10.xml" ContentType="application/vnd.openxmlformats-officedocument.presentationml.slide+xml"/>
  <Override PartName="/ppt/theme/theme3.xml" ContentType="application/vnd.openxmlformats-officedocument.theme+xml"/>
  <Override PartName="/ppt/notesSlides/notesSlide49.xml" ContentType="application/vnd.openxmlformats-officedocument.presentationml.notesSlide+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docProps/core.xml" ContentType="application/vnd.openxmlformats-package.core-properties+xml"/>
  <Override PartName="/ppt/slides/slide2.xml" ContentType="application/vnd.openxmlformats-officedocument.presentationml.slide+xml"/>
  <Override PartName="/ppt/theme/theme1.xml" ContentType="application/vnd.openxmlformats-officedocument.theme+xml"/>
  <Override PartName="/ppt/notesSlides/notesSlide53.xml" ContentType="application/vnd.openxmlformats-officedocument.presentationml.notesSlide+xml"/>
  <Override PartName="/ppt/slides/slide3.xml" ContentType="application/vnd.openxmlformats-officedocument.presentationml.slide+xml"/>
  <Override PartName="/ppt/viewProps.xml" ContentType="application/vnd.openxmlformats-officedocument.presentationml.viewProps+xml"/>
  <Override PartName="/ppt/slides/slide17.xml" ContentType="application/vnd.openxmlformats-officedocument.presentationml.slide+xml"/>
  <Override PartName="/ppt/notesSlides/notesSlide70.xml" ContentType="application/vnd.openxmlformats-officedocument.presentationml.notesSlide+xml"/>
  <Override PartName="/ppt/slides/slide58.xml" ContentType="application/vnd.openxmlformats-officedocument.presentationml.slide+xml"/>
  <Override PartName="/ppt/slides/slide85.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68.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27.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slides/slide61.xml" ContentType="application/vnd.openxmlformats-officedocument.presentationml.slide+xml"/>
  <Override PartName="/ppt/slideLayouts/slideLayout1.xml" ContentType="application/vnd.openxmlformats-officedocument.presentationml.slideLayout+xml"/>
  <Override PartName="/ppt/slides/slide65.xml" ContentType="application/vnd.openxmlformats-officedocument.presentationml.slide+xml"/>
  <Override PartName="/ppt/slides/slide72.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18.xml" ContentType="application/vnd.openxmlformats-officedocument.presentationml.slide+xml"/>
  <Override PartName="/ppt/slides/slide69.xml" ContentType="application/vnd.openxmlformats-officedocument.presentationml.slide+xml"/>
  <Override PartName="/ppt/slides/slide77.xml" ContentType="application/vnd.openxmlformats-officedocument.presentationml.slide+xml"/>
  <Override PartName="/ppt/notesSlides/notesSlide75.xml" ContentType="application/vnd.openxmlformats-officedocument.presentationml.notesSlide+xml"/>
  <Override PartName="/ppt/slides/slide31.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81.xml" ContentType="application/vnd.openxmlformats-officedocument.presentationml.notesSlide+xml"/>
  <Override PartName="/ppt/notesSlides/notesSlide10.xml" ContentType="application/vnd.openxmlformats-officedocument.presentationml.notesSlide+xml"/>
  <Override PartName="/ppt/slides/slide49.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71.xml" ContentType="application/vnd.openxmlformats-officedocument.presentationml.slide+xml"/>
  <Override PartName="/ppt/slides/slide39.xml" ContentType="application/vnd.openxmlformats-officedocument.presentationml.slide+xml"/>
  <Override PartName="/ppt/slides/slide33.xml" ContentType="application/vnd.openxmlformats-officedocument.presentationml.slide+xml"/>
  <Override PartName="/ppt/slides/slide63.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notesSlides/notesSlide73.xml" ContentType="application/vnd.openxmlformats-officedocument.presentationml.notesSlide+xml"/>
  <Override PartName="/ppt/notesSlides/notesSlide48.xml" ContentType="application/vnd.openxmlformats-officedocument.presentationml.notesSlide+xml"/>
  <Override PartName="/ppt/slides/slide45.xml" ContentType="application/vnd.openxmlformats-officedocument.presentationml.slide+xml"/>
  <Override PartName="/ppt/slides/slide53.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notesSlides/notesSlide65.xml" ContentType="application/vnd.openxmlformats-officedocument.presentationml.notesSlide+xml"/>
  <Override PartName="/ppt/notesSlides/notesSlide44.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slides/slide9.xml" ContentType="application/vnd.openxmlformats-officedocument.presentationml.slide+xml"/>
  <Override PartName="/ppt/slides/slide50.xml" ContentType="application/vnd.openxmlformats-officedocument.presentationml.slide+xml"/>
  <Override PartName="/ppt/slides/slide8.xml" ContentType="application/vnd.openxmlformats-officedocument.presentationml.slide+xml"/>
  <Override PartName="/ppt/slides/slide51.xml" ContentType="application/vnd.openxmlformats-officedocument.presentationml.slide+xml"/>
  <Override PartName="/ppt/notesSlides/notesSlide34.xml" ContentType="application/vnd.openxmlformats-officedocument.presentationml.notesSlide+xml"/>
  <Override PartName="/ppt/slides/slide57.xml" ContentType="application/vnd.openxmlformats-officedocument.presentationml.slide+xml"/>
  <Override PartName="/ppt/notesMasters/notesMaster1.xml" ContentType="application/vnd.openxmlformats-officedocument.presentationml.notesMaster+xml"/>
  <Override PartName="/ppt/slides/slide52.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Layouts/slideLayout3.xml" ContentType="application/vnd.openxmlformats-officedocument.presentationml.slideLayout+xml"/>
  <Override PartName="/ppt/slides/slide62.xml" ContentType="application/vnd.openxmlformats-officedocument.presentationml.slide+xml"/>
  <Override PartName="/ppt/notesSlides/notesSlide78.xml" ContentType="application/vnd.openxmlformats-officedocument.presentationml.notesSlide+xml"/>
  <Override PartName="/ppt/slides/slide64.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43.xml" ContentType="application/vnd.openxmlformats-officedocument.presentationml.slide+xml"/>
  <Override PartName="/ppt/slides/slide70.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s/slide73.xml" ContentType="application/vnd.openxmlformats-officedocument.presentationml.slide+xml"/>
  <Override PartName="/ppt/slides/slide75.xml" ContentType="application/vnd.openxmlformats-officedocument.presentationml.slide+xml"/>
  <Override PartName="/ppt/slides/slide54.xml" ContentType="application/vnd.openxmlformats-officedocument.presentationml.slide+xml"/>
  <Override PartName="/ppt/slides/slide76.xml" ContentType="application/vnd.openxmlformats-officedocument.presentationml.slide+xml"/>
  <Override PartName="/ppt/slides/slide78.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91"/>
  </p:notesMasterIdLst>
  <p:handoutMasterIdLst>
    <p:handoutMasterId r:id="rId92"/>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0" d="6"/>
          <a:sy n="0" d="2"/>
        </p:scale>
        <p:origin x="1025838160" y="0"/>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theme" Target="theme/theme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notesMaster" Target="notesMasters/notesMaster1.xml"/><Relationship Id="rId92" Type="http://schemas.openxmlformats.org/officeDocument/2006/relationships/handoutMaster" Target="handoutMasters/handoutMaster1.xml"/><Relationship Id="rId93" Type="http://schemas.openxmlformats.org/officeDocument/2006/relationships/presProps" Target="presProps.xml" /><Relationship Id="rId94" Type="http://schemas.openxmlformats.org/officeDocument/2006/relationships/tableStyles" Target="tableStyles.xml" /><Relationship Id="rId95"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38662973" name="Header Placeholder 1"/>
          <p:cNvSpPr>
            <a:spLocks noGrp="1"/>
          </p:cNvSpPr>
          <p:nvPr>
            <p:ph type="hdr" sz="quarter"/>
          </p:nvPr>
        </p:nvSpPr>
        <p:spPr bwMode="auto">
          <a:xfrm>
            <a:off x="0" y="0"/>
            <a:ext cx="2971800" cy="458786"/>
          </a:xfrm>
          <a:prstGeom prst="rect">
            <a:avLst/>
          </a:prstGeom>
        </p:spPr>
        <p:txBody>
          <a:bodyPr vert="horz" lIns="91440" tIns="45720" rIns="91440" bIns="45720" anchor="t"/>
          <a:lstStyle>
            <a:lvl1pPr algn="l">
              <a:defRPr sz="1200"/>
            </a:lvl1pPr>
          </a:lstStyle>
          <a:p>
            <a:pPr>
              <a:defRPr/>
            </a:pPr>
            <a:endParaRPr/>
          </a:p>
        </p:txBody>
      </p:sp>
      <p:sp>
        <p:nvSpPr>
          <p:cNvPr id="1005826062" name="Date Placeholder 2"/>
          <p:cNvSpPr>
            <a:spLocks noGrp="1"/>
          </p:cNvSpPr>
          <p:nvPr>
            <p:ph type="dt" idx="3"/>
          </p:nvPr>
        </p:nvSpPr>
        <p:spPr bwMode="auto">
          <a:xfrm>
            <a:off x="3886200" y="0"/>
            <a:ext cx="2971800" cy="458786"/>
          </a:xfrm>
          <a:prstGeom prst="rect">
            <a:avLst/>
          </a:prstGeom>
        </p:spPr>
        <p:txBody>
          <a:bodyPr vert="horz" lIns="91440" tIns="45720" rIns="91440" bIns="45720" anchor="t"/>
          <a:lstStyle>
            <a:lvl1pPr algn="r">
              <a:defRPr sz="1200"/>
            </a:lvl1pPr>
          </a:lstStyle>
          <a:p>
            <a:pPr>
              <a:defRPr/>
            </a:pPr>
            <a:fld id="{DE1D688D-9CCB-FD76-0A55-6BE4235A802A}" type="datetimeFigureOut">
              <a:rPr lang="en-US"/>
              <a:t/>
            </a:fld>
            <a:endParaRPr/>
          </a:p>
        </p:txBody>
      </p:sp>
      <p:sp>
        <p:nvSpPr>
          <p:cNvPr id="1703725630" name="Footer Placeholder 3"/>
          <p:cNvSpPr>
            <a:spLocks noGrp="1"/>
          </p:cNvSpPr>
          <p:nvPr>
            <p:ph type="ftr" sz="quarter" idx="2"/>
          </p:nvPr>
        </p:nvSpPr>
        <p:spPr bwMode="auto">
          <a:xfrm>
            <a:off x="0" y="8685213"/>
            <a:ext cx="2971800" cy="458786"/>
          </a:xfrm>
          <a:prstGeom prst="rect">
            <a:avLst/>
          </a:prstGeom>
        </p:spPr>
        <p:txBody>
          <a:bodyPr vert="horz" lIns="91440" tIns="45720" rIns="91440" bIns="45720" anchor="b"/>
          <a:lstStyle>
            <a:lvl1pPr algn="l">
              <a:defRPr sz="1200"/>
            </a:lvl1pPr>
          </a:lstStyle>
          <a:p>
            <a:pPr>
              <a:defRPr/>
            </a:pPr>
            <a:endParaRPr/>
          </a:p>
        </p:txBody>
      </p:sp>
      <p:sp>
        <p:nvSpPr>
          <p:cNvPr id="1233816204"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6528C3C8-2FC8-F0E9-7C8F-4BDF437BCF38}"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10477827" name="Header Placeholder"/>
          <p:cNvSpPr/>
          <p:nvPr>
            <p:ph type="hdr" sz="quarter"/>
          </p:nvPr>
        </p:nvSpPr>
        <p:spPr bwMode="auto">
          <a:prstGeom prst="rect">
            <a:avLst/>
          </a:prstGeom>
        </p:spPr>
        <p:txBody>
          <a:bodyPr/>
          <a:lstStyle/>
          <a:p>
            <a:pPr>
              <a:defRPr/>
            </a:pPr>
            <a:endParaRPr/>
          </a:p>
        </p:txBody>
      </p:sp>
      <p:sp>
        <p:nvSpPr>
          <p:cNvPr id="1236247937" name="Date Placeholder"/>
          <p:cNvSpPr/>
          <p:nvPr>
            <p:ph type="dt" sz="quarter" idx="1"/>
          </p:nvPr>
        </p:nvSpPr>
        <p:spPr bwMode="auto">
          <a:prstGeom prst="rect">
            <a:avLst/>
          </a:prstGeom>
        </p:spPr>
        <p:txBody>
          <a:bodyPr/>
          <a:lstStyle/>
          <a:p>
            <a:pPr>
              <a:defRPr/>
            </a:pPr>
            <a:endParaRPr/>
          </a:p>
        </p:txBody>
      </p:sp>
      <p:sp>
        <p:nvSpPr>
          <p:cNvPr id="2132129465" name="Slide Image Placeholder"/>
          <p:cNvSpPr/>
          <p:nvPr>
            <p:ph type="sldImg" idx="2"/>
          </p:nvPr>
        </p:nvSpPr>
        <p:spPr bwMode="auto">
          <a:prstGeom prst="rect">
            <a:avLst/>
          </a:prstGeom>
        </p:spPr>
        <p:txBody>
          <a:bodyPr/>
          <a:lstStyle/>
          <a:p>
            <a:pPr>
              <a:defRPr/>
            </a:pPr>
            <a:endParaRPr/>
          </a:p>
        </p:txBody>
      </p:sp>
      <p:sp>
        <p:nvSpPr>
          <p:cNvPr id="648421373" name="Notes Placeholder"/>
          <p:cNvSpPr/>
          <p:nvPr>
            <p:ph type="body" sz="quarter" idx="3"/>
          </p:nvPr>
        </p:nvSpPr>
        <p:spPr bwMode="auto">
          <a:prstGeom prst="rect">
            <a:avLst/>
          </a:prstGeom>
        </p:spPr>
        <p:txBody>
          <a:bodyPr/>
          <a:lstStyle/>
          <a:p>
            <a:pPr>
              <a:defRPr/>
            </a:pPr>
            <a:endParaRPr/>
          </a:p>
        </p:txBody>
      </p:sp>
      <p:sp>
        <p:nvSpPr>
          <p:cNvPr id="1820805410" name="Footer Placeholder"/>
          <p:cNvSpPr/>
          <p:nvPr>
            <p:ph type="ftr" sz="quarter" idx="4"/>
          </p:nvPr>
        </p:nvSpPr>
        <p:spPr bwMode="auto">
          <a:prstGeom prst="rect">
            <a:avLst/>
          </a:prstGeom>
        </p:spPr>
        <p:txBody>
          <a:bodyPr/>
          <a:lstStyle/>
          <a:p>
            <a:pPr>
              <a:defRPr/>
            </a:pPr>
            <a:endParaRPr/>
          </a:p>
        </p:txBody>
      </p:sp>
      <p:sp>
        <p:nvSpPr>
          <p:cNvPr id="1606032870"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97964891" name="Slide Image Placeholder 1"/>
          <p:cNvSpPr>
            <a:spLocks noGrp="1"/>
          </p:cNvSpPr>
          <p:nvPr>
            <p:ph type="sldImg" idx="0"/>
          </p:nvPr>
        </p:nvSpPr>
        <p:spPr bwMode="auto"/>
      </p:sp>
      <p:sp>
        <p:nvSpPr>
          <p:cNvPr id="927757277" name="Notes Placeholder 2"/>
          <p:cNvSpPr>
            <a:spLocks noGrp="1"/>
          </p:cNvSpPr>
          <p:nvPr>
            <p:ph type="body" idx="1"/>
          </p:nvPr>
        </p:nvSpPr>
        <p:spPr bwMode="auto"/>
        <p:txBody>
          <a:bodyPr/>
          <a:lstStyle/>
          <a:p>
            <a:pPr>
              <a:buNone/>
              <a:defRPr/>
            </a:pPr>
            <a:r>
              <a:rPr/>
              <a:t>Giới thiệu case study EShop và ba hướng thực hành của nhóm. Phạm vi chính là API testing, không đánh đồng API response time với tốc độ render giao diện.</a:t>
            </a:r>
            <a:endParaRPr/>
          </a:p>
          <a:p>
            <a:pPr>
              <a:buNone/>
              <a:defRPr/>
            </a:pPr>
            <a:endParaRPr/>
          </a:p>
          <a:p>
            <a:pPr>
              <a:buNone/>
              <a:defRPr/>
            </a:pPr>
            <a:r>
              <a:rPr/>
              <a:t>Nguồn:</a:t>
            </a:r>
            <a:endParaRPr/>
          </a:p>
          <a:p>
            <a:pPr>
              <a:buNone/>
              <a:defRPr/>
            </a:pPr>
            <a:r>
              <a:rPr/>
              <a:t>https://github.com/minhthang2k5/eshop-sut/blob/main/docs/requirement.txt</a:t>
            </a:r>
            <a:endParaRPr/>
          </a:p>
        </p:txBody>
      </p:sp>
      <p:sp>
        <p:nvSpPr>
          <p:cNvPr id="129709033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24127512" name="Slide Image Placeholder 1"/>
          <p:cNvSpPr>
            <a:spLocks noGrp="1"/>
          </p:cNvSpPr>
          <p:nvPr>
            <p:ph type="sldImg" idx="0"/>
          </p:nvPr>
        </p:nvSpPr>
        <p:spPr bwMode="auto"/>
      </p:sp>
      <p:sp>
        <p:nvSpPr>
          <p:cNvPr id="187380765" name="Notes Placeholder 2"/>
          <p:cNvSpPr>
            <a:spLocks noGrp="1"/>
          </p:cNvSpPr>
          <p:nvPr>
            <p:ph type="body" idx="1"/>
          </p:nvPr>
        </p:nvSpPr>
        <p:spPr bwMode="auto"/>
        <p:txBody>
          <a:bodyPr/>
          <a:lstStyle/>
          <a:p>
            <a:pPr>
              <a:buNone/>
              <a:defRPr/>
            </a:pPr>
            <a:r>
              <a:rPr/>
              <a:t>Phân công theo báo cáo và Jira. Các thành viên chịu trách nhiệm rà soát phần chuyên môn của mình.</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p:txBody>
      </p:sp>
      <p:sp>
        <p:nvSpPr>
          <p:cNvPr id="64921056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03477921" name="Slide Image Placeholder 1"/>
          <p:cNvSpPr>
            <a:spLocks noGrp="1"/>
          </p:cNvSpPr>
          <p:nvPr>
            <p:ph type="sldImg" idx="0"/>
          </p:nvPr>
        </p:nvSpPr>
        <p:spPr bwMode="auto"/>
      </p:sp>
      <p:sp>
        <p:nvSpPr>
          <p:cNvPr id="823608666" name="Notes Placeholder 2"/>
          <p:cNvSpPr>
            <a:spLocks noGrp="1"/>
          </p:cNvSpPr>
          <p:nvPr>
            <p:ph type="body" idx="1"/>
          </p:nvPr>
        </p:nvSpPr>
        <p:spPr bwMode="auto"/>
        <p:txBody>
          <a:bodyPr/>
          <a:lstStyle/>
          <a:p>
            <a:pPr>
              <a:buNone/>
              <a:defRPr/>
            </a:pPr>
            <a:r>
              <a:rPr/>
              <a:t>Ba video đặt sau khối lý thuyết và hướng dẫn tương ứng, trước phần diễn giải kết quả. Mỗi video có ba chương để đáp ứng yêu cầu cài đặt, cơ bản và luồng phức tạp.</a:t>
            </a:r>
            <a:endParaRPr/>
          </a:p>
          <a:p>
            <a:pPr>
              <a:buNone/>
              <a:defRPr/>
            </a:pPr>
            <a:endParaRPr/>
          </a:p>
          <a:p>
            <a:pPr>
              <a:buNone/>
              <a:defRPr/>
            </a:pPr>
            <a:r>
              <a:rPr/>
              <a:t>Nguồn:</a:t>
            </a:r>
            <a:endParaRPr/>
          </a:p>
          <a:p>
            <a:pPr>
              <a:buNone/>
              <a:defRPr/>
            </a:pPr>
            <a:r>
              <a:rPr/>
              <a:t>https://github.com/minhthang2k5/eshop-sut/blob/main/docs/requirement.txt</a:t>
            </a:r>
            <a:endParaRPr/>
          </a:p>
        </p:txBody>
      </p:sp>
      <p:sp>
        <p:nvSpPr>
          <p:cNvPr id="68451761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34093734" name="Slide Image Placeholder 1"/>
          <p:cNvSpPr>
            <a:spLocks noGrp="1"/>
          </p:cNvSpPr>
          <p:nvPr>
            <p:ph type="sldImg" idx="0"/>
          </p:nvPr>
        </p:nvSpPr>
        <p:spPr bwMode="auto"/>
      </p:sp>
      <p:sp>
        <p:nvSpPr>
          <p:cNvPr id="1537665265" name="Notes Placeholder 2"/>
          <p:cNvSpPr>
            <a:spLocks noGrp="1"/>
          </p:cNvSpPr>
          <p:nvPr>
            <p:ph type="body" idx="1"/>
          </p:nvPr>
        </p:nvSpPr>
        <p:spPr bwMode="auto"/>
        <p:txBody>
          <a:bodyPr/>
          <a:lstStyle/>
          <a:p>
            <a:pPr>
              <a:buNone/>
              <a:defRPr/>
            </a:pPr>
            <a:r>
              <a:rPr/>
              <a:t>SUT phải chạy trước smoke. Web audit không tự thay thế backend EShop.</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https://github.com/minhthang2k5/eshop-sut/tree/main/test-web-performance</a:t>
            </a:r>
            <a:endParaRPr/>
          </a:p>
        </p:txBody>
      </p:sp>
      <p:sp>
        <p:nvSpPr>
          <p:cNvPr id="6859416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53754303" name="Slide Image Placeholder 1"/>
          <p:cNvSpPr>
            <a:spLocks noGrp="1"/>
          </p:cNvSpPr>
          <p:nvPr>
            <p:ph type="sldImg" idx="0"/>
          </p:nvPr>
        </p:nvSpPr>
        <p:spPr bwMode="auto"/>
      </p:sp>
      <p:sp>
        <p:nvSpPr>
          <p:cNvPr id="1212994498" name="Notes Placeholder 2"/>
          <p:cNvSpPr>
            <a:spLocks noGrp="1"/>
          </p:cNvSpPr>
          <p:nvPr>
            <p:ph type="body" idx="1"/>
          </p:nvPr>
        </p:nvSpPr>
        <p:spPr bwMode="auto"/>
        <p:txBody>
          <a:bodyPr/>
          <a:lstStyle/>
          <a:p>
            <a:pPr>
              <a:buNone/>
              <a:defRPr/>
            </a:pPr>
            <a:r>
              <a:rPr/>
              <a:t>Web audit/JMeter dùng Login, Search, Detail, Checkout. K6 của A có Cart. Hai phạm vi cần giữ riêng. Token cần nằm trong Authorization: Bearer khi API yêu cầu.</a:t>
            </a:r>
            <a:endParaRPr/>
          </a:p>
          <a:p>
            <a:pPr>
              <a:buNone/>
              <a:defRPr/>
            </a:pPr>
            <a:endParaRPr/>
          </a:p>
          <a:p>
            <a:pPr>
              <a:buNone/>
              <a:defRPr/>
            </a:pPr>
            <a:r>
              <a:rPr/>
              <a:t>Nguồn:</a:t>
            </a:r>
            <a:endParaRPr/>
          </a:p>
          <a:p>
            <a:pPr>
              <a:buNone/>
              <a:defRPr/>
            </a:pPr>
            <a:r>
              <a:rPr/>
              <a:t>https://github.com/minhthang2k5/eshop-sut/blob/main/api_specification.md</a:t>
            </a:r>
            <a:endParaRPr/>
          </a:p>
          <a:p>
            <a:pPr>
              <a:buNone/>
              <a:defRPr/>
            </a:pPr>
            <a:r>
              <a:rPr/>
              <a:t>https://github.com/minhthang2k5/eshop-sut/blob/main/performance/k6/README.md</a:t>
            </a:r>
            <a:endParaRPr/>
          </a:p>
          <a:p>
            <a:pPr>
              <a:buNone/>
              <a:defRPr/>
            </a:pPr>
            <a:r>
              <a:rPr/>
              <a:t>https://github.com/minhthang2k5/eshop-sut/blob/main/performance/jmeter/README.md</a:t>
            </a:r>
            <a:endParaRPr/>
          </a:p>
          <a:p>
            <a:pPr>
              <a:buNone/>
              <a:defRPr/>
            </a:pPr>
            <a:r>
              <a:rPr/>
              <a:t>https://jmeter.apache.org/usermanual/index.html</a:t>
            </a:r>
            <a:endParaRPr/>
          </a:p>
        </p:txBody>
      </p:sp>
      <p:sp>
        <p:nvSpPr>
          <p:cNvPr id="56215616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6272676" name="Slide Image Placeholder 1"/>
          <p:cNvSpPr>
            <a:spLocks noGrp="1"/>
          </p:cNvSpPr>
          <p:nvPr>
            <p:ph type="sldImg" idx="0"/>
          </p:nvPr>
        </p:nvSpPr>
        <p:spPr bwMode="auto"/>
      </p:sp>
      <p:sp>
        <p:nvSpPr>
          <p:cNvPr id="1719125556" name="Notes Placeholder 2"/>
          <p:cNvSpPr>
            <a:spLocks noGrp="1"/>
          </p:cNvSpPr>
          <p:nvPr>
            <p:ph type="body" idx="1"/>
          </p:nvPr>
        </p:nvSpPr>
        <p:spPr bwMode="auto"/>
        <p:txBody>
          <a:bodyPr/>
          <a:lstStyle/>
          <a:p>
            <a:pPr>
              <a:buNone/>
              <a:defRPr/>
            </a:pPr>
            <a:r>
              <a:rPr/>
              <a:t>Cần kiểm tra tính đúng trước khi sử dụng số đo hiệu năng. Một response 200 có thể vẫn thiếu dữ liệu bắt buộc.</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https://grafana.com/docs/k6/latest/using-k6/metrics/</a:t>
            </a:r>
            <a:endParaRPr/>
          </a:p>
          <a:p>
            <a:pPr>
              <a:buNone/>
              <a:defRPr/>
            </a:pPr>
            <a:r>
              <a:rPr/>
              <a:t>https://grafana.com/docs/k6/latest/using-k6/checks/</a:t>
            </a:r>
            <a:endParaRPr/>
          </a:p>
          <a:p>
            <a:pPr>
              <a:buNone/>
              <a:defRPr/>
            </a:pPr>
            <a:r>
              <a:rPr/>
              <a:t>https://grafana.com/docs/k6/latest/using-k6/thresholds/</a:t>
            </a:r>
            <a:endParaRPr/>
          </a:p>
        </p:txBody>
      </p:sp>
      <p:sp>
        <p:nvSpPr>
          <p:cNvPr id="14968014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11644304" name="Slide Image Placeholder 1"/>
          <p:cNvSpPr>
            <a:spLocks noGrp="1"/>
          </p:cNvSpPr>
          <p:nvPr>
            <p:ph type="sldImg" idx="0"/>
          </p:nvPr>
        </p:nvSpPr>
        <p:spPr bwMode="auto"/>
      </p:sp>
      <p:sp>
        <p:nvSpPr>
          <p:cNvPr id="364674425" name="Notes Placeholder 2"/>
          <p:cNvSpPr>
            <a:spLocks noGrp="1"/>
          </p:cNvSpPr>
          <p:nvPr>
            <p:ph type="body" idx="1"/>
          </p:nvPr>
        </p:nvSpPr>
        <p:spPr bwMode="auto"/>
        <p:txBody>
          <a:bodyPr/>
          <a:lstStyle/>
          <a:p>
            <a:pPr>
              <a:buNone/>
              <a:defRPr/>
            </a:pPr>
            <a:r>
              <a:rPr/>
              <a:t>Các số trên là ví dụ giảng giải, không phải số đo của nhóm. Performance testing đánh giá tốc độ, khả năng đáp ứng và ổn định khi tải thay đổi. Cần đọc CPU/RAM/I/O, log DB và mức tải thực phát để xác định bottleneck. Việc tăng VU mà RPS không tăng chỉ là dấu hiệu cần điều tra, chưa chứng minh DB là nguyên nhân.</a:t>
            </a:r>
            <a:endParaRPr/>
          </a:p>
          <a:p>
            <a:pPr>
              <a:buNone/>
              <a:defRPr/>
            </a:pPr>
            <a:endParaRPr/>
          </a:p>
          <a:p>
            <a:pPr>
              <a:buNone/>
              <a:defRPr/>
            </a:pPr>
            <a:r>
              <a:rPr/>
              <a:t>Nguồn:</a:t>
            </a:r>
            <a:endParaRPr/>
          </a:p>
          <a:p>
            <a:pPr>
              <a:buNone/>
              <a:defRPr/>
            </a:pPr>
            <a:r>
              <a:rPr/>
              <a:t>https://sre.google/sre-book/service-level-objectives/</a:t>
            </a:r>
            <a:endParaRPr/>
          </a:p>
          <a:p>
            <a:pPr>
              <a:buNone/>
              <a:defRPr/>
            </a:pPr>
            <a:r>
              <a:rPr/>
              <a:t>https://grafana.com/docs/k6/latest/testing-guides/test-types/</a:t>
            </a:r>
            <a:endParaRPr/>
          </a:p>
        </p:txBody>
      </p:sp>
      <p:sp>
        <p:nvSpPr>
          <p:cNvPr id="131015022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87447956" name="Slide Image Placeholder 1"/>
          <p:cNvSpPr>
            <a:spLocks noGrp="1"/>
          </p:cNvSpPr>
          <p:nvPr>
            <p:ph type="sldImg" idx="0"/>
          </p:nvPr>
        </p:nvSpPr>
        <p:spPr bwMode="auto"/>
      </p:sp>
      <p:sp>
        <p:nvSpPr>
          <p:cNvPr id="1482142558" name="Notes Placeholder 2"/>
          <p:cNvSpPr>
            <a:spLocks noGrp="1"/>
          </p:cNvSpPr>
          <p:nvPr>
            <p:ph type="body" idx="1"/>
          </p:nvPr>
        </p:nvSpPr>
        <p:spPr bwMode="auto"/>
        <p:txBody>
          <a:bodyPr/>
          <a:lstStyle/>
          <a:p>
            <a:pPr>
              <a:buNone/>
              <a:defRPr/>
            </a:pPr>
            <a:r>
              <a:rPr/>
              <a:t>Baseline là số liệu mốc dưới profile xác định, không mặc định một số VU cho mọi hệ thống. Smoke không thay thế stress hoặc soak.</a:t>
            </a:r>
            <a:endParaRPr/>
          </a:p>
          <a:p>
            <a:pPr>
              <a:buNone/>
              <a:defRPr/>
            </a:pPr>
            <a:endParaRPr/>
          </a:p>
          <a:p>
            <a:pPr>
              <a:buNone/>
              <a:defRPr/>
            </a:pPr>
            <a:r>
              <a:rPr/>
              <a:t>Nguồn:</a:t>
            </a:r>
            <a:endParaRPr/>
          </a:p>
          <a:p>
            <a:pPr>
              <a:buNone/>
              <a:defRPr/>
            </a:pPr>
            <a:r>
              <a:rPr/>
              <a:t>https://grafana.com/docs/k6/latest/testing-guides/test-types/</a:t>
            </a:r>
            <a:endParaRPr/>
          </a:p>
        </p:txBody>
      </p:sp>
      <p:sp>
        <p:nvSpPr>
          <p:cNvPr id="185146146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264840214" name="Slide Image Placeholder 1"/>
          <p:cNvSpPr>
            <a:spLocks noGrp="1"/>
          </p:cNvSpPr>
          <p:nvPr>
            <p:ph type="sldImg" idx="0"/>
          </p:nvPr>
        </p:nvSpPr>
        <p:spPr bwMode="auto"/>
      </p:sp>
      <p:sp>
        <p:nvSpPr>
          <p:cNvPr id="1092415870" name="Notes Placeholder 2"/>
          <p:cNvSpPr>
            <a:spLocks noGrp="1"/>
          </p:cNvSpPr>
          <p:nvPr>
            <p:ph type="body" idx="1"/>
          </p:nvPr>
        </p:nvSpPr>
        <p:spPr bwMode="auto"/>
        <p:txBody>
          <a:bodyPr/>
          <a:lstStyle/>
          <a:p>
            <a:pPr>
              <a:buNone/>
              <a:defRPr/>
            </a:pPr>
            <a:r>
              <a:rPr/>
              <a:t>Phân loại lỗi là hướng điều tra, không phải kết luận nguyên nhân duy nhất. Lỗi kết nối có thể đến từ host, port, container hoặc môi trường mạng. HTTP lỗi có thể xuất phát từ dữ liệu, quyền hoặc backend. Lỗi JavaScript có thể làm iteration dừng trước nghiệp vụ. Bộ đánh giá cần giữ log để giải thích vì sao fail.</a:t>
            </a:r>
            <a:endParaRPr/>
          </a:p>
          <a:p>
            <a:pPr>
              <a:buNone/>
              <a:defRPr/>
            </a:pPr>
            <a:endParaRPr/>
          </a:p>
          <a:p>
            <a:pPr>
              <a:buNone/>
              <a:defRPr/>
            </a:pPr>
            <a:r>
              <a:rPr/>
              <a:t>Nguồn:</a:t>
            </a:r>
            <a:endParaRPr/>
          </a:p>
          <a:p>
            <a:pPr>
              <a:buNone/>
              <a:defRPr/>
            </a:pPr>
            <a:r>
              <a:rPr/>
              <a:t>https://grafana.com/docs/k6/latest/testing-guides/test-types/smoke-testing/</a:t>
            </a:r>
            <a:endParaRPr/>
          </a:p>
          <a:p>
            <a:pPr>
              <a:buNone/>
              <a:defRPr/>
            </a:pPr>
            <a:r>
              <a:rPr/>
              <a:t>https://github.com/minhthang2k5/eshop-sut/tree/main/test-web-performance</a:t>
            </a:r>
            <a:endParaRPr/>
          </a:p>
        </p:txBody>
      </p:sp>
      <p:sp>
        <p:nvSpPr>
          <p:cNvPr id="19874806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95808297" name="Slide Image Placeholder 1"/>
          <p:cNvSpPr>
            <a:spLocks noGrp="1"/>
          </p:cNvSpPr>
          <p:nvPr>
            <p:ph type="sldImg" idx="0"/>
          </p:nvPr>
        </p:nvSpPr>
        <p:spPr bwMode="auto"/>
      </p:sp>
      <p:sp>
        <p:nvSpPr>
          <p:cNvPr id="1440011178" name="Notes Placeholder 2"/>
          <p:cNvSpPr>
            <a:spLocks noGrp="1"/>
          </p:cNvSpPr>
          <p:nvPr>
            <p:ph type="body" idx="1"/>
          </p:nvPr>
        </p:nvSpPr>
        <p:spPr bwMode="auto"/>
        <p:txBody>
          <a:bodyPr/>
          <a:lstStyle/>
          <a:p>
            <a:pPr>
              <a:buNone/>
              <a:defRPr/>
            </a:pPr>
            <a:r>
              <a:rPr/>
              <a:t>Ở hai script AI, một iteration thực hiện login rồi chọn một action. Smoke 1 VU, 1 iteration thường chỉ có hai request. VU HTTP không tự mở cửa sổ trình duyệt.</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https://grafana.com/docs/k6/latest/using-k6/metrics/</a:t>
            </a:r>
            <a:endParaRPr/>
          </a:p>
          <a:p>
            <a:pPr>
              <a:buNone/>
              <a:defRPr/>
            </a:pPr>
            <a:r>
              <a:rPr/>
              <a:t>https://grafana.com/docs/k6/latest/using-k6/checks/</a:t>
            </a:r>
            <a:endParaRPr/>
          </a:p>
          <a:p>
            <a:pPr>
              <a:buNone/>
              <a:defRPr/>
            </a:pPr>
            <a:r>
              <a:rPr/>
              <a:t>https://grafana.com/docs/k6/latest/using-k6/thresholds/</a:t>
            </a:r>
            <a:endParaRPr/>
          </a:p>
        </p:txBody>
      </p:sp>
      <p:sp>
        <p:nvSpPr>
          <p:cNvPr id="14893378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20243944" name="Slide Image Placeholder 1"/>
          <p:cNvSpPr>
            <a:spLocks noGrp="1"/>
          </p:cNvSpPr>
          <p:nvPr>
            <p:ph type="sldImg" idx="0"/>
          </p:nvPr>
        </p:nvSpPr>
        <p:spPr bwMode="auto"/>
      </p:sp>
      <p:sp>
        <p:nvSpPr>
          <p:cNvPr id="965537053" name="Notes Placeholder 2"/>
          <p:cNvSpPr>
            <a:spLocks noGrp="1"/>
          </p:cNvSpPr>
          <p:nvPr>
            <p:ph type="body" idx="1"/>
          </p:nvPr>
        </p:nvSpPr>
        <p:spPr bwMode="auto"/>
        <p:txBody>
          <a:bodyPr/>
          <a:lstStyle/>
          <a:p>
            <a:pPr>
              <a:buNone/>
              <a:defRPr/>
            </a:pPr>
            <a:r>
              <a:rPr/>
              <a:t>Đây là phép tính minh họa closed model, không phải số liệu EShop. 50 VU không có nghĩa 50 request đang gửi cùng lúc. VU có thể đang nghĩ hoặc chờ response. 20 RPS trong ví dụ bằng 10 iteration/s nhân 2 request/iteration. Nếu có login bổ sung, retry, request song song hoặc thời gian biến thiên thì phải tính lại.</a:t>
            </a:r>
            <a:endParaRPr/>
          </a:p>
          <a:p>
            <a:pPr>
              <a:buNone/>
              <a:defRPr/>
            </a:pPr>
            <a:endParaRPr/>
          </a:p>
          <a:p>
            <a:pPr>
              <a:buNone/>
              <a:defRPr/>
            </a:pPr>
            <a:r>
              <a:rPr/>
              <a:t>Nguồn:</a:t>
            </a:r>
            <a:endParaRPr/>
          </a:p>
          <a:p>
            <a:pPr>
              <a:buNone/>
              <a:defRPr/>
            </a:pPr>
            <a:r>
              <a:rPr/>
              <a:t>https://grafana.com/docs/k6/latest/using-k6/scenarios/concepts/open-vs-closed/</a:t>
            </a:r>
            <a:endParaRPr/>
          </a:p>
          <a:p>
            <a:pPr>
              <a:buNone/>
              <a:defRPr/>
            </a:pPr>
            <a:r>
              <a:rPr/>
              <a:t>https://grafana.com/docs/k6/latest/using-k6/metrics/reference/</a:t>
            </a:r>
            <a:endParaRPr/>
          </a:p>
        </p:txBody>
      </p:sp>
      <p:sp>
        <p:nvSpPr>
          <p:cNvPr id="64922394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18958151" name="Slide Image Placeholder 1"/>
          <p:cNvSpPr>
            <a:spLocks noGrp="1"/>
          </p:cNvSpPr>
          <p:nvPr>
            <p:ph type="sldImg" idx="0"/>
          </p:nvPr>
        </p:nvSpPr>
        <p:spPr bwMode="auto"/>
      </p:sp>
      <p:sp>
        <p:nvSpPr>
          <p:cNvPr id="960613649" name="Notes Placeholder 2"/>
          <p:cNvSpPr>
            <a:spLocks noGrp="1"/>
          </p:cNvSpPr>
          <p:nvPr>
            <p:ph type="body" idx="1"/>
          </p:nvPr>
        </p:nvSpPr>
        <p:spPr bwMode="auto"/>
        <p:txBody>
          <a:bodyPr/>
          <a:lstStyle/>
          <a:p>
            <a:pPr>
              <a:buNone/>
              <a:defRPr/>
            </a:pPr>
            <a:r>
              <a:rPr/>
              <a:t>Tỷ lệ là xác suất chọn action, không phải tỷ lệ tất cả HTTP request. Login tạo lưu lượng bổ sung. Cần nhiều iteration mới quan sát được phân phối. Không đồng nhất các workload trong phép so sánh.</a:t>
            </a:r>
            <a:endParaRPr/>
          </a:p>
          <a:p>
            <a:pPr>
              <a:buNone/>
              <a:defRPr/>
            </a:pPr>
            <a:endParaRPr/>
          </a:p>
          <a:p>
            <a:pPr>
              <a:buNone/>
              <a:defRPr/>
            </a:pPr>
            <a:r>
              <a:rPr/>
              <a:t>Nguồn:</a:t>
            </a:r>
            <a:endParaRPr/>
          </a:p>
          <a:p>
            <a:pPr>
              <a:buNone/>
              <a:defRPr/>
            </a:pPr>
            <a:r>
              <a:rPr/>
              <a:t>https://github.com/minhthang2k5/eshop-sut/blob/main/performance/k6/README.md</a:t>
            </a:r>
            <a:endParaRPr/>
          </a:p>
          <a:p>
            <a:pPr>
              <a:buNone/>
              <a:defRPr/>
            </a:pPr>
            <a:r>
              <a:rPr/>
              <a:t>https://github.com/minhthang2k5/eshop-sut/blob/main/performance/jmeter/README.md</a:t>
            </a:r>
            <a:endParaRPr/>
          </a:p>
          <a:p>
            <a:pPr>
              <a:buNone/>
              <a:defRPr/>
            </a:pPr>
            <a:r>
              <a:rPr/>
              <a:t>https://jmeter.apache.org/usermanual/index.html</a:t>
            </a:r>
            <a:endParaRPr/>
          </a:p>
          <a:p>
            <a:pPr>
              <a:buNone/>
              <a:defRPr/>
            </a:pPr>
            <a:r>
              <a:rPr/>
              <a:t>https://github.com/minhthang2k5/eshop-sut/blob/main/submission/Bao_cao_seminar_Performance_Testing.md</a:t>
            </a:r>
            <a:endParaRPr/>
          </a:p>
        </p:txBody>
      </p:sp>
      <p:sp>
        <p:nvSpPr>
          <p:cNvPr id="19293480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17321117" name="Slide Image Placeholder 1"/>
          <p:cNvSpPr>
            <a:spLocks noGrp="1"/>
          </p:cNvSpPr>
          <p:nvPr>
            <p:ph type="sldImg" idx="0"/>
          </p:nvPr>
        </p:nvSpPr>
        <p:spPr bwMode="auto"/>
      </p:sp>
      <p:sp>
        <p:nvSpPr>
          <p:cNvPr id="624161926" name="Notes Placeholder 2"/>
          <p:cNvSpPr>
            <a:spLocks noGrp="1"/>
          </p:cNvSpPr>
          <p:nvPr>
            <p:ph type="body" idx="1"/>
          </p:nvPr>
        </p:nvSpPr>
        <p:spPr bwMode="auto"/>
        <p:txBody>
          <a:bodyPr/>
          <a:lstStyle/>
          <a:p>
            <a:pPr>
              <a:buNone/>
              <a:defRPr/>
            </a:pPr>
            <a:r>
              <a:rPr/>
              <a:t>Trong k6, mỗi scenario có executor, exec và cấu hình lịch chạy riêng. Không có thuộc tính weight dùng chung để tự áp tỷ lệ cho mọi executor. Chia 50 VU thành 28/12/10 không bảo đảm 55/25/20 số lượt nghiệp vụ. Có thể dùng random branch để đặt xác suất hoặc lập lịch iteration có chủ đích. Một lần smoke không xác nhận được tỷ lệ. Cấu hình Black Friday chỉ là ví dụ giả thuyết trong tài liệu, không phải run thực tế. Workload của A vẫn có Cart và mix 55/25/14/6 như slide trước.</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https://grafana.com/docs/k6/latest/using-k6/scenarios/</a:t>
            </a:r>
            <a:endParaRPr/>
          </a:p>
          <a:p>
            <a:pPr>
              <a:buNone/>
              <a:defRPr/>
            </a:pPr>
            <a:r>
              <a:rPr/>
              <a:t>https://github.com/minhthang2k5/eshop-sut/blob/main/test-web-performance/samples/gemini_script_real.js</a:t>
            </a:r>
            <a:endParaRPr/>
          </a:p>
        </p:txBody>
      </p:sp>
      <p:sp>
        <p:nvSpPr>
          <p:cNvPr id="22321805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98495928" name="Slide Image Placeholder 1"/>
          <p:cNvSpPr>
            <a:spLocks noGrp="1"/>
          </p:cNvSpPr>
          <p:nvPr>
            <p:ph type="sldImg" idx="0"/>
          </p:nvPr>
        </p:nvSpPr>
        <p:spPr bwMode="auto"/>
      </p:sp>
      <p:sp>
        <p:nvSpPr>
          <p:cNvPr id="2080374488" name="Notes Placeholder 2"/>
          <p:cNvSpPr>
            <a:spLocks noGrp="1"/>
          </p:cNvSpPr>
          <p:nvPr>
            <p:ph type="body" idx="1"/>
          </p:nvPr>
        </p:nvSpPr>
        <p:spPr bwMode="auto"/>
        <p:txBody>
          <a:bodyPr/>
          <a:lstStyle/>
          <a:p>
            <a:pPr>
              <a:buNone/>
              <a:defRPr/>
            </a:pPr>
            <a:r>
              <a:rPr/>
              <a:t>Với closed model, response chậm có thể làm tốc độ phát tải giảm. Muốn so sánh phải giữ mô hình tải và think-time phù hợp.</a:t>
            </a:r>
            <a:endParaRPr/>
          </a:p>
          <a:p>
            <a:pPr>
              <a:buNone/>
              <a:defRPr/>
            </a:pPr>
            <a:endParaRPr/>
          </a:p>
          <a:p>
            <a:pPr>
              <a:buNone/>
              <a:defRPr/>
            </a:pPr>
            <a:r>
              <a:rPr/>
              <a:t>Nguồn:</a:t>
            </a:r>
            <a:endParaRPr/>
          </a:p>
          <a:p>
            <a:pPr>
              <a:buNone/>
              <a:defRPr/>
            </a:pPr>
            <a:r>
              <a:rPr/>
              <a:t>https://grafana.com/docs/k6/latest/using-k6/scenarios/concepts/open-vs-closed/</a:t>
            </a:r>
            <a:endParaRPr/>
          </a:p>
          <a:p>
            <a:pPr>
              <a:buNone/>
              <a:defRPr/>
            </a:pPr>
            <a:r>
              <a:rPr/>
              <a:t>https://github.com/minhthang2k5/eshop-sut/blob/main/submission/Bao_cao_seminar_Performance_Testing.md</a:t>
            </a:r>
            <a:endParaRPr/>
          </a:p>
        </p:txBody>
      </p:sp>
      <p:sp>
        <p:nvSpPr>
          <p:cNvPr id="121104964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08471669" name="Slide Image Placeholder 1"/>
          <p:cNvSpPr>
            <a:spLocks noGrp="1"/>
          </p:cNvSpPr>
          <p:nvPr>
            <p:ph type="sldImg" idx="0"/>
          </p:nvPr>
        </p:nvSpPr>
        <p:spPr bwMode="auto"/>
      </p:sp>
      <p:sp>
        <p:nvSpPr>
          <p:cNvPr id="653835612" name="Notes Placeholder 2"/>
          <p:cNvSpPr>
            <a:spLocks noGrp="1"/>
          </p:cNvSpPr>
          <p:nvPr>
            <p:ph type="body" idx="1"/>
          </p:nvPr>
        </p:nvSpPr>
        <p:spPr bwMode="auto"/>
        <p:txBody>
          <a:bodyPr/>
          <a:lstStyle/>
          <a:p>
            <a:pPr>
              <a:buNone/>
              <a:defRPr/>
            </a:pPr>
            <a:r>
              <a:rPr/>
              <a:t>Các khoảng nghỉ có trong hai source thật ở samples. Đây là giả định mô hình, không phải số liệu đo hành vi người dùng. Sleep trong source diễn ra sau request của nhánh. Không có think-time có thể hợp lý cho bài đo công suất hoặc arrival-rate, nhưng cần nêu rõ mục tiêu. Không được kết luận mọi test không sleep đều sai. Với closed model, giảm sleep có thể làm tăng đáng kể tốc độ phát request ở cùng số VU.</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https://github.com/minhthang2k5/eshop-sut/blob/main/test-web-performance/samples/gemini_script_real.js</a:t>
            </a:r>
            <a:endParaRPr/>
          </a:p>
          <a:p>
            <a:pPr>
              <a:buNone/>
              <a:defRPr/>
            </a:pPr>
            <a:r>
              <a:rPr/>
              <a:t>https://github.com/minhthang2k5/eshop-sut/blob/main/test-web-performance/samples/claude_scipt_real.js</a:t>
            </a:r>
            <a:endParaRPr/>
          </a:p>
          <a:p>
            <a:pPr>
              <a:buNone/>
              <a:defRPr/>
            </a:pPr>
            <a:r>
              <a:rPr/>
              <a:t>https://grafana.com/docs/k6/latest/using-k6/scenarios/concepts/open-vs-closed/</a:t>
            </a:r>
            <a:endParaRPr/>
          </a:p>
        </p:txBody>
      </p:sp>
      <p:sp>
        <p:nvSpPr>
          <p:cNvPr id="41936252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75326870" name="Slide Image Placeholder 1"/>
          <p:cNvSpPr>
            <a:spLocks noGrp="1"/>
          </p:cNvSpPr>
          <p:nvPr>
            <p:ph type="sldImg" idx="0"/>
          </p:nvPr>
        </p:nvSpPr>
        <p:spPr bwMode="auto"/>
      </p:sp>
      <p:sp>
        <p:nvSpPr>
          <p:cNvPr id="191207152" name="Notes Placeholder 2"/>
          <p:cNvSpPr>
            <a:spLocks noGrp="1"/>
          </p:cNvSpPr>
          <p:nvPr>
            <p:ph type="body" idx="1"/>
          </p:nvPr>
        </p:nvSpPr>
        <p:spPr bwMode="auto"/>
        <p:txBody>
          <a:bodyPr/>
          <a:lstStyle/>
          <a:p>
            <a:pPr>
              <a:buNone/>
              <a:defRPr/>
            </a:pPr>
            <a:r>
              <a:rPr/>
              <a:t>Ramp-up mô tả tải, warm-up mô tả trạng thái hệ thống nên hai khái niệm không đồng nhất. Một cửa sổ giữ VU cố định vẫn có thể chưa ổn định. Khi đối chiếu trước/sau tuning, giữ profile, dữ liệu, máy chạy và phương pháp tổng hợp nhất quán. Nên chạy lặp nhiều lần, ghi rõ điều kiện cache và reset dữ liệu.</a:t>
            </a:r>
            <a:endParaRPr/>
          </a:p>
          <a:p>
            <a:pPr>
              <a:buNone/>
              <a:defRPr/>
            </a:pPr>
            <a:endParaRPr/>
          </a:p>
          <a:p>
            <a:pPr>
              <a:buNone/>
              <a:defRPr/>
            </a:pPr>
            <a:r>
              <a:rPr/>
              <a:t>Nguồn:</a:t>
            </a:r>
            <a:endParaRPr/>
          </a:p>
          <a:p>
            <a:pPr>
              <a:buNone/>
              <a:defRPr/>
            </a:pPr>
            <a:r>
              <a:rPr/>
              <a:t>https://grafana.com/docs/k6/latest/using-k6/scenarios/executors/ramping-vus/</a:t>
            </a:r>
            <a:endParaRPr/>
          </a:p>
          <a:p>
            <a:pPr>
              <a:buNone/>
              <a:defRPr/>
            </a:pPr>
            <a:r>
              <a:rPr/>
              <a:t>https://github.com/minhthang2k5/eshop-sut/blob/main/performance/k6/reports/02-baseline-test-report.md</a:t>
            </a:r>
            <a:endParaRPr/>
          </a:p>
        </p:txBody>
      </p:sp>
      <p:sp>
        <p:nvSpPr>
          <p:cNvPr id="62921191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74450778" name="Slide Image Placeholder 1"/>
          <p:cNvSpPr>
            <a:spLocks noGrp="1"/>
          </p:cNvSpPr>
          <p:nvPr>
            <p:ph type="sldImg" idx="0"/>
          </p:nvPr>
        </p:nvSpPr>
        <p:spPr bwMode="auto"/>
      </p:sp>
      <p:sp>
        <p:nvSpPr>
          <p:cNvPr id="1235633428" name="Notes Placeholder 2"/>
          <p:cNvSpPr>
            <a:spLocks noGrp="1"/>
          </p:cNvSpPr>
          <p:nvPr>
            <p:ph type="body" idx="1"/>
          </p:nvPr>
        </p:nvSpPr>
        <p:spPr bwMode="auto"/>
        <p:txBody>
          <a:bodyPr/>
          <a:lstStyle/>
          <a:p>
            <a:pPr>
              <a:buNone/>
              <a:defRPr/>
            </a:pPr>
            <a:r>
              <a:rPr/>
              <a:t>Metric tổng có thể trộn các endpoint. Khi cần đánh giá Checkout, lọc theo tag endpoint và phase thay vì chỉ nhìn tổng.</a:t>
            </a:r>
            <a:endParaRPr/>
          </a:p>
          <a:p>
            <a:pPr>
              <a:buNone/>
              <a:defRPr/>
            </a:pPr>
            <a:endParaRPr/>
          </a:p>
          <a:p>
            <a:pPr>
              <a:buNone/>
              <a:defRPr/>
            </a:pPr>
            <a:r>
              <a:rPr/>
              <a:t>Nguồn:</a:t>
            </a:r>
            <a:endParaRPr/>
          </a:p>
          <a:p>
            <a:pPr>
              <a:buNone/>
              <a:defRPr/>
            </a:pPr>
            <a:r>
              <a:rPr/>
              <a:t>https://grafana.com/docs/k6/latest/using-k6/metrics/reference/</a:t>
            </a:r>
            <a:endParaRPr/>
          </a:p>
          <a:p>
            <a:pPr>
              <a:buNone/>
              <a:defRPr/>
            </a:pPr>
            <a:r>
              <a:rPr/>
              <a:t>https://github.com/minhthang2k5/eshop-sut/blob/main/submission/Bao_cao_seminar_Performance_Testing.md</a:t>
            </a:r>
            <a:endParaRPr/>
          </a:p>
        </p:txBody>
      </p:sp>
      <p:sp>
        <p:nvSpPr>
          <p:cNvPr id="190674832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72501483" name="Slide Image Placeholder 1"/>
          <p:cNvSpPr>
            <a:spLocks noGrp="1"/>
          </p:cNvSpPr>
          <p:nvPr>
            <p:ph type="sldImg" idx="0"/>
          </p:nvPr>
        </p:nvSpPr>
        <p:spPr bwMode="auto"/>
      </p:sp>
      <p:sp>
        <p:nvSpPr>
          <p:cNvPr id="1272759739" name="Notes Placeholder 2"/>
          <p:cNvSpPr>
            <a:spLocks noGrp="1"/>
          </p:cNvSpPr>
          <p:nvPr>
            <p:ph type="body" idx="1"/>
          </p:nvPr>
        </p:nvSpPr>
        <p:spPr bwMode="auto"/>
        <p:txBody>
          <a:bodyPr/>
          <a:lstStyle/>
          <a:p>
            <a:pPr>
              <a:buNone/>
              <a:defRPr/>
            </a:pPr>
            <a:r>
              <a:rPr/>
              <a:t>Transaction ở đây là đơn vị nghiệp vụ do tester định nghĩa, không tự đồng nghĩa transaction của SQLite. Ví dụ 10 TPS và 30 RPS giả định mỗi lượt có đúng 3 request, không thêm retry/login và không có traffic khác. Kết quả thực phải đếm riêng nghiệp vụ thành công. Trong JMeter có thể dùng Transaction Controller với phạm vi phù hợp. Không lấy toàn bộ sample rate rồi gọi là TPS mua hàng.</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https://jmeter.apache.org/usermanual/component_reference.html#Transaction_Controller</a:t>
            </a:r>
            <a:endParaRPr/>
          </a:p>
          <a:p>
            <a:pPr>
              <a:buNone/>
              <a:defRPr/>
            </a:pPr>
            <a:r>
              <a:rPr/>
              <a:t>https://grafana.com/docs/k6/latest/using-k6/metrics/reference/</a:t>
            </a:r>
            <a:endParaRPr/>
          </a:p>
        </p:txBody>
      </p:sp>
      <p:sp>
        <p:nvSpPr>
          <p:cNvPr id="2814526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63147670" name="Slide Image Placeholder 1"/>
          <p:cNvSpPr>
            <a:spLocks noGrp="1"/>
          </p:cNvSpPr>
          <p:nvPr>
            <p:ph type="sldImg" idx="0"/>
          </p:nvPr>
        </p:nvSpPr>
        <p:spPr bwMode="auto"/>
      </p:sp>
      <p:sp>
        <p:nvSpPr>
          <p:cNvPr id="1963683551" name="Notes Placeholder 2"/>
          <p:cNvSpPr>
            <a:spLocks noGrp="1"/>
          </p:cNvSpPr>
          <p:nvPr>
            <p:ph type="body" idx="1"/>
          </p:nvPr>
        </p:nvSpPr>
        <p:spPr bwMode="auto"/>
        <p:txBody>
          <a:bodyPr/>
          <a:lstStyle/>
          <a:p>
            <a:pPr>
              <a:buNone/>
              <a:defRPr/>
            </a:pPr>
            <a:r>
              <a:rPr/>
              <a:t>Resource metrics bổ sung góc nhìn server cho response time phía client. RSS là bộ nhớ cư trú của tiến trình, heap chỉ là một phần bộ nhớ. Event-loop lag cần đo riêng, không suy ra chỉ từ p95. SQLite không tự có pool connection giống mọi DB server. Khi SUT và generator cùng máy, hai tiến trình có thể tranh tài nguyên. Soak có thể phát hiện xu hướng bộ nhớ hoặc latency tăng, nhưng cần quan sát đủ lâu, xét GC và chạy lặp trước khi kết luận memory leak.</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https://nodejs.org/learn/asynchronous-work/dont-block-the-event-loop</a:t>
            </a:r>
            <a:endParaRPr/>
          </a:p>
          <a:p>
            <a:pPr>
              <a:buNone/>
              <a:defRPr/>
            </a:pPr>
            <a:r>
              <a:rPr/>
              <a:t>https://sqlite.org/wal.html</a:t>
            </a:r>
            <a:endParaRPr/>
          </a:p>
          <a:p>
            <a:pPr>
              <a:buNone/>
              <a:defRPr/>
            </a:pPr>
            <a:r>
              <a:rPr/>
              <a:t>https://grafana.com/docs/k6/latest/testing-guides/running-large-tests/</a:t>
            </a:r>
            <a:endParaRPr/>
          </a:p>
        </p:txBody>
      </p:sp>
      <p:sp>
        <p:nvSpPr>
          <p:cNvPr id="208956319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43207474" name="Slide Image Placeholder 1"/>
          <p:cNvSpPr>
            <a:spLocks noGrp="1"/>
          </p:cNvSpPr>
          <p:nvPr>
            <p:ph type="sldImg" idx="0"/>
          </p:nvPr>
        </p:nvSpPr>
        <p:spPr bwMode="auto"/>
      </p:sp>
      <p:sp>
        <p:nvSpPr>
          <p:cNvPr id="1958689735" name="Notes Placeholder 2"/>
          <p:cNvSpPr>
            <a:spLocks noGrp="1"/>
          </p:cNvSpPr>
          <p:nvPr>
            <p:ph type="body" idx="1"/>
          </p:nvPr>
        </p:nvSpPr>
        <p:spPr bwMode="auto"/>
        <p:txBody>
          <a:bodyPr/>
          <a:lstStyle/>
          <a:p>
            <a:pPr>
              <a:buNone/>
              <a:defRPr/>
            </a:pPr>
            <a:r>
              <a:rPr/>
              <a:t>Thuật ngữ latency có thể có phạm vi khác nhau giữa công cụ. Khi đọc báo cáo phải nêu tên metric, điểm đo và đơn vị. http_req_waiting không tách riêng được thời gian CPU của backend. http_req_duration không tương đương tổng thời gian người dùng nhìn thấy trang. Các số trong ví dụ do nhóm đặt để giải thích phép cộng.</a:t>
            </a:r>
            <a:endParaRPr/>
          </a:p>
          <a:p>
            <a:pPr>
              <a:buNone/>
              <a:defRPr/>
            </a:pPr>
            <a:endParaRPr/>
          </a:p>
          <a:p>
            <a:pPr>
              <a:buNone/>
              <a:defRPr/>
            </a:pPr>
            <a:r>
              <a:rPr/>
              <a:t>Nguồn:</a:t>
            </a:r>
            <a:endParaRPr/>
          </a:p>
          <a:p>
            <a:pPr>
              <a:buNone/>
              <a:defRPr/>
            </a:pPr>
            <a:r>
              <a:rPr/>
              <a:t>https://grafana.com/docs/k6/latest/using-k6/metrics/reference/</a:t>
            </a:r>
            <a:endParaRPr/>
          </a:p>
        </p:txBody>
      </p:sp>
      <p:sp>
        <p:nvSpPr>
          <p:cNvPr id="155093563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492078675" name="Slide Image Placeholder 1"/>
          <p:cNvSpPr>
            <a:spLocks noGrp="1"/>
          </p:cNvSpPr>
          <p:nvPr>
            <p:ph type="sldImg" idx="0"/>
          </p:nvPr>
        </p:nvSpPr>
        <p:spPr bwMode="auto"/>
      </p:sp>
      <p:sp>
        <p:nvSpPr>
          <p:cNvPr id="1620349895" name="Notes Placeholder 2"/>
          <p:cNvSpPr>
            <a:spLocks noGrp="1"/>
          </p:cNvSpPr>
          <p:nvPr>
            <p:ph type="body" idx="1"/>
          </p:nvPr>
        </p:nvSpPr>
        <p:spPr bwMode="auto"/>
        <p:txBody>
          <a:bodyPr/>
          <a:lstStyle/>
          <a:p>
            <a:pPr>
              <a:buNone/>
              <a:defRPr/>
            </a:pPr>
            <a:r>
              <a:rPr/>
              <a:t>Phân vị phụ thuộc cách công cụ tính. p95 không phải độ chính xác 95%. Response lỗi nhanh có thể kéo thời gian xuống mà không phản ánh hiệu năng nghiệp vụ tốt.</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https://grafana.com/docs/k6/latest/using-k6/metrics/</a:t>
            </a:r>
            <a:endParaRPr/>
          </a:p>
          <a:p>
            <a:pPr>
              <a:buNone/>
              <a:defRPr/>
            </a:pPr>
            <a:r>
              <a:rPr/>
              <a:t>https://grafana.com/docs/k6/latest/using-k6/checks/</a:t>
            </a:r>
            <a:endParaRPr/>
          </a:p>
          <a:p>
            <a:pPr>
              <a:buNone/>
              <a:defRPr/>
            </a:pPr>
            <a:r>
              <a:rPr/>
              <a:t>https://grafana.com/docs/k6/latest/using-k6/thresholds/</a:t>
            </a:r>
            <a:endParaRPr/>
          </a:p>
        </p:txBody>
      </p:sp>
      <p:sp>
        <p:nvSpPr>
          <p:cNvPr id="118492059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9798161" name="Slide Image Placeholder 1"/>
          <p:cNvSpPr>
            <a:spLocks noGrp="1"/>
          </p:cNvSpPr>
          <p:nvPr>
            <p:ph type="sldImg" idx="0"/>
          </p:nvPr>
        </p:nvSpPr>
        <p:spPr bwMode="auto"/>
      </p:sp>
      <p:sp>
        <p:nvSpPr>
          <p:cNvPr id="960751740" name="Notes Placeholder 2"/>
          <p:cNvSpPr>
            <a:spLocks noGrp="1"/>
          </p:cNvSpPr>
          <p:nvPr>
            <p:ph type="body" idx="1"/>
          </p:nvPr>
        </p:nvSpPr>
        <p:spPr bwMode="auto"/>
        <p:txBody>
          <a:bodyPr/>
          <a:lstStyle/>
          <a:p>
            <a:pPr>
              <a:buNone/>
              <a:defRPr/>
            </a:pPr>
            <a:r>
              <a:rPr/>
              <a:t>Nearest-rank dùng để minh họa vị trí phân vị. Công cụ có thể nội suy nên kết quả không nhất thiết đúng bằng mẫu thứ 95. Với 100 mẫu gồm 99 mẫu 100 ms và 1 mẫu 5.000 ms, trung bình là 149 ms nhưng vẫn có một request rất chậm. Cần xem cả phân vị cao, max, tỷ lệ lỗi và cỡ mẫu. Các số là ví dụ học tập.</a:t>
            </a:r>
            <a:endParaRPr/>
          </a:p>
          <a:p>
            <a:pPr>
              <a:buNone/>
              <a:defRPr/>
            </a:pPr>
            <a:endParaRPr/>
          </a:p>
          <a:p>
            <a:pPr>
              <a:buNone/>
              <a:defRPr/>
            </a:pPr>
            <a:r>
              <a:rPr/>
              <a:t>Nguồn:</a:t>
            </a:r>
            <a:endParaRPr/>
          </a:p>
          <a:p>
            <a:pPr>
              <a:buNone/>
              <a:defRPr/>
            </a:pPr>
            <a:r>
              <a:rPr/>
              <a:t>https://grafana.com/docs/k6/latest/using-k6/metrics/reference/</a:t>
            </a:r>
            <a:endParaRPr/>
          </a:p>
          <a:p>
            <a:pPr>
              <a:buNone/>
              <a:defRPr/>
            </a:pPr>
            <a:r>
              <a:rPr/>
              <a:t>https://github.com/minhthang2k5/eshop-sut/blob/main/performance/jmeter/comparison_d2_vs_d3.md</a:t>
            </a:r>
            <a:endParaRPr/>
          </a:p>
        </p:txBody>
      </p:sp>
      <p:sp>
        <p:nvSpPr>
          <p:cNvPr id="3902526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64860228" name="Slide Image Placeholder 1"/>
          <p:cNvSpPr>
            <a:spLocks noGrp="1"/>
          </p:cNvSpPr>
          <p:nvPr>
            <p:ph type="sldImg" idx="0"/>
          </p:nvPr>
        </p:nvSpPr>
        <p:spPr bwMode="auto"/>
      </p:sp>
      <p:sp>
        <p:nvSpPr>
          <p:cNvPr id="1363165487" name="Notes Placeholder 2"/>
          <p:cNvSpPr>
            <a:spLocks noGrp="1"/>
          </p:cNvSpPr>
          <p:nvPr>
            <p:ph type="body" idx="1"/>
          </p:nvPr>
        </p:nvSpPr>
        <p:spPr bwMode="auto"/>
        <p:txBody>
          <a:bodyPr/>
          <a:lstStyle/>
          <a:p>
            <a:pPr>
              <a:buNone/>
              <a:defRPr/>
            </a:pPr>
            <a:r>
              <a:rPr/>
              <a:t>Check fail không tự làm k6 exit failed. Threshold mới tạo điều kiện pass/fail của test. Web kiểm tra thêm summary và lỗi runtime, không chỉ dựa vào exit code.</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https://grafana.com/docs/k6/latest/using-k6/metrics/</a:t>
            </a:r>
            <a:endParaRPr/>
          </a:p>
          <a:p>
            <a:pPr>
              <a:buNone/>
              <a:defRPr/>
            </a:pPr>
            <a:r>
              <a:rPr/>
              <a:t>https://grafana.com/docs/k6/latest/using-k6/checks/</a:t>
            </a:r>
            <a:endParaRPr/>
          </a:p>
          <a:p>
            <a:pPr>
              <a:buNone/>
              <a:defRPr/>
            </a:pPr>
            <a:r>
              <a:rPr/>
              <a:t>https://grafana.com/docs/k6/latest/using-k6/thresholds/</a:t>
            </a:r>
            <a:endParaRPr/>
          </a:p>
        </p:txBody>
      </p:sp>
      <p:sp>
        <p:nvSpPr>
          <p:cNvPr id="112602139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72253293" name="Slide Image Placeholder 1"/>
          <p:cNvSpPr>
            <a:spLocks noGrp="1"/>
          </p:cNvSpPr>
          <p:nvPr>
            <p:ph type="sldImg" idx="0"/>
          </p:nvPr>
        </p:nvSpPr>
        <p:spPr bwMode="auto"/>
      </p:sp>
      <p:sp>
        <p:nvSpPr>
          <p:cNvPr id="643951043" name="Notes Placeholder 2"/>
          <p:cNvSpPr>
            <a:spLocks noGrp="1"/>
          </p:cNvSpPr>
          <p:nvPr>
            <p:ph type="body" idx="1"/>
          </p:nvPr>
        </p:nvSpPr>
        <p:spPr bwMode="auto"/>
        <p:txBody>
          <a:bodyPr/>
          <a:lstStyle/>
          <a:p>
            <a:pPr>
              <a:buNone/>
              <a:defRPr/>
            </a:pPr>
            <a:r>
              <a:rPr/>
              <a:t>Ví dụ HTTP và check là hai phép tính minh họa độc lập, không suy ra trực tiếp số check từ số request. k6 phân loại http_req_failed theo expected response callback, mặc định HTTP 200–399 là expected. Một lỗi nội dung nghiệp vụ không tự động làm http_req_failed tăng. Guard dừng sớm có thể khiến check phía sau không chạy, nên check rate 100% vẫn cần kiểm tra coverage.</a:t>
            </a:r>
            <a:endParaRPr/>
          </a:p>
          <a:p>
            <a:pPr>
              <a:buNone/>
              <a:defRPr/>
            </a:pPr>
            <a:endParaRPr/>
          </a:p>
          <a:p>
            <a:pPr>
              <a:buNone/>
              <a:defRPr/>
            </a:pPr>
            <a:r>
              <a:rPr/>
              <a:t>Nguồn:</a:t>
            </a:r>
            <a:endParaRPr/>
          </a:p>
          <a:p>
            <a:pPr>
              <a:buNone/>
              <a:defRPr/>
            </a:pPr>
            <a:r>
              <a:rPr/>
              <a:t>https://grafana.com/docs/k6/latest/using-k6/metrics/reference/</a:t>
            </a:r>
            <a:endParaRPr/>
          </a:p>
          <a:p>
            <a:pPr>
              <a:buNone/>
              <a:defRPr/>
            </a:pPr>
            <a:r>
              <a:rPr/>
              <a:t>https://grafana.com/docs/k6/latest/using-k6/checks/</a:t>
            </a:r>
            <a:endParaRPr/>
          </a:p>
        </p:txBody>
      </p:sp>
      <p:sp>
        <p:nvSpPr>
          <p:cNvPr id="53130952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68873284" name="Slide Image Placeholder 1"/>
          <p:cNvSpPr>
            <a:spLocks noGrp="1"/>
          </p:cNvSpPr>
          <p:nvPr>
            <p:ph type="sldImg" idx="0"/>
          </p:nvPr>
        </p:nvSpPr>
        <p:spPr bwMode="auto"/>
      </p:sp>
      <p:sp>
        <p:nvSpPr>
          <p:cNvPr id="1327750284" name="Notes Placeholder 2"/>
          <p:cNvSpPr>
            <a:spLocks noGrp="1"/>
          </p:cNvSpPr>
          <p:nvPr>
            <p:ph type="body" idx="1"/>
          </p:nvPr>
        </p:nvSpPr>
        <p:spPr bwMode="auto"/>
        <p:txBody>
          <a:bodyPr/>
          <a:lstStyle/>
          <a:p>
            <a:pPr>
              <a:buNone/>
              <a:defRPr/>
            </a:pPr>
            <a:r>
              <a:rPr/>
              <a:t>Ví dụ SLO và threshold chỉ để học, không khẳng định nhóm có SLA thật. SLO cần phạm vi endpoint, loại request, tải, cửa sổ đo và quy tắc tính rõ ràng. Threshold mã hóa một điều kiện cho lần test. Đề xuất của Luna là đầu vào để review và kiểm chứng, chưa tự trở thành SLO đã được chấp thuận.</a:t>
            </a:r>
            <a:endParaRPr/>
          </a:p>
          <a:p>
            <a:pPr>
              <a:buNone/>
              <a:defRPr/>
            </a:pPr>
            <a:endParaRPr/>
          </a:p>
          <a:p>
            <a:pPr>
              <a:buNone/>
              <a:defRPr/>
            </a:pPr>
            <a:r>
              <a:rPr/>
              <a:t>Nguồn:</a:t>
            </a:r>
            <a:endParaRPr/>
          </a:p>
          <a:p>
            <a:pPr>
              <a:buNone/>
              <a:defRPr/>
            </a:pPr>
            <a:r>
              <a:rPr/>
              <a:t>https://sre.google/sre-book/service-level-objectives/</a:t>
            </a:r>
            <a:endParaRPr/>
          </a:p>
          <a:p>
            <a:pPr>
              <a:buNone/>
              <a:defRPr/>
            </a:pPr>
            <a:r>
              <a:rPr/>
              <a:t>https://grafana.com/docs/k6/latest/using-k6/thresholds/</a:t>
            </a:r>
            <a:endParaRPr/>
          </a:p>
        </p:txBody>
      </p:sp>
      <p:sp>
        <p:nvSpPr>
          <p:cNvPr id="136640425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38466256" name="Slide Image Placeholder 1"/>
          <p:cNvSpPr>
            <a:spLocks noGrp="1"/>
          </p:cNvSpPr>
          <p:nvPr>
            <p:ph type="sldImg" idx="0"/>
          </p:nvPr>
        </p:nvSpPr>
        <p:spPr bwMode="auto"/>
      </p:sp>
      <p:sp>
        <p:nvSpPr>
          <p:cNvPr id="1980470194" name="Notes Placeholder 2"/>
          <p:cNvSpPr>
            <a:spLocks noGrp="1"/>
          </p:cNvSpPr>
          <p:nvPr>
            <p:ph type="body" idx="1"/>
          </p:nvPr>
        </p:nvSpPr>
        <p:spPr bwMode="auto"/>
        <p:txBody>
          <a:bodyPr/>
          <a:lstStyle/>
          <a:p>
            <a:pPr>
              <a:buNone/>
              <a:defRPr/>
            </a:pPr>
            <a:r>
              <a:rPr/>
              <a:t>Chọn threshold theo SLO, endpoint, môi trường và tải kỳ vọng, không theo một giá trị đẹp trong smoke. Không có ngưỡng 500 ms phù hợp mọi sản phẩm. k6 có exit code 99 khi threshold thất bại, nhưng còn các mã lỗi khác. Ví dụ gắn tag endpoint=checkout rồi đặt threshold cho http_req_duration{endpoint:checkout}, miễn source phát đúng tag. Checks rate và HTTP error rate có mẫu số khác nhau. Chênh lệch công cụ 10–15% không tự được coi là chấp nhận được nếu chưa thống nhất phương pháp đo.</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https://grafana.com/docs/k6/latest/using-k6/thresholds/</a:t>
            </a:r>
            <a:endParaRPr/>
          </a:p>
          <a:p>
            <a:pPr>
              <a:buNone/>
              <a:defRPr/>
            </a:pPr>
            <a:r>
              <a:rPr/>
              <a:t>https://grafana.com/docs/k6/latest/using-k6/tags-and-groups/</a:t>
            </a:r>
            <a:endParaRPr/>
          </a:p>
          <a:p>
            <a:pPr>
              <a:buNone/>
              <a:defRPr/>
            </a:pPr>
            <a:r>
              <a:rPr/>
              <a:t>https://github.com/minhthang2k5/eshop-sut/blob/main/performance/jmeter/comparison_d2_vs_d3.md</a:t>
            </a:r>
            <a:endParaRPr/>
          </a:p>
        </p:txBody>
      </p:sp>
      <p:sp>
        <p:nvSpPr>
          <p:cNvPr id="20847320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55395101" name="Slide Image Placeholder 1"/>
          <p:cNvSpPr>
            <a:spLocks noGrp="1"/>
          </p:cNvSpPr>
          <p:nvPr>
            <p:ph type="sldImg" idx="0"/>
          </p:nvPr>
        </p:nvSpPr>
        <p:spPr bwMode="auto"/>
      </p:sp>
      <p:sp>
        <p:nvSpPr>
          <p:cNvPr id="266362050" name="Notes Placeholder 2"/>
          <p:cNvSpPr>
            <a:spLocks noGrp="1"/>
          </p:cNvSpPr>
          <p:nvPr>
            <p:ph type="body" idx="1"/>
          </p:nvPr>
        </p:nvSpPr>
        <p:spPr bwMode="auto"/>
        <p:txBody>
          <a:bodyPr/>
          <a:lstStyle/>
          <a:p>
            <a:pPr>
              <a:buNone/>
              <a:defRPr/>
            </a:pPr>
            <a:r>
              <a:rPr/>
              <a:t>Nhóm chọn k6, JMeter và web audit làm ba cụm thực hành. DevTools phục vụ ghi traffic. AI là lớp hỗ trợ, không thay thế công cụ đo tải.</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https://jmeter.apache.org/usermanual/index.html</a:t>
            </a:r>
            <a:endParaRPr/>
          </a:p>
          <a:p>
            <a:pPr>
              <a:buNone/>
              <a:defRPr/>
            </a:pPr>
            <a:r>
              <a:rPr/>
              <a:t>https://grafana.com/docs/k6/latest/</a:t>
            </a:r>
            <a:endParaRPr/>
          </a:p>
        </p:txBody>
      </p:sp>
      <p:sp>
        <p:nvSpPr>
          <p:cNvPr id="107727494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595071204" name="Slide Image Placeholder 1"/>
          <p:cNvSpPr>
            <a:spLocks noGrp="1"/>
          </p:cNvSpPr>
          <p:nvPr>
            <p:ph type="sldImg" idx="0"/>
          </p:nvPr>
        </p:nvSpPr>
        <p:spPr bwMode="auto"/>
      </p:sp>
      <p:sp>
        <p:nvSpPr>
          <p:cNvPr id="768896489" name="Notes Placeholder 2"/>
          <p:cNvSpPr>
            <a:spLocks noGrp="1"/>
          </p:cNvSpPr>
          <p:nvPr>
            <p:ph type="body" idx="1"/>
          </p:nvPr>
        </p:nvSpPr>
        <p:spPr bwMode="auto"/>
        <p:txBody>
          <a:bodyPr/>
          <a:lstStyle/>
          <a:p>
            <a:pPr>
              <a:buNone/>
              <a:defRPr/>
            </a:pPr>
            <a:r>
              <a:rPr/>
              <a:t>Đây là khảo sát tính năng, không phải benchmark của nhóm. Cả bốn có phiên bản nguồn mở cho chạy local. Sản phẩm cloud, Enterprise và tính năng bổ sung có điều kiện riêng. Ngôn ngữ và giao diện khác nhau ảnh hưởng cách học và bảo trì, không tự chứng minh công cụ nào nhanh hơn. k6 không phải Node.js đầy đủ. Gatling có cả JavaScript/TypeScript, không chỉ Scala/Java. Node.js dùng để khởi chạy SDK JS/TS của Gatling, engine vẫn trên JVM.</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https://grafana.com/docs/k6/latest/using-k6/javascript-typescript-compatibility-mode/</a:t>
            </a:r>
            <a:endParaRPr/>
          </a:p>
          <a:p>
            <a:pPr>
              <a:buNone/>
              <a:defRPr/>
            </a:pPr>
            <a:r>
              <a:rPr/>
              <a:t>https://jmeter.apache.org/usermanual/get-started.html</a:t>
            </a:r>
            <a:endParaRPr/>
          </a:p>
          <a:p>
            <a:pPr>
              <a:buNone/>
              <a:defRPr/>
            </a:pPr>
            <a:r>
              <a:rPr/>
              <a:t>https://docs.locust.io/en/stable/writing-a-locustfile.html</a:t>
            </a:r>
            <a:endParaRPr/>
          </a:p>
          <a:p>
            <a:pPr>
              <a:buNone/>
              <a:defRPr/>
            </a:pPr>
            <a:r>
              <a:rPr/>
              <a:t>https://docs.gatling.io/reference/deploy/install-local/</a:t>
            </a:r>
            <a:endParaRPr/>
          </a:p>
        </p:txBody>
      </p:sp>
      <p:sp>
        <p:nvSpPr>
          <p:cNvPr id="38460631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34543232" name="Slide Image Placeholder 1"/>
          <p:cNvSpPr>
            <a:spLocks noGrp="1"/>
          </p:cNvSpPr>
          <p:nvPr>
            <p:ph type="sldImg" idx="0"/>
          </p:nvPr>
        </p:nvSpPr>
        <p:spPr bwMode="auto"/>
      </p:sp>
      <p:sp>
        <p:nvSpPr>
          <p:cNvPr id="1366330649" name="Notes Placeholder 2"/>
          <p:cNvSpPr>
            <a:spLocks noGrp="1"/>
          </p:cNvSpPr>
          <p:nvPr>
            <p:ph type="body" idx="1"/>
          </p:nvPr>
        </p:nvSpPr>
        <p:spPr bwMode="auto"/>
        <p:txBody>
          <a:bodyPr/>
          <a:lstStyle/>
          <a:p>
            <a:pPr>
              <a:buNone/>
              <a:defRPr/>
            </a:pPr>
            <a:r>
              <a:rPr/>
              <a:t>Recorder HTTP(S) của JMeter ghi traffic qua proxy, không đồng nghĩa một nút import HAR mặc định. k6 Studio hỗ trợ ghi trình duyệt và sinh test từ HAR. Các script demo nhóm hiện dựa vào HAR và source đã review, không tuyên bố đã dùng mọi recorder trong bảng. Dữ liệu động của mỗi phiên phải extract rồi inject đúng request. Mọi source do recorder hoặc AI tạo cần kiểm tra credential, token, workload và checkpoints.</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https://grafana.com/docs/k6/latest/k6-studio/components/recorder/</a:t>
            </a:r>
            <a:endParaRPr/>
          </a:p>
          <a:p>
            <a:pPr>
              <a:buNone/>
              <a:defRPr/>
            </a:pPr>
            <a:r>
              <a:rPr/>
              <a:t>https://jmeter.apache.org/usermanual/jmeter_proxy_step_by_step.html</a:t>
            </a:r>
            <a:endParaRPr/>
          </a:p>
          <a:p>
            <a:pPr>
              <a:buNone/>
              <a:defRPr/>
            </a:pPr>
            <a:r>
              <a:rPr/>
              <a:t>https://docs.locust.io/en/stable/writing-a-locustfile.html</a:t>
            </a:r>
            <a:endParaRPr/>
          </a:p>
          <a:p>
            <a:pPr>
              <a:buNone/>
              <a:defRPr/>
            </a:pPr>
            <a:r>
              <a:rPr/>
              <a:t>https://docs.gatling.io/reference/script/http/recorder/</a:t>
            </a:r>
            <a:endParaRPr/>
          </a:p>
        </p:txBody>
      </p:sp>
      <p:sp>
        <p:nvSpPr>
          <p:cNvPr id="136363721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495663693" name="Slide Image Placeholder 1"/>
          <p:cNvSpPr>
            <a:spLocks noGrp="1"/>
          </p:cNvSpPr>
          <p:nvPr>
            <p:ph type="sldImg" idx="0"/>
          </p:nvPr>
        </p:nvSpPr>
        <p:spPr bwMode="auto"/>
      </p:sp>
      <p:sp>
        <p:nvSpPr>
          <p:cNvPr id="1772243288" name="Notes Placeholder 2"/>
          <p:cNvSpPr>
            <a:spLocks noGrp="1"/>
          </p:cNvSpPr>
          <p:nvPr>
            <p:ph type="body" idx="1"/>
          </p:nvPr>
        </p:nvSpPr>
        <p:spPr bwMode="auto"/>
        <p:txBody>
          <a:bodyPr/>
          <a:lstStyle/>
          <a:p>
            <a:pPr>
              <a:buNone/>
              <a:defRPr/>
            </a:pPr>
            <a:r>
              <a:rPr/>
              <a:t>Locust hỗ trợ --html, không bắt buộc plugin để xuất HTML report. JMeter có Duration Assertion tích hợp để giới hạn thời gian từng sample, khác điều kiện p95 tổng hợp. Muốn chặn CI theo p95/error rate cần bước đánh giá phù hợp, không nói mọi assertion đều cần plugin. Locust có events.quitting và process_exit_code cho policy tổng hợp. Gatling có assertions. Không có benchmark chung để xếp hạng tốc độ hoặc RAM/VU trong bài này.</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https://grafana.com/docs/k6/latest/results-output/web-dashboard/</a:t>
            </a:r>
            <a:endParaRPr/>
          </a:p>
          <a:p>
            <a:pPr>
              <a:buNone/>
              <a:defRPr/>
            </a:pPr>
            <a:r>
              <a:rPr/>
              <a:t>https://jmeter.apache.org/usermanual/generating-dashboard.html</a:t>
            </a:r>
            <a:endParaRPr/>
          </a:p>
          <a:p>
            <a:pPr>
              <a:buNone/>
              <a:defRPr/>
            </a:pPr>
            <a:r>
              <a:rPr/>
              <a:t>https://jmeter.apache.org/usermanual/component_reference.html#Duration_Assertion</a:t>
            </a:r>
            <a:endParaRPr/>
          </a:p>
          <a:p>
            <a:pPr>
              <a:buNone/>
              <a:defRPr/>
            </a:pPr>
            <a:r>
              <a:rPr/>
              <a:t>https://docs.locust.io/en/stable/configuration.html</a:t>
            </a:r>
            <a:endParaRPr/>
          </a:p>
          <a:p>
            <a:pPr>
              <a:buNone/>
              <a:defRPr/>
            </a:pPr>
            <a:r>
              <a:rPr/>
              <a:t>https://docs.locust.io/en/stable/running-without-web-ui.html</a:t>
            </a:r>
            <a:endParaRPr/>
          </a:p>
          <a:p>
            <a:pPr>
              <a:buNone/>
              <a:defRPr/>
            </a:pPr>
            <a:r>
              <a:rPr/>
              <a:t>https://github.com/gatling/gatling</a:t>
            </a:r>
            <a:endParaRPr/>
          </a:p>
        </p:txBody>
      </p:sp>
      <p:sp>
        <p:nvSpPr>
          <p:cNvPr id="118137903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06229095" name="Slide Image Placeholder 1"/>
          <p:cNvSpPr>
            <a:spLocks noGrp="1"/>
          </p:cNvSpPr>
          <p:nvPr>
            <p:ph type="sldImg" idx="0"/>
          </p:nvPr>
        </p:nvSpPr>
        <p:spPr bwMode="auto"/>
      </p:sp>
      <p:sp>
        <p:nvSpPr>
          <p:cNvPr id="178419728" name="Notes Placeholder 2"/>
          <p:cNvSpPr>
            <a:spLocks noGrp="1"/>
          </p:cNvSpPr>
          <p:nvPr>
            <p:ph type="body" idx="1"/>
          </p:nvPr>
        </p:nvSpPr>
        <p:spPr bwMode="auto"/>
        <p:txBody>
          <a:bodyPr/>
          <a:lstStyle/>
          <a:p>
            <a:pPr>
              <a:buNone/>
              <a:defRPr/>
            </a:pPr>
            <a:r>
              <a:rPr/>
              <a:t>Mức độ phù hợp là quyết định cho nguồn lực và sản phẩm bài seminar, không phải kết luận Locust/Gatling kém. Cộng đồng và tài liệu là tiêu chí hỗ trợ nhưng không xếp hạng bằng cảm nhận. Đường học phụ thuộc kỹ năng sẵn có. LLM có thể hỗ trợ cả code và XML, không bảo đảm output đúng cho bất kỳ công cụ nào. Nhóm kết hợp source audit và runtime evidence thay vì chấm theo tên nhà cung cấp. Mọi công cụ bổ sung đều cần thời gian chuẩn hóa workload và dữ liệu.</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https://github.com/minhthang2k5/eshop-sut/blob/main/submission/Bao_cao_seminar_Performance_Testing.md</a:t>
            </a:r>
            <a:endParaRPr/>
          </a:p>
          <a:p>
            <a:pPr>
              <a:buNone/>
              <a:defRPr/>
            </a:pPr>
            <a:r>
              <a:rPr/>
              <a:t>https://docs.locust.io/en/stable/what-is-locust.html</a:t>
            </a:r>
            <a:endParaRPr/>
          </a:p>
          <a:p>
            <a:pPr>
              <a:buNone/>
              <a:defRPr/>
            </a:pPr>
            <a:r>
              <a:rPr/>
              <a:t>https://github.com/gatling/gatling</a:t>
            </a:r>
            <a:endParaRPr/>
          </a:p>
        </p:txBody>
      </p:sp>
      <p:sp>
        <p:nvSpPr>
          <p:cNvPr id="171071612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64086634" name="Slide Image Placeholder 1"/>
          <p:cNvSpPr>
            <a:spLocks noGrp="1"/>
          </p:cNvSpPr>
          <p:nvPr>
            <p:ph type="sldImg" idx="0"/>
          </p:nvPr>
        </p:nvSpPr>
        <p:spPr bwMode="auto"/>
      </p:sp>
      <p:sp>
        <p:nvSpPr>
          <p:cNvPr id="2008432678" name="Notes Placeholder 2"/>
          <p:cNvSpPr>
            <a:spLocks noGrp="1"/>
          </p:cNvSpPr>
          <p:nvPr>
            <p:ph type="body" idx="1"/>
          </p:nvPr>
        </p:nvSpPr>
        <p:spPr bwMode="auto"/>
        <p:txBody>
          <a:bodyPr/>
          <a:lstStyle/>
          <a:p>
            <a:pPr>
              <a:buNone/>
              <a:defRPr/>
            </a:pPr>
            <a:r>
              <a:rPr/>
              <a:t>Chi phí hạ tầng và thời gian bảo trì vẫn tồn tại khi công cụ có bản nguồn mở. Kiểm tra giấy phép của đúng thành phần và điều kiện của dịch vụ đi kèm. Không suy ra chất lượng công cụ từ số sao hoặc một đánh giá độ khó chung. Những tiêu chí này bổ sung cho tính năng kỹ thuật và điều kiện thực nghiệm, không thay thế benchmark công bằng.</a:t>
            </a:r>
            <a:endParaRPr/>
          </a:p>
          <a:p>
            <a:pPr>
              <a:buNone/>
              <a:defRPr/>
            </a:pPr>
            <a:endParaRPr/>
          </a:p>
          <a:p>
            <a:pPr>
              <a:buNone/>
              <a:defRPr/>
            </a:pPr>
            <a:r>
              <a:rPr/>
              <a:t>Nguồn nội bộ: docs/Tool_Analysis_and_Theory.md</a:t>
            </a:r>
            <a:endParaRPr/>
          </a:p>
          <a:p>
            <a:pPr>
              <a:buNone/>
              <a:defRPr/>
            </a:pPr>
            <a:r>
              <a:rPr/>
              <a:t>Nguồn kiểm chứng:</a:t>
            </a:r>
            <a:endParaRPr/>
          </a:p>
          <a:p>
            <a:pPr>
              <a:buNone/>
              <a:defRPr/>
            </a:pPr>
            <a:r>
              <a:rPr/>
              <a:t>https://github.com/grafana/k6</a:t>
            </a:r>
            <a:endParaRPr/>
          </a:p>
          <a:p>
            <a:pPr>
              <a:buNone/>
              <a:defRPr/>
            </a:pPr>
            <a:r>
              <a:rPr/>
              <a:t>https://jmeter.apache.org/</a:t>
            </a:r>
            <a:endParaRPr/>
          </a:p>
          <a:p>
            <a:pPr>
              <a:buNone/>
              <a:defRPr/>
            </a:pPr>
            <a:r>
              <a:rPr/>
              <a:t>https://github.com/locustio/locust</a:t>
            </a:r>
            <a:endParaRPr/>
          </a:p>
          <a:p>
            <a:pPr>
              <a:buNone/>
              <a:defRPr/>
            </a:pPr>
            <a:r>
              <a:rPr/>
              <a:t>https://github.com/gatling/gatling</a:t>
            </a:r>
            <a:endParaRPr/>
          </a:p>
        </p:txBody>
      </p:sp>
      <p:sp>
        <p:nvSpPr>
          <p:cNvPr id="174328832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99382747" name="Slide Image Placeholder 1"/>
          <p:cNvSpPr>
            <a:spLocks noGrp="1"/>
          </p:cNvSpPr>
          <p:nvPr>
            <p:ph type="sldImg" idx="0"/>
          </p:nvPr>
        </p:nvSpPr>
        <p:spPr bwMode="auto"/>
      </p:sp>
      <p:sp>
        <p:nvSpPr>
          <p:cNvPr id="352052669" name="Notes Placeholder 2"/>
          <p:cNvSpPr>
            <a:spLocks noGrp="1"/>
          </p:cNvSpPr>
          <p:nvPr>
            <p:ph type="body" idx="1"/>
          </p:nvPr>
        </p:nvSpPr>
        <p:spPr bwMode="auto"/>
        <p:txBody>
          <a:bodyPr/>
          <a:lstStyle/>
          <a:p>
            <a:pPr>
              <a:buNone/>
              <a:defRPr/>
            </a:pPr>
            <a:r>
              <a:rPr/>
              <a:t>k6 là runtime thực thi script, không phải Node.js đầy đủ. Không đặt HTTP request trong init. Script của A sử dụng SharedArray và token riêng cho từng VU.</a:t>
            </a:r>
            <a:endParaRPr/>
          </a:p>
          <a:p>
            <a:pPr>
              <a:buNone/>
              <a:defRPr/>
            </a:pPr>
            <a:endParaRPr/>
          </a:p>
          <a:p>
            <a:pPr>
              <a:buNone/>
              <a:defRPr/>
            </a:pPr>
            <a:r>
              <a:rPr/>
              <a:t>Nguồn:</a:t>
            </a:r>
            <a:endParaRPr/>
          </a:p>
          <a:p>
            <a:pPr>
              <a:buNone/>
              <a:defRPr/>
            </a:pPr>
            <a:r>
              <a:rPr/>
              <a:t>https://grafana.com/docs/k6/latest/using-k6/test-lifecycle/</a:t>
            </a:r>
            <a:endParaRPr/>
          </a:p>
          <a:p>
            <a:pPr>
              <a:buNone/>
              <a:defRPr/>
            </a:pPr>
            <a:r>
              <a:rPr/>
              <a:t>https://github.com/minhthang2k5/eshop-sut/blob/main/performance/k6/README.md</a:t>
            </a:r>
            <a:endParaRPr/>
          </a:p>
        </p:txBody>
      </p:sp>
      <p:sp>
        <p:nvSpPr>
          <p:cNvPr id="211278469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78028067" name="Slide Image Placeholder 1"/>
          <p:cNvSpPr>
            <a:spLocks noGrp="1"/>
          </p:cNvSpPr>
          <p:nvPr>
            <p:ph type="sldImg" idx="0"/>
          </p:nvPr>
        </p:nvSpPr>
        <p:spPr bwMode="auto"/>
      </p:sp>
      <p:sp>
        <p:nvSpPr>
          <p:cNvPr id="1253921372" name="Notes Placeholder 2"/>
          <p:cNvSpPr>
            <a:spLocks noGrp="1"/>
          </p:cNvSpPr>
          <p:nvPr>
            <p:ph type="body" idx="1"/>
          </p:nvPr>
        </p:nvSpPr>
        <p:spPr bwMode="auto"/>
        <p:txBody>
          <a:bodyPr/>
          <a:lstStyle/>
          <a:p>
            <a:pPr>
              <a:buNone/>
              <a:defRPr/>
            </a:pPr>
            <a:r>
              <a:rPr/>
              <a:t>Nguồn: performance/k6/README.md; báo cáo mục 4.2.1–4.2.2. Terminal B bắt đầu tại eshop-sut. Runner lưu output/&lt;loại&gt;-&lt;timestamp&gt;-&lt;suffix&gt;/ gồm log, metrics, summary. Sau smoke, chạy tuần tự run-baseline.sh, run-stress.sh, run-spike.sh.</a:t>
            </a:r>
            <a:endParaRPr/>
          </a:p>
        </p:txBody>
      </p:sp>
      <p:sp>
        <p:nvSpPr>
          <p:cNvPr id="16145718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36142491" name="Slide Image Placeholder 1"/>
          <p:cNvSpPr>
            <a:spLocks noGrp="1"/>
          </p:cNvSpPr>
          <p:nvPr>
            <p:ph type="sldImg" idx="0"/>
          </p:nvPr>
        </p:nvSpPr>
        <p:spPr bwMode="auto"/>
      </p:sp>
      <p:sp>
        <p:nvSpPr>
          <p:cNvPr id="2121004287" name="Notes Placeholder 2"/>
          <p:cNvSpPr>
            <a:spLocks noGrp="1"/>
          </p:cNvSpPr>
          <p:nvPr>
            <p:ph type="body" idx="1"/>
          </p:nvPr>
        </p:nvSpPr>
        <p:spPr bwMode="auto"/>
        <p:txBody>
          <a:bodyPr/>
          <a:lstStyle/>
          <a:p>
            <a:pPr>
              <a:buNone/>
              <a:defRPr/>
            </a:pPr>
            <a:r>
              <a:rPr/>
              <a:t>Nguồn: báo cáo mục 4.2.2–4.2.3 và performance/k6/smoke.js. Các bài k6 dùng script HTTP viết sẵn, không replay HAR nguyên xi. Check đo tính đúng của từng response, threshold đánh giá metric của tập mẫu.</a:t>
            </a:r>
            <a:endParaRPr/>
          </a:p>
        </p:txBody>
      </p:sp>
      <p:sp>
        <p:nvSpPr>
          <p:cNvPr id="153914703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21472570" name="Slide Image Placeholder 1"/>
          <p:cNvSpPr>
            <a:spLocks noGrp="1"/>
          </p:cNvSpPr>
          <p:nvPr>
            <p:ph type="sldImg" idx="0"/>
          </p:nvPr>
        </p:nvSpPr>
        <p:spPr bwMode="auto"/>
      </p:sp>
      <p:sp>
        <p:nvSpPr>
          <p:cNvPr id="297824794" name="Notes Placeholder 2"/>
          <p:cNvSpPr>
            <a:spLocks noGrp="1"/>
          </p:cNvSpPr>
          <p:nvPr>
            <p:ph type="body" idx="1"/>
          </p:nvPr>
        </p:nvSpPr>
        <p:spPr bwMode="auto"/>
        <p:txBody>
          <a:bodyPr/>
          <a:lstStyle/>
          <a:p>
            <a:pPr>
              <a:buNone/>
              <a:defRPr/>
            </a:pPr>
            <a:r>
              <a:rPr/>
              <a:t>Nguồn: báo cáo mục 4.2.3; baseline.js, stress.js, spike.js. Stress/spike dùng accounts[(exec.vu.idInTest - 1) % accounts.length], nên tại 1500 VUs mỗi tài khoản tối đa 30 VUs. Token nằm trong state riêng từng VU, không chia sẻ qua setup. Login lỗi thì bỏ qua nghiệp vụ cần token và ghi business_requests_skipped.</a:t>
            </a:r>
            <a:endParaRPr/>
          </a:p>
        </p:txBody>
      </p:sp>
      <p:sp>
        <p:nvSpPr>
          <p:cNvPr id="11582667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1478431" name="Slide Image Placeholder 1"/>
          <p:cNvSpPr>
            <a:spLocks noGrp="1"/>
          </p:cNvSpPr>
          <p:nvPr>
            <p:ph type="sldImg" idx="0"/>
          </p:nvPr>
        </p:nvSpPr>
        <p:spPr bwMode="auto"/>
      </p:sp>
      <p:sp>
        <p:nvSpPr>
          <p:cNvPr id="1436441317" name="Notes Placeholder 2"/>
          <p:cNvSpPr>
            <a:spLocks noGrp="1"/>
          </p:cNvSpPr>
          <p:nvPr>
            <p:ph type="body" idx="1"/>
          </p:nvPr>
        </p:nvSpPr>
        <p:spPr bwMode="auto"/>
        <p:txBody>
          <a:bodyPr/>
          <a:lstStyle/>
          <a:p>
            <a:pPr>
              <a:buNone/>
              <a:defRPr/>
            </a:pPr>
            <a:r>
              <a:rPr/>
              <a:t>Các con số ở đây là profile report thực tế, khác kế hoạch ban đầu 50–400/500 VU. Giữ đúng run ID khi trình bày.</a:t>
            </a:r>
            <a:endParaRPr/>
          </a:p>
          <a:p>
            <a:pPr>
              <a:buNone/>
              <a:defRPr/>
            </a:pPr>
            <a:endParaRPr/>
          </a:p>
          <a:p>
            <a:pPr>
              <a:buNone/>
              <a:defRPr/>
            </a:pPr>
            <a:r>
              <a:rPr/>
              <a:t>Nguồn:</a:t>
            </a:r>
            <a:endParaRPr/>
          </a:p>
          <a:p>
            <a:pPr>
              <a:buNone/>
              <a:defRPr/>
            </a:pPr>
            <a:r>
              <a:rPr/>
              <a:t>https://github.com/minhthang2k5/eshop-sut/blob/main/performance/k6/README.md</a:t>
            </a:r>
            <a:endParaRPr/>
          </a:p>
          <a:p>
            <a:pPr>
              <a:buNone/>
              <a:defRPr/>
            </a:pPr>
            <a:r>
              <a:rPr/>
              <a:t>https://github.com/minhthang2k5/eshop-sut/blob/main/performance/k6/reports/03-stress-test-report.md</a:t>
            </a:r>
            <a:endParaRPr/>
          </a:p>
          <a:p>
            <a:pPr>
              <a:buNone/>
              <a:defRPr/>
            </a:pPr>
            <a:r>
              <a:rPr/>
              <a:t>https://github.com/minhthang2k5/eshop-sut/blob/main/performance/k6/reports/04-spike-test-report.md</a:t>
            </a:r>
            <a:endParaRPr/>
          </a:p>
        </p:txBody>
      </p:sp>
      <p:sp>
        <p:nvSpPr>
          <p:cNvPr id="206802091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92779298" name="Slide Image Placeholder 1"/>
          <p:cNvSpPr>
            <a:spLocks noGrp="1"/>
          </p:cNvSpPr>
          <p:nvPr>
            <p:ph type="sldImg" idx="0"/>
          </p:nvPr>
        </p:nvSpPr>
        <p:spPr bwMode="auto"/>
      </p:sp>
      <p:sp>
        <p:nvSpPr>
          <p:cNvPr id="1744777342" name="Notes Placeholder 2"/>
          <p:cNvSpPr>
            <a:spLocks noGrp="1"/>
          </p:cNvSpPr>
          <p:nvPr>
            <p:ph type="body" idx="1"/>
          </p:nvPr>
        </p:nvSpPr>
        <p:spPr bwMode="auto"/>
        <p:txBody>
          <a:bodyPr/>
          <a:lstStyle/>
          <a:p>
            <a:pPr>
              <a:buNone/>
              <a:defRPr/>
            </a:pPr>
            <a:r>
              <a:rPr/>
              <a:t>Nguồn: báo cáo mục 4.3.3 và 4.4. Các dấu hiệu về SQLite, Node.js và máy phát tải là giả thuyết, chưa có telemetry đồng bộ để xác nhận bottleneck. Tách triệu chứng từ k6 khỏi nguyên nhân cần chứng cứ hệ thống.</a:t>
            </a:r>
            <a:endParaRPr/>
          </a:p>
        </p:txBody>
      </p:sp>
      <p:sp>
        <p:nvSpPr>
          <p:cNvPr id="90076875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57786055" name="Slide Image Placeholder 1"/>
          <p:cNvSpPr>
            <a:spLocks noGrp="1"/>
          </p:cNvSpPr>
          <p:nvPr>
            <p:ph type="sldImg" idx="0"/>
          </p:nvPr>
        </p:nvSpPr>
        <p:spPr bwMode="auto"/>
      </p:sp>
      <p:sp>
        <p:nvSpPr>
          <p:cNvPr id="1233306093" name="Notes Placeholder 2"/>
          <p:cNvSpPr>
            <a:spLocks noGrp="1"/>
          </p:cNvSpPr>
          <p:nvPr>
            <p:ph type="body" idx="1"/>
          </p:nvPr>
        </p:nvSpPr>
        <p:spPr bwMode="auto"/>
        <p:txBody>
          <a:bodyPr/>
          <a:lstStyle/>
          <a:p>
            <a:pPr>
              <a:buNone/>
              <a:defRPr/>
            </a:pPr>
            <a:r>
              <a:rPr/>
              <a:t>Nguồn chính: performance/k6/tune-db/WAL.md và WAL.svg. Giới hạn một writer, checkpoint và cấu hình EShop: báo cáo mục 4.4. Backend dùng chung một connection, nên khả năng đồng thời của WAL không tự chứng minh mức cải thiện cho run hiện có.</a:t>
            </a:r>
            <a:endParaRPr/>
          </a:p>
        </p:txBody>
      </p:sp>
      <p:sp>
        <p:nvSpPr>
          <p:cNvPr id="10588118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536268349" name="Slide Image Placeholder 1"/>
          <p:cNvSpPr>
            <a:spLocks noGrp="1"/>
          </p:cNvSpPr>
          <p:nvPr>
            <p:ph type="sldImg" idx="0"/>
          </p:nvPr>
        </p:nvSpPr>
        <p:spPr bwMode="auto"/>
      </p:sp>
      <p:sp>
        <p:nvSpPr>
          <p:cNvPr id="177370706" name="Notes Placeholder 2"/>
          <p:cNvSpPr>
            <a:spLocks noGrp="1"/>
          </p:cNvSpPr>
          <p:nvPr>
            <p:ph type="body" idx="1"/>
          </p:nvPr>
        </p:nvSpPr>
        <p:spPr bwMode="auto"/>
        <p:txBody>
          <a:bodyPr/>
          <a:lstStyle/>
          <a:p>
            <a:pPr>
              <a:buNone/>
              <a:defRPr/>
            </a:pPr>
            <a:r>
              <a:rPr/>
              <a:t>Nguồn: báo cáo mục 4.4 và performance/k6/README.md. SCAN cũng có thể quét index, vì vậy cần đọc toàn bộ chi tiết plan. Không đổi thành LIKE 'iPhone%' để ép dùng index vì điều đó làm thay đổi nghĩa tìm kiếm.</a:t>
            </a:r>
            <a:endParaRPr/>
          </a:p>
        </p:txBody>
      </p:sp>
      <p:sp>
        <p:nvSpPr>
          <p:cNvPr id="192510133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60737940" name="Slide Image Placeholder 1"/>
          <p:cNvSpPr>
            <a:spLocks noGrp="1"/>
          </p:cNvSpPr>
          <p:nvPr>
            <p:ph type="sldImg" idx="0"/>
          </p:nvPr>
        </p:nvSpPr>
        <p:spPr bwMode="auto"/>
      </p:sp>
      <p:sp>
        <p:nvSpPr>
          <p:cNvPr id="62434789" name="Notes Placeholder 2"/>
          <p:cNvSpPr>
            <a:spLocks noGrp="1"/>
          </p:cNvSpPr>
          <p:nvPr>
            <p:ph type="body" idx="1"/>
          </p:nvPr>
        </p:nvSpPr>
        <p:spPr bwMode="auto"/>
        <p:txBody>
          <a:bodyPr/>
          <a:lstStyle/>
          <a:p>
            <a:pPr>
              <a:buNone/>
              <a:defRPr/>
            </a:pPr>
            <a:r>
              <a:rPr/>
              <a:t>Video do thành viên tự thực hiện. Chia clip thành các chương cài đặt, chức năng cơ bản và luồng phức tạp. Sau khi có link YouTube, sửa ô LINK_VIDEO_1 và gắn hyperlink. Không có video nhúng trong bản này.</a:t>
            </a:r>
            <a:endParaRPr/>
          </a:p>
          <a:p>
            <a:pPr>
              <a:buNone/>
              <a:defRPr/>
            </a:pPr>
            <a:r>
              <a:rPr/>
              <a:t>Khi trở lại slide tiếp theo, giải thích kết quả và giới hạn số liệu.</a:t>
            </a:r>
            <a:endParaRPr/>
          </a:p>
          <a:p>
            <a:pPr>
              <a:buNone/>
              <a:defRPr/>
            </a:pPr>
            <a:endParaRPr/>
          </a:p>
          <a:p>
            <a:pPr>
              <a:buNone/>
              <a:defRPr/>
            </a:pPr>
            <a:r>
              <a:rPr/>
              <a:t>Nguồn:</a:t>
            </a:r>
            <a:endParaRPr/>
          </a:p>
          <a:p>
            <a:pPr>
              <a:buNone/>
              <a:defRPr/>
            </a:pPr>
            <a:r>
              <a:rPr/>
              <a:t>https://github.com/minhthang2k5/eshop-sut/blob/main/performance/k6/README.md</a:t>
            </a:r>
            <a:endParaRPr/>
          </a:p>
        </p:txBody>
      </p:sp>
      <p:sp>
        <p:nvSpPr>
          <p:cNvPr id="118265081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93173998" name="Slide Image Placeholder 1"/>
          <p:cNvSpPr>
            <a:spLocks noGrp="1"/>
          </p:cNvSpPr>
          <p:nvPr>
            <p:ph type="sldImg" idx="0"/>
          </p:nvPr>
        </p:nvSpPr>
        <p:spPr bwMode="auto"/>
      </p:sp>
      <p:sp>
        <p:nvSpPr>
          <p:cNvPr id="332651845" name="Notes Placeholder 2"/>
          <p:cNvSpPr>
            <a:spLocks noGrp="1"/>
          </p:cNvSpPr>
          <p:nvPr>
            <p:ph type="body" idx="1"/>
          </p:nvPr>
        </p:nvSpPr>
        <p:spPr bwMode="auto"/>
        <p:txBody>
          <a:bodyPr/>
          <a:lstStyle/>
          <a:p>
            <a:pPr>
              <a:buNone/>
              <a:defRPr/>
            </a:pPr>
            <a:r>
              <a:rPr/>
              <a:t>Nguồn: evidence/k6/figures/01-baseline-percentiles.png, 02-baseline-api.png; báo cáo mục 4.3.2. Run B0 baseline-20261022-110446-eGLTX1, steady gồm 6 Login. p95 tổng không phải trung bình p95 từng API.</a:t>
            </a:r>
            <a:endParaRPr/>
          </a:p>
        </p:txBody>
      </p:sp>
      <p:sp>
        <p:nvSpPr>
          <p:cNvPr id="65695569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450431673" name="Slide Image Placeholder 1"/>
          <p:cNvSpPr>
            <a:spLocks noGrp="1"/>
          </p:cNvSpPr>
          <p:nvPr>
            <p:ph type="sldImg" idx="0"/>
          </p:nvPr>
        </p:nvSpPr>
        <p:spPr bwMode="auto"/>
      </p:sp>
      <p:sp>
        <p:nvSpPr>
          <p:cNvPr id="659264757" name="Notes Placeholder 2"/>
          <p:cNvSpPr>
            <a:spLocks noGrp="1"/>
          </p:cNvSpPr>
          <p:nvPr>
            <p:ph type="body" idx="1"/>
          </p:nvPr>
        </p:nvSpPr>
        <p:spPr bwMode="auto"/>
        <p:txBody>
          <a:bodyPr/>
          <a:lstStyle/>
          <a:p>
            <a:pPr>
              <a:buNone/>
              <a:defRPr/>
            </a:pPr>
            <a:r>
              <a:rPr/>
              <a:t>Nguồn: evidence/k6/figures/03-stress-before.png, 04-spike-before.png; báo cáo mục 4.3.3–4.3.4. Đường nối là số đo tổng hợp theo phase, không phải latency liên tục. Recovery chỉ xác nhận trong cửa sổ quan sát 60 giây.</a:t>
            </a:r>
            <a:endParaRPr/>
          </a:p>
        </p:txBody>
      </p:sp>
      <p:sp>
        <p:nvSpPr>
          <p:cNvPr id="189210556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75655534" name="Slide Image Placeholder 1"/>
          <p:cNvSpPr>
            <a:spLocks noGrp="1"/>
          </p:cNvSpPr>
          <p:nvPr>
            <p:ph type="sldImg" idx="0"/>
          </p:nvPr>
        </p:nvSpPr>
        <p:spPr bwMode="auto"/>
      </p:sp>
      <p:sp>
        <p:nvSpPr>
          <p:cNvPr id="885099725" name="Notes Placeholder 2"/>
          <p:cNvSpPr>
            <a:spLocks noGrp="1"/>
          </p:cNvSpPr>
          <p:nvPr>
            <p:ph type="body" idx="1"/>
          </p:nvPr>
        </p:nvSpPr>
        <p:spPr bwMode="auto"/>
        <p:txBody>
          <a:bodyPr/>
          <a:lstStyle/>
          <a:p>
            <a:pPr>
              <a:buNone/>
              <a:defRPr/>
            </a:pPr>
            <a:r>
              <a:rPr/>
              <a:t>Run sau baseline-20261023-084311-TSxg2P. Report ghi WAL/index theo source và thông tin người thực hiện, chưa có snapshot DB/build để chứng minh quan hệ nhân quả. Cả hai là một lần đo. Không kết luận WAL chắc chắn tạo ra toàn bộ mức chênh.</a:t>
            </a:r>
            <a:endParaRPr/>
          </a:p>
          <a:p>
            <a:pPr>
              <a:buNone/>
              <a:defRPr/>
            </a:pPr>
            <a:endParaRPr/>
          </a:p>
          <a:p>
            <a:pPr>
              <a:buNone/>
              <a:defRPr/>
            </a:pPr>
            <a:r>
              <a:rPr/>
              <a:t>Nguồn:</a:t>
            </a:r>
            <a:endParaRPr/>
          </a:p>
          <a:p>
            <a:pPr>
              <a:buNone/>
              <a:defRPr/>
            </a:pPr>
            <a:r>
              <a:rPr/>
              <a:t>https://github.com/minhthang2k5/eshop-sut/blob/main/performance/k6/reports/02-baseline-test-report.md</a:t>
            </a:r>
            <a:endParaRPr/>
          </a:p>
          <a:p>
            <a:pPr>
              <a:buNone/>
              <a:defRPr/>
            </a:pPr>
            <a:r>
              <a:rPr/>
              <a:t>https://github.com/minhthang2k5/eshop-sut/blob/main/performance/k6/reports/06-tuned-baseline-test-report.md</a:t>
            </a:r>
            <a:endParaRPr/>
          </a:p>
        </p:txBody>
      </p:sp>
      <p:sp>
        <p:nvSpPr>
          <p:cNvPr id="103442922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60849356" name="Slide Image Placeholder 1"/>
          <p:cNvSpPr>
            <a:spLocks noGrp="1"/>
          </p:cNvSpPr>
          <p:nvPr>
            <p:ph type="sldImg" idx="0"/>
          </p:nvPr>
        </p:nvSpPr>
        <p:spPr bwMode="auto"/>
      </p:sp>
      <p:sp>
        <p:nvSpPr>
          <p:cNvPr id="440287620" name="Notes Placeholder 2"/>
          <p:cNvSpPr>
            <a:spLocks noGrp="1"/>
          </p:cNvSpPr>
          <p:nvPr>
            <p:ph type="body" idx="1"/>
          </p:nvPr>
        </p:nvSpPr>
        <p:spPr bwMode="auto"/>
        <p:txBody>
          <a:bodyPr/>
          <a:lstStyle/>
          <a:p>
            <a:pPr>
              <a:defRPr/>
            </a:pPr>
            <a:r>
              <a:rPr/>
              <a:t>Nguồn: evidence/k6/figures/05-stress-comparison.png, báo cáo mục 4.4. Trục latency log10, mỗi bậc giữ 60 giây. Bản tuned đạt 247/252 thresholds, toàn run vẫn FAIL.</a:t>
            </a:r>
            <a:endParaRPr/>
          </a:p>
        </p:txBody>
      </p:sp>
      <p:sp>
        <p:nvSpPr>
          <p:cNvPr id="180943781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53221650" name="Slide Image Placeholder 1"/>
          <p:cNvSpPr>
            <a:spLocks noGrp="1"/>
          </p:cNvSpPr>
          <p:nvPr>
            <p:ph type="sldImg" idx="0"/>
          </p:nvPr>
        </p:nvSpPr>
        <p:spPr bwMode="auto"/>
      </p:sp>
      <p:sp>
        <p:nvSpPr>
          <p:cNvPr id="1055091955" name="Notes Placeholder 2"/>
          <p:cNvSpPr>
            <a:spLocks noGrp="1"/>
          </p:cNvSpPr>
          <p:nvPr>
            <p:ph type="body" idx="1"/>
          </p:nvPr>
        </p:nvSpPr>
        <p:spPr bwMode="auto"/>
        <p:txBody>
          <a:bodyPr/>
          <a:lstStyle/>
          <a:p>
            <a:pPr>
              <a:defRPr/>
            </a:pPr>
            <a:r>
              <a:rPr/>
              <a:t>Nguồn: evidence/k6/figures/06-spike-comparison.png, báo cáo mục 4.3.1 và 4.4. Trục latency log10. Cùng profile 50/1500/50 VUs, phase 30/60/60 giây. Không quy toàn bộ chênh lệch cho WAL khi chưa tách tác động.</a:t>
            </a:r>
            <a:endParaRPr/>
          </a:p>
        </p:txBody>
      </p:sp>
      <p:sp>
        <p:nvSpPr>
          <p:cNvPr id="191610976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546765480" name="Slide Image Placeholder 1"/>
          <p:cNvSpPr>
            <a:spLocks noGrp="1"/>
          </p:cNvSpPr>
          <p:nvPr>
            <p:ph type="sldImg" idx="0"/>
          </p:nvPr>
        </p:nvSpPr>
        <p:spPr bwMode="auto"/>
      </p:sp>
      <p:sp>
        <p:nvSpPr>
          <p:cNvPr id="311617971" name="Notes Placeholder 2"/>
          <p:cNvSpPr>
            <a:spLocks noGrp="1"/>
          </p:cNvSpPr>
          <p:nvPr>
            <p:ph type="body" idx="1"/>
          </p:nvPr>
        </p:nvSpPr>
        <p:spPr bwMode="auto"/>
        <p:txBody>
          <a:bodyPr/>
          <a:lstStyle/>
          <a:p>
            <a:pPr>
              <a:buNone/>
              <a:defRPr/>
            </a:pPr>
            <a:r>
              <a:rPr/>
              <a:t>Nguồn: submission/Bao_cao_seminar_Performance_Testing.md, mục 7, Bài tập 1 — Lê Nguyễn Quốc Thái (dòng 891 trở đi). Giữ nguyên số liệu đề bài, kể cả bậc 1750 có p95 7312,27 và lỗi 4,029 khác run T0 ở chương 4. Đây là bảng đề bài, không gắn các số này với T0.</a:t>
            </a:r>
            <a:endParaRPr/>
          </a:p>
        </p:txBody>
      </p:sp>
      <p:sp>
        <p:nvSpPr>
          <p:cNvPr id="43513318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3977065" name="Slide Image Placeholder 1"/>
          <p:cNvSpPr>
            <a:spLocks noGrp="1"/>
          </p:cNvSpPr>
          <p:nvPr>
            <p:ph type="sldImg" idx="0"/>
          </p:nvPr>
        </p:nvSpPr>
        <p:spPr bwMode="auto"/>
      </p:sp>
      <p:sp>
        <p:nvSpPr>
          <p:cNvPr id="188805008" name="Notes Placeholder 2"/>
          <p:cNvSpPr>
            <a:spLocks noGrp="1"/>
          </p:cNvSpPr>
          <p:nvPr>
            <p:ph type="body" idx="1"/>
          </p:nvPr>
        </p:nvSpPr>
        <p:spPr bwMode="auto"/>
        <p:txBody>
          <a:bodyPr/>
          <a:lstStyle/>
          <a:p>
            <a:pPr>
              <a:defRPr/>
            </a:pPr>
            <a:r>
              <a:rPr/>
              <a:t>Nguồn: báo cáo mục 7, Bài tập 1. Gợi ý cho người trình bày: p95 là mốc khoảng 95% mẫu không vượt quá, 5344,45 ms ≈ 5,34 giây. Trong spike fail cả latency và lỗi. Bảng A fail đầu 1500 VUs với p95 5380,45 ms, lỗi 2,659%. RPS cao không đủ khi SLO vi phạm. Sau spike p95 13,04 ms và lỗi 0%, đạt trong 60 giây quan sát.</a:t>
            </a:r>
            <a:endParaRPr/>
          </a:p>
        </p:txBody>
      </p:sp>
      <p:sp>
        <p:nvSpPr>
          <p:cNvPr id="94682080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32139862" name="Slide Image Placeholder 1"/>
          <p:cNvSpPr>
            <a:spLocks noGrp="1"/>
          </p:cNvSpPr>
          <p:nvPr>
            <p:ph type="sldImg" idx="0"/>
          </p:nvPr>
        </p:nvSpPr>
        <p:spPr bwMode="auto"/>
      </p:sp>
      <p:sp>
        <p:nvSpPr>
          <p:cNvPr id="122069645" name="Notes Placeholder 2"/>
          <p:cNvSpPr>
            <a:spLocks noGrp="1"/>
          </p:cNvSpPr>
          <p:nvPr>
            <p:ph type="body" idx="1"/>
          </p:nvPr>
        </p:nvSpPr>
        <p:spPr bwMode="auto"/>
        <p:txBody>
          <a:bodyPr/>
          <a:lstStyle/>
          <a:p>
            <a:pPr>
              <a:buNone/>
              <a:defRPr/>
            </a:pPr>
            <a:r>
              <a:rPr/>
              <a:t>Giải thích cây test plan trước khi mở video. Dùng GUI để dựng và kiểm tra, CLI cho lần chạy tạo tải và sinh report.</a:t>
            </a:r>
            <a:endParaRPr/>
          </a:p>
          <a:p>
            <a:pPr>
              <a:buNone/>
              <a:defRPr/>
            </a:pPr>
            <a:endParaRPr/>
          </a:p>
          <a:p>
            <a:pPr>
              <a:buNone/>
              <a:defRPr/>
            </a:pPr>
            <a:r>
              <a:rPr/>
              <a:t>Nguồn:</a:t>
            </a:r>
            <a:endParaRPr/>
          </a:p>
          <a:p>
            <a:pPr>
              <a:buNone/>
              <a:defRPr/>
            </a:pPr>
            <a:r>
              <a:rPr/>
              <a:t>https://github.com/minhthang2k5/eshop-sut/blob/main/performance/jmeter/README.md</a:t>
            </a:r>
            <a:endParaRPr/>
          </a:p>
          <a:p>
            <a:pPr>
              <a:buNone/>
              <a:defRPr/>
            </a:pPr>
            <a:r>
              <a:rPr/>
              <a:t>https://jmeter.apache.org/usermanual/index.html</a:t>
            </a:r>
            <a:endParaRPr/>
          </a:p>
        </p:txBody>
      </p:sp>
      <p:sp>
        <p:nvSpPr>
          <p:cNvPr id="70481808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5838418" name="Slide Image Placeholder 1"/>
          <p:cNvSpPr>
            <a:spLocks noGrp="1"/>
          </p:cNvSpPr>
          <p:nvPr>
            <p:ph type="sldImg" idx="0"/>
          </p:nvPr>
        </p:nvSpPr>
        <p:spPr bwMode="auto"/>
      </p:sp>
      <p:sp>
        <p:nvSpPr>
          <p:cNvPr id="635329461" name="Notes Placeholder 2"/>
          <p:cNvSpPr>
            <a:spLocks noGrp="1"/>
          </p:cNvSpPr>
          <p:nvPr>
            <p:ph type="body" idx="1"/>
          </p:nvPr>
        </p:nvSpPr>
        <p:spPr bwMode="auto"/>
        <p:txBody>
          <a:bodyPr/>
          <a:lstStyle/>
          <a:p>
            <a:pPr>
              <a:buNone/>
              <a:defRPr/>
            </a:pPr>
            <a:r>
              <a:rPr/>
              <a:t>Lệnh mẫu: jmeter -n -t performance/jmeter/eshop_workload.jmx -l results.jtl -e -o report. Dùng thư mục report mới, không trộn output các lần chạy. Trên Windows dùng jmeter.bat nếu môi trường yêu cầu.</a:t>
            </a:r>
            <a:endParaRPr/>
          </a:p>
          <a:p>
            <a:pPr>
              <a:buNone/>
              <a:defRPr/>
            </a:pPr>
            <a:endParaRPr/>
          </a:p>
          <a:p>
            <a:pPr>
              <a:buNone/>
              <a:defRPr/>
            </a:pPr>
            <a:r>
              <a:rPr/>
              <a:t>Nguồn:</a:t>
            </a:r>
            <a:endParaRPr/>
          </a:p>
          <a:p>
            <a:pPr>
              <a:buNone/>
              <a:defRPr/>
            </a:pPr>
            <a:r>
              <a:rPr/>
              <a:t>https://github.com/minhthang2k5/eshop-sut/blob/main/performance/jmeter/README.md</a:t>
            </a:r>
            <a:endParaRPr/>
          </a:p>
          <a:p>
            <a:pPr>
              <a:buNone/>
              <a:defRPr/>
            </a:pPr>
            <a:r>
              <a:rPr/>
              <a:t>https://jmeter.apache.org/usermanual/index.html</a:t>
            </a:r>
            <a:endParaRPr/>
          </a:p>
        </p:txBody>
      </p:sp>
      <p:sp>
        <p:nvSpPr>
          <p:cNvPr id="13415396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31162842" name="Slide Image Placeholder 1"/>
          <p:cNvSpPr>
            <a:spLocks noGrp="1"/>
          </p:cNvSpPr>
          <p:nvPr>
            <p:ph type="sldImg" idx="0"/>
          </p:nvPr>
        </p:nvSpPr>
        <p:spPr bwMode="auto"/>
      </p:sp>
      <p:sp>
        <p:nvSpPr>
          <p:cNvPr id="313866011" name="Notes Placeholder 2"/>
          <p:cNvSpPr>
            <a:spLocks noGrp="1"/>
          </p:cNvSpPr>
          <p:nvPr>
            <p:ph type="body" idx="1"/>
          </p:nvPr>
        </p:nvSpPr>
        <p:spPr bwMode="auto"/>
        <p:txBody>
          <a:bodyPr/>
          <a:lstStyle/>
          <a:p>
            <a:pPr>
              <a:buNone/>
              <a:defRPr/>
            </a:pPr>
            <a:r>
              <a:rPr/>
              <a:t>Run tham chiếu có 50 threads, lịch 300 giây gồm ramp 10 giây. Cửa sổ action quan sát là 296,748 giây. Đây là khác biệt quan trọng so với steady của k6.</a:t>
            </a:r>
            <a:endParaRPr/>
          </a:p>
          <a:p>
            <a:pPr>
              <a:buNone/>
              <a:defRPr/>
            </a:pPr>
            <a:endParaRPr/>
          </a:p>
          <a:p>
            <a:pPr>
              <a:buNone/>
              <a:defRPr/>
            </a:pPr>
            <a:r>
              <a:rPr/>
              <a:t>Nguồn:</a:t>
            </a:r>
            <a:endParaRPr/>
          </a:p>
          <a:p>
            <a:pPr>
              <a:buNone/>
              <a:defRPr/>
            </a:pPr>
            <a:r>
              <a:rPr/>
              <a:t>https://github.com/minhthang2k5/eshop-sut/blob/main/performance/jmeter/README.md</a:t>
            </a:r>
            <a:endParaRPr/>
          </a:p>
          <a:p>
            <a:pPr>
              <a:buNone/>
              <a:defRPr/>
            </a:pPr>
            <a:r>
              <a:rPr/>
              <a:t>https://jmeter.apache.org/usermanual/index.html</a:t>
            </a:r>
            <a:endParaRPr/>
          </a:p>
        </p:txBody>
      </p:sp>
      <p:sp>
        <p:nvSpPr>
          <p:cNvPr id="135286880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90687447" name="Slide Image Placeholder 1"/>
          <p:cNvSpPr>
            <a:spLocks noGrp="1"/>
          </p:cNvSpPr>
          <p:nvPr>
            <p:ph type="sldImg" idx="0"/>
          </p:nvPr>
        </p:nvSpPr>
        <p:spPr bwMode="auto"/>
      </p:sp>
      <p:sp>
        <p:nvSpPr>
          <p:cNvPr id="449433620" name="Notes Placeholder 2"/>
          <p:cNvSpPr>
            <a:spLocks noGrp="1"/>
          </p:cNvSpPr>
          <p:nvPr>
            <p:ph type="body" idx="1"/>
          </p:nvPr>
        </p:nvSpPr>
        <p:spPr bwMode="auto"/>
        <p:txBody>
          <a:bodyPr/>
          <a:lstStyle/>
          <a:p>
            <a:pPr>
              <a:buNone/>
              <a:defRPr/>
            </a:pPr>
            <a:r>
              <a:rPr/>
              <a:t>Test plan hiện tại dùng Regular Expression Extractor theo README. Không khẳng định recorder đã tạo toàn bộ .jmx nếu chưa có evidence ghi hình. Video cần chỉ rõ bước ghi hoặc dựng lại request và phát lại.</a:t>
            </a:r>
            <a:endParaRPr/>
          </a:p>
          <a:p>
            <a:pPr>
              <a:buNone/>
              <a:defRPr/>
            </a:pPr>
            <a:endParaRPr/>
          </a:p>
          <a:p>
            <a:pPr>
              <a:buNone/>
              <a:defRPr/>
            </a:pPr>
            <a:r>
              <a:rPr/>
              <a:t>Nguồn:</a:t>
            </a:r>
            <a:endParaRPr/>
          </a:p>
          <a:p>
            <a:pPr>
              <a:buNone/>
              <a:defRPr/>
            </a:pPr>
            <a:r>
              <a:rPr/>
              <a:t>https://github.com/minhthang2k5/eshop-sut/blob/main/performance/jmeter/README.md</a:t>
            </a:r>
            <a:endParaRPr/>
          </a:p>
          <a:p>
            <a:pPr>
              <a:buNone/>
              <a:defRPr/>
            </a:pPr>
            <a:r>
              <a:rPr/>
              <a:t>https://jmeter.apache.org/usermanual/index.html</a:t>
            </a:r>
            <a:endParaRPr/>
          </a:p>
        </p:txBody>
      </p:sp>
      <p:sp>
        <p:nvSpPr>
          <p:cNvPr id="204600569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32581467" name="Slide Image Placeholder 1"/>
          <p:cNvSpPr>
            <a:spLocks noGrp="1"/>
          </p:cNvSpPr>
          <p:nvPr>
            <p:ph type="sldImg" idx="0"/>
          </p:nvPr>
        </p:nvSpPr>
        <p:spPr bwMode="auto"/>
      </p:sp>
      <p:sp>
        <p:nvSpPr>
          <p:cNvPr id="262020094" name="Notes Placeholder 2"/>
          <p:cNvSpPr>
            <a:spLocks noGrp="1"/>
          </p:cNvSpPr>
          <p:nvPr>
            <p:ph type="body" idx="1"/>
          </p:nvPr>
        </p:nvSpPr>
        <p:spPr bwMode="auto"/>
        <p:txBody>
          <a:bodyPr/>
          <a:lstStyle/>
          <a:p>
            <a:pPr>
              <a:buNone/>
              <a:defRPr/>
            </a:pPr>
            <a:r>
              <a:rPr/>
              <a:t>Video do thành viên tự thực hiện. Chia clip thành các chương cài đặt, chức năng cơ bản và luồng phức tạp. Sau khi có link YouTube, sửa ô LINK_VIDEO_2 và gắn hyperlink. Không có video nhúng trong bản này.</a:t>
            </a:r>
            <a:endParaRPr/>
          </a:p>
          <a:p>
            <a:pPr>
              <a:buNone/>
              <a:defRPr/>
            </a:pPr>
            <a:r>
              <a:rPr/>
              <a:t>Khi trở lại slide tiếp theo, giải thích kết quả và giới hạn số liệu.</a:t>
            </a:r>
            <a:endParaRPr/>
          </a:p>
          <a:p>
            <a:pPr>
              <a:buNone/>
              <a:defRPr/>
            </a:pPr>
            <a:endParaRPr/>
          </a:p>
          <a:p>
            <a:pPr>
              <a:buNone/>
              <a:defRPr/>
            </a:pPr>
            <a:r>
              <a:rPr/>
              <a:t>Nguồn:</a:t>
            </a:r>
            <a:endParaRPr/>
          </a:p>
          <a:p>
            <a:pPr>
              <a:buNone/>
              <a:defRPr/>
            </a:pPr>
            <a:r>
              <a:rPr/>
              <a:t>https://github.com/minhthang2k5/eshop-sut/blob/main/performance/jmeter/README.md</a:t>
            </a:r>
            <a:endParaRPr/>
          </a:p>
          <a:p>
            <a:pPr>
              <a:buNone/>
              <a:defRPr/>
            </a:pPr>
            <a:r>
              <a:rPr/>
              <a:t>https://jmeter.apache.org/usermanual/index.html</a:t>
            </a:r>
            <a:endParaRPr/>
          </a:p>
        </p:txBody>
      </p:sp>
      <p:sp>
        <p:nvSpPr>
          <p:cNvPr id="4433780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25575753" name="Slide Image Placeholder 1"/>
          <p:cNvSpPr>
            <a:spLocks noGrp="1"/>
          </p:cNvSpPr>
          <p:nvPr>
            <p:ph type="sldImg" idx="0"/>
          </p:nvPr>
        </p:nvSpPr>
        <p:spPr bwMode="auto"/>
      </p:sp>
      <p:sp>
        <p:nvSpPr>
          <p:cNvPr id="904260520" name="Notes Placeholder 2"/>
          <p:cNvSpPr>
            <a:spLocks noGrp="1"/>
          </p:cNvSpPr>
          <p:nvPr>
            <p:ph type="body" idx="1"/>
          </p:nvPr>
        </p:nvSpPr>
        <p:spPr bwMode="auto"/>
        <p:txBody>
          <a:bodyPr/>
          <a:lstStyle/>
          <a:p>
            <a:pPr>
              <a:buNone/>
              <a:defRPr/>
            </a:pPr>
            <a:r>
              <a:rPr/>
              <a:t>Nguồn baseline-summary.json. Toàn bài có 5.190 samples, p99 23 ms. Không gộp số toàn bài vào bảng action. Percentile theo nearest rank như file summary.</a:t>
            </a:r>
            <a:endParaRPr/>
          </a:p>
          <a:p>
            <a:pPr>
              <a:buNone/>
              <a:defRPr/>
            </a:pPr>
            <a:endParaRPr/>
          </a:p>
          <a:p>
            <a:pPr>
              <a:buNone/>
              <a:defRPr/>
            </a:pPr>
            <a:r>
              <a:rPr/>
              <a:t>Nguồn:</a:t>
            </a:r>
            <a:endParaRPr/>
          </a:p>
          <a:p>
            <a:pPr>
              <a:buNone/>
              <a:defRPr/>
            </a:pPr>
            <a:r>
              <a:rPr/>
              <a:t>https://github.com/minhthang2k5/eshop-sut/blob/main/performance/jmeter/results/baseline-summary.json</a:t>
            </a:r>
            <a:endParaRPr/>
          </a:p>
        </p:txBody>
      </p:sp>
      <p:sp>
        <p:nvSpPr>
          <p:cNvPr id="85297439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08283783" name="Slide Image Placeholder 1"/>
          <p:cNvSpPr>
            <a:spLocks noGrp="1"/>
          </p:cNvSpPr>
          <p:nvPr>
            <p:ph type="sldImg" idx="0"/>
          </p:nvPr>
        </p:nvSpPr>
        <p:spPr bwMode="auto"/>
      </p:sp>
      <p:sp>
        <p:nvSpPr>
          <p:cNvPr id="233028522" name="Notes Placeholder 2"/>
          <p:cNvSpPr>
            <a:spLocks noGrp="1"/>
          </p:cNvSpPr>
          <p:nvPr>
            <p:ph type="body" idx="1"/>
          </p:nvPr>
        </p:nvSpPr>
        <p:spPr bwMode="auto"/>
        <p:txBody>
          <a:bodyPr/>
          <a:lstStyle/>
          <a:p>
            <a:pPr>
              <a:buNone/>
              <a:defRPr/>
            </a:pPr>
            <a:r>
              <a:rPr/>
              <a:t>Nguồn comparison_d2_vs_d3.md. Hai run chưa đủ tương đương để xếp hạng công cụ. Không quy chênh lệch cho connection pooling nếu chưa kiểm chứng.</a:t>
            </a:r>
            <a:endParaRPr/>
          </a:p>
          <a:p>
            <a:pPr>
              <a:buNone/>
              <a:defRPr/>
            </a:pPr>
            <a:endParaRPr/>
          </a:p>
          <a:p>
            <a:pPr>
              <a:buNone/>
              <a:defRPr/>
            </a:pPr>
            <a:r>
              <a:rPr/>
              <a:t>Nguồn:</a:t>
            </a:r>
            <a:endParaRPr/>
          </a:p>
          <a:p>
            <a:pPr>
              <a:buNone/>
              <a:defRPr/>
            </a:pPr>
            <a:r>
              <a:rPr/>
              <a:t>https://github.com/minhthang2k5/eshop-sut/blob/main/performance/jmeter/comparison_d2_vs_d3.md</a:t>
            </a:r>
            <a:endParaRPr/>
          </a:p>
          <a:p>
            <a:pPr>
              <a:buNone/>
              <a:defRPr/>
            </a:pPr>
            <a:r>
              <a:rPr/>
              <a:t>HTTP connection reuse và Keep-Alive cần kiểm tra theo cấu hình của cả hai công cụ. JMeter không mặc định buộc tạo kết nối mới cho mọi request. Chênh lệch percentile không có một mức dung sai chung nếu workload, cửa sổ đo và môi trường khác nhau.</a:t>
            </a:r>
            <a:endParaRPr/>
          </a:p>
          <a:p>
            <a:pPr>
              <a:buNone/>
              <a:defRPr/>
            </a:pPr>
            <a:r>
              <a:rPr/>
              <a:t>https://jmeter.apache.org/usermanual/component_reference.html#HTTP_Request</a:t>
            </a:r>
            <a:endParaRPr/>
          </a:p>
        </p:txBody>
      </p:sp>
      <p:sp>
        <p:nvSpPr>
          <p:cNvPr id="4196689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38583883" name="Slide Image Placeholder 1"/>
          <p:cNvSpPr>
            <a:spLocks noGrp="1"/>
          </p:cNvSpPr>
          <p:nvPr>
            <p:ph type="sldImg" idx="0"/>
          </p:nvPr>
        </p:nvSpPr>
        <p:spPr bwMode="auto"/>
      </p:sp>
      <p:sp>
        <p:nvSpPr>
          <p:cNvPr id="945901658" name="Notes Placeholder 2"/>
          <p:cNvSpPr>
            <a:spLocks noGrp="1"/>
          </p:cNvSpPr>
          <p:nvPr>
            <p:ph type="body" idx="1"/>
          </p:nvPr>
        </p:nvSpPr>
        <p:spPr bwMode="auto"/>
        <p:txBody>
          <a:bodyPr/>
          <a:lstStyle/>
          <a:p>
            <a:pPr>
              <a:buNone/>
              <a:defRPr/>
            </a:pPr>
            <a:r>
              <a:rPr/>
              <a:t>Chỗ dành cho thành viên B tự điền nội dung dựa trên trải nghiệm của mình.</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p:txBody>
      </p:sp>
      <p:sp>
        <p:nvSpPr>
          <p:cNvPr id="16684909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13363539" name="Slide Image Placeholder 1"/>
          <p:cNvSpPr>
            <a:spLocks noGrp="1"/>
          </p:cNvSpPr>
          <p:nvPr>
            <p:ph type="sldImg" idx="0"/>
          </p:nvPr>
        </p:nvSpPr>
        <p:spPr bwMode="auto"/>
      </p:sp>
      <p:sp>
        <p:nvSpPr>
          <p:cNvPr id="1946523136" name="Notes Placeholder 2"/>
          <p:cNvSpPr>
            <a:spLocks noGrp="1"/>
          </p:cNvSpPr>
          <p:nvPr>
            <p:ph type="body" idx="1"/>
          </p:nvPr>
        </p:nvSpPr>
        <p:spPr bwMode="auto"/>
        <p:txBody>
          <a:bodyPr/>
          <a:lstStyle/>
          <a:p>
            <a:pPr>
              <a:buNone/>
              <a:defRPr/>
            </a:pPr>
            <a:r>
              <a:rPr/>
              <a:t>Manifest trong evidence có 16 entry API, gồm bốn request nghiệp vụ 200. HAR không tự chứng minh toàn bộ API contract. Không đưa HAR chưa redacted lên dịch vụ AI.</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https://developer.chrome.com/docs/devtools/network/reference/</a:t>
            </a:r>
            <a:endParaRPr/>
          </a:p>
          <a:p>
            <a:pPr>
              <a:buNone/>
              <a:defRPr/>
            </a:pPr>
            <a:endParaRPr/>
          </a:p>
          <a:p>
            <a:pPr>
              <a:buNone/>
              <a:defRPr/>
            </a:pPr>
            <a:r>
              <a:rPr/>
              <a:t>Bổ sung: HAR có thể chứa secret ngay cả khi xuất sanitized vì dữ liệu tùy biến trong payload/query vẫn cần kiểm tra. Giữ một bản gốc an toàn và chia sẻ bản redacted. pages có thể tùy chọn. Nội dung các slide HAR kế tiếp dựa trên schema HAR 1.2 và tài liệu DevTools.</a:t>
            </a:r>
            <a:endParaRPr/>
          </a:p>
          <a:p>
            <a:pPr>
              <a:buNone/>
              <a:defRPr/>
            </a:pPr>
            <a:r>
              <a:rPr/>
              <a:t>https://github.com/ahmadnassri/har-schema/blob/master/lib/log.json</a:t>
            </a:r>
            <a:endParaRPr/>
          </a:p>
        </p:txBody>
      </p:sp>
      <p:sp>
        <p:nvSpPr>
          <p:cNvPr id="103703265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546205365" name="Slide Image Placeholder 1"/>
          <p:cNvSpPr>
            <a:spLocks noGrp="1"/>
          </p:cNvSpPr>
          <p:nvPr>
            <p:ph type="sldImg" idx="0"/>
          </p:nvPr>
        </p:nvSpPr>
        <p:spPr bwMode="auto"/>
      </p:sp>
      <p:sp>
        <p:nvSpPr>
          <p:cNvPr id="459290501" name="Notes Placeholder 2"/>
          <p:cNvSpPr>
            <a:spLocks noGrp="1"/>
          </p:cNvSpPr>
          <p:nvPr>
            <p:ph type="body" idx="1"/>
          </p:nvPr>
        </p:nvSpPr>
        <p:spPr bwMode="auto"/>
        <p:txBody>
          <a:bodyPr/>
          <a:lstStyle/>
          <a:p>
            <a:pPr>
              <a:buNone/>
              <a:defRPr/>
            </a:pPr>
            <a:r>
              <a:rPr/>
              <a:t>HAR là HTTP Archive, dữ liệu JSON thường dùng cấu trúc HAR 1.2. Root có log. Trong log có version, creator, entries và có thể có browser, pages. Mỗi page có id/title/startedDateTime/pageTimings. pageTimings mô tả sự kiện tải trang, khác timings của request. Một thao tác UI thường sinh nhiều entries. Đọc version và kiểm tra cấu trúc trước khi phân tích. Không gọi HAR là test script có sẵn.</a:t>
            </a:r>
            <a:endParaRPr/>
          </a:p>
          <a:p>
            <a:pPr>
              <a:buNone/>
              <a:defRPr/>
            </a:pPr>
            <a:endParaRPr/>
          </a:p>
          <a:p>
            <a:pPr>
              <a:buNone/>
              <a:defRPr/>
            </a:pPr>
            <a:r>
              <a:rPr/>
              <a:t>Nguồn:</a:t>
            </a:r>
            <a:endParaRPr/>
          </a:p>
          <a:p>
            <a:pPr>
              <a:buNone/>
              <a:defRPr/>
            </a:pPr>
            <a:r>
              <a:rPr/>
              <a:t>https://github.com/ahmadnassri/har-schema/blob/master/lib/log.json</a:t>
            </a:r>
            <a:endParaRPr/>
          </a:p>
          <a:p>
            <a:pPr>
              <a:buNone/>
              <a:defRPr/>
            </a:pPr>
            <a:r>
              <a:rPr/>
              <a:t>https://github.com/ahmadnassri/har-schema/blob/master/lib/page.json</a:t>
            </a:r>
            <a:endParaRPr/>
          </a:p>
          <a:p>
            <a:pPr>
              <a:buNone/>
              <a:defRPr/>
            </a:pPr>
            <a:r>
              <a:rPr/>
              <a:t>https://developer.chrome.com/docs/devtools/network/reference/</a:t>
            </a:r>
            <a:endParaRPr/>
          </a:p>
        </p:txBody>
      </p:sp>
      <p:sp>
        <p:nvSpPr>
          <p:cNvPr id="84195938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40303254" name="Slide Image Placeholder 1"/>
          <p:cNvSpPr>
            <a:spLocks noGrp="1"/>
          </p:cNvSpPr>
          <p:nvPr>
            <p:ph type="sldImg" idx="0"/>
          </p:nvPr>
        </p:nvSpPr>
        <p:spPr bwMode="auto"/>
      </p:sp>
      <p:sp>
        <p:nvSpPr>
          <p:cNvPr id="272086436" name="Notes Placeholder 2"/>
          <p:cNvSpPr>
            <a:spLocks noGrp="1"/>
          </p:cNvSpPr>
          <p:nvPr>
            <p:ph type="body" idx="1"/>
          </p:nvPr>
        </p:nvSpPr>
        <p:spPr bwMode="auto"/>
        <p:txBody>
          <a:bodyPr/>
          <a:lstStyle/>
          <a:p>
            <a:pPr>
              <a:buNone/>
              <a:defRPr/>
            </a:pPr>
            <a:r>
              <a:rPr/>
              <a:t>HAR entry còn có thể chứa serverIPAddress, connection và trường mở rộng bắt đầu bằng dấu gạch dưới. Các entry có thể chồng lấn theo thời gian vì trình duyệt gửi song song. Không suy ra một flow tuần tự chỉ từ vị trí trong mảng. time dùng millisecond. Dữ liệu không có có thể dùng -1 ở các trường cho phép, cần phân biệt với thời gian 0 ms.</a:t>
            </a:r>
            <a:endParaRPr/>
          </a:p>
          <a:p>
            <a:pPr>
              <a:buNone/>
              <a:defRPr/>
            </a:pPr>
            <a:endParaRPr/>
          </a:p>
          <a:p>
            <a:pPr>
              <a:buNone/>
              <a:defRPr/>
            </a:pPr>
            <a:r>
              <a:rPr/>
              <a:t>Nguồn:</a:t>
            </a:r>
            <a:endParaRPr/>
          </a:p>
          <a:p>
            <a:pPr>
              <a:buNone/>
              <a:defRPr/>
            </a:pPr>
            <a:r>
              <a:rPr/>
              <a:t>https://github.com/ahmadnassri/har-schema/blob/master/lib/entry.json</a:t>
            </a:r>
            <a:endParaRPr/>
          </a:p>
          <a:p>
            <a:pPr>
              <a:buNone/>
              <a:defRPr/>
            </a:pPr>
            <a:r>
              <a:rPr/>
              <a:t>https://webperfwg.org/specs/HAR/Overview.html</a:t>
            </a:r>
            <a:endParaRPr/>
          </a:p>
        </p:txBody>
      </p:sp>
      <p:sp>
        <p:nvSpPr>
          <p:cNvPr id="19749973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72027194" name="Slide Image Placeholder 1"/>
          <p:cNvSpPr>
            <a:spLocks noGrp="1"/>
          </p:cNvSpPr>
          <p:nvPr>
            <p:ph type="sldImg" idx="0"/>
          </p:nvPr>
        </p:nvSpPr>
        <p:spPr bwMode="auto"/>
      </p:sp>
      <p:sp>
        <p:nvSpPr>
          <p:cNvPr id="459755269" name="Notes Placeholder 2"/>
          <p:cNvSpPr>
            <a:spLocks noGrp="1"/>
          </p:cNvSpPr>
          <p:nvPr>
            <p:ph type="body" idx="1"/>
          </p:nvPr>
        </p:nvSpPr>
        <p:spPr bwMode="auto"/>
        <p:txBody>
          <a:bodyPr/>
          <a:lstStyle/>
          <a:p>
            <a:pPr>
              <a:buNone/>
              <a:defRPr/>
            </a:pPr>
            <a:r>
              <a:rPr/>
              <a:t>headers và queryString là mảng object name/value, không phải object ánh xạ trực tiếp. postData là tùy chọn. postData.text thường là chuỗi chứa JSON nên cần parse thêm một lớp, sau khi kiểm tra MIME. postData.params phục vụ dạng form phù hợp. Giữ nguyên tên field theo contract, thay credential bằng biến môi trường hoặc dữ liệu test. Không mang nguyên token/cookie cũ vào script.</a:t>
            </a:r>
            <a:endParaRPr/>
          </a:p>
          <a:p>
            <a:pPr>
              <a:buNone/>
              <a:defRPr/>
            </a:pPr>
            <a:endParaRPr/>
          </a:p>
          <a:p>
            <a:pPr>
              <a:buNone/>
              <a:defRPr/>
            </a:pPr>
            <a:r>
              <a:rPr/>
              <a:t>Nguồn:</a:t>
            </a:r>
            <a:endParaRPr/>
          </a:p>
          <a:p>
            <a:pPr>
              <a:buNone/>
              <a:defRPr/>
            </a:pPr>
            <a:r>
              <a:rPr/>
              <a:t>https://github.com/ahmadnassri/har-schema/blob/master/lib/request.json</a:t>
            </a:r>
            <a:endParaRPr/>
          </a:p>
          <a:p>
            <a:pPr>
              <a:buNone/>
              <a:defRPr/>
            </a:pPr>
            <a:r>
              <a:rPr/>
              <a:t>https://github.com/ahmadnassri/har-schema/blob/master/lib/postData.json</a:t>
            </a:r>
            <a:endParaRPr/>
          </a:p>
          <a:p>
            <a:pPr>
              <a:buNone/>
              <a:defRPr/>
            </a:pPr>
            <a:r>
              <a:rPr/>
              <a:t>https://github.com/minhthang2k5/eshop-sut/blob/main/api_specification.md</a:t>
            </a:r>
            <a:endParaRPr/>
          </a:p>
        </p:txBody>
      </p:sp>
      <p:sp>
        <p:nvSpPr>
          <p:cNvPr id="101522773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33449742" name="Slide Image Placeholder 1"/>
          <p:cNvSpPr>
            <a:spLocks noGrp="1"/>
          </p:cNvSpPr>
          <p:nvPr>
            <p:ph type="sldImg" idx="0"/>
          </p:nvPr>
        </p:nvSpPr>
        <p:spPr bwMode="auto"/>
      </p:sp>
      <p:sp>
        <p:nvSpPr>
          <p:cNvPr id="1825050630" name="Notes Placeholder 2"/>
          <p:cNvSpPr>
            <a:spLocks noGrp="1"/>
          </p:cNvSpPr>
          <p:nvPr>
            <p:ph type="body" idx="1"/>
          </p:nvPr>
        </p:nvSpPr>
        <p:spPr bwMode="auto"/>
        <p:txBody>
          <a:bodyPr/>
          <a:lstStyle/>
          <a:p>
            <a:pPr>
              <a:buNone/>
              <a:defRPr/>
            </a:pPr>
            <a:r>
              <a:rPr/>
              <a:t>content.text là tùy chọn. Thiếu text có thể do cách export hoặc response không được giữ lại, không tự chứng minh server trả body rỗng. Nếu encoding=base64 phải giải mã trước khi parse. content.size, bodySize và headerSize có ý nghĩa khác nhau, đặc biệt khi nén. Token/orderId trong HAR là bản ghi quá khứ, script phải lấy lại giá trị runtime. Trạng thái 200 một mình chưa chứng minh nghiệp vụ đúng.</a:t>
            </a:r>
            <a:endParaRPr/>
          </a:p>
          <a:p>
            <a:pPr>
              <a:buNone/>
              <a:defRPr/>
            </a:pPr>
            <a:endParaRPr/>
          </a:p>
          <a:p>
            <a:pPr>
              <a:buNone/>
              <a:defRPr/>
            </a:pPr>
            <a:r>
              <a:rPr/>
              <a:t>Nguồn:</a:t>
            </a:r>
            <a:endParaRPr/>
          </a:p>
          <a:p>
            <a:pPr>
              <a:buNone/>
              <a:defRPr/>
            </a:pPr>
            <a:r>
              <a:rPr/>
              <a:t>https://github.com/ahmadnassri/har-schema/blob/master/lib/response.json</a:t>
            </a:r>
            <a:endParaRPr/>
          </a:p>
          <a:p>
            <a:pPr>
              <a:buNone/>
              <a:defRPr/>
            </a:pPr>
            <a:r>
              <a:rPr/>
              <a:t>https://github.com/ahmadnassri/har-schema/blob/master/lib/content.json</a:t>
            </a:r>
            <a:endParaRPr/>
          </a:p>
          <a:p>
            <a:pPr>
              <a:buNone/>
              <a:defRPr/>
            </a:pPr>
            <a:r>
              <a:rPr/>
              <a:t>https://developer.chrome.com/docs/devtools/network/reference/</a:t>
            </a:r>
            <a:endParaRPr/>
          </a:p>
        </p:txBody>
      </p:sp>
      <p:sp>
        <p:nvSpPr>
          <p:cNvPr id="143014542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86840964" name="Slide Image Placeholder 1"/>
          <p:cNvSpPr>
            <a:spLocks noGrp="1"/>
          </p:cNvSpPr>
          <p:nvPr>
            <p:ph type="sldImg" idx="0"/>
          </p:nvPr>
        </p:nvSpPr>
        <p:spPr bwMode="auto"/>
      </p:sp>
      <p:sp>
        <p:nvSpPr>
          <p:cNvPr id="848158474" name="Notes Placeholder 2"/>
          <p:cNvSpPr>
            <a:spLocks noGrp="1"/>
          </p:cNvSpPr>
          <p:nvPr>
            <p:ph type="body" idx="1"/>
          </p:nvPr>
        </p:nvSpPr>
        <p:spPr bwMode="auto"/>
        <p:txBody>
          <a:bodyPr/>
          <a:lstStyle/>
          <a:p>
            <a:pPr>
              <a:buNone/>
              <a:defRPr/>
            </a:pPr>
            <a:r>
              <a:rPr/>
              <a:t>Ví dụ giáo dục: blocked=0, dns=0, connect=10, ssl=4, send=1, wait=39, receive=2 ms thì entry.time=52 ms, không phải 56 ms vì ssl đã nằm trong connect. Bỏ qua giá trị -1 khi cộng, không coi là số âm để trừ. So sánh với k6 phải chú ý http_req_duration chỉ cộng sending/waiting/receiving. HAR time còn có thể chứa pha kết nối. Trình duyệt và k6 chạy ở hai thời điểm, điều kiện khác nhau nên không đòi số đo trùng nhau. Tài liệu HAR lịch sử dùng làm tham khảo cấu trúc, không tuyên bố là chuẩn W3C hiện hành.</a:t>
            </a:r>
            <a:endParaRPr/>
          </a:p>
          <a:p>
            <a:pPr>
              <a:buNone/>
              <a:defRPr/>
            </a:pPr>
            <a:endParaRPr/>
          </a:p>
          <a:p>
            <a:pPr>
              <a:buNone/>
              <a:defRPr/>
            </a:pPr>
            <a:r>
              <a:rPr/>
              <a:t>Nguồn:</a:t>
            </a:r>
            <a:endParaRPr/>
          </a:p>
          <a:p>
            <a:pPr>
              <a:buNone/>
              <a:defRPr/>
            </a:pPr>
            <a:r>
              <a:rPr/>
              <a:t>https://github.com/ahmadnassri/har-schema/blob/master/lib/timings.json</a:t>
            </a:r>
            <a:endParaRPr/>
          </a:p>
          <a:p>
            <a:pPr>
              <a:buNone/>
              <a:defRPr/>
            </a:pPr>
            <a:r>
              <a:rPr/>
              <a:t>https://webperfwg.org/specs/HAR/Overview.html</a:t>
            </a:r>
            <a:endParaRPr/>
          </a:p>
          <a:p>
            <a:pPr>
              <a:buNone/>
              <a:defRPr/>
            </a:pPr>
            <a:r>
              <a:rPr/>
              <a:t>https://grafana.com/docs/k6/latest/using-k6/metrics/reference/</a:t>
            </a:r>
            <a:endParaRPr/>
          </a:p>
        </p:txBody>
      </p:sp>
      <p:sp>
        <p:nvSpPr>
          <p:cNvPr id="8042219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556998870" name="Slide Image Placeholder 1"/>
          <p:cNvSpPr>
            <a:spLocks noGrp="1"/>
          </p:cNvSpPr>
          <p:nvPr>
            <p:ph type="sldImg" idx="0"/>
          </p:nvPr>
        </p:nvSpPr>
        <p:spPr bwMode="auto"/>
      </p:sp>
      <p:sp>
        <p:nvSpPr>
          <p:cNvPr id="672334110" name="Notes Placeholder 2"/>
          <p:cNvSpPr>
            <a:spLocks noGrp="1"/>
          </p:cNvSpPr>
          <p:nvPr>
            <p:ph type="body" idx="1"/>
          </p:nvPr>
        </p:nvSpPr>
        <p:spPr bwMode="auto"/>
        <p:txBody>
          <a:bodyPr/>
          <a:lstStyle/>
          <a:p>
            <a:pPr>
              <a:buNone/>
              <a:defRPr/>
            </a:pPr>
            <a:r>
              <a:rPr/>
              <a:t>Đây là fragment minh họa, đã lược các trường bắt buộc khác để dễ học, không phải một file HAR đầy đủ hay kết quả đo EShop. Nếu đặt trong file đầy đủ thì fragment là một phần tử của log.entries. Các giá trị 42, 1, 39 và 2 do nhóm đặt, không lấy từ audit thật. Dòng url cần kiểm tra host/port. queryString chỉ rõ tham số search. Response JSON phải đọc thêm body khi muốn check nội dung sản phẩm.</a:t>
            </a:r>
            <a:endParaRPr/>
          </a:p>
          <a:p>
            <a:pPr>
              <a:buNone/>
              <a:defRPr/>
            </a:pPr>
            <a:endParaRPr/>
          </a:p>
          <a:p>
            <a:pPr>
              <a:buNone/>
              <a:defRPr/>
            </a:pPr>
            <a:r>
              <a:rPr/>
              <a:t>Nguồn:</a:t>
            </a:r>
            <a:endParaRPr/>
          </a:p>
          <a:p>
            <a:pPr>
              <a:buNone/>
              <a:defRPr/>
            </a:pPr>
            <a:r>
              <a:rPr/>
              <a:t>https://github.com/ahmadnassri/har-schema/blob/master/lib/entry.json</a:t>
            </a:r>
            <a:endParaRPr/>
          </a:p>
          <a:p>
            <a:pPr>
              <a:buNone/>
              <a:defRPr/>
            </a:pPr>
            <a:r>
              <a:rPr/>
              <a:t>https://github.com/ahmadnassri/har-schema/blob/master/lib/request.json</a:t>
            </a:r>
            <a:endParaRPr/>
          </a:p>
          <a:p>
            <a:pPr>
              <a:buNone/>
              <a:defRPr/>
            </a:pPr>
            <a:r>
              <a:rPr/>
              <a:t>https://github.com/ahmadnassri/har-schema/blob/master/lib/response.json</a:t>
            </a:r>
            <a:endParaRPr/>
          </a:p>
        </p:txBody>
      </p:sp>
      <p:sp>
        <p:nvSpPr>
          <p:cNvPr id="202172083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62889251" name="Slide Image Placeholder 1"/>
          <p:cNvSpPr>
            <a:spLocks noGrp="1"/>
          </p:cNvSpPr>
          <p:nvPr>
            <p:ph type="sldImg" idx="0"/>
          </p:nvPr>
        </p:nvSpPr>
        <p:spPr bwMode="auto"/>
      </p:sp>
      <p:sp>
        <p:nvSpPr>
          <p:cNvPr id="1036333983" name="Notes Placeholder 2"/>
          <p:cNvSpPr>
            <a:spLocks noGrp="1"/>
          </p:cNvSpPr>
          <p:nvPr>
            <p:ph type="body" idx="1"/>
          </p:nvPr>
        </p:nvSpPr>
        <p:spPr bwMode="auto"/>
        <p:txBody>
          <a:bodyPr/>
          <a:lstStyle/>
          <a:p>
            <a:pPr>
              <a:buNone/>
              <a:defRPr/>
            </a:pPr>
            <a:r>
              <a:rPr/>
              <a:t>Request Search mẫu có thể thành http.get(`${BASE_URL}/api/products?search=${encodeURIComponent(keyword)}`). Cần import http từ k6/http và thêm check status/body theo contract. Với Login thì serialize JSON và giữ Content-Type phù hợp. Recorder hoặc LLM chỉ hỗ trợ khung ban đầu. Kiểm tra SUT, dữ liệu và correlation trước khi smoke. HAR ghi traffic của một phiên nên không đủ xác lập tỉ lệ hành vi hoặc SLO cho toàn hệ thống.</a:t>
            </a:r>
            <a:endParaRPr/>
          </a:p>
          <a:p>
            <a:pPr>
              <a:buNone/>
              <a:defRPr/>
            </a:pPr>
            <a:endParaRPr/>
          </a:p>
          <a:p>
            <a:pPr>
              <a:buNone/>
              <a:defRPr/>
            </a:pPr>
            <a:r>
              <a:rPr/>
              <a:t>Nguồn:</a:t>
            </a:r>
            <a:endParaRPr/>
          </a:p>
          <a:p>
            <a:pPr>
              <a:buNone/>
              <a:defRPr/>
            </a:pPr>
            <a:r>
              <a:rPr/>
              <a:t>https://github.com/minhthang2k5/eshop-sut/blob/main/test-web-performance/README.md</a:t>
            </a:r>
            <a:endParaRPr/>
          </a:p>
          <a:p>
            <a:pPr>
              <a:buNone/>
              <a:defRPr/>
            </a:pPr>
            <a:r>
              <a:rPr/>
              <a:t>https://developer.chrome.com/docs/devtools/network/reference/</a:t>
            </a:r>
            <a:endParaRPr/>
          </a:p>
          <a:p>
            <a:pPr>
              <a:buNone/>
              <a:defRPr/>
            </a:pPr>
            <a:r>
              <a:rPr/>
              <a:t>https://grafana.com/docs/k6/latest/using-k6/http-requests/</a:t>
            </a:r>
            <a:endParaRPr/>
          </a:p>
        </p:txBody>
      </p:sp>
      <p:sp>
        <p:nvSpPr>
          <p:cNvPr id="2705712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71143686" name="Slide Image Placeholder 1"/>
          <p:cNvSpPr>
            <a:spLocks noGrp="1"/>
          </p:cNvSpPr>
          <p:nvPr>
            <p:ph type="sldImg" idx="0"/>
          </p:nvPr>
        </p:nvSpPr>
        <p:spPr bwMode="auto"/>
      </p:sp>
      <p:sp>
        <p:nvSpPr>
          <p:cNvPr id="1036065915" name="Notes Placeholder 2"/>
          <p:cNvSpPr>
            <a:spLocks noGrp="1"/>
          </p:cNvSpPr>
          <p:nvPr>
            <p:ph type="body" idx="1"/>
          </p:nvPr>
        </p:nvSpPr>
        <p:spPr bwMode="auto"/>
        <p:txBody>
          <a:bodyPr/>
          <a:lstStyle/>
          <a:p>
            <a:pPr>
              <a:buNone/>
              <a:defRPr/>
            </a:pPr>
            <a:r>
              <a:rPr/>
              <a:t>Source thực tế gemini_script_real.js và claude_scipt_real.js. Không suy đoán phiên bản model đã sinh source. LLM có thể sinh endpoint/field sai nên cần kiểm chứng độc lập.</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https://github.com/minhthang2k5/eshop-sut/tree/main/test-web-performance</a:t>
            </a:r>
            <a:endParaRPr/>
          </a:p>
        </p:txBody>
      </p:sp>
      <p:sp>
        <p:nvSpPr>
          <p:cNvPr id="85609941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8105136" name="Slide Image Placeholder 1"/>
          <p:cNvSpPr>
            <a:spLocks noGrp="1"/>
          </p:cNvSpPr>
          <p:nvPr>
            <p:ph type="sldImg" idx="0"/>
          </p:nvPr>
        </p:nvSpPr>
        <p:spPr bwMode="auto"/>
      </p:sp>
      <p:sp>
        <p:nvSpPr>
          <p:cNvPr id="100280493" name="Notes Placeholder 2"/>
          <p:cNvSpPr>
            <a:spLocks noGrp="1"/>
          </p:cNvSpPr>
          <p:nvPr>
            <p:ph type="body" idx="1"/>
          </p:nvPr>
        </p:nvSpPr>
        <p:spPr bwMode="auto"/>
        <p:txBody>
          <a:bodyPr/>
          <a:lstStyle/>
          <a:p>
            <a:pPr>
              <a:buNone/>
              <a:defRPr/>
            </a:pPr>
            <a:r>
              <a:rPr/>
              <a:t>Lệnh: npm run dev:server và npm run dev:frontend. Frontend localhost:5175, Express audit localhost:4000. Phần audit cơ bản không yêu cầu phiên AI. Không reset DB ngoài môi trường test.</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https://github.com/minhthang2k5/eshop-sut/tree/main/test-web-performance</a:t>
            </a:r>
            <a:endParaRPr/>
          </a:p>
        </p:txBody>
      </p:sp>
      <p:sp>
        <p:nvSpPr>
          <p:cNvPr id="61056257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32085707" name="Slide Image Placeholder 1"/>
          <p:cNvSpPr>
            <a:spLocks noGrp="1"/>
          </p:cNvSpPr>
          <p:nvPr>
            <p:ph type="sldImg" idx="0"/>
          </p:nvPr>
        </p:nvSpPr>
        <p:spPr bwMode="auto"/>
      </p:sp>
      <p:sp>
        <p:nvSpPr>
          <p:cNvPr id="2013021778" name="Notes Placeholder 2"/>
          <p:cNvSpPr>
            <a:spLocks noGrp="1"/>
          </p:cNvSpPr>
          <p:nvPr>
            <p:ph type="body" idx="1"/>
          </p:nvPr>
        </p:nvSpPr>
        <p:spPr bwMode="auto"/>
        <p:txBody>
          <a:bodyPr/>
          <a:lstStyle/>
          <a:p>
            <a:pPr>
              <a:buNone/>
              <a:defRPr/>
            </a:pPr>
            <a:r>
              <a:rPr/>
              <a:t>AST nhận diện được các mẫu hỗ trợ, không chứng minh mọi chương trình JavaScript. Comment hoặc tên biến không thay thế evidence của flow.</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https://github.com/minhthang2k5/eshop-sut/tree/main/test-web-performance</a:t>
            </a:r>
            <a:endParaRPr/>
          </a:p>
        </p:txBody>
      </p:sp>
      <p:sp>
        <p:nvSpPr>
          <p:cNvPr id="175205243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17103551" name="Slide Image Placeholder 1"/>
          <p:cNvSpPr>
            <a:spLocks noGrp="1"/>
          </p:cNvSpPr>
          <p:nvPr>
            <p:ph type="sldImg" idx="0"/>
          </p:nvPr>
        </p:nvSpPr>
        <p:spPr bwMode="auto"/>
      </p:sp>
      <p:sp>
        <p:nvSpPr>
          <p:cNvPr id="1835348005" name="Notes Placeholder 2"/>
          <p:cNvSpPr>
            <a:spLocks noGrp="1"/>
          </p:cNvSpPr>
          <p:nvPr>
            <p:ph type="body" idx="1"/>
          </p:nvPr>
        </p:nvSpPr>
        <p:spPr bwMode="auto"/>
        <p:txBody>
          <a:bodyPr/>
          <a:lstStyle/>
          <a:p>
            <a:pPr>
              <a:buNone/>
              <a:defRPr/>
            </a:pPr>
            <a:r>
              <a:rPr/>
              <a:t>Mỗi tiêu chí 0 hoặc 1 điểm. Source evidence nhận diện logic, không đồng nghĩa mỗi nhánh đều đã chạy.</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https://github.com/minhthang2k5/eshop-sut/blob/main/docs/rubric_audit.md</a:t>
            </a:r>
            <a:endParaRPr/>
          </a:p>
        </p:txBody>
      </p:sp>
      <p:sp>
        <p:nvSpPr>
          <p:cNvPr id="142950695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15431646" name="Slide Image Placeholder 1"/>
          <p:cNvSpPr>
            <a:spLocks noGrp="1"/>
          </p:cNvSpPr>
          <p:nvPr>
            <p:ph type="sldImg" idx="0"/>
          </p:nvPr>
        </p:nvSpPr>
        <p:spPr bwMode="auto"/>
      </p:sp>
      <p:sp>
        <p:nvSpPr>
          <p:cNvPr id="1811294438" name="Notes Placeholder 2"/>
          <p:cNvSpPr>
            <a:spLocks noGrp="1"/>
          </p:cNvSpPr>
          <p:nvPr>
            <p:ph type="body" idx="1"/>
          </p:nvPr>
        </p:nvSpPr>
        <p:spPr bwMode="auto"/>
        <p:txBody>
          <a:bodyPr/>
          <a:lstStyle/>
          <a:p>
            <a:pPr>
              <a:buNone/>
              <a:defRPr/>
            </a:pPr>
            <a:r>
              <a:rPr/>
              <a:t>Exit 0 chưa đủ nếu summary thiếu, check fail hoặc HTTP request fail. Runtime chỉ xác nhận nhánh đã chạy.</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https://github.com/minhthang2k5/eshop-sut/blob/main/docs/rubric_audit.md</a:t>
            </a:r>
            <a:endParaRPr/>
          </a:p>
        </p:txBody>
      </p:sp>
      <p:sp>
        <p:nvSpPr>
          <p:cNvPr id="108037570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26454568" name="Slide Image Placeholder 1"/>
          <p:cNvSpPr>
            <a:spLocks noGrp="1"/>
          </p:cNvSpPr>
          <p:nvPr>
            <p:ph type="sldImg" idx="0"/>
          </p:nvPr>
        </p:nvSpPr>
        <p:spPr bwMode="auto"/>
      </p:sp>
      <p:sp>
        <p:nvSpPr>
          <p:cNvPr id="1860138438" name="Notes Placeholder 2"/>
          <p:cNvSpPr>
            <a:spLocks noGrp="1"/>
          </p:cNvSpPr>
          <p:nvPr>
            <p:ph type="body" idx="1"/>
          </p:nvPr>
        </p:nvSpPr>
        <p:spPr bwMode="auto"/>
        <p:txBody>
          <a:bodyPr/>
          <a:lstStyle/>
          <a:p>
            <a:pPr>
              <a:buNone/>
              <a:defRPr/>
            </a:pPr>
            <a:r>
              <a:rPr/>
              <a:t>Model cấu hình gpt-5.6-luna, reasoning medium theo triển khai. Structured output đúng schema chưa chứng minh nội dung đúng. Token login là correlation, orderId ở bước cuối là checkpoint.</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https://github.com/minhthang2k5/eshop-sut/tree/main/test-web-performance</a:t>
            </a:r>
            <a:endParaRPr/>
          </a:p>
        </p:txBody>
      </p:sp>
      <p:sp>
        <p:nvSpPr>
          <p:cNvPr id="120346593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2552283" name="Slide Image Placeholder 1"/>
          <p:cNvSpPr>
            <a:spLocks noGrp="1"/>
          </p:cNvSpPr>
          <p:nvPr>
            <p:ph type="sldImg" idx="0"/>
          </p:nvPr>
        </p:nvSpPr>
        <p:spPr bwMode="auto"/>
      </p:sp>
      <p:sp>
        <p:nvSpPr>
          <p:cNvPr id="384352090" name="Notes Placeholder 2"/>
          <p:cNvSpPr>
            <a:spLocks noGrp="1"/>
          </p:cNvSpPr>
          <p:nvPr>
            <p:ph type="body" idx="1"/>
          </p:nvPr>
        </p:nvSpPr>
        <p:spPr bwMode="auto"/>
        <p:txBody>
          <a:bodyPr/>
          <a:lstStyle/>
          <a:p>
            <a:pPr>
              <a:buNone/>
              <a:defRPr/>
            </a:pPr>
            <a:r>
              <a:rPr/>
              <a:t>Sau upload: chạy audit, đọc bảng điểm/log, yêu cầu AI nếu cần, duyệt rồi tải scorecard. Ba kịch bản: cài đặt, audit cơ bản và luồng kết hợp AI/duyệt điểm.</a:t>
            </a:r>
            <a:endParaRPr/>
          </a:p>
          <a:p>
            <a:pPr>
              <a:buNone/>
              <a:defRPr/>
            </a:pPr>
            <a:r>
              <a:rPr/>
              <a:t>Ảnh gốc: submission/evidence/01-upload.png</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https://github.com/minhthang2k5/eshop-sut/blob/main/submission/evidence/01-upload.png</a:t>
            </a:r>
            <a:endParaRPr/>
          </a:p>
        </p:txBody>
      </p:sp>
      <p:sp>
        <p:nvSpPr>
          <p:cNvPr id="159398941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75502366" name="Slide Image Placeholder 1"/>
          <p:cNvSpPr>
            <a:spLocks noGrp="1"/>
          </p:cNvSpPr>
          <p:nvPr>
            <p:ph type="sldImg" idx="0"/>
          </p:nvPr>
        </p:nvSpPr>
        <p:spPr bwMode="auto"/>
      </p:sp>
      <p:sp>
        <p:nvSpPr>
          <p:cNvPr id="1046014174" name="Notes Placeholder 2"/>
          <p:cNvSpPr>
            <a:spLocks noGrp="1"/>
          </p:cNvSpPr>
          <p:nvPr>
            <p:ph type="body" idx="1"/>
          </p:nvPr>
        </p:nvSpPr>
        <p:spPr bwMode="auto"/>
        <p:txBody>
          <a:bodyPr/>
          <a:lstStyle/>
          <a:p>
            <a:pPr>
              <a:buNone/>
              <a:defRPr/>
            </a:pPr>
            <a:r>
              <a:rPr/>
              <a:t>Video do thành viên tự thực hiện. Chia clip thành các chương cài đặt, chức năng cơ bản và luồng phức tạp. Sau khi có link YouTube, sửa ô LINK_VIDEO_3 và gắn hyperlink. Không có video nhúng trong bản này.</a:t>
            </a:r>
            <a:endParaRPr/>
          </a:p>
          <a:p>
            <a:pPr>
              <a:buNone/>
              <a:defRPr/>
            </a:pPr>
            <a:r>
              <a:rPr/>
              <a:t>Khi trở lại slide tiếp theo, giải thích kết quả và giới hạn số liệu.</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https://github.com/minhthang2k5/eshop-sut/tree/main/test-web-performance</a:t>
            </a:r>
            <a:endParaRPr/>
          </a:p>
        </p:txBody>
      </p:sp>
      <p:sp>
        <p:nvSpPr>
          <p:cNvPr id="37881150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137520233" name="Slide Image Placeholder 1"/>
          <p:cNvSpPr>
            <a:spLocks noGrp="1"/>
          </p:cNvSpPr>
          <p:nvPr>
            <p:ph type="sldImg" idx="0"/>
          </p:nvPr>
        </p:nvSpPr>
        <p:spPr bwMode="auto"/>
      </p:sp>
      <p:sp>
        <p:nvSpPr>
          <p:cNvPr id="70478896" name="Notes Placeholder 2"/>
          <p:cNvSpPr>
            <a:spLocks noGrp="1"/>
          </p:cNvSpPr>
          <p:nvPr>
            <p:ph type="body" idx="1"/>
          </p:nvPr>
        </p:nvSpPr>
        <p:spPr bwMode="auto"/>
        <p:txBody>
          <a:bodyPr/>
          <a:lstStyle/>
          <a:p>
            <a:pPr>
              <a:buNone/>
              <a:defRPr/>
            </a:pPr>
            <a:r>
              <a:rPr/>
              <a:t>Audit AUD-20261023-E85CDC, 09:50:07 ngày 23/10/2026, UTC+7. Mỗi script 1 VU, 1 iteration. Nhánh khác và chỉ hai request nên không kết luận Claude nhanh hơn Gemini. Checkout chưa chạy trong audit này.</a:t>
            </a:r>
            <a:endParaRPr/>
          </a:p>
          <a:p>
            <a:pPr>
              <a:buNone/>
              <a:defRPr/>
            </a:pPr>
            <a:endParaRPr/>
          </a:p>
          <a:p>
            <a:pPr>
              <a:buNone/>
              <a:defRPr/>
            </a:pPr>
            <a:r>
              <a:rPr/>
              <a:t>Nguồn:</a:t>
            </a:r>
            <a:endParaRPr/>
          </a:p>
          <a:p>
            <a:pPr>
              <a:buNone/>
              <a:defRPr/>
            </a:pPr>
            <a:r>
              <a:rPr/>
              <a:t>https://github.com/minhthang2k5/eshop-sut/blob/main/submission/evidence/audit-results.json</a:t>
            </a:r>
            <a:endParaRPr/>
          </a:p>
        </p:txBody>
      </p:sp>
      <p:sp>
        <p:nvSpPr>
          <p:cNvPr id="185303818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07491973" name="Slide Image Placeholder 1"/>
          <p:cNvSpPr>
            <a:spLocks noGrp="1"/>
          </p:cNvSpPr>
          <p:nvPr>
            <p:ph type="sldImg" idx="0"/>
          </p:nvPr>
        </p:nvSpPr>
        <p:spPr bwMode="auto"/>
      </p:sp>
      <p:sp>
        <p:nvSpPr>
          <p:cNvPr id="1282864900" name="Notes Placeholder 2"/>
          <p:cNvSpPr>
            <a:spLocks noGrp="1"/>
          </p:cNvSpPr>
          <p:nvPr>
            <p:ph type="body" idx="1"/>
          </p:nvPr>
        </p:nvSpPr>
        <p:spPr bwMode="auto"/>
        <p:txBody>
          <a:bodyPr/>
          <a:lstStyle/>
          <a:p>
            <a:pPr>
              <a:buNone/>
              <a:defRPr/>
            </a:pPr>
            <a:r>
              <a:rPr/>
              <a:t>Ảnh do người thực hiện cung cấp. Nội dung ảnh nêu p95 khoảng 86,7 ms và nhánh Detail. Không gán bộ ảnh này cho audit E85CDC hoặc CD3D6B. Ảnh không chứa audit ID/thời điểm rõ ràng.</a:t>
            </a:r>
            <a:endParaRPr/>
          </a:p>
          <a:p>
            <a:pPr>
              <a:buNone/>
              <a:defRPr/>
            </a:pPr>
            <a:r>
              <a:rPr/>
              <a:t>Ảnh gốc: submission/evidence/09-ai-review-result.png</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https://github.com/minhthang2k5/eshop-sut/blob/main/submission/evidence/09-ai-review-result.png</a:t>
            </a:r>
            <a:endParaRPr/>
          </a:p>
        </p:txBody>
      </p:sp>
      <p:sp>
        <p:nvSpPr>
          <p:cNvPr id="149466149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30485358" name="Slide Image Placeholder 1"/>
          <p:cNvSpPr>
            <a:spLocks noGrp="1"/>
          </p:cNvSpPr>
          <p:nvPr>
            <p:ph type="sldImg" idx="0"/>
          </p:nvPr>
        </p:nvSpPr>
        <p:spPr bwMode="auto"/>
      </p:sp>
      <p:sp>
        <p:nvSpPr>
          <p:cNvPr id="754712957" name="Notes Placeholder 2"/>
          <p:cNvSpPr>
            <a:spLocks noGrp="1"/>
          </p:cNvSpPr>
          <p:nvPr>
            <p:ph type="body" idx="1"/>
          </p:nvPr>
        </p:nvSpPr>
        <p:spPr bwMode="auto"/>
        <p:txBody>
          <a:bodyPr/>
          <a:lstStyle/>
          <a:p>
            <a:pPr>
              <a:buNone/>
              <a:defRPr/>
            </a:pPr>
            <a:r>
              <a:rPr/>
              <a:t>Chỉ áp dụng bảng cho output Luna AUD-20261023-CD3D6B, lưu 08:57:54 ngày 23/10. p95 evidence tương ứng khoảng 120,35 và 28,01 ms. Đây là ngưỡng khởi điểm cần load test, chưa phải SLO được phê duyệt. Không ghép với bộ ảnh AI mới.</a:t>
            </a:r>
            <a:endParaRPr/>
          </a:p>
          <a:p>
            <a:pPr>
              <a:buNone/>
              <a:defRPr/>
            </a:pPr>
            <a:endParaRPr/>
          </a:p>
          <a:p>
            <a:pPr>
              <a:buNone/>
              <a:defRPr/>
            </a:pPr>
            <a:r>
              <a:rPr/>
              <a:t>Nguồn:</a:t>
            </a:r>
            <a:endParaRPr/>
          </a:p>
          <a:p>
            <a:pPr>
              <a:buNone/>
              <a:defRPr/>
            </a:pPr>
            <a:r>
              <a:rPr/>
              <a:t>https://github.com/minhthang2k5/eshop-sut/blob/main/submission/evidence/luna-d7-output.json</a:t>
            </a:r>
            <a:endParaRPr/>
          </a:p>
        </p:txBody>
      </p:sp>
      <p:sp>
        <p:nvSpPr>
          <p:cNvPr id="39840914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34941443" name="Slide Image Placeholder 1"/>
          <p:cNvSpPr>
            <a:spLocks noGrp="1"/>
          </p:cNvSpPr>
          <p:nvPr>
            <p:ph type="sldImg" idx="0"/>
          </p:nvPr>
        </p:nvSpPr>
        <p:spPr bwMode="auto"/>
      </p:sp>
      <p:sp>
        <p:nvSpPr>
          <p:cNvPr id="1629508351" name="Notes Placeholder 2"/>
          <p:cNvSpPr>
            <a:spLocks noGrp="1"/>
          </p:cNvSpPr>
          <p:nvPr>
            <p:ph type="body" idx="1"/>
          </p:nvPr>
        </p:nvSpPr>
        <p:spPr bwMode="auto"/>
        <p:txBody>
          <a:bodyPr/>
          <a:lstStyle/>
          <a:p>
            <a:pPr>
              <a:buNone/>
              <a:defRPr/>
            </a:pPr>
            <a:r>
              <a:rPr/>
              <a:t>Nếu flow kết thúc ở checkout, orderId chỉ là checkpoint. Chỉ tạo extraction/injection mới khi có bước thật sự cần giá trị này. Source có correlation không chứng minh checkout đã chạy thành công trong smoke.</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https://github.com/minhthang2k5/eshop-sut/tree/main/test-web-performance</a:t>
            </a:r>
            <a:endParaRPr/>
          </a:p>
        </p:txBody>
      </p:sp>
      <p:sp>
        <p:nvSpPr>
          <p:cNvPr id="6785951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73683822" name="Slide Image Placeholder 1"/>
          <p:cNvSpPr>
            <a:spLocks noGrp="1"/>
          </p:cNvSpPr>
          <p:nvPr>
            <p:ph type="sldImg" idx="0"/>
          </p:nvPr>
        </p:nvSpPr>
        <p:spPr bwMode="auto"/>
      </p:sp>
      <p:sp>
        <p:nvSpPr>
          <p:cNvPr id="71658094" name="Notes Placeholder 2"/>
          <p:cNvSpPr>
            <a:spLocks noGrp="1"/>
          </p:cNvSpPr>
          <p:nvPr>
            <p:ph type="body" idx="1"/>
          </p:nvPr>
        </p:nvSpPr>
        <p:spPr bwMode="auto"/>
        <p:txBody>
          <a:bodyPr/>
          <a:lstStyle/>
          <a:p>
            <a:pPr>
              <a:buNone/>
              <a:defRPr/>
            </a:pPr>
            <a:r>
              <a:rPr/>
              <a:t>Test bao gồm mẫu đúng/sai, helper/hằng số, summary phẳng/nested, thiếu metric, request/check lỗi và logout trong lúc refresh. Đây là kiểm thử công cụ audit, không phải kết quả chịu tải của SUT.</a:t>
            </a:r>
            <a:endParaRPr/>
          </a:p>
          <a:p>
            <a:pPr>
              <a:buNone/>
              <a:defRPr/>
            </a:pPr>
            <a:r>
              <a:rPr/>
              <a:t>Ảnh gốc: submission/evidence/08-regression-tests.png</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https://github.com/minhthang2k5/eshop-sut/blob/main/submission/evidence/08-regression-tests.png</a:t>
            </a:r>
            <a:endParaRPr/>
          </a:p>
        </p:txBody>
      </p:sp>
      <p:sp>
        <p:nvSpPr>
          <p:cNvPr id="79120542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31677462" name="Slide Image Placeholder 1"/>
          <p:cNvSpPr>
            <a:spLocks noGrp="1"/>
          </p:cNvSpPr>
          <p:nvPr>
            <p:ph type="sldImg" idx="0"/>
          </p:nvPr>
        </p:nvSpPr>
        <p:spPr bwMode="auto"/>
      </p:sp>
      <p:sp>
        <p:nvSpPr>
          <p:cNvPr id="2104705308" name="Notes Placeholder 2"/>
          <p:cNvSpPr>
            <a:spLocks noGrp="1"/>
          </p:cNvSpPr>
          <p:nvPr>
            <p:ph type="body" idx="1"/>
          </p:nvPr>
        </p:nvSpPr>
        <p:spPr bwMode="auto"/>
        <p:txBody>
          <a:bodyPr/>
          <a:lstStyle/>
          <a:p>
            <a:pPr>
              <a:buNone/>
              <a:defRPr/>
            </a:pPr>
            <a:r>
              <a:rPr/>
              <a:t>Gợi ý: source đúng chưa chứng minh mọi nhánh runtime. AI cần phiên có quyền. Nếu không có phiên AI, dùng output CD3D6B đã lưu và ghi rõ nguồn. Không trộn metric từ hai audit. Bài tập hoàn thành khi giải thích được kết quả bằng evidence, không bắt buộc cả hai script đạt 10/10.</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p:txBody>
      </p:sp>
      <p:sp>
        <p:nvSpPr>
          <p:cNvPr id="171687516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13991080" name="Slide Image Placeholder 1"/>
          <p:cNvSpPr>
            <a:spLocks noGrp="1"/>
          </p:cNvSpPr>
          <p:nvPr>
            <p:ph type="sldImg" idx="0"/>
          </p:nvPr>
        </p:nvSpPr>
        <p:spPr bwMode="auto"/>
      </p:sp>
      <p:sp>
        <p:nvSpPr>
          <p:cNvPr id="1244141260" name="Notes Placeholder 2"/>
          <p:cNvSpPr>
            <a:spLocks noGrp="1"/>
          </p:cNvSpPr>
          <p:nvPr>
            <p:ph type="body" idx="1"/>
          </p:nvPr>
        </p:nvSpPr>
        <p:spPr bwMode="auto"/>
        <p:txBody>
          <a:bodyPr/>
          <a:lstStyle/>
          <a:p>
            <a:pPr>
              <a:buNone/>
              <a:defRPr/>
            </a:pPr>
            <a:r>
              <a:rPr/>
              <a:t>AI không tự quyết định điểm. Quy trình có thể tái sử dụng khi giữ cấu trúc evidence và thay cấu hình chuyên biệt. Không phát hành dịch vụ chạy mã không tin cậy lên Internet chỉ với allowlist hiện tại.</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https://github.com/minhthang2k5/eshop-sut/tree/main/test-web-performance</a:t>
            </a:r>
            <a:endParaRPr/>
          </a:p>
        </p:txBody>
      </p:sp>
      <p:sp>
        <p:nvSpPr>
          <p:cNvPr id="68944270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26673271" name="Slide Image Placeholder 1"/>
          <p:cNvSpPr>
            <a:spLocks noGrp="1"/>
          </p:cNvSpPr>
          <p:nvPr>
            <p:ph type="sldImg" idx="0"/>
          </p:nvPr>
        </p:nvSpPr>
        <p:spPr bwMode="auto"/>
      </p:sp>
      <p:sp>
        <p:nvSpPr>
          <p:cNvPr id="392821819" name="Notes Placeholder 2"/>
          <p:cNvSpPr>
            <a:spLocks noGrp="1"/>
          </p:cNvSpPr>
          <p:nvPr>
            <p:ph type="body" idx="1"/>
          </p:nvPr>
        </p:nvSpPr>
        <p:spPr bwMode="auto"/>
        <p:txBody>
          <a:bodyPr/>
          <a:lstStyle/>
          <a:p>
            <a:pPr>
              <a:buNone/>
              <a:defRPr/>
            </a:pPr>
            <a:r>
              <a:rPr/>
              <a:t>Các mốc là tuần kế hoạch. Task tuần 2–3 bổ sung trên Jira ngày 23/10. Không dùng lịch sprint để suy ra ngày hoàn thành thực tế. Chi tiết A/B ở các ảnh tiếp theo.</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p:txBody>
      </p:sp>
      <p:sp>
        <p:nvSpPr>
          <p:cNvPr id="147209946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02976419" name="Slide Image Placeholder 1"/>
          <p:cNvSpPr>
            <a:spLocks noGrp="1"/>
          </p:cNvSpPr>
          <p:nvPr>
            <p:ph type="sldImg" idx="0"/>
          </p:nvPr>
        </p:nvSpPr>
        <p:spPr bwMode="auto"/>
      </p:sp>
      <p:sp>
        <p:nvSpPr>
          <p:cNvPr id="1615198892" name="Notes Placeholder 2"/>
          <p:cNvSpPr>
            <a:spLocks noGrp="1"/>
          </p:cNvSpPr>
          <p:nvPr>
            <p:ph type="body" idx="1"/>
          </p:nvPr>
        </p:nvSpPr>
        <p:spPr bwMode="auto"/>
        <p:txBody>
          <a:bodyPr/>
          <a:lstStyle/>
          <a:p>
            <a:pPr>
              <a:buNone/>
              <a:defRPr/>
            </a:pPr>
            <a:r>
              <a:rPr/>
              <a:t>Ảnh do thành viên cung cấp. Mỗi task 2 điểm. Ảnh chụp trước khi đóng Sprint 1. Các nhãn 5 luồng/5 endpoint giữ nguyên trên Jira, phải đối chiếu phạm vi source thực tế.</a:t>
            </a:r>
            <a:endParaRPr/>
          </a:p>
          <a:p>
            <a:pPr>
              <a:buNone/>
              <a:defRPr/>
            </a:pPr>
            <a:r>
              <a:rPr/>
              <a:t>Ảnh gốc: submission/Split_task/sprint_1.png</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https://github.com/minhthang2k5/eshop-sut/blob/main/submission/Split_task/sprint_1.png</a:t>
            </a:r>
            <a:endParaRPr/>
          </a:p>
        </p:txBody>
      </p:sp>
      <p:sp>
        <p:nvSpPr>
          <p:cNvPr id="74394555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31147092" name="Slide Image Placeholder 1"/>
          <p:cNvSpPr>
            <a:spLocks noGrp="1"/>
          </p:cNvSpPr>
          <p:nvPr>
            <p:ph type="sldImg" idx="0"/>
          </p:nvPr>
        </p:nvSpPr>
        <p:spPr bwMode="auto"/>
      </p:sp>
      <p:sp>
        <p:nvSpPr>
          <p:cNvPr id="1011075355" name="Notes Placeholder 2"/>
          <p:cNvSpPr>
            <a:spLocks noGrp="1"/>
          </p:cNvSpPr>
          <p:nvPr>
            <p:ph type="body" idx="1"/>
          </p:nvPr>
        </p:nvSpPr>
        <p:spPr bwMode="auto"/>
        <p:txBody>
          <a:bodyPr/>
          <a:lstStyle/>
          <a:p>
            <a:pPr>
              <a:buNone/>
              <a:defRPr/>
            </a:pPr>
            <a:r>
              <a:rPr/>
              <a:t>Ảnh chụp trước khi đóng Sprint 2. Jira là evidence quản lý, không thay thế log và kết quả kỹ thuật.</a:t>
            </a:r>
            <a:endParaRPr/>
          </a:p>
          <a:p>
            <a:pPr>
              <a:buNone/>
              <a:defRPr/>
            </a:pPr>
            <a:r>
              <a:rPr/>
              <a:t>Ảnh gốc: submission/Split_task/sprint_2.png</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https://github.com/minhthang2k5/eshop-sut/blob/main/submission/Split_task/sprint_2.png</a:t>
            </a:r>
            <a:endParaRPr/>
          </a:p>
        </p:txBody>
      </p:sp>
      <p:sp>
        <p:nvSpPr>
          <p:cNvPr id="159859005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894513947" name="Slide Image Placeholder 1"/>
          <p:cNvSpPr>
            <a:spLocks noGrp="1"/>
          </p:cNvSpPr>
          <p:nvPr>
            <p:ph type="sldImg" idx="0"/>
          </p:nvPr>
        </p:nvSpPr>
        <p:spPr bwMode="auto"/>
      </p:sp>
      <p:sp>
        <p:nvSpPr>
          <p:cNvPr id="1092244901" name="Notes Placeholder 2"/>
          <p:cNvSpPr>
            <a:spLocks noGrp="1"/>
          </p:cNvSpPr>
          <p:nvPr>
            <p:ph type="body" idx="1"/>
          </p:nvPr>
        </p:nvSpPr>
        <p:spPr bwMode="auto"/>
        <p:txBody>
          <a:bodyPr/>
          <a:lstStyle/>
          <a:p>
            <a:pPr>
              <a:buNone/>
              <a:defRPr/>
            </a:pPr>
            <a:r>
              <a:rPr/>
              <a:t>31 task cả ba tuần, Quốc Thái 9, Hữu Thắng 11, Minh Thắng 11. Estimate là quy ước lập kế hoạch, không phải xếp hạng đóng góp.</a:t>
            </a:r>
            <a:endParaRPr/>
          </a:p>
          <a:p>
            <a:pPr>
              <a:buNone/>
              <a:defRPr/>
            </a:pPr>
            <a:r>
              <a:rPr/>
              <a:t>Ảnh gốc: submission/Split_task/sprint_3.png</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https://github.com/minhthang2k5/eshop-sut/blob/main/submission/Split_task/sprint_3.png</a:t>
            </a:r>
            <a:endParaRPr/>
          </a:p>
        </p:txBody>
      </p:sp>
      <p:sp>
        <p:nvSpPr>
          <p:cNvPr id="10076505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51783545" name="Slide Image Placeholder 1"/>
          <p:cNvSpPr>
            <a:spLocks noGrp="1"/>
          </p:cNvSpPr>
          <p:nvPr>
            <p:ph type="sldImg" idx="0"/>
          </p:nvPr>
        </p:nvSpPr>
        <p:spPr bwMode="auto"/>
      </p:sp>
      <p:sp>
        <p:nvSpPr>
          <p:cNvPr id="1684837941" name="Notes Placeholder 2"/>
          <p:cNvSpPr>
            <a:spLocks noGrp="1"/>
          </p:cNvSpPr>
          <p:nvPr>
            <p:ph type="body" idx="1"/>
          </p:nvPr>
        </p:nvSpPr>
        <p:spPr bwMode="auto"/>
        <p:txBody>
          <a:bodyPr/>
          <a:lstStyle/>
          <a:p>
            <a:pPr>
              <a:buNone/>
              <a:defRPr/>
            </a:pPr>
            <a:r>
              <a:rPr/>
              <a:t>Mời người học đặt câu hỏi về workload, metric hoặc giới hạn evidence. Trước buổi seminar, mỗi thành viên đối chiếu clip của mình với slide và số liệu đúng run.</a:t>
            </a:r>
            <a:endParaRPr/>
          </a:p>
          <a:p>
            <a:pPr>
              <a:buNone/>
              <a:defRPr/>
            </a:pPr>
            <a:endParaRPr/>
          </a:p>
          <a:p>
            <a:pPr>
              <a:buNone/>
              <a:defRPr/>
            </a:pPr>
            <a:r>
              <a:rPr/>
              <a:t>Nguồn:</a:t>
            </a:r>
            <a:endParaRPr/>
          </a:p>
          <a:p>
            <a:pPr>
              <a:buNone/>
              <a:defRPr/>
            </a:pPr>
            <a:r>
              <a:rPr/>
              <a:t>https://github.com/minhthang2k5/eshop-sut/blob/main/submission/Bao_cao_seminar_Performance_Testing.md</a:t>
            </a:r>
            <a:endParaRPr/>
          </a:p>
          <a:p>
            <a:pPr>
              <a:buNone/>
              <a:defRPr/>
            </a:pPr>
            <a:r>
              <a:rPr/>
              <a:t>https://github.com/minhthang2k5/eshop-sut/blob/main/docs/requirement.txt</a:t>
            </a:r>
            <a:endParaRPr/>
          </a:p>
        </p:txBody>
      </p:sp>
      <p:sp>
        <p:nvSpPr>
          <p:cNvPr id="125578018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08660584" name="Slide Image Placeholder 1"/>
          <p:cNvSpPr>
            <a:spLocks noGrp="1"/>
          </p:cNvSpPr>
          <p:nvPr>
            <p:ph type="sldImg" idx="0"/>
          </p:nvPr>
        </p:nvSpPr>
        <p:spPr bwMode="auto"/>
      </p:sp>
      <p:sp>
        <p:nvSpPr>
          <p:cNvPr id="929849662" name="Notes Placeholder 2"/>
          <p:cNvSpPr>
            <a:spLocks noGrp="1"/>
          </p:cNvSpPr>
          <p:nvPr>
            <p:ph type="body" idx="1"/>
          </p:nvPr>
        </p:nvSpPr>
        <p:spPr bwMode="auto"/>
        <p:txBody>
          <a:bodyPr/>
          <a:lstStyle/>
          <a:p>
            <a:pPr>
              <a:buNone/>
              <a:defRPr/>
            </a:pPr>
            <a:r>
              <a:rPr/>
              <a:t>Các đường dẫn đầy đủ nằm trong speaker notes từng slide. Mở repository để xem source, log và ảnh gốc. File PowerPoint cho phép sửa trực tiếp ba ô link video và các vị trí bài tập A/B.</a:t>
            </a:r>
            <a:endParaRPr/>
          </a:p>
          <a:p>
            <a:pPr>
              <a:buNone/>
              <a:defRPr/>
            </a:pPr>
            <a:endParaRPr/>
          </a:p>
          <a:p>
            <a:pPr>
              <a:buNone/>
              <a:defRPr/>
            </a:pPr>
            <a:r>
              <a:rPr/>
              <a:t>Nguồn:</a:t>
            </a:r>
            <a:endParaRPr/>
          </a:p>
          <a:p>
            <a:pPr>
              <a:buNone/>
              <a:defRPr/>
            </a:pPr>
            <a:r>
              <a:rPr/>
              <a:t>https://github.com/minhthang2k5/eshop-sut</a:t>
            </a:r>
            <a:endParaRPr/>
          </a:p>
          <a:p>
            <a:pPr>
              <a:buNone/>
              <a:defRPr/>
            </a:pPr>
            <a:r>
              <a:rPr/>
              <a:t>https://github.com/minhthang2k5/eshop-sut/blob/main/submission/Bao_cao_seminar_Performance_Testing.md</a:t>
            </a:r>
            <a:endParaRPr/>
          </a:p>
        </p:txBody>
      </p:sp>
      <p:sp>
        <p:nvSpPr>
          <p:cNvPr id="116258125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50465701" name="Slide Image Placeholder 1"/>
          <p:cNvSpPr>
            <a:spLocks noGrp="1"/>
          </p:cNvSpPr>
          <p:nvPr>
            <p:ph type="sldImg" idx="0"/>
          </p:nvPr>
        </p:nvSpPr>
        <p:spPr bwMode="auto"/>
      </p:sp>
      <p:sp>
        <p:nvSpPr>
          <p:cNvPr id="1825715520" name="Notes Placeholder 2"/>
          <p:cNvSpPr>
            <a:spLocks noGrp="1"/>
          </p:cNvSpPr>
          <p:nvPr>
            <p:ph type="body" idx="1"/>
          </p:nvPr>
        </p:nvSpPr>
        <p:spPr bwMode="auto"/>
        <p:txBody>
          <a:bodyPr/>
          <a:lstStyle/>
          <a:p>
            <a:pPr>
              <a:buNone/>
              <a:defRPr/>
            </a:pPr>
            <a:r>
              <a:rPr/>
              <a:t>https://grafana.com/docs/k6/latest/</a:t>
            </a:r>
            <a:endParaRPr/>
          </a:p>
          <a:p>
            <a:pPr>
              <a:buNone/>
              <a:defRPr/>
            </a:pPr>
            <a:r>
              <a:rPr/>
              <a:t>https://jmeter.apache.org/usermanual/index.html</a:t>
            </a:r>
            <a:endParaRPr/>
          </a:p>
          <a:p>
            <a:pPr>
              <a:buNone/>
              <a:defRPr/>
            </a:pPr>
            <a:r>
              <a:rPr/>
              <a:t>https://developer.chrome.com/docs/devtools/network/reference/</a:t>
            </a:r>
            <a:endParaRPr/>
          </a:p>
          <a:p>
            <a:pPr>
              <a:buNone/>
              <a:defRPr/>
            </a:pPr>
            <a:r>
              <a:rPr/>
              <a:t>https://github.com/acornjs/acorn</a:t>
            </a:r>
            <a:endParaRPr/>
          </a:p>
          <a:p>
            <a:pPr>
              <a:buNone/>
              <a:defRPr/>
            </a:pPr>
            <a:r>
              <a:rPr/>
              <a:t>Nguồn mô tả khái niệm. Số liệu thực nghiệm lấy từ artifact của nhóm, không dùng benchmark trên Internet.</a:t>
            </a:r>
            <a:endParaRPr/>
          </a:p>
          <a:p>
            <a:pPr>
              <a:buNone/>
              <a:defRPr/>
            </a:pPr>
            <a:endParaRPr/>
          </a:p>
          <a:p>
            <a:pPr>
              <a:buNone/>
              <a:defRPr/>
            </a:pPr>
            <a:r>
              <a:rPr/>
              <a:t>Nguồn:</a:t>
            </a:r>
            <a:endParaRPr/>
          </a:p>
          <a:p>
            <a:pPr>
              <a:buNone/>
              <a:defRPr/>
            </a:pPr>
            <a:r>
              <a:rPr/>
              <a:t>https://grafana.com/docs/k6/latest/</a:t>
            </a:r>
            <a:endParaRPr/>
          </a:p>
          <a:p>
            <a:pPr>
              <a:buNone/>
              <a:defRPr/>
            </a:pPr>
            <a:r>
              <a:rPr/>
              <a:t>https://jmeter.apache.org/usermanual/index.html</a:t>
            </a:r>
            <a:endParaRPr/>
          </a:p>
          <a:p>
            <a:pPr>
              <a:buNone/>
              <a:defRPr/>
            </a:pPr>
            <a:r>
              <a:rPr/>
              <a:t>https://developer.chrome.com/docs/devtools/network/reference/</a:t>
            </a:r>
            <a:endParaRPr/>
          </a:p>
          <a:p>
            <a:pPr>
              <a:buNone/>
              <a:defRPr/>
            </a:pPr>
            <a:r>
              <a:rPr/>
              <a:t>https://github.com/acornjs/acorn</a:t>
            </a:r>
            <a:endParaRPr/>
          </a:p>
        </p:txBody>
      </p:sp>
      <p:sp>
        <p:nvSpPr>
          <p:cNvPr id="1605969701"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475323110" name="Title"/>
          <p:cNvSpPr>
            <a:spLocks noGrp="1"/>
          </p:cNvSpPr>
          <p:nvPr>
            <p:ph type="title" idx="0"/>
          </p:nvPr>
        </p:nvSpPr>
        <p:spPr bwMode="auto">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pPr>
              <a:buNone/>
              <a:defRPr/>
            </a:pPr>
            <a:endParaRPr/>
          </a:p>
        </p:txBody>
      </p:sp>
      <p:sp>
        <p:nvSpPr>
          <p:cNvPr id="665970819" name="Subtitle"/>
          <p:cNvSpPr>
            <a:spLocks noGrp="1"/>
          </p:cNvSpPr>
          <p:nvPr>
            <p:ph type="subTitle" idx="1"/>
          </p:nvPr>
        </p:nvSpPr>
        <p:spPr bwMode="auto">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pPr>
              <a:buNone/>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Section Header">
    <p:spTree>
      <p:nvGrpSpPr>
        <p:cNvPr id="1" name=""/>
        <p:cNvGrpSpPr/>
        <p:nvPr/>
      </p:nvGrpSpPr>
      <p:grpSpPr bwMode="auto">
        <a:xfrm>
          <a:off x="0" y="0"/>
          <a:ext cx="0" cy="0"/>
          <a:chOff x="0" y="0"/>
          <a:chExt cx="0" cy="0"/>
        </a:xfrm>
      </p:grpSpPr>
      <p:sp>
        <p:nvSpPr>
          <p:cNvPr id="1742633618" name="Section title"/>
          <p:cNvSpPr>
            <a:spLocks noGrp="1"/>
          </p:cNvSpPr>
          <p:nvPr>
            <p:ph type="title" idx="0"/>
          </p:nvPr>
        </p:nvSpPr>
        <p:spPr bwMode="auto">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pPr>
              <a:buNone/>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Body">
    <p:spTree>
      <p:nvGrpSpPr>
        <p:cNvPr id="1" name=""/>
        <p:cNvGrpSpPr/>
        <p:nvPr/>
      </p:nvGrpSpPr>
      <p:grpSpPr bwMode="auto">
        <a:xfrm>
          <a:off x="0" y="0"/>
          <a:ext cx="0" cy="0"/>
          <a:chOff x="0" y="0"/>
          <a:chExt cx="0" cy="0"/>
        </a:xfrm>
      </p:grpSpPr>
      <p:sp>
        <p:nvSpPr>
          <p:cNvPr id="997422899"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buNone/>
              <a:defRPr/>
            </a:pPr>
            <a:endParaRPr/>
          </a:p>
        </p:txBody>
      </p:sp>
      <p:sp>
        <p:nvSpPr>
          <p:cNvPr id="1900386804" name="Body"/>
          <p:cNvSpPr>
            <a:spLocks noGrp="1"/>
          </p:cNvSpPr>
          <p:nvPr>
            <p:ph type="body" idx="1"/>
          </p:nvPr>
        </p:nvSpPr>
        <p:spPr bwMode="auto">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buNone/>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Two Column">
    <p:spTree>
      <p:nvGrpSpPr>
        <p:cNvPr id="1" name=""/>
        <p:cNvGrpSpPr/>
        <p:nvPr/>
      </p:nvGrpSpPr>
      <p:grpSpPr bwMode="auto">
        <a:xfrm>
          <a:off x="0" y="0"/>
          <a:ext cx="0" cy="0"/>
          <a:chOff x="0" y="0"/>
          <a:chExt cx="0" cy="0"/>
        </a:xfrm>
      </p:grpSpPr>
      <p:sp>
        <p:nvSpPr>
          <p:cNvPr id="1985978846"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buNone/>
              <a:defRPr/>
            </a:pPr>
            <a:endParaRPr/>
          </a:p>
        </p:txBody>
      </p:sp>
      <p:sp>
        <p:nvSpPr>
          <p:cNvPr id="243078079"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buNone/>
              <a:defRPr/>
            </a:pPr>
            <a:endParaRPr/>
          </a:p>
        </p:txBody>
      </p:sp>
      <p:sp>
        <p:nvSpPr>
          <p:cNvPr id="613540537" name="Right column"/>
          <p:cNvSpPr>
            <a:spLocks noGrp="1"/>
          </p:cNvSpPr>
          <p:nvPr>
            <p:ph type="body" idx="2"/>
          </p:nvPr>
        </p:nvSpPr>
        <p:spPr bwMode="auto">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buNone/>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One Column">
    <p:spTree>
      <p:nvGrpSpPr>
        <p:cNvPr id="1" name=""/>
        <p:cNvGrpSpPr/>
        <p:nvPr/>
      </p:nvGrpSpPr>
      <p:grpSpPr bwMode="auto">
        <a:xfrm>
          <a:off x="0" y="0"/>
          <a:ext cx="0" cy="0"/>
          <a:chOff x="0" y="0"/>
          <a:chExt cx="0" cy="0"/>
        </a:xfrm>
      </p:grpSpPr>
      <p:sp>
        <p:nvSpPr>
          <p:cNvPr id="1217921239"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buNone/>
              <a:defRPr/>
            </a:pPr>
            <a:endParaRPr/>
          </a:p>
        </p:txBody>
      </p:sp>
      <p:sp>
        <p:nvSpPr>
          <p:cNvPr id="1571019071"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buNone/>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 Id="rId4" Type="http://schemas.openxmlformats.org/officeDocument/2006/relationships/image" Target="../media/image3.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5.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7.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 Id="rId3" Type="http://schemas.openxmlformats.org/officeDocument/2006/relationships/image" Target="../media/image8.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 Id="rId3" Type="http://schemas.openxmlformats.org/officeDocument/2006/relationships/image" Target="../media/image9.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 Id="rId3" Type="http://schemas.openxmlformats.org/officeDocument/2006/relationships/image" Target="../media/image10.pn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1.xml"/><Relationship Id="rId3" Type="http://schemas.openxmlformats.org/officeDocument/2006/relationships/image" Target="../media/image11.pn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 Id="rId3" Type="http://schemas.openxmlformats.org/officeDocument/2006/relationships/image" Target="../media/image12.png"/></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 Id="rId3" Type="http://schemas.openxmlformats.org/officeDocument/2006/relationships/image" Target="../media/image13.png"/></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91600435" name="SEMINAR SOFTWARE TESTI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SEMINAR SOFTWARE TESTING</a:t>
            </a:r>
            <a:endParaRPr/>
          </a:p>
        </p:txBody>
      </p:sp>
      <p:sp>
        <p:nvSpPr>
          <p:cNvPr id="1480095533" name="PERFORMANCE TESTI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PERFORMANCE TESTING</a:t>
            </a:r>
            <a:endParaRPr/>
          </a:p>
        </p:txBody>
      </p:sp>
      <p:sp>
        <p:nvSpPr>
          <p:cNvPr id="201515680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39226985" name="01"/>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01</a:t>
            </a:r>
            <a:endParaRPr/>
          </a:p>
        </p:txBody>
      </p:sp>
      <p:sp>
        <p:nvSpPr>
          <p:cNvPr id="504652386" name="Kiểm thử API EShop bằng k6, JMeter và web audit có AI hỗ trợ"/>
          <p:cNvSpPr>
            <a:spLocks noGrp="1"/>
          </p:cNvSpPr>
          <p:nvPr/>
        </p:nvSpPr>
        <p:spPr bwMode="auto">
          <a:xfrm>
            <a:off x="609600" y="2286000"/>
            <a:ext cx="10668000" cy="1428750"/>
          </a:xfrm>
          <a:prstGeom prst="rect">
            <a:avLst/>
          </a:prstGeom>
          <a:noFill/>
          <a:ln w="0">
            <a:noFill/>
          </a:ln>
        </p:spPr>
        <p:txBody>
          <a:bodyPr wrap="square" lIns="0" tIns="0" rIns="0" bIns="0">
            <a:noAutofit/>
          </a:bodyPr>
          <a:lstStyle>
            <a:defPPr>
              <a:defRPr sz="3250" b="0">
                <a:solidFill>
                  <a:srgbClr val="151B23"/>
                </a:solidFill>
                <a:latin typeface="Arial"/>
                <a:ea typeface="Arial"/>
                <a:cs typeface="Arial"/>
              </a:defRPr>
            </a:defPPr>
            <a:lvl1pPr>
              <a:buNone/>
              <a:defRPr sz="3250" b="0">
                <a:solidFill>
                  <a:srgbClr val="151B23"/>
                </a:solidFill>
                <a:latin typeface="Arial"/>
                <a:ea typeface="Arial"/>
                <a:cs typeface="Arial"/>
              </a:defRPr>
            </a:lvl1pPr>
            <a:lvl2pPr>
              <a:buNone/>
              <a:defRPr sz="3250" b="0">
                <a:solidFill>
                  <a:srgbClr val="151B23"/>
                </a:solidFill>
                <a:latin typeface="Arial"/>
                <a:ea typeface="Arial"/>
                <a:cs typeface="Arial"/>
              </a:defRPr>
            </a:lvl2pPr>
            <a:lvl3pPr>
              <a:buNone/>
              <a:defRPr sz="3250" b="0">
                <a:solidFill>
                  <a:srgbClr val="151B23"/>
                </a:solidFill>
                <a:latin typeface="Arial"/>
                <a:ea typeface="Arial"/>
                <a:cs typeface="Arial"/>
              </a:defRPr>
            </a:lvl3pPr>
            <a:lvl4pPr>
              <a:buNone/>
              <a:defRPr sz="3250" b="0">
                <a:solidFill>
                  <a:srgbClr val="151B23"/>
                </a:solidFill>
                <a:latin typeface="Arial"/>
                <a:ea typeface="Arial"/>
                <a:cs typeface="Arial"/>
              </a:defRPr>
            </a:lvl4pPr>
            <a:lvl5pPr>
              <a:buNone/>
              <a:defRPr sz="3250" b="0">
                <a:solidFill>
                  <a:srgbClr val="151B23"/>
                </a:solidFill>
                <a:latin typeface="Arial"/>
                <a:ea typeface="Arial"/>
                <a:cs typeface="Arial"/>
              </a:defRPr>
            </a:lvl5pPr>
            <a:lvl6pPr>
              <a:buNone/>
              <a:defRPr sz="3250" b="0">
                <a:solidFill>
                  <a:srgbClr val="151B23"/>
                </a:solidFill>
                <a:latin typeface="Arial"/>
                <a:ea typeface="Arial"/>
                <a:cs typeface="Arial"/>
              </a:defRPr>
            </a:lvl6pPr>
            <a:lvl7pPr>
              <a:buNone/>
              <a:defRPr sz="3250" b="0">
                <a:solidFill>
                  <a:srgbClr val="151B23"/>
                </a:solidFill>
                <a:latin typeface="Arial"/>
                <a:ea typeface="Arial"/>
                <a:cs typeface="Arial"/>
              </a:defRPr>
            </a:lvl7pPr>
            <a:lvl8pPr>
              <a:buNone/>
              <a:defRPr sz="3250" b="0">
                <a:solidFill>
                  <a:srgbClr val="151B23"/>
                </a:solidFill>
                <a:latin typeface="Arial"/>
                <a:ea typeface="Arial"/>
                <a:cs typeface="Arial"/>
              </a:defRPr>
            </a:lvl8pPr>
            <a:lvl9pPr>
              <a:buNone/>
              <a:defRPr sz="3250" b="0">
                <a:solidFill>
                  <a:srgbClr val="151B23"/>
                </a:solidFill>
                <a:latin typeface="Arial"/>
                <a:ea typeface="Arial"/>
                <a:cs typeface="Arial"/>
              </a:defRPr>
            </a:lvl9pPr>
          </a:lstStyle>
          <a:p>
            <a:pPr>
              <a:buNone/>
              <a:defRPr sz="3250" b="0">
                <a:solidFill>
                  <a:srgbClr val="151B23"/>
                </a:solidFill>
                <a:latin typeface="Arial"/>
                <a:ea typeface="Arial"/>
                <a:cs typeface="Arial"/>
              </a:defRPr>
            </a:pPr>
            <a:r>
              <a:rPr sz="3250" b="0">
                <a:solidFill>
                  <a:srgbClr val="151B23"/>
                </a:solidFill>
                <a:latin typeface="Arial"/>
                <a:ea typeface="Arial"/>
                <a:cs typeface="Arial"/>
              </a:rPr>
              <a:t>Kiểm thử API EShop bằng k6, JMeter</a:t>
            </a:r>
            <a:endParaRPr/>
          </a:p>
          <a:p>
            <a:pPr>
              <a:buNone/>
              <a:defRPr sz="3250" b="0">
                <a:solidFill>
                  <a:srgbClr val="151B23"/>
                </a:solidFill>
                <a:latin typeface="Arial"/>
                <a:ea typeface="Arial"/>
                <a:cs typeface="Arial"/>
              </a:defRPr>
            </a:pPr>
            <a:r>
              <a:rPr sz="3250" b="0">
                <a:solidFill>
                  <a:srgbClr val="151B23"/>
                </a:solidFill>
                <a:latin typeface="Arial"/>
                <a:ea typeface="Arial"/>
                <a:cs typeface="Arial"/>
              </a:rPr>
              <a:t>và web audit có AI hỗ trợ</a:t>
            </a:r>
            <a:endParaRPr/>
          </a:p>
        </p:txBody>
      </p:sp>
      <p:sp>
        <p:nvSpPr>
          <p:cNvPr id="969675086" name="FIT, Trường Đại học Khoa học Tự nhiên, ĐHQG TP.HCM"/>
          <p:cNvSpPr>
            <a:spLocks noGrp="1"/>
          </p:cNvSpPr>
          <p:nvPr/>
        </p:nvSpPr>
        <p:spPr bwMode="auto">
          <a:xfrm>
            <a:off x="609600" y="4762500"/>
            <a:ext cx="10668000" cy="523875"/>
          </a:xfrm>
          <a:prstGeom prst="rect">
            <a:avLst/>
          </a:prstGeom>
          <a:noFill/>
          <a:ln w="0">
            <a:noFill/>
          </a:ln>
        </p:spPr>
        <p:txBody>
          <a:bodyPr wrap="square" lIns="0" tIns="0" rIns="0" bIns="0">
            <a:noAutofit/>
          </a:bodyPr>
          <a:lstStyle>
            <a:defPPr>
              <a:defRPr sz="1950" b="0">
                <a:solidFill>
                  <a:srgbClr val="151B23"/>
                </a:solidFill>
                <a:latin typeface="Arial"/>
                <a:ea typeface="Arial"/>
                <a:cs typeface="Arial"/>
              </a:defRPr>
            </a:defPPr>
            <a:lvl1pPr>
              <a:buNone/>
              <a:defRPr sz="1950" b="0">
                <a:solidFill>
                  <a:srgbClr val="151B23"/>
                </a:solidFill>
                <a:latin typeface="Arial"/>
                <a:ea typeface="Arial"/>
                <a:cs typeface="Arial"/>
              </a:defRPr>
            </a:lvl1pPr>
            <a:lvl2pPr>
              <a:buNone/>
              <a:defRPr sz="1950" b="0">
                <a:solidFill>
                  <a:srgbClr val="151B23"/>
                </a:solidFill>
                <a:latin typeface="Arial"/>
                <a:ea typeface="Arial"/>
                <a:cs typeface="Arial"/>
              </a:defRPr>
            </a:lvl2pPr>
            <a:lvl3pPr>
              <a:buNone/>
              <a:defRPr sz="1950" b="0">
                <a:solidFill>
                  <a:srgbClr val="151B23"/>
                </a:solidFill>
                <a:latin typeface="Arial"/>
                <a:ea typeface="Arial"/>
                <a:cs typeface="Arial"/>
              </a:defRPr>
            </a:lvl3pPr>
            <a:lvl4pPr>
              <a:buNone/>
              <a:defRPr sz="1950" b="0">
                <a:solidFill>
                  <a:srgbClr val="151B23"/>
                </a:solidFill>
                <a:latin typeface="Arial"/>
                <a:ea typeface="Arial"/>
                <a:cs typeface="Arial"/>
              </a:defRPr>
            </a:lvl4pPr>
            <a:lvl5pPr>
              <a:buNone/>
              <a:defRPr sz="1950" b="0">
                <a:solidFill>
                  <a:srgbClr val="151B23"/>
                </a:solidFill>
                <a:latin typeface="Arial"/>
                <a:ea typeface="Arial"/>
                <a:cs typeface="Arial"/>
              </a:defRPr>
            </a:lvl5pPr>
            <a:lvl6pPr>
              <a:buNone/>
              <a:defRPr sz="1950" b="0">
                <a:solidFill>
                  <a:srgbClr val="151B23"/>
                </a:solidFill>
                <a:latin typeface="Arial"/>
                <a:ea typeface="Arial"/>
                <a:cs typeface="Arial"/>
              </a:defRPr>
            </a:lvl6pPr>
            <a:lvl7pPr>
              <a:buNone/>
              <a:defRPr sz="1950" b="0">
                <a:solidFill>
                  <a:srgbClr val="151B23"/>
                </a:solidFill>
                <a:latin typeface="Arial"/>
                <a:ea typeface="Arial"/>
                <a:cs typeface="Arial"/>
              </a:defRPr>
            </a:lvl7pPr>
            <a:lvl8pPr>
              <a:buNone/>
              <a:defRPr sz="1950" b="0">
                <a:solidFill>
                  <a:srgbClr val="151B23"/>
                </a:solidFill>
                <a:latin typeface="Arial"/>
                <a:ea typeface="Arial"/>
                <a:cs typeface="Arial"/>
              </a:defRPr>
            </a:lvl8pPr>
            <a:lvl9pPr>
              <a:buNone/>
              <a:defRPr sz="1950" b="0">
                <a:solidFill>
                  <a:srgbClr val="151B23"/>
                </a:solidFill>
                <a:latin typeface="Arial"/>
                <a:ea typeface="Arial"/>
                <a:cs typeface="Arial"/>
              </a:defRPr>
            </a:lvl9pPr>
          </a:lstStyle>
          <a:p>
            <a:pPr>
              <a:buNone/>
              <a:defRPr sz="1950" b="0">
                <a:solidFill>
                  <a:srgbClr val="151B23"/>
                </a:solidFill>
                <a:latin typeface="Arial"/>
                <a:ea typeface="Arial"/>
                <a:cs typeface="Arial"/>
              </a:defRPr>
            </a:pPr>
            <a:r>
              <a:rPr sz="1950" b="0">
                <a:solidFill>
                  <a:srgbClr val="151B23"/>
                </a:solidFill>
                <a:latin typeface="Arial"/>
                <a:ea typeface="Arial"/>
                <a:cs typeface="Arial"/>
              </a:rPr>
              <a:t>FIT, Trường Đại học Khoa học Tự nhiên, ĐHQG TP.HCM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10270082" name="GIỚI THIỆU"/>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GIỚI THIỆU</a:t>
            </a:r>
            <a:endParaRPr/>
          </a:p>
        </p:txBody>
      </p:sp>
      <p:sp>
        <p:nvSpPr>
          <p:cNvPr id="1344348775" name="Nhóm thực hiện"/>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Nhóm thực hiện</a:t>
            </a:r>
            <a:endParaRPr/>
          </a:p>
        </p:txBody>
      </p:sp>
      <p:sp>
        <p:nvSpPr>
          <p:cNvPr id="657717659"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545390354" name="02"/>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02</a:t>
            </a:r>
            <a:endParaRPr/>
          </a:p>
        </p:txBody>
      </p:sp>
      <p:graphicFrame>
        <p:nvGraphicFramePr>
          <p:cNvPr id="550202676"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4381500"/>
                <a:gridCol w="1905000"/>
                <a:gridCol w="4686300"/>
              </a:tblGrid>
              <a:tr h="1081088">
                <a:tc>
                  <a:txBody>
                    <a:bodyPr/>
                    <a:p>
                      <a:pPr>
                        <a:buNone/>
                        <a:defRPr/>
                      </a:pPr>
                      <a:r>
                        <a:rPr sz="1800" b="1">
                          <a:solidFill>
                            <a:srgbClr val="153E75"/>
                          </a:solidFill>
                          <a:latin typeface="Arial"/>
                          <a:ea typeface="Arial"/>
                          <a:cs typeface="Arial"/>
                        </a:rPr>
                        <a:t>Thành viên</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MSSV</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Phần trình bày</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1081088">
                <a:tc>
                  <a:txBody>
                    <a:bodyPr/>
                    <a:p>
                      <a:pPr>
                        <a:buNone/>
                        <a:defRPr/>
                      </a:pPr>
                      <a:r>
                        <a:rPr sz="1800">
                          <a:solidFill>
                            <a:srgbClr val="151B23"/>
                          </a:solidFill>
                          <a:latin typeface="Arial"/>
                          <a:ea typeface="Arial"/>
                          <a:cs typeface="Arial"/>
                        </a:rPr>
                        <a:t>Lê Nguyễn Quốc Thái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23120352</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k6 và tuning</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Võ Hữu Thắng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23120355</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JMeter và đối chiếu</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Trịnh Hồ Minh Thắng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23120354</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Web audit và AI</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18767589" name="LỘ TRÌNH"/>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LỘ TRÌNH</a:t>
            </a:r>
            <a:endParaRPr/>
          </a:p>
        </p:txBody>
      </p:sp>
      <p:sp>
        <p:nvSpPr>
          <p:cNvPr id="1673834797" name="Mục tiêu và trình tự seminar"/>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Mục tiêu và trình tự seminar</a:t>
            </a:r>
            <a:endParaRPr/>
          </a:p>
        </p:txBody>
      </p:sp>
      <p:sp>
        <p:nvSpPr>
          <p:cNvPr id="309571669"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888490208" name="03"/>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03</a:t>
            </a:r>
            <a:endParaRPr/>
          </a:p>
        </p:txBody>
      </p:sp>
      <p:sp>
        <p:nvSpPr>
          <p:cNvPr id="678065693"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809138322" name="Hiểu workload, metric và điều kiện chấp nhận."/>
          <p:cNvSpPr>
            <a:spLocks noGrp="1"/>
          </p:cNvSpPr>
          <p:nvPr/>
        </p:nvSpPr>
        <p:spPr bwMode="auto">
          <a:xfrm>
            <a:off x="1257300" y="178117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Hiểu workload, metric và điều kiện chấp nhận.</a:t>
            </a:r>
            <a:endParaRPr/>
          </a:p>
        </p:txBody>
      </p:sp>
      <p:sp>
        <p:nvSpPr>
          <p:cNvPr id="451756948" name="02"/>
          <p:cNvSpPr>
            <a:spLocks noGrp="1"/>
          </p:cNvSpPr>
          <p:nvPr/>
        </p:nvSpPr>
        <p:spPr bwMode="auto">
          <a:xfrm>
            <a:off x="628650" y="2647949"/>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145175048" name="Thực hành k6, sau đó xem video demo 1."/>
          <p:cNvSpPr>
            <a:spLocks noGrp="1"/>
          </p:cNvSpPr>
          <p:nvPr/>
        </p:nvSpPr>
        <p:spPr bwMode="auto">
          <a:xfrm>
            <a:off x="1257300" y="2628900"/>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Thực hành k6, sau đó xem video demo 1.</a:t>
            </a:r>
            <a:endParaRPr/>
          </a:p>
        </p:txBody>
      </p:sp>
      <p:sp>
        <p:nvSpPr>
          <p:cNvPr id="1994281254" name="03"/>
          <p:cNvSpPr>
            <a:spLocks noGrp="1"/>
          </p:cNvSpPr>
          <p:nvPr/>
        </p:nvSpPr>
        <p:spPr bwMode="auto">
          <a:xfrm>
            <a:off x="628650" y="349567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38399428" name="Thực hành JMeter, sau đó xem video demo 2."/>
          <p:cNvSpPr>
            <a:spLocks noGrp="1"/>
          </p:cNvSpPr>
          <p:nvPr/>
        </p:nvSpPr>
        <p:spPr bwMode="auto">
          <a:xfrm>
            <a:off x="1257300" y="347662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Thực hành JMeter, sau đó xem video demo 2.</a:t>
            </a:r>
            <a:endParaRPr/>
          </a:p>
        </p:txBody>
      </p:sp>
      <p:sp>
        <p:nvSpPr>
          <p:cNvPr id="1797516571" name="04"/>
          <p:cNvSpPr>
            <a:spLocks noGrp="1"/>
          </p:cNvSpPr>
          <p:nvPr/>
        </p:nvSpPr>
        <p:spPr bwMode="auto">
          <a:xfrm>
            <a:off x="628650" y="4343400"/>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886493782" name="Thực hành web audit và AI, sau đó xem video demo 3."/>
          <p:cNvSpPr>
            <a:spLocks noGrp="1"/>
          </p:cNvSpPr>
          <p:nvPr/>
        </p:nvSpPr>
        <p:spPr bwMode="auto">
          <a:xfrm>
            <a:off x="1257300" y="4324350"/>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Thực hành web audit và AI, sau đó xem video demo 3.</a:t>
            </a:r>
            <a:endParaRPr/>
          </a:p>
        </p:txBody>
      </p:sp>
      <p:sp>
        <p:nvSpPr>
          <p:cNvPr id="1310867190" name="05"/>
          <p:cNvSpPr>
            <a:spLocks noGrp="1"/>
          </p:cNvSpPr>
          <p:nvPr/>
        </p:nvSpPr>
        <p:spPr bwMode="auto">
          <a:xfrm>
            <a:off x="628650" y="51911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05</a:t>
            </a:r>
            <a:endParaRPr/>
          </a:p>
        </p:txBody>
      </p:sp>
      <p:sp>
        <p:nvSpPr>
          <p:cNvPr id="1963311233" name="Đọc evidence, làm bài tập và đối chiếu kết quả."/>
          <p:cNvSpPr>
            <a:spLocks noGrp="1"/>
          </p:cNvSpPr>
          <p:nvPr/>
        </p:nvSpPr>
        <p:spPr bwMode="auto">
          <a:xfrm>
            <a:off x="1257300" y="517207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Đọc evidence, làm bài tập và đối chiếu kết quả.</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89322728" name="CASE STUDY"/>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CASE STUDY</a:t>
            </a:r>
            <a:endParaRPr/>
          </a:p>
        </p:txBody>
      </p:sp>
      <p:sp>
        <p:nvSpPr>
          <p:cNvPr id="1063137726" name="Hệ thống EShop và công cụ kiểm thử"/>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Hệ thống EShop và công cụ kiểm thử</a:t>
            </a:r>
            <a:endParaRPr/>
          </a:p>
        </p:txBody>
      </p:sp>
      <p:sp>
        <p:nvSpPr>
          <p:cNvPr id="29471090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929456689" name="04"/>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04</a:t>
            </a:r>
            <a:endParaRPr/>
          </a:p>
        </p:txBody>
      </p:sp>
      <p:graphicFrame>
        <p:nvGraphicFramePr>
          <p:cNvPr id="1528252707"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4000500"/>
                <a:gridCol w="4476750"/>
                <a:gridCol w="2495550"/>
              </a:tblGrid>
              <a:tr h="864870">
                <a:tc>
                  <a:txBody>
                    <a:bodyPr/>
                    <a:p>
                      <a:pPr>
                        <a:buNone/>
                        <a:defRPr/>
                      </a:pPr>
                      <a:r>
                        <a:rPr sz="1800" b="1">
                          <a:solidFill>
                            <a:srgbClr val="153E75"/>
                          </a:solidFill>
                          <a:latin typeface="Arial"/>
                          <a:ea typeface="Arial"/>
                          <a:cs typeface="Arial"/>
                        </a:rPr>
                        <a:t>Thành phần</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Vai trò</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Địa chỉ local</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Backend Express + SQLite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SUT xử lý API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localhost:3000</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Frontend EShop</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Thao tác và capture HAR</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localhost:5173</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React audit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Nộp file và xem evidence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localhost:5175</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Express audit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Chạy k6 và điều phối AI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localhost:4000</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16418067" name="CASE STUDY"/>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CASE STUDY</a:t>
            </a:r>
            <a:endParaRPr/>
          </a:p>
        </p:txBody>
      </p:sp>
      <p:sp>
        <p:nvSpPr>
          <p:cNvPr id="326468594" name="API contract theo phạm vi thực hành"/>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API contract theo phạm vi thực hành</a:t>
            </a:r>
            <a:endParaRPr/>
          </a:p>
        </p:txBody>
      </p:sp>
      <p:sp>
        <p:nvSpPr>
          <p:cNvPr id="79151464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872008284" name="05"/>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05</a:t>
            </a:r>
            <a:endParaRPr/>
          </a:p>
        </p:txBody>
      </p:sp>
      <p:graphicFrame>
        <p:nvGraphicFramePr>
          <p:cNvPr id="557840851"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571750"/>
                <a:gridCol w="5429250"/>
                <a:gridCol w="2971800"/>
              </a:tblGrid>
              <a:tr h="720725">
                <a:tc>
                  <a:txBody>
                    <a:bodyPr/>
                    <a:p>
                      <a:pPr>
                        <a:buNone/>
                        <a:defRPr/>
                      </a:pPr>
                      <a:r>
                        <a:rPr sz="1800" b="1">
                          <a:solidFill>
                            <a:srgbClr val="153E75"/>
                          </a:solidFill>
                          <a:latin typeface="Arial"/>
                          <a:ea typeface="Arial"/>
                          <a:cs typeface="Arial"/>
                        </a:rPr>
                        <a:t>API</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Request</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Checkpoint</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720725">
                <a:tc>
                  <a:txBody>
                    <a:bodyPr/>
                    <a:p>
                      <a:pPr>
                        <a:buNone/>
                        <a:defRPr/>
                      </a:pPr>
                      <a:r>
                        <a:rPr sz="1800">
                          <a:solidFill>
                            <a:srgbClr val="151B23"/>
                          </a:solidFill>
                          <a:latin typeface="Arial"/>
                          <a:ea typeface="Arial"/>
                          <a:cs typeface="Arial"/>
                        </a:rPr>
                        <a:t>Login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POST /api/login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token</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Search</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GET /api/products?search=…</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dữ liệu</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Detail</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GET /api/products/:id</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sản phẩm</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Cart (phần k6)</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POST /api/cart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payload</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Checkout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POST /api/checkout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orderId</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4407037" name="KHÁI NIỆ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a:t>
            </a:r>
            <a:endParaRPr/>
          </a:p>
        </p:txBody>
      </p:sp>
      <p:sp>
        <p:nvSpPr>
          <p:cNvPr id="743620274" name="Kiểm thử chức năng và hiệu nă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Kiểm thử chức năng và hiệu năng</a:t>
            </a:r>
            <a:endParaRPr/>
          </a:p>
        </p:txBody>
      </p:sp>
      <p:sp>
        <p:nvSpPr>
          <p:cNvPr id="189977878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474787872" name="06"/>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06</a:t>
            </a:r>
            <a:endParaRPr/>
          </a:p>
        </p:txBody>
      </p:sp>
      <p:graphicFrame>
        <p:nvGraphicFramePr>
          <p:cNvPr id="1950454132"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1081088">
                <a:tc>
                  <a:txBody>
                    <a:bodyPr/>
                    <a:p>
                      <a:pPr>
                        <a:buNone/>
                        <a:defRPr/>
                      </a:pPr>
                      <a:r>
                        <a:rPr sz="1800" b="1">
                          <a:solidFill>
                            <a:srgbClr val="153E75"/>
                          </a:solidFill>
                          <a:latin typeface="Arial"/>
                          <a:ea typeface="Arial"/>
                          <a:cs typeface="Arial"/>
                        </a:rPr>
                        <a:t>Góc nhìn</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Câu hỏi</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Ví dụ EShop</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1081088">
                <a:tc>
                  <a:txBody>
                    <a:bodyPr/>
                    <a:p>
                      <a:pPr>
                        <a:buNone/>
                        <a:defRPr/>
                      </a:pPr>
                      <a:r>
                        <a:rPr sz="1800">
                          <a:solidFill>
                            <a:srgbClr val="151B23"/>
                          </a:solidFill>
                          <a:latin typeface="Arial"/>
                          <a:ea typeface="Arial"/>
                          <a:cs typeface="Arial"/>
                        </a:rPr>
                        <a:t>Chức năng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Response có đúng nghiệp vụ?</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Login trả token hợp lệ</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Hiệu năng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Đúng và đủ nhanh ở tải nào?</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p95 dưới mục tiêu ở 50 VU</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Điều kiện kết luận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Workload và dữ liệu có phù hợp?</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Checkout lỗi nhanh vẫn là lỗi</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96038046" name="KHÁI NIỆM / MỤC TIÊU"/>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MỤC TIÊU</a:t>
            </a:r>
            <a:endParaRPr/>
          </a:p>
        </p:txBody>
      </p:sp>
      <p:sp>
        <p:nvSpPr>
          <p:cNvPr id="1900061552" name="Hiệu năng: tốc độ, tải và tài nguyên"/>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Hiệu năng: tốc độ, tải và tài nguyên</a:t>
            </a:r>
            <a:endParaRPr/>
          </a:p>
        </p:txBody>
      </p:sp>
      <p:sp>
        <p:nvSpPr>
          <p:cNvPr id="98733986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645710020"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07</a:t>
            </a:r>
            <a:endParaRPr/>
          </a:p>
        </p:txBody>
      </p:sp>
      <p:graphicFrame>
        <p:nvGraphicFramePr>
          <p:cNvPr id="346141697"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381250"/>
                <a:gridCol w="4667250"/>
                <a:gridCol w="3924300"/>
              </a:tblGrid>
              <a:tr h="864870">
                <a:tc>
                  <a:txBody>
                    <a:bodyPr/>
                    <a:p>
                      <a:pPr>
                        <a:buNone/>
                        <a:defRPr/>
                      </a:pPr>
                      <a:r>
                        <a:rPr sz="1800" b="1">
                          <a:solidFill>
                            <a:srgbClr val="153E75"/>
                          </a:solidFill>
                          <a:latin typeface="Arial"/>
                          <a:ea typeface="Arial"/>
                          <a:cs typeface="Arial"/>
                        </a:rPr>
                        <a:t>Khái niệm</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Ý nghĩa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Ví dụ minh họa EShop</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Response time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Thời gian hoàn thành một request theo phạm vi đo</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Search trả kết quả trong 200 ms</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Throughput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Khối lượng xử lý trên một đơn vị thời gian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100 HTTP request/giây</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Capacity</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Mức tải vẫn đáp ứng mục tiêu đã đặt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Tải nào giữ p95 dưới 500 ms?</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Bottleneck</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Thành phần giới hạn khả năng xử lý</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CPU, truy vấn DB hoặc hàng đợi</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4853241" name="KHÁI NIỆ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a:t>
            </a:r>
            <a:endParaRPr/>
          </a:p>
        </p:txBody>
      </p:sp>
      <p:sp>
        <p:nvSpPr>
          <p:cNvPr id="899419893" name="Các loại kiểm thử hiệu nă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Các loại kiểm thử hiệu năng</a:t>
            </a:r>
            <a:endParaRPr/>
          </a:p>
        </p:txBody>
      </p:sp>
      <p:sp>
        <p:nvSpPr>
          <p:cNvPr id="1207659476"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2130582477" name="07"/>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08</a:t>
            </a:r>
            <a:endParaRPr/>
          </a:p>
        </p:txBody>
      </p:sp>
      <p:graphicFrame>
        <p:nvGraphicFramePr>
          <p:cNvPr id="202312995"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720725">
                <a:tc>
                  <a:txBody>
                    <a:bodyPr/>
                    <a:p>
                      <a:pPr>
                        <a:buNone/>
                        <a:defRPr/>
                      </a:pPr>
                      <a:r>
                        <a:rPr sz="1800" b="1">
                          <a:solidFill>
                            <a:srgbClr val="153E75"/>
                          </a:solidFill>
                          <a:latin typeface="Arial"/>
                          <a:ea typeface="Arial"/>
                          <a:cs typeface="Arial"/>
                        </a:rPr>
                        <a:t>Loại test</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Mục tiêu</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Dạng tải</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720725">
                <a:tc>
                  <a:txBody>
                    <a:bodyPr/>
                    <a:p>
                      <a:pPr>
                        <a:buNone/>
                        <a:defRPr/>
                      </a:pPr>
                      <a:r>
                        <a:rPr sz="1800">
                          <a:solidFill>
                            <a:srgbClr val="151B23"/>
                          </a:solidFill>
                          <a:latin typeface="Arial"/>
                          <a:ea typeface="Arial"/>
                          <a:cs typeface="Arial"/>
                        </a:rPr>
                        <a:t>Smoke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Kiểm tra script và SUT cơ bản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Rất nhỏ, ngắn</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Load / baseline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Đo ở mức dự kiến, lập mốc</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Tải bình thường</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Stress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Quan sát vùng suy giảm</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Cao hơn mức bình thường</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Spike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Quan sát đột biến và phục hồi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Tăng nhanh rồi giảm</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Soak</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Quan sát ổn định dài hạn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Duy trì tải lâu</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63864932" name="KHÁI NIỆM / SMOKE"/>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SMOKE</a:t>
            </a:r>
            <a:endParaRPr/>
          </a:p>
        </p:txBody>
      </p:sp>
      <p:sp>
        <p:nvSpPr>
          <p:cNvPr id="181515301" name="Smoke test: mục tiêu và cách đọc lỗi"/>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Smoke test: mục tiêu và cách đọc lỗi</a:t>
            </a:r>
            <a:endParaRPr/>
          </a:p>
        </p:txBody>
      </p:sp>
      <p:sp>
        <p:nvSpPr>
          <p:cNvPr id="478207140"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22891939"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09</a:t>
            </a:r>
            <a:endParaRPr/>
          </a:p>
        </p:txBody>
      </p:sp>
      <p:sp>
        <p:nvSpPr>
          <p:cNvPr id="232567316" name="Mục tiêu"/>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Mục tiêu</a:t>
            </a:r>
            <a:endParaRPr/>
          </a:p>
        </p:txBody>
      </p:sp>
      <p:sp>
        <p:nvSpPr>
          <p:cNvPr id="1681154572" name="Chạy tải rất nhỏ để xác nhận script gọi được SUT và kiểm tra được"/>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Chạy tải rất nhỏ để xác nhận script gọi được SUT và kiểm tra được response.</a:t>
            </a:r>
            <a:endParaRPr/>
          </a:p>
        </p:txBody>
      </p:sp>
      <p:sp>
        <p:nvSpPr>
          <p:cNvPr id="924309270" name="Trong web của nhóm"/>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Trong web của nhóm</a:t>
            </a:r>
            <a:endParaRPr/>
          </a:p>
        </p:txBody>
      </p:sp>
      <p:sp>
        <p:nvSpPr>
          <p:cNvPr id="1163861785" name="Mỗi script chạy 1 VU × 1 iteration. Login rồi chọn một nhánh nghi"/>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Mỗi script chạy 1 VU × 1 iteration. Login rồi chọn một nhánh nghiệp vụ.</a:t>
            </a:r>
            <a:endParaRPr/>
          </a:p>
        </p:txBody>
      </p:sp>
      <p:sp>
        <p:nvSpPr>
          <p:cNvPr id="1962348153" name="Phân loại lỗi"/>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Phân loại lỗi</a:t>
            </a:r>
            <a:endParaRPr/>
          </a:p>
        </p:txBody>
      </p:sp>
      <p:sp>
        <p:nvSpPr>
          <p:cNvPr id="2501240" name="Connection refused: kiểm tra SUT/địa chỉ. 401/404: đối chiếu toke"/>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Connection refused: kiểm tra SUT/địa chỉ. 401/404: đối chiếu token hoặc contract.</a:t>
            </a:r>
            <a:endParaRPr/>
          </a:p>
        </p:txBody>
      </p:sp>
      <p:sp>
        <p:nvSpPr>
          <p:cNvPr id="615879087" name="Giới hạn"/>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Giới hạn</a:t>
            </a:r>
            <a:endParaRPr/>
          </a:p>
        </p:txBody>
      </p:sp>
      <p:sp>
        <p:nvSpPr>
          <p:cNvPr id="1487389995" name="Smoke pass chỉ xác nhận nhánh đã chạy. Cần test riêng các nhánh v"/>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Smoke pass chỉ xác nhận nhánh đã chạy. Cần test riêng các nhánh và đo tải lớn hơn.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25603230" name="KHÁI NIỆ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a:t>
            </a:r>
            <a:endParaRPr/>
          </a:p>
        </p:txBody>
      </p:sp>
      <p:sp>
        <p:nvSpPr>
          <p:cNvPr id="960183725" name="VU, iteration và request"/>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VU, iteration và request</a:t>
            </a:r>
            <a:endParaRPr/>
          </a:p>
        </p:txBody>
      </p:sp>
      <p:sp>
        <p:nvSpPr>
          <p:cNvPr id="915752929"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628356252" name="08"/>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10</a:t>
            </a:r>
            <a:endParaRPr/>
          </a:p>
        </p:txBody>
      </p:sp>
      <p:sp>
        <p:nvSpPr>
          <p:cNvPr id="1587264050"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2138944974" name="VU mô phỏng đơn vị người dùng thực thi script."/>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VU mô phỏng đơn vị người dùng thực thi script.</a:t>
            </a:r>
            <a:endParaRPr/>
          </a:p>
        </p:txBody>
      </p:sp>
      <p:sp>
        <p:nvSpPr>
          <p:cNvPr id="1672449400"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522834892" name="Iteration là một lượt chạy logic scenario."/>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Iteration là một lượt chạy logic scenario.</a:t>
            </a:r>
            <a:endParaRPr/>
          </a:p>
        </p:txBody>
      </p:sp>
      <p:sp>
        <p:nvSpPr>
          <p:cNvPr id="887819729"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9674059" name="Một iteration có thể phát nhiều HTTP request."/>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Một iteration có thể phát nhiều HTTP request.</a:t>
            </a:r>
            <a:endParaRPr/>
          </a:p>
        </p:txBody>
      </p:sp>
      <p:sp>
        <p:nvSpPr>
          <p:cNvPr id="1159600137"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512812050" name="10 VU không đồng nghĩa 10 request mỗi giây."/>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10 VU không đồng nghĩa 10 request mỗi giây.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11596793" name="KHÁI NIỆM / TẢI"/>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TẢI</a:t>
            </a:r>
            <a:endParaRPr/>
          </a:p>
        </p:txBody>
      </p:sp>
      <p:sp>
        <p:nvSpPr>
          <p:cNvPr id="586176613" name="Concurrency và RPS qua một ví dụ"/>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Concurrency và RPS qua một ví dụ</a:t>
            </a:r>
            <a:endParaRPr/>
          </a:p>
        </p:txBody>
      </p:sp>
      <p:sp>
        <p:nvSpPr>
          <p:cNvPr id="200075095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533138165"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11</a:t>
            </a:r>
            <a:endParaRPr/>
          </a:p>
        </p:txBody>
      </p:sp>
      <p:sp>
        <p:nvSpPr>
          <p:cNvPr id="107253544" name="Concurrency"/>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Concurrency</a:t>
            </a:r>
            <a:endParaRPr/>
          </a:p>
        </p:txBody>
      </p:sp>
      <p:sp>
        <p:nvSpPr>
          <p:cNvPr id="1028501509" name="Số người dùng hoặc tác vụ hoạt động đồng thời. Một VU đang sleep "/>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Số người dùng hoặc tác vụ hoạt động đồng thời. Một VU đang sleep vẫn là VU hoạt động.</a:t>
            </a:r>
            <a:endParaRPr/>
          </a:p>
        </p:txBody>
      </p:sp>
      <p:sp>
        <p:nvSpPr>
          <p:cNvPr id="851150472" name="Giả định minh họa"/>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Giả định minh họa</a:t>
            </a:r>
            <a:endParaRPr/>
          </a:p>
        </p:txBody>
      </p:sp>
      <p:sp>
        <p:nvSpPr>
          <p:cNvPr id="1730564498" name="50 VU, mỗi iteration có 2 request mất tổng 0,4 giây và nghỉ 4,6 g"/>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50 VU, mỗi iteration có 2 request mất tổng 0,4 giây và nghỉ 4,6 giây.</a:t>
            </a:r>
            <a:endParaRPr/>
          </a:p>
        </p:txBody>
      </p:sp>
      <p:sp>
        <p:nvSpPr>
          <p:cNvPr id="18005815" name="Ước tính khi ổn định"/>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Ước tính khi ổn định</a:t>
            </a:r>
            <a:endParaRPr/>
          </a:p>
        </p:txBody>
      </p:sp>
      <p:sp>
        <p:nvSpPr>
          <p:cNvPr id="442431924" name="Một vòng mất 5 giây. Khoảng 50 / 5 = 10 iteration/giây, tương đươ"/>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Một vòng mất 5 giây. Khoảng 50 / 5 = 10 iteration/giây, tương đương 20 RPS.</a:t>
            </a:r>
            <a:endParaRPr/>
          </a:p>
        </p:txBody>
      </p:sp>
      <p:sp>
        <p:nvSpPr>
          <p:cNvPr id="1714894365" name="Điều kiện áp dụng"/>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Điều kiện áp dụng</a:t>
            </a:r>
            <a:endParaRPr/>
          </a:p>
        </p:txBody>
      </p:sp>
      <p:sp>
        <p:nvSpPr>
          <p:cNvPr id="1201769383" name="Ví dụ giả sử request tuần tự và các vòng giống nhau. Luôn đối chi"/>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Ví dụ giả sử request tuần tự và các vòng giống nhau. Luôn đối chiếu RPS thực đo.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28050833" name="KHÁI NIỆ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a:t>
            </a:r>
            <a:endParaRPr/>
          </a:p>
        </p:txBody>
      </p:sp>
      <p:sp>
        <p:nvSpPr>
          <p:cNvPr id="1815287447" name="Workload của các phần thực nghiệm"/>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Workload của các phần thực nghiệm</a:t>
            </a:r>
            <a:endParaRPr/>
          </a:p>
        </p:txBody>
      </p:sp>
      <p:sp>
        <p:nvSpPr>
          <p:cNvPr id="192100092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914972780" name="09"/>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12</a:t>
            </a:r>
            <a:endParaRPr/>
          </a:p>
        </p:txBody>
      </p:sp>
      <p:graphicFrame>
        <p:nvGraphicFramePr>
          <p:cNvPr id="2037094918"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19500"/>
                <a:gridCol w="4381500"/>
                <a:gridCol w="2971800"/>
              </a:tblGrid>
              <a:tr h="1441450">
                <a:tc>
                  <a:txBody>
                    <a:bodyPr/>
                    <a:p>
                      <a:pPr>
                        <a:buNone/>
                        <a:defRPr/>
                      </a:pPr>
                      <a:r>
                        <a:rPr sz="1800" b="1">
                          <a:solidFill>
                            <a:srgbClr val="153E75"/>
                          </a:solidFill>
                          <a:latin typeface="Arial"/>
                          <a:ea typeface="Arial"/>
                          <a:cs typeface="Arial"/>
                        </a:rPr>
                        <a:t>Phần</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Mix hành động</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Login</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1441450">
                <a:tc>
                  <a:txBody>
                    <a:bodyPr/>
                    <a:p>
                      <a:pPr>
                        <a:buNone/>
                        <a:defRPr/>
                      </a:pPr>
                      <a:r>
                        <a:rPr sz="1800">
                          <a:solidFill>
                            <a:srgbClr val="151B23"/>
                          </a:solidFill>
                          <a:latin typeface="Arial"/>
                          <a:ea typeface="Arial"/>
                          <a:cs typeface="Arial"/>
                        </a:rPr>
                        <a:t>k6 của Quốc Thái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55% Search, 25% Detail</a:t>
                      </a:r>
                      <a:endParaRPr/>
                    </a:p>
                    <a:p>
                      <a:pPr>
                        <a:buNone/>
                        <a:defRPr/>
                      </a:pPr>
                      <a:r>
                        <a:rPr sz="1800">
                          <a:solidFill>
                            <a:srgbClr val="151B23"/>
                          </a:solidFill>
                          <a:latin typeface="Arial"/>
                          <a:ea typeface="Arial"/>
                          <a:cs typeface="Arial"/>
                        </a:rPr>
                        <a:t>14% Cart, 6% Checkout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Lazy login, token riêng VU</a:t>
                      </a:r>
                      <a:endParaRPr/>
                    </a:p>
                  </a:txBody>
                  <a:tcPr marL="114300" marR="95250" marT="76200" marB="57150">
                    <a:lnR w="9525" algn="ctr">
                      <a:solidFill>
                        <a:srgbClr val="D7DDE4"/>
                      </a:solidFill>
                    </a:lnR>
                    <a:lnB w="9525" algn="ctr">
                      <a:solidFill>
                        <a:srgbClr val="D7DDE4"/>
                      </a:solidFill>
                    </a:lnB>
                    <a:solidFill>
                      <a:srgbClr val="FFFFFF"/>
                    </a:solidFill>
                  </a:tcPr>
                </a:tc>
              </a:tr>
              <a:tr h="1441450">
                <a:tc>
                  <a:txBody>
                    <a:bodyPr/>
                    <a:p>
                      <a:pPr>
                        <a:buNone/>
                        <a:defRPr/>
                      </a:pPr>
                      <a:r>
                        <a:rPr sz="1800">
                          <a:solidFill>
                            <a:srgbClr val="151B23"/>
                          </a:solidFill>
                          <a:latin typeface="Arial"/>
                          <a:ea typeface="Arial"/>
                          <a:cs typeface="Arial"/>
                        </a:rPr>
                        <a:t>JMeter và script AI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55% Search, 25% Detail</a:t>
                      </a:r>
                      <a:endParaRPr/>
                    </a:p>
                    <a:p>
                      <a:pPr>
                        <a:buNone/>
                        <a:defRPr/>
                      </a:pPr>
                      <a:r>
                        <a:rPr sz="1800">
                          <a:solidFill>
                            <a:srgbClr val="151B23"/>
                          </a:solidFill>
                          <a:latin typeface="Arial"/>
                          <a:ea typeface="Arial"/>
                          <a:cs typeface="Arial"/>
                        </a:rPr>
                        <a:t>20% Checkout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Theo test plan/source</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62173363" name="THIẾT KẾ TẢI / WORKLOAD"/>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THIẾT KẾ TẢI / WORKLOAD</a:t>
            </a:r>
            <a:endParaRPr/>
          </a:p>
        </p:txBody>
      </p:sp>
      <p:sp>
        <p:nvSpPr>
          <p:cNvPr id="1309290658" name="Tỷ lệ workload và cách hiện thực trong k6"/>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Tỷ lệ workload và cách hiện thực trong k6</a:t>
            </a:r>
            <a:endParaRPr/>
          </a:p>
        </p:txBody>
      </p:sp>
      <p:sp>
        <p:nvSpPr>
          <p:cNvPr id="208395641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2048690398"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13</a:t>
            </a:r>
            <a:endParaRPr/>
          </a:p>
        </p:txBody>
      </p:sp>
      <p:sp>
        <p:nvSpPr>
          <p:cNvPr id="978392909" name="Tỷ lệ hành vi"/>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Tỷ lệ hành vi</a:t>
            </a:r>
            <a:endParaRPr/>
          </a:p>
        </p:txBody>
      </p:sp>
      <p:sp>
        <p:nvSpPr>
          <p:cNvPr id="1255271448" name="55/25/20 mô tả xác suất chọn Search, Detail và Checkout trong một"/>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55/25/20 mô tả xác suất chọn Search, Detail và Checkout trong một lượt.</a:t>
            </a:r>
            <a:endParaRPr/>
          </a:p>
        </p:txBody>
      </p:sp>
      <p:sp>
        <p:nvSpPr>
          <p:cNvPr id="262355125" name="Nhánh ngẫu nhiên"/>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Nhánh ngẫu nhiên</a:t>
            </a:r>
            <a:endParaRPr/>
          </a:p>
        </p:txBody>
      </p:sp>
      <p:sp>
        <p:nvSpPr>
          <p:cNvPr id="389976118" name="r &lt; 0.55 chọn Search. r &lt; 0.80 chọn Detail. Phần còn lại chọn Che"/>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if r &lt; 0.55: Search. else if r &lt; 0.80: Detail. else: Checkout.</a:t>
            </a:r>
            <a:endParaRPr/>
          </a:p>
        </p:txBody>
      </p:sp>
      <p:sp>
        <p:nvSpPr>
          <p:cNvPr id="775645960" name="Một giả thuyết khác"/>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Một giả thuyết khác</a:t>
            </a:r>
            <a:endParaRPr/>
          </a:p>
        </p:txBody>
      </p:sp>
      <p:sp>
        <p:nvSpPr>
          <p:cNvPr id="555111052" name="Khuyến mãi có thể dùng 40/20/40 để khảo sát nhiều Checkout hơn. Đ"/>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Khuyến mãi có thể dùng 40/20/40 để khảo sát nhiều Checkout hơn. Đây là ví dụ chưa chạy.</a:t>
            </a:r>
            <a:endParaRPr/>
          </a:p>
        </p:txBody>
      </p:sp>
      <p:sp>
        <p:nvSpPr>
          <p:cNvPr id="230924147" name="Phân bổ VU khác tỷ lệ request"/>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Phân bổ VU khác tỷ lệ request</a:t>
            </a:r>
            <a:endParaRPr/>
          </a:p>
        </p:txBody>
      </p:sp>
      <p:sp>
        <p:nvSpPr>
          <p:cNvPr id="945418325" name="28/12/10 VU là 56%/24%/20% số VU. Tỷ lệ request còn phụ thuộc tốc"/>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28/12/10 VU là 56%/24%/20% số VU. Tỷ lệ request còn phụ thuộc tốc độ từng nhánh.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75474042" name="KHÁI NIỆ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a:t>
            </a:r>
            <a:endParaRPr/>
          </a:p>
        </p:txBody>
      </p:sp>
      <p:sp>
        <p:nvSpPr>
          <p:cNvPr id="834380368" name="Think-time và mô hình tạo tải"/>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Think-time và mô hình tạo tải</a:t>
            </a:r>
            <a:endParaRPr/>
          </a:p>
        </p:txBody>
      </p:sp>
      <p:sp>
        <p:nvSpPr>
          <p:cNvPr id="162214373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558363198" name="10"/>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14</a:t>
            </a:r>
            <a:endParaRPr/>
          </a:p>
        </p:txBody>
      </p:sp>
      <p:sp>
        <p:nvSpPr>
          <p:cNvPr id="1891858579"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1801082055" name="Think-time mô phỏng thời gian đọc hoặc thao tác của người dùng."/>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Think-time mô phỏng thời gian đọc hoặc thao tác của người dùng.</a:t>
            </a:r>
            <a:endParaRPr/>
          </a:p>
        </p:txBody>
      </p:sp>
      <p:sp>
        <p:nvSpPr>
          <p:cNvPr id="145315058"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225722948" name="sleep làm iteration dài hơn, không cộng vào duration của request "/>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sleep làm iteration dài hơn, không cộng vào duration của request trước.</a:t>
            </a:r>
            <a:endParaRPr/>
          </a:p>
        </p:txBody>
      </p:sp>
      <p:sp>
        <p:nvSpPr>
          <p:cNvPr id="2053865940"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23502716" name="Closed model: VU chờ lượt trước xong rồi bắt đầu lượt sau."/>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Closed model: VU chờ lượt trước xong rồi bắt đầu lượt sau.</a:t>
            </a:r>
            <a:endParaRPr/>
          </a:p>
        </p:txBody>
      </p:sp>
      <p:sp>
        <p:nvSpPr>
          <p:cNvPr id="1833280124"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2020967126" name="Open model: định lịch tốc độ bắt đầu iteration, cần đủ VU."/>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Open model: định lịch tốc độ bắt đầu iteration, cần đủ VU.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17013521" name="THIẾT KẾ TẢI / THINK-TIME"/>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THIẾT KẾ TẢI / THINK-TIME</a:t>
            </a:r>
            <a:endParaRPr/>
          </a:p>
        </p:txBody>
      </p:sp>
      <p:sp>
        <p:nvSpPr>
          <p:cNvPr id="1874340728" name="Think-time theo hành động của script AI"/>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Think-time theo hành động của script AI</a:t>
            </a:r>
            <a:endParaRPr/>
          </a:p>
        </p:txBody>
      </p:sp>
      <p:sp>
        <p:nvSpPr>
          <p:cNvPr id="604300943"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611561369"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15</a:t>
            </a:r>
            <a:endParaRPr/>
          </a:p>
        </p:txBody>
      </p:sp>
      <p:graphicFrame>
        <p:nvGraphicFramePr>
          <p:cNvPr id="1892022291" name=""/>
          <p:cNvGraphicFramePr>
            <a:graphicFrameLocks xmlns:a="http://schemas.openxmlformats.org/drawingml/2006/main"/>
          </p:cNvGraphicFramePr>
          <p:nvPr/>
        </p:nvGraphicFramePr>
        <p:xfrm rot="0">
          <a:off x="609600" y="1724025"/>
          <a:ext cx="10972800" cy="3905250"/>
        </p:xfrm>
        <a:graphic>
          <a:graphicData uri="http://schemas.openxmlformats.org/drawingml/2006/table">
            <a:tbl>
              <a:tblPr firstRow="0" firstCol="0" lastRow="0" lastCol="0" bandRow="0" bandCol="0"/>
              <a:tblGrid>
                <a:gridCol w="2381250"/>
                <a:gridCol w="2381250"/>
                <a:gridCol w="6210300"/>
              </a:tblGrid>
              <a:tr h="976313">
                <a:tc>
                  <a:txBody>
                    <a:bodyPr/>
                    <a:p>
                      <a:pPr>
                        <a:buNone/>
                        <a:defRPr/>
                      </a:pPr>
                      <a:r>
                        <a:rPr sz="1800" b="1">
                          <a:solidFill>
                            <a:srgbClr val="153E75"/>
                          </a:solidFill>
                          <a:latin typeface="Arial"/>
                          <a:ea typeface="Arial"/>
                          <a:cs typeface="Arial"/>
                        </a:rPr>
                        <a:t>Hành động</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Khoảng nghỉ</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Hành vi mô phỏng</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976313">
                <a:tc>
                  <a:txBody>
                    <a:bodyPr/>
                    <a:p>
                      <a:pPr>
                        <a:buNone/>
                        <a:defRPr/>
                      </a:pPr>
                      <a:r>
                        <a:rPr sz="1800">
                          <a:solidFill>
                            <a:srgbClr val="151B23"/>
                          </a:solidFill>
                          <a:latin typeface="Arial"/>
                          <a:ea typeface="Arial"/>
                          <a:cs typeface="Arial"/>
                        </a:rPr>
                        <a:t>Search</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1–3 giây</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Xem danh sách kết quả</a:t>
                      </a:r>
                      <a:endParaRPr/>
                    </a:p>
                  </a:txBody>
                  <a:tcPr marL="114300" marR="95250" marT="76200" marB="57150">
                    <a:lnR w="9525" algn="ctr">
                      <a:solidFill>
                        <a:srgbClr val="D7DDE4"/>
                      </a:solidFill>
                    </a:lnR>
                    <a:lnB w="9525" algn="ctr">
                      <a:solidFill>
                        <a:srgbClr val="D7DDE4"/>
                      </a:solidFill>
                    </a:lnB>
                    <a:solidFill>
                      <a:srgbClr val="FFFFFF"/>
                    </a:solidFill>
                  </a:tcPr>
                </a:tc>
              </a:tr>
              <a:tr h="976313">
                <a:tc>
                  <a:txBody>
                    <a:bodyPr/>
                    <a:p>
                      <a:pPr>
                        <a:buNone/>
                        <a:defRPr/>
                      </a:pPr>
                      <a:r>
                        <a:rPr sz="1800">
                          <a:solidFill>
                            <a:srgbClr val="151B23"/>
                          </a:solidFill>
                          <a:latin typeface="Arial"/>
                          <a:ea typeface="Arial"/>
                          <a:cs typeface="Arial"/>
                        </a:rPr>
                        <a:t>Detail</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2–5 giây</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Đọc mô tả và xem sản phẩm</a:t>
                      </a:r>
                      <a:endParaRPr/>
                    </a:p>
                  </a:txBody>
                  <a:tcPr marL="114300" marR="95250" marT="76200" marB="57150">
                    <a:lnR w="9525" algn="ctr">
                      <a:solidFill>
                        <a:srgbClr val="D7DDE4"/>
                      </a:solidFill>
                    </a:lnR>
                    <a:lnB w="9525" algn="ctr">
                      <a:solidFill>
                        <a:srgbClr val="D7DDE4"/>
                      </a:solidFill>
                    </a:lnB>
                    <a:solidFill>
                      <a:srgbClr val="FFFFFF"/>
                    </a:solidFill>
                  </a:tcPr>
                </a:tc>
              </a:tr>
              <a:tr h="976313">
                <a:tc>
                  <a:txBody>
                    <a:bodyPr/>
                    <a:p>
                      <a:pPr>
                        <a:buNone/>
                        <a:defRPr/>
                      </a:pPr>
                      <a:r>
                        <a:rPr sz="1800">
                          <a:solidFill>
                            <a:srgbClr val="151B23"/>
                          </a:solidFill>
                          <a:latin typeface="Arial"/>
                          <a:ea typeface="Arial"/>
                          <a:cs typeface="Arial"/>
                        </a:rPr>
                        <a:t>Checkout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3–6 giây</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Mô phỏng thời gian thao tác mua hàng</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
        <p:nvSpPr>
          <p:cNvPr id="1841571385" name="Khoảng nghỉ là giả định thiết kế, cần đối chiếu với hành vi sử dụ"/>
          <p:cNvSpPr>
            <a:spLocks noGrp="1"/>
          </p:cNvSpPr>
          <p:nvPr/>
        </p:nvSpPr>
        <p:spPr bwMode="auto">
          <a:xfrm>
            <a:off x="609600" y="5819775"/>
            <a:ext cx="10972800" cy="447675"/>
          </a:xfrm>
          <a:prstGeom prst="rect">
            <a:avLst/>
          </a:prstGeom>
          <a:noFill/>
          <a:ln w="0">
            <a:noFill/>
          </a:ln>
        </p:spPr>
        <p:txBody>
          <a:bodyPr wrap="square" lIns="0" tIns="0" rIns="0" bIns="0">
            <a:noAutofit/>
          </a:bodyPr>
          <a:lstStyle>
            <a:defPPr>
              <a:defRPr sz="1750" b="0">
                <a:solidFill>
                  <a:srgbClr val="2456A6"/>
                </a:solidFill>
                <a:latin typeface="Arial"/>
                <a:ea typeface="Arial"/>
                <a:cs typeface="Arial"/>
              </a:defRPr>
            </a:defPPr>
            <a:lvl1pPr>
              <a:buNone/>
              <a:defRPr sz="1750" b="0">
                <a:solidFill>
                  <a:srgbClr val="2456A6"/>
                </a:solidFill>
                <a:latin typeface="Arial"/>
                <a:ea typeface="Arial"/>
                <a:cs typeface="Arial"/>
              </a:defRPr>
            </a:lvl1pPr>
            <a:lvl2pPr>
              <a:buNone/>
              <a:defRPr sz="1750" b="0">
                <a:solidFill>
                  <a:srgbClr val="2456A6"/>
                </a:solidFill>
                <a:latin typeface="Arial"/>
                <a:ea typeface="Arial"/>
                <a:cs typeface="Arial"/>
              </a:defRPr>
            </a:lvl2pPr>
            <a:lvl3pPr>
              <a:buNone/>
              <a:defRPr sz="1750" b="0">
                <a:solidFill>
                  <a:srgbClr val="2456A6"/>
                </a:solidFill>
                <a:latin typeface="Arial"/>
                <a:ea typeface="Arial"/>
                <a:cs typeface="Arial"/>
              </a:defRPr>
            </a:lvl3pPr>
            <a:lvl4pPr>
              <a:buNone/>
              <a:defRPr sz="1750" b="0">
                <a:solidFill>
                  <a:srgbClr val="2456A6"/>
                </a:solidFill>
                <a:latin typeface="Arial"/>
                <a:ea typeface="Arial"/>
                <a:cs typeface="Arial"/>
              </a:defRPr>
            </a:lvl4pPr>
            <a:lvl5pPr>
              <a:buNone/>
              <a:defRPr sz="1750" b="0">
                <a:solidFill>
                  <a:srgbClr val="2456A6"/>
                </a:solidFill>
                <a:latin typeface="Arial"/>
                <a:ea typeface="Arial"/>
                <a:cs typeface="Arial"/>
              </a:defRPr>
            </a:lvl5pPr>
            <a:lvl6pPr>
              <a:buNone/>
              <a:defRPr sz="1750" b="0">
                <a:solidFill>
                  <a:srgbClr val="2456A6"/>
                </a:solidFill>
                <a:latin typeface="Arial"/>
                <a:ea typeface="Arial"/>
                <a:cs typeface="Arial"/>
              </a:defRPr>
            </a:lvl6pPr>
            <a:lvl7pPr>
              <a:buNone/>
              <a:defRPr sz="1750" b="0">
                <a:solidFill>
                  <a:srgbClr val="2456A6"/>
                </a:solidFill>
                <a:latin typeface="Arial"/>
                <a:ea typeface="Arial"/>
                <a:cs typeface="Arial"/>
              </a:defRPr>
            </a:lvl7pPr>
            <a:lvl8pPr>
              <a:buNone/>
              <a:defRPr sz="1750" b="0">
                <a:solidFill>
                  <a:srgbClr val="2456A6"/>
                </a:solidFill>
                <a:latin typeface="Arial"/>
                <a:ea typeface="Arial"/>
                <a:cs typeface="Arial"/>
              </a:defRPr>
            </a:lvl8pPr>
            <a:lvl9pPr>
              <a:buNone/>
              <a:defRPr sz="1750" b="0">
                <a:solidFill>
                  <a:srgbClr val="2456A6"/>
                </a:solidFill>
                <a:latin typeface="Arial"/>
                <a:ea typeface="Arial"/>
                <a:cs typeface="Arial"/>
              </a:defRPr>
            </a:lvl9pPr>
          </a:lstStyle>
          <a:p>
            <a:pPr>
              <a:buNone/>
              <a:defRPr sz="1750" b="0">
                <a:solidFill>
                  <a:srgbClr val="2456A6"/>
                </a:solidFill>
                <a:latin typeface="Arial"/>
                <a:ea typeface="Arial"/>
                <a:cs typeface="Arial"/>
              </a:defRPr>
            </a:pPr>
            <a:r>
              <a:rPr sz="1750" b="0">
                <a:solidFill>
                  <a:srgbClr val="2456A6"/>
                </a:solidFill>
                <a:latin typeface="Arial"/>
                <a:ea typeface="Arial"/>
                <a:cs typeface="Arial"/>
              </a:rPr>
              <a:t>Khoảng nghỉ là giả định thiết kế, cần đối chiếu với hành vi sử dụng thực tế.</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1216255" name="KHÁI NIỆM / GIAI ĐOẠN ĐO"/>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GIAI ĐOẠN ĐO</a:t>
            </a:r>
            <a:endParaRPr/>
          </a:p>
        </p:txBody>
      </p:sp>
      <p:sp>
        <p:nvSpPr>
          <p:cNvPr id="732416427" name="Ramp-up, warm-up và cửa sổ steady"/>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Ramp-up, warm-up và cửa sổ steady</a:t>
            </a:r>
            <a:endParaRPr/>
          </a:p>
        </p:txBody>
      </p:sp>
      <p:sp>
        <p:nvSpPr>
          <p:cNvPr id="236577786"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034419213"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16</a:t>
            </a:r>
            <a:endParaRPr/>
          </a:p>
        </p:txBody>
      </p:sp>
      <p:graphicFrame>
        <p:nvGraphicFramePr>
          <p:cNvPr id="209423866"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571750"/>
                <a:gridCol w="4381500"/>
                <a:gridCol w="4019550"/>
              </a:tblGrid>
              <a:tr h="864870">
                <a:tc>
                  <a:txBody>
                    <a:bodyPr/>
                    <a:p>
                      <a:pPr>
                        <a:buNone/>
                        <a:defRPr/>
                      </a:pPr>
                      <a:r>
                        <a:rPr sz="1800" b="1">
                          <a:solidFill>
                            <a:srgbClr val="153E75"/>
                          </a:solidFill>
                          <a:latin typeface="Arial"/>
                          <a:ea typeface="Arial"/>
                          <a:cs typeface="Arial"/>
                        </a:rPr>
                        <a:t>Giai đoạn</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Mục đích</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Cách dùng kết quả</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Ramp-up</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Tăng dần số VU hoặc tốc độ phát tải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Quan sát phản ứng khi tải tăng</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Warm-up</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Cho cache, kết nối và runtime ổn định</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Có thể trùng một phần ramp-up</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Steady state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Giữ profile ổn định để thu metric</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So sánh cùng cửa sổ đo</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Ramp-down / recovery</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Giảm tải và quan sát phục hồi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Xem latency/lỗi có trở về mức cũ</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89470789" name="KHÁI NIỆ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a:t>
            </a:r>
            <a:endParaRPr/>
          </a:p>
        </p:txBody>
      </p:sp>
      <p:sp>
        <p:nvSpPr>
          <p:cNvPr id="1645421957" name="Các metric cần đọc cùng nhau"/>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Các metric cần đọc cùng nhau</a:t>
            </a:r>
            <a:endParaRPr/>
          </a:p>
        </p:txBody>
      </p:sp>
      <p:sp>
        <p:nvSpPr>
          <p:cNvPr id="886152723"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723105455" name="11"/>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17</a:t>
            </a:r>
            <a:endParaRPr/>
          </a:p>
        </p:txBody>
      </p:sp>
      <p:graphicFrame>
        <p:nvGraphicFramePr>
          <p:cNvPr id="871939454"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429000"/>
                <a:gridCol w="3905250"/>
                <a:gridCol w="3638550"/>
              </a:tblGrid>
              <a:tr h="720725">
                <a:tc>
                  <a:txBody>
                    <a:bodyPr/>
                    <a:p>
                      <a:pPr>
                        <a:buNone/>
                        <a:defRPr/>
                      </a:pPr>
                      <a:r>
                        <a:rPr sz="1800" b="1">
                          <a:solidFill>
                            <a:srgbClr val="153E75"/>
                          </a:solidFill>
                          <a:latin typeface="Arial"/>
                          <a:ea typeface="Arial"/>
                          <a:cs typeface="Arial"/>
                        </a:rPr>
                        <a:t>Metric</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Ý nghĩa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Cách đọc</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720725">
                <a:tc>
                  <a:txBody>
                    <a:bodyPr/>
                    <a:p>
                      <a:pPr>
                        <a:buNone/>
                        <a:defRPr/>
                      </a:pPr>
                      <a:r>
                        <a:rPr sz="1800">
                          <a:solidFill>
                            <a:srgbClr val="151B23"/>
                          </a:solidFill>
                          <a:latin typeface="Arial"/>
                          <a:ea typeface="Arial"/>
                          <a:cs typeface="Arial"/>
                        </a:rPr>
                        <a:t>http_reqs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Số HTTP request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Đọc cùng cửa sổ đo</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http_req_duration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Gửi + chờ + nhận response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Không gồm DNS/kết nối đầu</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http_req_failed</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Tỷ lệ request bị phân loại lỗi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Khác lỗi check nội dung</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checks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Tỷ lệ checkpoint đạt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Một response có nhiều check</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Throughput / RPS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Số request mỗi giây</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Ghi rõ mẫu số thời gian</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96383047" name="KHÁI NIỆM / THROUGHPUT"/>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THROUGHPUT</a:t>
            </a:r>
            <a:endParaRPr/>
          </a:p>
        </p:txBody>
      </p:sp>
      <p:sp>
        <p:nvSpPr>
          <p:cNvPr id="276005347" name="RPS và TPS: request khác nghiệp vụ"/>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RPS và TPS: request khác nghiệp vụ</a:t>
            </a:r>
            <a:endParaRPr/>
          </a:p>
        </p:txBody>
      </p:sp>
      <p:sp>
        <p:nvSpPr>
          <p:cNvPr id="104060423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082589931"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18</a:t>
            </a:r>
            <a:endParaRPr/>
          </a:p>
        </p:txBody>
      </p:sp>
      <p:sp>
        <p:nvSpPr>
          <p:cNvPr id="1528507198" name="RPS: requests per second"/>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RPS: requests per second</a:t>
            </a:r>
            <a:endParaRPr/>
          </a:p>
        </p:txBody>
      </p:sp>
      <p:sp>
        <p:nvSpPr>
          <p:cNvPr id="2135790137" name="Số HTTP request trên một giây. Cần ghi rõ khoảng thời gian dùng l"/>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Số HTTP request trên một giây. Cần ghi rõ khoảng thời gian dùng làm mẫu số.</a:t>
            </a:r>
            <a:endParaRPr/>
          </a:p>
        </p:txBody>
      </p:sp>
      <p:sp>
        <p:nvSpPr>
          <p:cNvPr id="1508305107" name="TPS: transactions per second"/>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TPS: transactions per second</a:t>
            </a:r>
            <a:endParaRPr/>
          </a:p>
        </p:txBody>
      </p:sp>
      <p:sp>
        <p:nvSpPr>
          <p:cNvPr id="1137203550" name="Số lượt nghiệp vụ hoàn thành trên một giây, theo định nghĩa trans"/>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Số lượt nghiệp vụ hoàn thành trên một giây, theo định nghĩa transaction của bài test.</a:t>
            </a:r>
            <a:endParaRPr/>
          </a:p>
        </p:txBody>
      </p:sp>
      <p:sp>
        <p:nvSpPr>
          <p:cNvPr id="990591235" name="Ví dụ minh họa"/>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Ví dụ minh họa</a:t>
            </a:r>
            <a:endParaRPr/>
          </a:p>
        </p:txBody>
      </p:sp>
      <p:sp>
        <p:nvSpPr>
          <p:cNvPr id="1918429644" name="Một lượt mua hàng gồm 3 request. Nếu hoàn thành 10 lượt/giây thì "/>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Một lượt mua hàng gồm 3 request. Nếu hoàn thành 10 lượt/giây thì có thể tạo 30 RPS.</a:t>
            </a:r>
            <a:endParaRPr/>
          </a:p>
        </p:txBody>
      </p:sp>
      <p:sp>
        <p:nvSpPr>
          <p:cNvPr id="822975624" name="Cách tránh nhầm"/>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Cách tránh nhầm</a:t>
            </a:r>
            <a:endParaRPr/>
          </a:p>
        </p:txBody>
      </p:sp>
      <p:sp>
        <p:nvSpPr>
          <p:cNvPr id="1712443751" name="HTTP 200 chưa đủ chứng minh mua hàng thành công. TPS nghiệp vụ cầ"/>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HTTP 200 chưa đủ chứng minh mua hàng thành công. TPS nghiệp vụ cần checkpoint riêng.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5482839" name="KHÁI NIỆM / RESOURCE METRICS"/>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RESOURCE METRICS</a:t>
            </a:r>
            <a:endParaRPr/>
          </a:p>
        </p:txBody>
      </p:sp>
      <p:sp>
        <p:nvSpPr>
          <p:cNvPr id="1131735104" name="Tài nguyên giúp giải thích latency tă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Tài nguyên giúp giải thích latency tăng</a:t>
            </a:r>
            <a:endParaRPr/>
          </a:p>
        </p:txBody>
      </p:sp>
      <p:sp>
        <p:nvSpPr>
          <p:cNvPr id="847627866"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910070900"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19</a:t>
            </a:r>
            <a:endParaRPr/>
          </a:p>
        </p:txBody>
      </p:sp>
      <p:graphicFrame>
        <p:nvGraphicFramePr>
          <p:cNvPr id="1454236046"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476500"/>
                <a:gridCol w="3905250"/>
                <a:gridCol w="4591050"/>
              </a:tblGrid>
              <a:tr h="864870">
                <a:tc>
                  <a:txBody>
                    <a:bodyPr/>
                    <a:p>
                      <a:pPr>
                        <a:buNone/>
                        <a:defRPr/>
                      </a:pPr>
                      <a:r>
                        <a:rPr sz="1800" b="1">
                          <a:solidFill>
                            <a:srgbClr val="153E75"/>
                          </a:solidFill>
                          <a:latin typeface="Arial"/>
                          <a:ea typeface="Arial"/>
                          <a:cs typeface="Arial"/>
                        </a:rPr>
                        <a:t>Chỉ số</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Cần quan sát</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Gợi ý điều tra, chưa phải kết luận</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CPU / event-loop lag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CPU cao, callback bị trễ</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Công việc CPU, xử lý đồng bộ</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RAM / GC</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RSS, heap và các lần thu gom</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Bộ nhớ tăng dần, GC kéo dài</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SQLite / I/O</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Query duration, lock, SQLITE_BUSY</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Truy vấn, giao dịch và lưu trữ</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Máy tạo tải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CPU, RAM và tải thực phát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Generator có phát đủ tải dự kiến?</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81811856" name="KHÁI NIỆM / THỜI GIAN"/>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THỜI GIAN</a:t>
            </a:r>
            <a:endParaRPr/>
          </a:p>
        </p:txBody>
      </p:sp>
      <p:sp>
        <p:nvSpPr>
          <p:cNvPr id="1651933616" name="TTFB, response time và thời gian một vò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TTFB, response time và thời gian một vòng</a:t>
            </a:r>
            <a:endParaRPr/>
          </a:p>
        </p:txBody>
      </p:sp>
      <p:sp>
        <p:nvSpPr>
          <p:cNvPr id="118723381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363789262"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20</a:t>
            </a:r>
            <a:endParaRPr/>
          </a:p>
        </p:txBody>
      </p:sp>
      <p:sp>
        <p:nvSpPr>
          <p:cNvPr id="1813636992" name="TTFB trong k6"/>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TTFB trong k6</a:t>
            </a:r>
            <a:endParaRPr/>
          </a:p>
        </p:txBody>
      </p:sp>
      <p:sp>
        <p:nvSpPr>
          <p:cNvPr id="891205653" name="http_req_waiting đo thời gian chờ response. Nó gồm ảnh hưởng mạng"/>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http_req_waiting đo thời gian chờ response. Nó gồm ảnh hưởng mạng và xử lý phía server.</a:t>
            </a:r>
            <a:endParaRPr/>
          </a:p>
        </p:txBody>
      </p:sp>
      <p:sp>
        <p:nvSpPr>
          <p:cNvPr id="1859576159" name="Duration của request"/>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Duration của request</a:t>
            </a:r>
            <a:endParaRPr/>
          </a:p>
        </p:txBody>
      </p:sp>
      <p:sp>
        <p:nvSpPr>
          <p:cNvPr id="1545019993" name="http_req_duration = sending + waiting + receiving. Chưa gồm DNS, "/>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http_req_duration = sending + waiting + receiving. Chưa gồm DNS, TCP và TLS ban đầu.</a:t>
            </a:r>
            <a:endParaRPr/>
          </a:p>
        </p:txBody>
      </p:sp>
      <p:sp>
        <p:nvSpPr>
          <p:cNvPr id="509549229" name="Ví dụ minh họa"/>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Ví dụ minh họa</a:t>
            </a:r>
            <a:endParaRPr/>
          </a:p>
        </p:txBody>
      </p:sp>
      <p:sp>
        <p:nvSpPr>
          <p:cNvPr id="179625498" name="Gửi 2 ms, chờ 90 ms, nhận 8 ms thì duration là 100 ms. Kết nối là"/>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Gửi 2 ms, chờ 90 ms, nhận 8 ms thì duration là 100 ms. Kết nối là phần đo riêng.</a:t>
            </a:r>
            <a:endParaRPr/>
          </a:p>
        </p:txBody>
      </p:sp>
      <p:sp>
        <p:nvSpPr>
          <p:cNvPr id="1774987976" name="Thời gian iteration"/>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Thời gian iteration</a:t>
            </a:r>
            <a:endParaRPr/>
          </a:p>
        </p:txBody>
      </p:sp>
      <p:sp>
        <p:nvSpPr>
          <p:cNvPr id="342431655" name="Một vòng còn có request khác và think-time. API nhanh chưa chứng "/>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Một vòng còn có request khác và think-time. API nhanh chưa chứng minh trang render nhanh.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82093483" name="KHÁI NIỆ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a:t>
            </a:r>
            <a:endParaRPr/>
          </a:p>
        </p:txBody>
      </p:sp>
      <p:sp>
        <p:nvSpPr>
          <p:cNvPr id="304195745" name="Phân vị và cỡ mẫu"/>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Phân vị và cỡ mẫu</a:t>
            </a:r>
            <a:endParaRPr/>
          </a:p>
        </p:txBody>
      </p:sp>
      <p:sp>
        <p:nvSpPr>
          <p:cNvPr id="67686811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971353254" name="12"/>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21</a:t>
            </a:r>
            <a:endParaRPr/>
          </a:p>
        </p:txBody>
      </p:sp>
      <p:sp>
        <p:nvSpPr>
          <p:cNvPr id="1529738767"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1594807875" name="p50 mô tả vùng giữa phân bố thời gian request."/>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p50 mô tả vùng giữa phân bố thời gian request.</a:t>
            </a:r>
            <a:endParaRPr/>
          </a:p>
        </p:txBody>
      </p:sp>
      <p:sp>
        <p:nvSpPr>
          <p:cNvPr id="495457884"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586111628" name="p95 và p99 giúp quan sát nhóm request chậm."/>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p95 và p99 giúp quan sát nhóm request chậm.</a:t>
            </a:r>
            <a:endParaRPr/>
          </a:p>
        </p:txBody>
      </p:sp>
      <p:sp>
        <p:nvSpPr>
          <p:cNvPr id="1715313475"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859801141" name="Trung bình có thể che một số response rất chậm."/>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Trung bình có thể che một số response rất chậm.</a:t>
            </a:r>
            <a:endParaRPr/>
          </a:p>
        </p:txBody>
      </p:sp>
      <p:sp>
        <p:nvSpPr>
          <p:cNvPr id="607304769"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809326955" name="p95 từ hai request chỉ mô tả một mẫu rất nhỏ."/>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p95 từ hai request chỉ mô tả một mẫu rất nhỏ.</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68284258" name="KHÁI NIỆM / PHÂN VỊ"/>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PHÂN VỊ</a:t>
            </a:r>
            <a:endParaRPr/>
          </a:p>
        </p:txBody>
      </p:sp>
      <p:sp>
        <p:nvSpPr>
          <p:cNvPr id="178976493" name="p95 và p99: cách hiểu bằng số"/>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p95 và p99: cách hiểu bằng số</a:t>
            </a:r>
            <a:endParaRPr/>
          </a:p>
        </p:txBody>
      </p:sp>
      <p:sp>
        <p:nvSpPr>
          <p:cNvPr id="168712177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676649447"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22</a:t>
            </a:r>
            <a:endParaRPr/>
          </a:p>
        </p:txBody>
      </p:sp>
      <p:sp>
        <p:nvSpPr>
          <p:cNvPr id="1073189020" name="Cách đọc p95"/>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Cách đọc p95</a:t>
            </a:r>
            <a:endParaRPr/>
          </a:p>
        </p:txBody>
      </p:sp>
      <p:sp>
        <p:nvSpPr>
          <p:cNvPr id="1136902077" name="Sau khi sắp thời gian từ thấp đến cao, p95 chỉ vị trí gần 95% của"/>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Sau khi sắp thời gian từ thấp đến cao, p95 chỉ vị trí gần 95% của phân bố.</a:t>
            </a:r>
            <a:endParaRPr/>
          </a:p>
        </p:txBody>
      </p:sp>
      <p:sp>
        <p:nvSpPr>
          <p:cNvPr id="128131276" name="Ví dụ nearest-rank"/>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Ví dụ nearest-rank</a:t>
            </a:r>
            <a:endParaRPr/>
          </a:p>
        </p:txBody>
      </p:sp>
      <p:sp>
        <p:nvSpPr>
          <p:cNvPr id="281350661" name="Với 100 mẫu đã sắp xếp: p95 là mẫu thứ 95, p99 là mẫu thứ 99."/>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Với 100 mẫu đã sắp xếp: p95 là mẫu thứ 95, p99 là mẫu thứ 99.</a:t>
            </a:r>
            <a:endParaRPr/>
          </a:p>
        </p:txBody>
      </p:sp>
      <p:sp>
        <p:nvSpPr>
          <p:cNvPr id="487226199" name="Ví dụ mục tiêu"/>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Ví dụ mục tiêu</a:t>
            </a:r>
            <a:endParaRPr/>
          </a:p>
        </p:txBody>
      </p:sp>
      <p:sp>
        <p:nvSpPr>
          <p:cNvPr id="645904878" name="p95 = 420 ms cho biết khoảng 95% mẫu không vượt mức này. Nhóm chậ"/>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p95 = 420 ms cho biết khoảng 95% mẫu không vượt mức này. Nhóm chậm còn lại vẫn cần xem.</a:t>
            </a:r>
            <a:endParaRPr/>
          </a:p>
        </p:txBody>
      </p:sp>
      <p:sp>
        <p:nvSpPr>
          <p:cNvPr id="421302727" name="Điểm dễ nhầm"/>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Điểm dễ nhầm</a:t>
            </a:r>
            <a:endParaRPr/>
          </a:p>
        </p:txBody>
      </p:sp>
      <p:sp>
        <p:nvSpPr>
          <p:cNvPr id="175220175" name="p95 không phải độ tin cậy 95%. Hai request chưa đủ để suy rộng hi"/>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p95 không phải độ tin cậy 95%. Hai request chưa đủ để suy rộng hiệu năng dưới tải.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37565651" name="KHÁI NIỆ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a:t>
            </a:r>
            <a:endParaRPr/>
          </a:p>
        </p:txBody>
      </p:sp>
      <p:sp>
        <p:nvSpPr>
          <p:cNvPr id="782004699" name="Check, threshold và smoke pass"/>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Check, threshold và smoke pass</a:t>
            </a:r>
            <a:endParaRPr/>
          </a:p>
        </p:txBody>
      </p:sp>
      <p:sp>
        <p:nvSpPr>
          <p:cNvPr id="170037556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224077249" name="13"/>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23</a:t>
            </a:r>
            <a:endParaRPr/>
          </a:p>
        </p:txBody>
      </p:sp>
      <p:graphicFrame>
        <p:nvGraphicFramePr>
          <p:cNvPr id="1213084702"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1081088">
                <a:tc>
                  <a:txBody>
                    <a:bodyPr/>
                    <a:p>
                      <a:pPr>
                        <a:buNone/>
                        <a:defRPr/>
                      </a:pPr>
                      <a:r>
                        <a:rPr sz="1800" b="1">
                          <a:solidFill>
                            <a:srgbClr val="153E75"/>
                          </a:solidFill>
                          <a:latin typeface="Arial"/>
                          <a:ea typeface="Arial"/>
                          <a:cs typeface="Arial"/>
                        </a:rPr>
                        <a:t>Khái niệm</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Áp dụng</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Ví dụ</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1081088">
                <a:tc>
                  <a:txBody>
                    <a:bodyPr/>
                    <a:p>
                      <a:pPr>
                        <a:buNone/>
                        <a:defRPr/>
                      </a:pPr>
                      <a:r>
                        <a:rPr sz="1800">
                          <a:solidFill>
                            <a:srgbClr val="151B23"/>
                          </a:solidFill>
                          <a:latin typeface="Arial"/>
                          <a:ea typeface="Arial"/>
                          <a:cs typeface="Arial"/>
                        </a:rPr>
                        <a:t>Check</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Điều kiện trên response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 200, token tồn tại</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Threshold</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Điều kiện chấp nhận metric</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p(95)&lt;500, checks&gt;=0.99</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Smoke pass của web</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Quy tắc runtime của project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Có mẫu, đủ metric, không lỗi</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43072679" name="KHÁI NIỆM / TÍNH ĐÚ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TÍNH ĐÚNG</a:t>
            </a:r>
            <a:endParaRPr/>
          </a:p>
        </p:txBody>
      </p:sp>
      <p:sp>
        <p:nvSpPr>
          <p:cNvPr id="1823791214" name="HTTP error rate và check rate khác nhau"/>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HTTP error rate và check rate khác nhau</a:t>
            </a:r>
            <a:endParaRPr/>
          </a:p>
        </p:txBody>
      </p:sp>
      <p:sp>
        <p:nvSpPr>
          <p:cNvPr id="132700380"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00304795"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24</a:t>
            </a:r>
            <a:endParaRPr/>
          </a:p>
        </p:txBody>
      </p:sp>
      <p:sp>
        <p:nvSpPr>
          <p:cNvPr id="1576180456" name="HTTP error rate"/>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HTTP error rate</a:t>
            </a:r>
            <a:endParaRPr/>
          </a:p>
        </p:txBody>
      </p:sp>
      <p:sp>
        <p:nvSpPr>
          <p:cNvPr id="859954453" name="Ví dụ có 2 request lỗi trên 100 request thì tỷ lệ HTTP lỗi là 2%."/>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Ví dụ có 2 request lỗi trên 100 request thì tỷ lệ HTTP lỗi là 2%.</a:t>
            </a:r>
            <a:endParaRPr/>
          </a:p>
        </p:txBody>
      </p:sp>
      <p:sp>
        <p:nvSpPr>
          <p:cNvPr id="234401546" name="Check rate"/>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Check rate</a:t>
            </a:r>
            <a:endParaRPr/>
          </a:p>
        </p:txBody>
      </p:sp>
      <p:sp>
        <p:nvSpPr>
          <p:cNvPr id="1007458885" name="Nếu thực hiện 200 check và 198 check đạt thì checks rate là 99%."/>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Nếu thực hiện 200 check và 198 check đạt thì checks rate là 99%.</a:t>
            </a:r>
            <a:endParaRPr/>
          </a:p>
        </p:txBody>
      </p:sp>
      <p:sp>
        <p:nvSpPr>
          <p:cNvPr id="1574581857" name="Response 200 vẫn có thể sai"/>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Response 200 vẫn có thể sai</a:t>
            </a:r>
            <a:endParaRPr/>
          </a:p>
        </p:txBody>
      </p:sp>
      <p:sp>
        <p:nvSpPr>
          <p:cNvPr id="913579075" name="Login trả 200 nhưng thiếu token: HTTP có thể đạt, check nội dung "/>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Login trả 200 nhưng thiếu token: HTTP có thể đạt, check nội dung vẫn thất bại.</a:t>
            </a:r>
            <a:endParaRPr/>
          </a:p>
        </p:txBody>
      </p:sp>
      <p:sp>
        <p:nvSpPr>
          <p:cNvPr id="2116695295" name="Hệ quả cho kết luận"/>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Hệ quả cho kết luận</a:t>
            </a:r>
            <a:endParaRPr/>
          </a:p>
        </p:txBody>
      </p:sp>
      <p:sp>
        <p:nvSpPr>
          <p:cNvPr id="346662673" name="Mỗi request có thể chứa nhiều check. Phải giữ riêng số request, s"/>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Mỗi request có thể chứa nhiều check. Phải giữ riêng số request, số check và mẫu số.</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590401340" name="KHÁI NIỆM / MỤC TIÊU CHẤP NHẬN"/>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MỤC TIÊU CHẤP NHẬN</a:t>
            </a:r>
            <a:endParaRPr/>
          </a:p>
        </p:txBody>
      </p:sp>
      <p:sp>
        <p:nvSpPr>
          <p:cNvPr id="483324446" name="SLI, SLO, SLA và threshold"/>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SLI, SLO, SLA và threshold</a:t>
            </a:r>
            <a:endParaRPr/>
          </a:p>
        </p:txBody>
      </p:sp>
      <p:sp>
        <p:nvSpPr>
          <p:cNvPr id="1461915765"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2037694296"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25</a:t>
            </a:r>
            <a:endParaRPr/>
          </a:p>
        </p:txBody>
      </p:sp>
      <p:graphicFrame>
        <p:nvGraphicFramePr>
          <p:cNvPr id="1747029785"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286000"/>
                <a:gridCol w="4476750"/>
                <a:gridCol w="4210050"/>
              </a:tblGrid>
              <a:tr h="864870">
                <a:tc>
                  <a:txBody>
                    <a:bodyPr/>
                    <a:p>
                      <a:pPr>
                        <a:buNone/>
                        <a:defRPr/>
                      </a:pPr>
                      <a:r>
                        <a:rPr sz="1800" b="1">
                          <a:solidFill>
                            <a:srgbClr val="153E75"/>
                          </a:solidFill>
                          <a:latin typeface="Arial"/>
                          <a:ea typeface="Arial"/>
                          <a:cs typeface="Arial"/>
                        </a:rPr>
                        <a:t>Khái niệm</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Ý nghĩa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Ví dụ minh họa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SLI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Chỉ số cụ thể dùng để đo mức dịch vụ</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p95 thời gian Search trong cửa sổ đo</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SLO</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Mục tiêu cho một chỉ số và phạm vi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p95 Search dưới 500 ms ở tải dự kiến</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SLA</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Cam kết dịch vụ kèm hệ quả vi phạm</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Thỏa thuận với khách hàng, nếu có</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Threshold</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Điều kiện pass/fail trên metric test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http_req_duration: p(95)&lt;500</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31018095" name="KHÁI NIỆM / ĐỌC KẾT QUẢ"/>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KHÁI NIỆM / ĐỌC KẾT QUẢ</a:t>
            </a:r>
            <a:endParaRPr/>
          </a:p>
        </p:txBody>
      </p:sp>
      <p:sp>
        <p:nvSpPr>
          <p:cNvPr id="1492464587" name="Threshold và những kết luận dễ sai"/>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Threshold và những kết luận dễ sai</a:t>
            </a:r>
            <a:endParaRPr/>
          </a:p>
        </p:txBody>
      </p:sp>
      <p:sp>
        <p:nvSpPr>
          <p:cNvPr id="2040942156"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498326044"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26</a:t>
            </a:r>
            <a:endParaRPr/>
          </a:p>
        </p:txBody>
      </p:sp>
      <p:sp>
        <p:nvSpPr>
          <p:cNvPr id="1702851612" name="Metric phải đúng phạm vi"/>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Metric phải đúng phạm vi</a:t>
            </a:r>
            <a:endParaRPr/>
          </a:p>
        </p:txBody>
      </p:sp>
      <p:sp>
        <p:nvSpPr>
          <p:cNvPr id="625672326" name="p95 tổng trộn Login và các action. Một endpoint chậm có thể cần m"/>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p95 tổng trộn Login và các action. Một endpoint chậm có thể cần metric/tag riêng.</a:t>
            </a:r>
            <a:endParaRPr/>
          </a:p>
        </p:txBody>
      </p:sp>
      <p:sp>
        <p:nvSpPr>
          <p:cNvPr id="1014256570" name="Ngưỡng phải bám mục tiêu"/>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Ngưỡng phải bám mục tiêu</a:t>
            </a:r>
            <a:endParaRPr/>
          </a:p>
        </p:txBody>
      </p:sp>
      <p:sp>
        <p:nvSpPr>
          <p:cNvPr id="929565322" name="p(99)&lt;5000 không tự bảo đảm mục tiêu p95&lt;500 ms. Ngưỡng quá chặt "/>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p(99)&lt;5000 không tự bảo đảm mục tiêu p95&lt;500 ms. Ngưỡng quá chặt cũng có thể gây fail vô ích.</a:t>
            </a:r>
            <a:endParaRPr/>
          </a:p>
        </p:txBody>
      </p:sp>
      <p:sp>
        <p:nvSpPr>
          <p:cNvPr id="1097545430" name="Kết quả cần cỡ mẫu"/>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Kết quả cần cỡ mẫu</a:t>
            </a:r>
            <a:endParaRPr/>
          </a:p>
        </p:txBody>
      </p:sp>
      <p:sp>
        <p:nvSpPr>
          <p:cNvPr id="1679963263" name="Average và percentile đều có ích. Đọc thêm số mẫu, max và lỗi, th"/>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Average và percentile đều có ích. Đọc thêm số mẫu, max và lỗi, thay vì chỉ một con số.</a:t>
            </a:r>
            <a:endParaRPr/>
          </a:p>
        </p:txBody>
      </p:sp>
      <p:sp>
        <p:nvSpPr>
          <p:cNvPr id="961820099" name="Tự động hóa cần phân loại lỗi"/>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Tự động hóa cần phân loại lỗi</a:t>
            </a:r>
            <a:endParaRPr/>
          </a:p>
        </p:txBody>
      </p:sp>
      <p:sp>
        <p:nvSpPr>
          <p:cNvPr id="624466329" name="CI có thể kiểm tra exit code và artifact. Threshold fail khác lỗi"/>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CI có thể kiểm tra exit code và artifact. Threshold fail khác lỗi kết nối hoặc script lỗi.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22872882" name="KHẢO SÁT"/>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KHẢO SÁT</a:t>
            </a:r>
            <a:endParaRPr/>
          </a:p>
        </p:txBody>
      </p:sp>
      <p:sp>
        <p:nvSpPr>
          <p:cNvPr id="1871335649" name="Khảo sát và lựa chọn công cụ"/>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Khảo sát và lựa chọn công cụ</a:t>
            </a:r>
            <a:endParaRPr/>
          </a:p>
        </p:txBody>
      </p:sp>
      <p:sp>
        <p:nvSpPr>
          <p:cNvPr id="154656275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820818889" name="14"/>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27</a:t>
            </a:r>
            <a:endParaRPr/>
          </a:p>
        </p:txBody>
      </p:sp>
      <p:graphicFrame>
        <p:nvGraphicFramePr>
          <p:cNvPr id="1550966239"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864870">
                <a:tc>
                  <a:txBody>
                    <a:bodyPr/>
                    <a:p>
                      <a:pPr>
                        <a:buNone/>
                        <a:defRPr/>
                      </a:pPr>
                      <a:r>
                        <a:rPr sz="1800" b="1">
                          <a:solidFill>
                            <a:srgbClr val="153E75"/>
                          </a:solidFill>
                          <a:latin typeface="Arial"/>
                          <a:ea typeface="Arial"/>
                          <a:cs typeface="Arial"/>
                        </a:rPr>
                        <a:t>Công cụ</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Ưu điểm cho bài</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Giới hạn</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k6</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Source JS, checks, thresholds, CLI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Cần tự thiết kế workload</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JMeter</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GUI test plan, recorder, extractor</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Cần kiểm soát cấu hình tải</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DevTools HAR</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Traffic thật của phiên thao tác</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Có dữ liệu nhạy cảm và cache</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LLM + web audit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Sinh source và giải thích evidence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Cần người kiểm chứng</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77718724" name="SO SÁNH / 1. CÁCH LÀM VIỆC"/>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SO SÁNH / 1. CÁCH LÀM VIỆC</a:t>
            </a:r>
            <a:endParaRPr/>
          </a:p>
        </p:txBody>
      </p:sp>
      <p:sp>
        <p:nvSpPr>
          <p:cNvPr id="878396359" name="So sánh công cụ: ngôn ngữ và cách chạy"/>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So sánh công cụ: ngôn ngữ và cách chạy</a:t>
            </a:r>
            <a:endParaRPr/>
          </a:p>
        </p:txBody>
      </p:sp>
      <p:sp>
        <p:nvSpPr>
          <p:cNvPr id="22541255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970437843"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28</a:t>
            </a:r>
            <a:endParaRPr/>
          </a:p>
        </p:txBody>
      </p:sp>
      <p:graphicFrame>
        <p:nvGraphicFramePr>
          <p:cNvPr id="548876144"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095500"/>
                <a:gridCol w="4381500"/>
                <a:gridCol w="4495800"/>
              </a:tblGrid>
              <a:tr h="864870">
                <a:tc>
                  <a:txBody>
                    <a:bodyPr/>
                    <a:p>
                      <a:pPr>
                        <a:buNone/>
                        <a:defRPr/>
                      </a:pPr>
                      <a:r>
                        <a:rPr sz="1800" b="1">
                          <a:solidFill>
                            <a:srgbClr val="153E75"/>
                          </a:solidFill>
                          <a:latin typeface="Arial"/>
                          <a:ea typeface="Arial"/>
                          <a:cs typeface="Arial"/>
                        </a:rPr>
                        <a:t>Công cụ</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Script / runtime</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Giao diện và vận hành</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k6</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JavaScript/TypeScript</a:t>
                      </a:r>
                      <a:endParaRPr/>
                    </a:p>
                    <a:p>
                      <a:pPr>
                        <a:buNone/>
                        <a:defRPr/>
                      </a:pPr>
                      <a:r>
                        <a:rPr sz="1800">
                          <a:solidFill>
                            <a:srgbClr val="151B23"/>
                          </a:solidFill>
                          <a:latin typeface="Arial"/>
                          <a:ea typeface="Arial"/>
                          <a:cs typeface="Arial"/>
                        </a:rPr>
                        <a:t>Go engine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CLI, dashboard và k6 Studio</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JMeter</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Test plan XML (.jmx)</a:t>
                      </a:r>
                      <a:endParaRPr/>
                    </a:p>
                    <a:p>
                      <a:pPr>
                        <a:buNone/>
                        <a:defRPr/>
                      </a:pPr>
                      <a:r>
                        <a:rPr sz="1800">
                          <a:solidFill>
                            <a:srgbClr val="151B23"/>
                          </a:solidFill>
                          <a:latin typeface="Arial"/>
                          <a:ea typeface="Arial"/>
                          <a:cs typeface="Arial"/>
                        </a:rPr>
                        <a:t>Java/JVM</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GUI dựng test, CLI tạo tải</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Locust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Python</a:t>
                      </a:r>
                      <a:endParaRPr/>
                    </a:p>
                    <a:p>
                      <a:pPr>
                        <a:buNone/>
                        <a:defRPr/>
                      </a:pPr>
                      <a:r>
                        <a:rPr sz="1800">
                          <a:solidFill>
                            <a:srgbClr val="151B23"/>
                          </a:solidFill>
                          <a:latin typeface="Arial"/>
                          <a:ea typeface="Arial"/>
                          <a:cs typeface="Arial"/>
                        </a:rPr>
                        <a:t>gevent greenlets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Web UI hoặc headless CLI</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Gatling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Java/Kotlin/Scala, JS/TS</a:t>
                      </a:r>
                      <a:endParaRPr/>
                    </a:p>
                    <a:p>
                      <a:pPr>
                        <a:buNone/>
                        <a:defRPr/>
                      </a:pPr>
                      <a:r>
                        <a:rPr sz="1800">
                          <a:solidFill>
                            <a:srgbClr val="151B23"/>
                          </a:solidFill>
                          <a:latin typeface="Arial"/>
                          <a:ea typeface="Arial"/>
                          <a:cs typeface="Arial"/>
                        </a:rPr>
                        <a:t>JVM engine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CLI/build tool, HTML report</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0026495" name="SO SÁNH / 2. DỮ LIỆU VÀ GHI NHẬN"/>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SO SÁNH / 2. DỮ LIỆU VÀ GHI NHẬN</a:t>
            </a:r>
            <a:endParaRPr/>
          </a:p>
        </p:txBody>
      </p:sp>
      <p:sp>
        <p:nvSpPr>
          <p:cNvPr id="1337777864" name="So sánh công cụ: ghi traffic và dữ liệu"/>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So sánh công cụ: ghi traffic và dữ liệu</a:t>
            </a:r>
            <a:endParaRPr/>
          </a:p>
        </p:txBody>
      </p:sp>
      <p:sp>
        <p:nvSpPr>
          <p:cNvPr id="158599892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823411644"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29</a:t>
            </a:r>
            <a:endParaRPr/>
          </a:p>
        </p:txBody>
      </p:sp>
      <p:graphicFrame>
        <p:nvGraphicFramePr>
          <p:cNvPr id="235557162"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095500"/>
                <a:gridCol w="4381500"/>
                <a:gridCol w="4495800"/>
              </a:tblGrid>
              <a:tr h="864870">
                <a:tc>
                  <a:txBody>
                    <a:bodyPr/>
                    <a:p>
                      <a:pPr>
                        <a:buNone/>
                        <a:defRPr/>
                      </a:pPr>
                      <a:r>
                        <a:rPr sz="1800" b="1">
                          <a:solidFill>
                            <a:srgbClr val="153E75"/>
                          </a:solidFill>
                          <a:latin typeface="Arial"/>
                          <a:ea typeface="Arial"/>
                          <a:cs typeface="Arial"/>
                        </a:rPr>
                        <a:t>Công cụ</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Ghi traffic / HAR</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Data driven / correlation</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k6</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k6 Studio, HAR/converter</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CSV/SharedArray, parse JSON token</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JMeter</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HTTP(S) Recorder qua proxy</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CSV Data Set, JSON/RegEx Extractor</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Locust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Viết task hoặc dùng recorder ngoài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Dữ liệu Python, response.json()</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Gatling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Recorder: proxy hoặc HAR</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Feeder, check và saveAs</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55519691" name="SO SÁNH / 3. PHÂN TÍCH KẾT QUẢ"/>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SO SÁNH / 3. PHÂN TÍCH KẾT QUẢ</a:t>
            </a:r>
            <a:endParaRPr/>
          </a:p>
        </p:txBody>
      </p:sp>
      <p:sp>
        <p:nvSpPr>
          <p:cNvPr id="1423123711" name="So sánh công cụ: báo cáo và điều kiện đạt"/>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So sánh công cụ: báo cáo và điều kiện đạt</a:t>
            </a:r>
            <a:endParaRPr/>
          </a:p>
        </p:txBody>
      </p:sp>
      <p:sp>
        <p:nvSpPr>
          <p:cNvPr id="1075029405"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336706227"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30</a:t>
            </a:r>
            <a:endParaRPr/>
          </a:p>
        </p:txBody>
      </p:sp>
      <p:graphicFrame>
        <p:nvGraphicFramePr>
          <p:cNvPr id="1546268416"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095500"/>
                <a:gridCol w="4381500"/>
                <a:gridCol w="4495800"/>
              </a:tblGrid>
              <a:tr h="864870">
                <a:tc>
                  <a:txBody>
                    <a:bodyPr/>
                    <a:p>
                      <a:pPr>
                        <a:buNone/>
                        <a:defRPr/>
                      </a:pPr>
                      <a:r>
                        <a:rPr sz="1800" b="1">
                          <a:solidFill>
                            <a:srgbClr val="153E75"/>
                          </a:solidFill>
                          <a:latin typeface="Arial"/>
                          <a:ea typeface="Arial"/>
                          <a:cs typeface="Arial"/>
                        </a:rPr>
                        <a:t>Công cụ</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Kết quả có thể xuất</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Kiểm tra và tích hợp CI</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k6</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Summary, dashboard, HTML export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Checks và thresholds trên metric</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JMeter</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JTL và HTML dashboard</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Assertions từng sample</a:t>
                      </a:r>
                      <a:endParaRPr/>
                    </a:p>
                    <a:p>
                      <a:pPr>
                        <a:buNone/>
                        <a:defRPr/>
                      </a:pPr>
                      <a:r>
                        <a:rPr sz="1800">
                          <a:solidFill>
                            <a:srgbClr val="151B23"/>
                          </a:solidFill>
                          <a:latin typeface="Arial"/>
                          <a:ea typeface="Arial"/>
                          <a:cs typeface="Arial"/>
                        </a:rPr>
                        <a:t>CI đánh giá metric tổng hợp</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Locust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Web UI, CSV, HTML report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Hook đọc stats</a:t>
                      </a:r>
                      <a:endParaRPr/>
                    </a:p>
                    <a:p>
                      <a:pPr>
                        <a:buNone/>
                        <a:defRPr/>
                      </a:pPr>
                      <a:r>
                        <a:rPr sz="1800">
                          <a:solidFill>
                            <a:srgbClr val="151B23"/>
                          </a:solidFill>
                          <a:latin typeface="Arial"/>
                          <a:ea typeface="Arial"/>
                          <a:cs typeface="Arial"/>
                        </a:rPr>
                        <a:t>Tùy chỉnh exit code</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Gatling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HTML report của từng run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Checks và assertions</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41983895" name="SO SÁNH / 4. QUYẾT ĐỊNH CỦA NHÓ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SO SÁNH / 4. QUYẾT ĐỊNH CỦA NHÓM</a:t>
            </a:r>
            <a:endParaRPr/>
          </a:p>
        </p:txBody>
      </p:sp>
      <p:sp>
        <p:nvSpPr>
          <p:cNvPr id="1196878417" name="Lý do chọn công cụ trong phạm vi nhóm"/>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Lý do chọn công cụ trong phạm vi nhóm</a:t>
            </a:r>
            <a:endParaRPr/>
          </a:p>
        </p:txBody>
      </p:sp>
      <p:sp>
        <p:nvSpPr>
          <p:cNvPr id="63202396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239134249"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31</a:t>
            </a:r>
            <a:endParaRPr/>
          </a:p>
        </p:txBody>
      </p:sp>
      <p:sp>
        <p:nvSpPr>
          <p:cNvPr id="2089127589" name="k6 là công cụ chính"/>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k6 là công cụ chính</a:t>
            </a:r>
            <a:endParaRPr/>
          </a:p>
        </p:txBody>
      </p:sp>
      <p:sp>
        <p:nvSpPr>
          <p:cNvPr id="394502284" name="Source JavaScript thuận tiện cho nhóm review, quản lý Git và khai"/>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Source JavaScript thuận tiện cho nhóm review, quản lý Git và khai báo threshold.</a:t>
            </a:r>
            <a:endParaRPr/>
          </a:p>
        </p:txBody>
      </p:sp>
      <p:sp>
        <p:nvSpPr>
          <p:cNvPr id="457785998" name="JMeter bổ sung cách tiếp cận GUI"/>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JMeter bổ sung cách tiếp cận GUI</a:t>
            </a:r>
            <a:endParaRPr/>
          </a:p>
        </p:txBody>
      </p:sp>
      <p:sp>
        <p:nvSpPr>
          <p:cNvPr id="1818078260" name="Cây test plan thể hiện dữ liệu, token extractor và assertions để "/>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Cây test plan thể hiện dữ liệu, token extractor và assertions để đối chiếu.</a:t>
            </a:r>
            <a:endParaRPr/>
          </a:p>
        </p:txBody>
      </p:sp>
      <p:sp>
        <p:nvSpPr>
          <p:cNvPr id="988373075" name="Locust và Gatling là phương án thay thế"/>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Locust và Gatling là phương án thay thế</a:t>
            </a:r>
            <a:endParaRPr/>
          </a:p>
        </p:txBody>
      </p:sp>
      <p:sp>
        <p:nvSpPr>
          <p:cNvPr id="1999835449" name="Phù hợp khi đội muốn hệ sinh thái Python hoặc DSL của Gatling, tù"/>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Phù hợp khi đội muốn hệ sinh thái Python hoặc DSL của Gatling, tùy kinh nghiệm và nhu cầu.</a:t>
            </a:r>
            <a:endParaRPr/>
          </a:p>
        </p:txBody>
      </p:sp>
      <p:sp>
        <p:nvSpPr>
          <p:cNvPr id="1382469049" name="Giới hạn của khảo sát"/>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Giới hạn của khảo sát</a:t>
            </a:r>
            <a:endParaRPr/>
          </a:p>
        </p:txBody>
      </p:sp>
      <p:sp>
        <p:nvSpPr>
          <p:cNvPr id="765566872" name="Nhóm chưa benchmark đủ bốn công cụ. Độ khó, tốc độ và RAM cần đán"/>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Nhóm chưa benchmark đủ bốn công cụ. Độ khó, tốc độ và RAM cần đánh giá trong cùng điều kiện.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29408623" name="SO SÁNH / 5. CHI PHÍ VÀ KHẢ NĂNG DUY TRÌ"/>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SO SÁNH / 5. CHI PHÍ VÀ KHẢ NĂNG DUY TRÌ</a:t>
            </a:r>
            <a:endParaRPr/>
          </a:p>
        </p:txBody>
      </p:sp>
      <p:sp>
        <p:nvSpPr>
          <p:cNvPr id="666676351" name="Các tiêu chí lựa chọn ngoài tính nă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Các tiêu chí lựa chọn ngoài tính năng</a:t>
            </a:r>
            <a:endParaRPr/>
          </a:p>
        </p:txBody>
      </p:sp>
      <p:sp>
        <p:nvSpPr>
          <p:cNvPr id="803996042" name="Đường học"/>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Đường học</a:t>
            </a:r>
            <a:endParaRPr/>
          </a:p>
        </p:txBody>
      </p:sp>
      <p:sp>
        <p:nvSpPr>
          <p:cNvPr id="917242995" name="Phụ thuộc kỹ năng sẵn có: JS/TS, Python, Java/Kotlin/Scala h"/>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Phụ thuộc kỹ năng sẵn có: JS/TS, Python, Java/Kotlin/Scala hoặc cách dựng test plan bằng GUI.</a:t>
            </a:r>
            <a:endParaRPr/>
          </a:p>
        </p:txBody>
      </p:sp>
      <p:sp>
        <p:nvSpPr>
          <p:cNvPr id="1306049799" name="Chi phí và giấy phép"/>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Chi phí và giấy phép</a:t>
            </a:r>
            <a:endParaRPr/>
          </a:p>
        </p:txBody>
      </p:sp>
      <p:sp>
        <p:nvSpPr>
          <p:cNvPr id="702622919" name="Cả bốn có bản nguồn mở để chạy local. Dịch vụ cloud, Enterpr"/>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Cả bốn có bản nguồn mở để chạy local. Dịch vụ cloud, Enterprise và thành phần bổ sung có điều kiện riêng.</a:t>
            </a:r>
            <a:endParaRPr/>
          </a:p>
        </p:txBody>
      </p:sp>
      <p:sp>
        <p:nvSpPr>
          <p:cNvPr id="1524231905" name="AI và bảo trì"/>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AI và bảo trì</a:t>
            </a:r>
            <a:endParaRPr/>
          </a:p>
        </p:txBody>
      </p:sp>
      <p:sp>
        <p:nvSpPr>
          <p:cNvPr id="1434656693" name="LLM có thể sinh cả source code và XML. Nhóm vẫn phải review "/>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LLM có thể sinh cả source code và XML. Nhóm vẫn phải review dữ liệu, API, token và checks.</a:t>
            </a:r>
            <a:endParaRPr/>
          </a:p>
        </p:txBody>
      </p:sp>
      <p:sp>
        <p:nvSpPr>
          <p:cNvPr id="1634384170" name="Tài liệu và hỗ trợ"/>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Tài liệu và hỗ trợ</a:t>
            </a:r>
            <a:endParaRPr/>
          </a:p>
        </p:txBody>
      </p:sp>
      <p:sp>
        <p:nvSpPr>
          <p:cNvPr id="1535150438" name="Xem tài liệu chính thức, ví dụ, issue tracker và cách nâng c"/>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Xem tài liệu chính thức, ví dụ, issue tracker và cách nâng cấp phù hợp với phiên bản đang dùng.</a:t>
            </a:r>
            <a:endParaRPr/>
          </a:p>
        </p:txBody>
      </p:sp>
      <p:sp>
        <p:nvSpPr>
          <p:cNvPr id="102155164"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052643339" name="00"/>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32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27101585" name="K6 / QUỐC THÁI"/>
          <p:cNvSpPr>
            <a:spLocks noGrp="1"/>
          </p:cNvSpPr>
          <p:nvPr/>
        </p:nvSpPr>
        <p:spPr bwMode="auto">
          <a:xfrm>
            <a:off x="609599" y="34290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K6 / QUỐC THÁI</a:t>
            </a:r>
            <a:endParaRPr/>
          </a:p>
        </p:txBody>
      </p:sp>
      <p:sp>
        <p:nvSpPr>
          <p:cNvPr id="769940017" name="k6: nguyên lý và vòng đời script"/>
          <p:cNvSpPr>
            <a:spLocks noGrp="1"/>
          </p:cNvSpPr>
          <p:nvPr/>
        </p:nvSpPr>
        <p:spPr bwMode="auto">
          <a:xfrm>
            <a:off x="609599" y="761999"/>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k6: nguyên lý và vòng đời script</a:t>
            </a:r>
            <a:endParaRPr/>
          </a:p>
        </p:txBody>
      </p:sp>
      <p:sp>
        <p:nvSpPr>
          <p:cNvPr id="1528351161" name="Performance Testing trên EShop"/>
          <p:cNvSpPr>
            <a:spLocks noGrp="1"/>
          </p:cNvSpPr>
          <p:nvPr/>
        </p:nvSpPr>
        <p:spPr bwMode="auto">
          <a:xfrm>
            <a:off x="609599" y="6438899"/>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701006900" name="15"/>
          <p:cNvSpPr>
            <a:spLocks noGrp="1"/>
          </p:cNvSpPr>
          <p:nvPr/>
        </p:nvSpPr>
        <p:spPr bwMode="auto">
          <a:xfrm>
            <a:off x="11048999" y="6438899"/>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33</a:t>
            </a:r>
            <a:endParaRPr/>
          </a:p>
        </p:txBody>
      </p:sp>
      <p:sp>
        <p:nvSpPr>
          <p:cNvPr id="696409179" name="01"/>
          <p:cNvSpPr>
            <a:spLocks noGrp="1"/>
          </p:cNvSpPr>
          <p:nvPr/>
        </p:nvSpPr>
        <p:spPr bwMode="auto">
          <a:xfrm>
            <a:off x="705879" y="220027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1977971484" name="Init khai báo dữ liệu, import module và options."/>
          <p:cNvSpPr>
            <a:spLocks noGrp="1"/>
          </p:cNvSpPr>
          <p:nvPr/>
        </p:nvSpPr>
        <p:spPr bwMode="auto">
          <a:xfrm flipH="0" flipV="0">
            <a:off x="1334529" y="2181224"/>
            <a:ext cx="411480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Init khai báo dữ liệu, import module và options.</a:t>
            </a:r>
            <a:endParaRPr sz="2200" b="0">
              <a:solidFill>
                <a:srgbClr val="151B23"/>
              </a:solidFill>
              <a:latin typeface="Arial"/>
              <a:ea typeface="Arial"/>
              <a:cs typeface="Arial"/>
            </a:endParaRPr>
          </a:p>
          <a:p>
            <a:pPr>
              <a:buNone/>
              <a:defRPr sz="2200" b="0">
                <a:solidFill>
                  <a:srgbClr val="151B23"/>
                </a:solidFill>
                <a:latin typeface="Arial"/>
                <a:ea typeface="Arial"/>
                <a:cs typeface="Arial"/>
              </a:defRPr>
            </a:pPr>
            <a:endParaRPr/>
          </a:p>
        </p:txBody>
      </p:sp>
      <p:sp>
        <p:nvSpPr>
          <p:cNvPr id="304262743" name="02"/>
          <p:cNvSpPr>
            <a:spLocks noGrp="1"/>
          </p:cNvSpPr>
          <p:nvPr/>
        </p:nvSpPr>
        <p:spPr bwMode="auto">
          <a:xfrm>
            <a:off x="705879" y="3152774"/>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709721516" name="setup chuẩn bị dữ liệu nếu kịch bản cần."/>
          <p:cNvSpPr>
            <a:spLocks noGrp="1"/>
          </p:cNvSpPr>
          <p:nvPr/>
        </p:nvSpPr>
        <p:spPr bwMode="auto">
          <a:xfrm flipH="0" flipV="0">
            <a:off x="1334529" y="3133724"/>
            <a:ext cx="411480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Setup chuẩn bị dữ liệu nếu kịch bản cần.</a:t>
            </a:r>
            <a:endParaRPr/>
          </a:p>
        </p:txBody>
      </p:sp>
      <p:sp>
        <p:nvSpPr>
          <p:cNvPr id="232435399" name="03"/>
          <p:cNvSpPr>
            <a:spLocks noGrp="1"/>
          </p:cNvSpPr>
          <p:nvPr/>
        </p:nvSpPr>
        <p:spPr bwMode="auto">
          <a:xfrm>
            <a:off x="705879" y="4105274"/>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748079085" name="VU code thực hiện request, checks rồi think-time."/>
          <p:cNvSpPr>
            <a:spLocks noGrp="1"/>
          </p:cNvSpPr>
          <p:nvPr/>
        </p:nvSpPr>
        <p:spPr bwMode="auto">
          <a:xfrm flipH="0" flipV="0">
            <a:off x="1334529" y="4086225"/>
            <a:ext cx="411480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VU code thực hiện request, checks rồi think-time.</a:t>
            </a:r>
            <a:endParaRPr/>
          </a:p>
        </p:txBody>
      </p:sp>
      <p:pic>
        <p:nvPicPr>
          <p:cNvPr id="1835089370" name="Picture 12"/>
          <p:cNvPicPr>
            <a:picLocks noChangeAspect="1"/>
          </p:cNvPicPr>
          <p:nvPr/>
        </p:nvPicPr>
        <p:blipFill rotWithShape="1">
          <a:blip r:embed="rId3"/>
          <a:stretch/>
        </p:blipFill>
        <p:spPr bwMode="auto">
          <a:xfrm flipH="0" flipV="0">
            <a:off x="6146202" y="1424823"/>
            <a:ext cx="5102693" cy="45989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3693616" name="K6 / CÀI ĐẶT"/>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K6 / CÀI ĐẶT</a:t>
            </a:r>
            <a:endParaRPr/>
          </a:p>
        </p:txBody>
      </p:sp>
      <p:sp>
        <p:nvSpPr>
          <p:cNvPr id="1981765303" name="k6: chuẩn bị môi trường và chạy thử"/>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k6: chuẩn bị môi trường và chạy thử</a:t>
            </a:r>
            <a:endParaRPr/>
          </a:p>
        </p:txBody>
      </p:sp>
      <p:sp>
        <p:nvSpPr>
          <p:cNvPr id="2074091298"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1825762978" name="34"/>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34</a:t>
            </a:r>
            <a:endParaRPr/>
          </a:p>
        </p:txBody>
      </p:sp>
      <p:sp>
        <p:nvSpPr>
          <p:cNvPr id="1005025834" name="Điều kiện: Node.js/npm và k6 có trong PATH. Bắt đầu tại eshop-sut."/>
          <p:cNvSpPr>
            <a:spLocks noGrp="1"/>
          </p:cNvSpPr>
          <p:nvPr/>
        </p:nvSpPr>
        <p:spPr bwMode="auto">
          <a:xfrm>
            <a:off x="609600" y="1695450"/>
            <a:ext cx="10953750" cy="323850"/>
          </a:xfrm>
          <a:prstGeom prst="rect">
            <a:avLst/>
          </a:prstGeom>
          <a:noFill/>
          <a:ln w="0">
            <a:noFill/>
          </a:ln>
        </p:spPr>
        <p:txBody>
          <a:bodyPr lIns="0" tIns="0" rIns="0" bIns="0"/>
          <a:lstStyle>
            <a:defPPr>
              <a:defRPr sz="1800" b="0">
                <a:solidFill>
                  <a:srgbClr val="151B23"/>
                </a:solidFill>
              </a:defRPr>
            </a:defPPr>
            <a:lvl1pPr>
              <a:buNone/>
              <a:defRPr sz="1800" b="0">
                <a:solidFill>
                  <a:srgbClr val="151B23"/>
                </a:solidFill>
              </a:defRPr>
            </a:lvl1pPr>
            <a:lvl2pPr>
              <a:buNone/>
              <a:defRPr sz="1800" b="0">
                <a:solidFill>
                  <a:srgbClr val="151B23"/>
                </a:solidFill>
              </a:defRPr>
            </a:lvl2pPr>
            <a:lvl3pPr>
              <a:buNone/>
              <a:defRPr sz="1800" b="0">
                <a:solidFill>
                  <a:srgbClr val="151B23"/>
                </a:solidFill>
              </a:defRPr>
            </a:lvl3pPr>
            <a:lvl4pPr>
              <a:buNone/>
              <a:defRPr sz="1800" b="0">
                <a:solidFill>
                  <a:srgbClr val="151B23"/>
                </a:solidFill>
              </a:defRPr>
            </a:lvl4pPr>
            <a:lvl5pPr>
              <a:buNone/>
              <a:defRPr sz="1800" b="0">
                <a:solidFill>
                  <a:srgbClr val="151B23"/>
                </a:solidFill>
              </a:defRPr>
            </a:lvl5pPr>
            <a:lvl6pPr>
              <a:buNone/>
              <a:defRPr sz="1800" b="0">
                <a:solidFill>
                  <a:srgbClr val="151B23"/>
                </a:solidFill>
              </a:defRPr>
            </a:lvl6pPr>
            <a:lvl7pPr>
              <a:buNone/>
              <a:defRPr sz="1800" b="0">
                <a:solidFill>
                  <a:srgbClr val="151B23"/>
                </a:solidFill>
              </a:defRPr>
            </a:lvl7pPr>
            <a:lvl8pPr>
              <a:buNone/>
              <a:defRPr sz="1800" b="0">
                <a:solidFill>
                  <a:srgbClr val="151B23"/>
                </a:solidFill>
              </a:defRPr>
            </a:lvl8pPr>
            <a:lvl9pPr>
              <a:buNone/>
              <a:defRPr sz="1800" b="0">
                <a:solidFill>
                  <a:srgbClr val="151B23"/>
                </a:solidFill>
              </a:defRPr>
            </a:lvl9pPr>
          </a:lstStyle>
          <a:p>
            <a:pPr>
              <a:buNone/>
              <a:defRPr sz="1800" b="0">
                <a:solidFill>
                  <a:srgbClr val="151B23"/>
                </a:solidFill>
              </a:defRPr>
            </a:pPr>
            <a:r>
              <a:rPr sz="1800" b="0">
                <a:solidFill>
                  <a:srgbClr val="151B23"/>
                </a:solidFill>
              </a:rPr>
              <a:t>Điều kiện: Node.js/npm và k6 có trong PATH. Bắt đầu tại eshop-sut.</a:t>
            </a:r>
            <a:endParaRPr/>
          </a:p>
        </p:txBody>
      </p:sp>
      <p:sp>
        <p:nvSpPr>
          <p:cNvPr id="365104893" name="Kiểm tra công cụ"/>
          <p:cNvSpPr>
            <a:spLocks noGrp="1"/>
          </p:cNvSpPr>
          <p:nvPr/>
        </p:nvSpPr>
        <p:spPr bwMode="auto">
          <a:xfrm>
            <a:off x="609600" y="2190750"/>
            <a:ext cx="4857750" cy="285750"/>
          </a:xfrm>
          <a:prstGeom prst="rect">
            <a:avLst/>
          </a:prstGeom>
          <a:noFill/>
          <a:ln w="0">
            <a:noFill/>
          </a:ln>
        </p:spPr>
        <p:txBody>
          <a:bodyPr lIns="0" tIns="0" rIns="0" bIns="0"/>
          <a:lstStyle>
            <a:defPPr>
              <a:defRPr sz="1950" b="1">
                <a:solidFill>
                  <a:srgbClr val="2456A6"/>
                </a:solidFill>
              </a:defRPr>
            </a:defPPr>
            <a:lvl1pPr>
              <a:buNone/>
              <a:defRPr sz="1950" b="1">
                <a:solidFill>
                  <a:srgbClr val="2456A6"/>
                </a:solidFill>
              </a:defRPr>
            </a:lvl1pPr>
            <a:lvl2pPr>
              <a:buNone/>
              <a:defRPr sz="1950" b="1">
                <a:solidFill>
                  <a:srgbClr val="2456A6"/>
                </a:solidFill>
              </a:defRPr>
            </a:lvl2pPr>
            <a:lvl3pPr>
              <a:buNone/>
              <a:defRPr sz="1950" b="1">
                <a:solidFill>
                  <a:srgbClr val="2456A6"/>
                </a:solidFill>
              </a:defRPr>
            </a:lvl3pPr>
            <a:lvl4pPr>
              <a:buNone/>
              <a:defRPr sz="1950" b="1">
                <a:solidFill>
                  <a:srgbClr val="2456A6"/>
                </a:solidFill>
              </a:defRPr>
            </a:lvl4pPr>
            <a:lvl5pPr>
              <a:buNone/>
              <a:defRPr sz="1950" b="1">
                <a:solidFill>
                  <a:srgbClr val="2456A6"/>
                </a:solidFill>
              </a:defRPr>
            </a:lvl5pPr>
            <a:lvl6pPr>
              <a:buNone/>
              <a:defRPr sz="1950" b="1">
                <a:solidFill>
                  <a:srgbClr val="2456A6"/>
                </a:solidFill>
              </a:defRPr>
            </a:lvl6pPr>
            <a:lvl7pPr>
              <a:buNone/>
              <a:defRPr sz="1950" b="1">
                <a:solidFill>
                  <a:srgbClr val="2456A6"/>
                </a:solidFill>
              </a:defRPr>
            </a:lvl7pPr>
            <a:lvl8pPr>
              <a:buNone/>
              <a:defRPr sz="1950" b="1">
                <a:solidFill>
                  <a:srgbClr val="2456A6"/>
                </a:solidFill>
              </a:defRPr>
            </a:lvl8pPr>
            <a:lvl9pPr>
              <a:buNone/>
              <a:defRPr sz="1950" b="1">
                <a:solidFill>
                  <a:srgbClr val="2456A6"/>
                </a:solidFill>
              </a:defRPr>
            </a:lvl9pPr>
          </a:lstStyle>
          <a:p>
            <a:pPr>
              <a:buNone/>
              <a:defRPr sz="1950" b="1">
                <a:solidFill>
                  <a:srgbClr val="2456A6"/>
                </a:solidFill>
              </a:defRPr>
            </a:pPr>
            <a:r>
              <a:rPr sz="1950" b="1">
                <a:solidFill>
                  <a:srgbClr val="2456A6"/>
                </a:solidFill>
              </a:rPr>
              <a:t>Kiểm tra công cụ</a:t>
            </a:r>
            <a:endParaRPr/>
          </a:p>
        </p:txBody>
      </p:sp>
      <p:sp>
        <p:nvSpPr>
          <p:cNvPr id="1472761992" name="node --version npm --version k6 version"/>
          <p:cNvSpPr>
            <a:spLocks noGrp="1"/>
          </p:cNvSpPr>
          <p:nvPr/>
        </p:nvSpPr>
        <p:spPr bwMode="auto">
          <a:xfrm>
            <a:off x="609600" y="2562225"/>
            <a:ext cx="4857750" cy="1000125"/>
          </a:xfrm>
          <a:prstGeom prst="rect">
            <a:avLst/>
          </a:prstGeom>
          <a:noFill/>
          <a:ln w="0">
            <a:noFill/>
          </a:ln>
        </p:spPr>
        <p:txBody>
          <a:bodyPr lIns="0" tIns="0" rIns="0" bIns="0"/>
          <a:lstStyle>
            <a:defPPr>
              <a:defRPr sz="1800" b="0">
                <a:solidFill>
                  <a:srgbClr val="151B23"/>
                </a:solidFill>
              </a:defRPr>
            </a:defPPr>
            <a:lvl1pPr>
              <a:buNone/>
              <a:defRPr sz="1800" b="0">
                <a:solidFill>
                  <a:srgbClr val="151B23"/>
                </a:solidFill>
              </a:defRPr>
            </a:lvl1pPr>
            <a:lvl2pPr>
              <a:buNone/>
              <a:defRPr sz="1800" b="0">
                <a:solidFill>
                  <a:srgbClr val="151B23"/>
                </a:solidFill>
              </a:defRPr>
            </a:lvl2pPr>
            <a:lvl3pPr>
              <a:buNone/>
              <a:defRPr sz="1800" b="0">
                <a:solidFill>
                  <a:srgbClr val="151B23"/>
                </a:solidFill>
              </a:defRPr>
            </a:lvl3pPr>
            <a:lvl4pPr>
              <a:buNone/>
              <a:defRPr sz="1800" b="0">
                <a:solidFill>
                  <a:srgbClr val="151B23"/>
                </a:solidFill>
              </a:defRPr>
            </a:lvl4pPr>
            <a:lvl5pPr>
              <a:buNone/>
              <a:defRPr sz="1800" b="0">
                <a:solidFill>
                  <a:srgbClr val="151B23"/>
                </a:solidFill>
              </a:defRPr>
            </a:lvl5pPr>
            <a:lvl6pPr>
              <a:buNone/>
              <a:defRPr sz="1800" b="0">
                <a:solidFill>
                  <a:srgbClr val="151B23"/>
                </a:solidFill>
              </a:defRPr>
            </a:lvl6pPr>
            <a:lvl7pPr>
              <a:buNone/>
              <a:defRPr sz="1800" b="0">
                <a:solidFill>
                  <a:srgbClr val="151B23"/>
                </a:solidFill>
              </a:defRPr>
            </a:lvl7pPr>
            <a:lvl8pPr>
              <a:buNone/>
              <a:defRPr sz="1800" b="0">
                <a:solidFill>
                  <a:srgbClr val="151B23"/>
                </a:solidFill>
              </a:defRPr>
            </a:lvl8pPr>
            <a:lvl9pPr>
              <a:buNone/>
              <a:defRPr sz="1800" b="0">
                <a:solidFill>
                  <a:srgbClr val="151B23"/>
                </a:solidFill>
              </a:defRPr>
            </a:lvl9pPr>
          </a:lstStyle>
          <a:p>
            <a:pPr>
              <a:buNone/>
              <a:defRPr sz="1800" b="0">
                <a:solidFill>
                  <a:srgbClr val="151B23"/>
                </a:solidFill>
              </a:defRPr>
            </a:pPr>
            <a:r>
              <a:rPr sz="1800" b="0">
                <a:solidFill>
                  <a:srgbClr val="151B23"/>
                </a:solidFill>
              </a:rPr>
              <a:t>node --version</a:t>
            </a:r>
            <a:endParaRPr/>
          </a:p>
          <a:p>
            <a:pPr>
              <a:buNone/>
              <a:defRPr sz="1800" b="0">
                <a:solidFill>
                  <a:srgbClr val="151B23"/>
                </a:solidFill>
              </a:defRPr>
            </a:pPr>
            <a:r>
              <a:rPr sz="1800" b="0">
                <a:solidFill>
                  <a:srgbClr val="151B23"/>
                </a:solidFill>
              </a:rPr>
              <a:t>npm --version</a:t>
            </a:r>
            <a:endParaRPr/>
          </a:p>
          <a:p>
            <a:pPr>
              <a:buNone/>
              <a:defRPr sz="1800" b="0">
                <a:solidFill>
                  <a:srgbClr val="151B23"/>
                </a:solidFill>
              </a:defRPr>
            </a:pPr>
            <a:r>
              <a:rPr sz="1800" b="0">
                <a:solidFill>
                  <a:srgbClr val="151B23"/>
                </a:solidFill>
              </a:rPr>
              <a:t>k6 version</a:t>
            </a:r>
            <a:endParaRPr/>
          </a:p>
        </p:txBody>
      </p:sp>
      <p:sp>
        <p:nvSpPr>
          <p:cNvPr id="1964744139" name="Terminal A: khởi động backend"/>
          <p:cNvSpPr>
            <a:spLocks noGrp="1"/>
          </p:cNvSpPr>
          <p:nvPr/>
        </p:nvSpPr>
        <p:spPr bwMode="auto">
          <a:xfrm>
            <a:off x="6191250" y="2190750"/>
            <a:ext cx="5391150" cy="285750"/>
          </a:xfrm>
          <a:prstGeom prst="rect">
            <a:avLst/>
          </a:prstGeom>
          <a:noFill/>
          <a:ln w="0">
            <a:noFill/>
          </a:ln>
        </p:spPr>
        <p:txBody>
          <a:bodyPr lIns="0" tIns="0" rIns="0" bIns="0"/>
          <a:lstStyle>
            <a:defPPr>
              <a:defRPr sz="1950" b="1">
                <a:solidFill>
                  <a:srgbClr val="2456A6"/>
                </a:solidFill>
              </a:defRPr>
            </a:defPPr>
            <a:lvl1pPr>
              <a:buNone/>
              <a:defRPr sz="1950" b="1">
                <a:solidFill>
                  <a:srgbClr val="2456A6"/>
                </a:solidFill>
              </a:defRPr>
            </a:lvl1pPr>
            <a:lvl2pPr>
              <a:buNone/>
              <a:defRPr sz="1950" b="1">
                <a:solidFill>
                  <a:srgbClr val="2456A6"/>
                </a:solidFill>
              </a:defRPr>
            </a:lvl2pPr>
            <a:lvl3pPr>
              <a:buNone/>
              <a:defRPr sz="1950" b="1">
                <a:solidFill>
                  <a:srgbClr val="2456A6"/>
                </a:solidFill>
              </a:defRPr>
            </a:lvl3pPr>
            <a:lvl4pPr>
              <a:buNone/>
              <a:defRPr sz="1950" b="1">
                <a:solidFill>
                  <a:srgbClr val="2456A6"/>
                </a:solidFill>
              </a:defRPr>
            </a:lvl4pPr>
            <a:lvl5pPr>
              <a:buNone/>
              <a:defRPr sz="1950" b="1">
                <a:solidFill>
                  <a:srgbClr val="2456A6"/>
                </a:solidFill>
              </a:defRPr>
            </a:lvl5pPr>
            <a:lvl6pPr>
              <a:buNone/>
              <a:defRPr sz="1950" b="1">
                <a:solidFill>
                  <a:srgbClr val="2456A6"/>
                </a:solidFill>
              </a:defRPr>
            </a:lvl6pPr>
            <a:lvl7pPr>
              <a:buNone/>
              <a:defRPr sz="1950" b="1">
                <a:solidFill>
                  <a:srgbClr val="2456A6"/>
                </a:solidFill>
              </a:defRPr>
            </a:lvl7pPr>
            <a:lvl8pPr>
              <a:buNone/>
              <a:defRPr sz="1950" b="1">
                <a:solidFill>
                  <a:srgbClr val="2456A6"/>
                </a:solidFill>
              </a:defRPr>
            </a:lvl8pPr>
            <a:lvl9pPr>
              <a:buNone/>
              <a:defRPr sz="1950" b="1">
                <a:solidFill>
                  <a:srgbClr val="2456A6"/>
                </a:solidFill>
              </a:defRPr>
            </a:lvl9pPr>
          </a:lstStyle>
          <a:p>
            <a:pPr>
              <a:buNone/>
              <a:defRPr sz="1950" b="1">
                <a:solidFill>
                  <a:srgbClr val="2456A6"/>
                </a:solidFill>
              </a:defRPr>
            </a:pPr>
            <a:r>
              <a:rPr sz="1950" b="1">
                <a:solidFill>
                  <a:srgbClr val="2456A6"/>
                </a:solidFill>
              </a:rPr>
              <a:t>Terminal A: khởi động backend</a:t>
            </a:r>
            <a:endParaRPr/>
          </a:p>
        </p:txBody>
      </p:sp>
      <p:sp>
        <p:nvSpPr>
          <p:cNvPr id="1164362164" name="cd backend npm install node server.js"/>
          <p:cNvSpPr>
            <a:spLocks noGrp="1"/>
          </p:cNvSpPr>
          <p:nvPr/>
        </p:nvSpPr>
        <p:spPr bwMode="auto">
          <a:xfrm>
            <a:off x="6191250" y="2562225"/>
            <a:ext cx="5391150" cy="1000125"/>
          </a:xfrm>
          <a:prstGeom prst="rect">
            <a:avLst/>
          </a:prstGeom>
          <a:noFill/>
          <a:ln w="0">
            <a:noFill/>
          </a:ln>
        </p:spPr>
        <p:txBody>
          <a:bodyPr lIns="0" tIns="0" rIns="0" bIns="0"/>
          <a:lstStyle>
            <a:defPPr>
              <a:defRPr sz="1800" b="0">
                <a:solidFill>
                  <a:srgbClr val="151B23"/>
                </a:solidFill>
              </a:defRPr>
            </a:defPPr>
            <a:lvl1pPr>
              <a:buNone/>
              <a:defRPr sz="1800" b="0">
                <a:solidFill>
                  <a:srgbClr val="151B23"/>
                </a:solidFill>
              </a:defRPr>
            </a:lvl1pPr>
            <a:lvl2pPr>
              <a:buNone/>
              <a:defRPr sz="1800" b="0">
                <a:solidFill>
                  <a:srgbClr val="151B23"/>
                </a:solidFill>
              </a:defRPr>
            </a:lvl2pPr>
            <a:lvl3pPr>
              <a:buNone/>
              <a:defRPr sz="1800" b="0">
                <a:solidFill>
                  <a:srgbClr val="151B23"/>
                </a:solidFill>
              </a:defRPr>
            </a:lvl3pPr>
            <a:lvl4pPr>
              <a:buNone/>
              <a:defRPr sz="1800" b="0">
                <a:solidFill>
                  <a:srgbClr val="151B23"/>
                </a:solidFill>
              </a:defRPr>
            </a:lvl4pPr>
            <a:lvl5pPr>
              <a:buNone/>
              <a:defRPr sz="1800" b="0">
                <a:solidFill>
                  <a:srgbClr val="151B23"/>
                </a:solidFill>
              </a:defRPr>
            </a:lvl5pPr>
            <a:lvl6pPr>
              <a:buNone/>
              <a:defRPr sz="1800" b="0">
                <a:solidFill>
                  <a:srgbClr val="151B23"/>
                </a:solidFill>
              </a:defRPr>
            </a:lvl6pPr>
            <a:lvl7pPr>
              <a:buNone/>
              <a:defRPr sz="1800" b="0">
                <a:solidFill>
                  <a:srgbClr val="151B23"/>
                </a:solidFill>
              </a:defRPr>
            </a:lvl7pPr>
            <a:lvl8pPr>
              <a:buNone/>
              <a:defRPr sz="1800" b="0">
                <a:solidFill>
                  <a:srgbClr val="151B23"/>
                </a:solidFill>
              </a:defRPr>
            </a:lvl8pPr>
            <a:lvl9pPr>
              <a:buNone/>
              <a:defRPr sz="1800" b="0">
                <a:solidFill>
                  <a:srgbClr val="151B23"/>
                </a:solidFill>
              </a:defRPr>
            </a:lvl9pPr>
          </a:lstStyle>
          <a:p>
            <a:pPr>
              <a:buNone/>
              <a:defRPr sz="1800" b="0">
                <a:solidFill>
                  <a:srgbClr val="151B23"/>
                </a:solidFill>
              </a:defRPr>
            </a:pPr>
            <a:r>
              <a:rPr sz="1800" b="0">
                <a:solidFill>
                  <a:srgbClr val="151B23"/>
                </a:solidFill>
              </a:rPr>
              <a:t>cd backend</a:t>
            </a:r>
            <a:endParaRPr/>
          </a:p>
          <a:p>
            <a:pPr>
              <a:buNone/>
              <a:defRPr sz="1800" b="0">
                <a:solidFill>
                  <a:srgbClr val="151B23"/>
                </a:solidFill>
              </a:defRPr>
            </a:pPr>
            <a:r>
              <a:rPr sz="1800" b="0">
                <a:solidFill>
                  <a:srgbClr val="151B23"/>
                </a:solidFill>
              </a:rPr>
              <a:t>npm install</a:t>
            </a:r>
            <a:endParaRPr/>
          </a:p>
          <a:p>
            <a:pPr>
              <a:buNone/>
              <a:defRPr sz="1800" b="0">
                <a:solidFill>
                  <a:srgbClr val="151B23"/>
                </a:solidFill>
              </a:defRPr>
            </a:pPr>
            <a:r>
              <a:rPr sz="1800" b="0">
                <a:solidFill>
                  <a:srgbClr val="151B23"/>
                </a:solidFill>
              </a:rPr>
              <a:t>node server.js</a:t>
            </a:r>
            <a:endParaRPr/>
          </a:p>
        </p:txBody>
      </p:sp>
      <p:sp>
        <p:nvSpPr>
          <p:cNvPr id="770274936" name="Terminal B: seed sau khi backend đã chạy"/>
          <p:cNvSpPr>
            <a:spLocks noGrp="1"/>
          </p:cNvSpPr>
          <p:nvPr/>
        </p:nvSpPr>
        <p:spPr bwMode="auto">
          <a:xfrm>
            <a:off x="609600" y="3886200"/>
            <a:ext cx="10972800" cy="304800"/>
          </a:xfrm>
          <a:prstGeom prst="rect">
            <a:avLst/>
          </a:prstGeom>
          <a:noFill/>
          <a:ln w="0">
            <a:noFill/>
          </a:ln>
        </p:spPr>
        <p:txBody>
          <a:bodyPr lIns="0" tIns="0" rIns="0" bIns="0"/>
          <a:lstStyle>
            <a:defPPr>
              <a:defRPr sz="1950" b="1">
                <a:solidFill>
                  <a:srgbClr val="2456A6"/>
                </a:solidFill>
              </a:defRPr>
            </a:defPPr>
            <a:lvl1pPr>
              <a:buNone/>
              <a:defRPr sz="1950" b="1">
                <a:solidFill>
                  <a:srgbClr val="2456A6"/>
                </a:solidFill>
              </a:defRPr>
            </a:lvl1pPr>
            <a:lvl2pPr>
              <a:buNone/>
              <a:defRPr sz="1950" b="1">
                <a:solidFill>
                  <a:srgbClr val="2456A6"/>
                </a:solidFill>
              </a:defRPr>
            </a:lvl2pPr>
            <a:lvl3pPr>
              <a:buNone/>
              <a:defRPr sz="1950" b="1">
                <a:solidFill>
                  <a:srgbClr val="2456A6"/>
                </a:solidFill>
              </a:defRPr>
            </a:lvl3pPr>
            <a:lvl4pPr>
              <a:buNone/>
              <a:defRPr sz="1950" b="1">
                <a:solidFill>
                  <a:srgbClr val="2456A6"/>
                </a:solidFill>
              </a:defRPr>
            </a:lvl4pPr>
            <a:lvl5pPr>
              <a:buNone/>
              <a:defRPr sz="1950" b="1">
                <a:solidFill>
                  <a:srgbClr val="2456A6"/>
                </a:solidFill>
              </a:defRPr>
            </a:lvl5pPr>
            <a:lvl6pPr>
              <a:buNone/>
              <a:defRPr sz="1950" b="1">
                <a:solidFill>
                  <a:srgbClr val="2456A6"/>
                </a:solidFill>
              </a:defRPr>
            </a:lvl6pPr>
            <a:lvl7pPr>
              <a:buNone/>
              <a:defRPr sz="1950" b="1">
                <a:solidFill>
                  <a:srgbClr val="2456A6"/>
                </a:solidFill>
              </a:defRPr>
            </a:lvl7pPr>
            <a:lvl8pPr>
              <a:buNone/>
              <a:defRPr sz="1950" b="1">
                <a:solidFill>
                  <a:srgbClr val="2456A6"/>
                </a:solidFill>
              </a:defRPr>
            </a:lvl8pPr>
            <a:lvl9pPr>
              <a:buNone/>
              <a:defRPr sz="1950" b="1">
                <a:solidFill>
                  <a:srgbClr val="2456A6"/>
                </a:solidFill>
              </a:defRPr>
            </a:lvl9pPr>
          </a:lstStyle>
          <a:p>
            <a:pPr>
              <a:buNone/>
              <a:defRPr sz="1950" b="1">
                <a:solidFill>
                  <a:srgbClr val="2456A6"/>
                </a:solidFill>
              </a:defRPr>
            </a:pPr>
            <a:r>
              <a:rPr sz="1950" b="1">
                <a:solidFill>
                  <a:srgbClr val="2456A6"/>
                </a:solidFill>
              </a:rPr>
              <a:t>Terminal B: seed sau khi backend đã chạy</a:t>
            </a:r>
            <a:endParaRPr/>
          </a:p>
        </p:txBody>
      </p:sp>
      <p:sp>
        <p:nvSpPr>
          <p:cNvPr id="1135502852" name="node performance/k6/data/seed.js bash performance/k6/run-smoke.sh"/>
          <p:cNvSpPr>
            <a:spLocks noGrp="1"/>
          </p:cNvSpPr>
          <p:nvPr/>
        </p:nvSpPr>
        <p:spPr bwMode="auto">
          <a:xfrm>
            <a:off x="609600" y="4286250"/>
            <a:ext cx="10972800" cy="723900"/>
          </a:xfrm>
          <a:prstGeom prst="rect">
            <a:avLst/>
          </a:prstGeom>
          <a:noFill/>
          <a:ln w="0">
            <a:noFill/>
          </a:ln>
        </p:spPr>
        <p:txBody>
          <a:bodyPr lIns="0" tIns="0" rIns="0" bIns="0"/>
          <a:lstStyle>
            <a:defPPr>
              <a:defRPr sz="1950" b="0">
                <a:solidFill>
                  <a:srgbClr val="151B23"/>
                </a:solidFill>
              </a:defRPr>
            </a:defPPr>
            <a:lvl1pPr>
              <a:buNone/>
              <a:defRPr sz="1950" b="0">
                <a:solidFill>
                  <a:srgbClr val="151B23"/>
                </a:solidFill>
              </a:defRPr>
            </a:lvl1pPr>
            <a:lvl2pPr>
              <a:buNone/>
              <a:defRPr sz="1950" b="0">
                <a:solidFill>
                  <a:srgbClr val="151B23"/>
                </a:solidFill>
              </a:defRPr>
            </a:lvl2pPr>
            <a:lvl3pPr>
              <a:buNone/>
              <a:defRPr sz="1950" b="0">
                <a:solidFill>
                  <a:srgbClr val="151B23"/>
                </a:solidFill>
              </a:defRPr>
            </a:lvl3pPr>
            <a:lvl4pPr>
              <a:buNone/>
              <a:defRPr sz="1950" b="0">
                <a:solidFill>
                  <a:srgbClr val="151B23"/>
                </a:solidFill>
              </a:defRPr>
            </a:lvl4pPr>
            <a:lvl5pPr>
              <a:buNone/>
              <a:defRPr sz="1950" b="0">
                <a:solidFill>
                  <a:srgbClr val="151B23"/>
                </a:solidFill>
              </a:defRPr>
            </a:lvl5pPr>
            <a:lvl6pPr>
              <a:buNone/>
              <a:defRPr sz="1950" b="0">
                <a:solidFill>
                  <a:srgbClr val="151B23"/>
                </a:solidFill>
              </a:defRPr>
            </a:lvl6pPr>
            <a:lvl7pPr>
              <a:buNone/>
              <a:defRPr sz="1950" b="0">
                <a:solidFill>
                  <a:srgbClr val="151B23"/>
                </a:solidFill>
              </a:defRPr>
            </a:lvl7pPr>
            <a:lvl8pPr>
              <a:buNone/>
              <a:defRPr sz="1950" b="0">
                <a:solidFill>
                  <a:srgbClr val="151B23"/>
                </a:solidFill>
              </a:defRPr>
            </a:lvl8pPr>
            <a:lvl9pPr>
              <a:buNone/>
              <a:defRPr sz="1950" b="0">
                <a:solidFill>
                  <a:srgbClr val="151B23"/>
                </a:solidFill>
              </a:defRPr>
            </a:lvl9pPr>
          </a:lstStyle>
          <a:p>
            <a:pPr>
              <a:buNone/>
              <a:defRPr sz="1950" b="0">
                <a:solidFill>
                  <a:srgbClr val="151B23"/>
                </a:solidFill>
              </a:defRPr>
            </a:pPr>
            <a:r>
              <a:rPr sz="1950" b="0">
                <a:solidFill>
                  <a:srgbClr val="151B23"/>
                </a:solidFill>
              </a:rPr>
              <a:t>node performance/k6/data/seed.js</a:t>
            </a:r>
            <a:endParaRPr/>
          </a:p>
          <a:p>
            <a:pPr>
              <a:buNone/>
              <a:defRPr sz="1950" b="0">
                <a:solidFill>
                  <a:srgbClr val="151B23"/>
                </a:solidFill>
              </a:defRPr>
            </a:pPr>
            <a:r>
              <a:rPr sz="1950" b="0">
                <a:solidFill>
                  <a:srgbClr val="151B23"/>
                </a:solidFill>
              </a:rPr>
              <a:t>bash performance/k6/run-smoke.sh</a:t>
            </a:r>
            <a:endParaRPr/>
          </a:p>
        </p:txBody>
      </p:sp>
      <p:sp>
        <p:nvSpPr>
          <p:cNvPr id="165050127" name="Smoke: 1 VU, 1 vòng qua 5 API. Kiểm tra 10/10 checks và 2 thresholds. "/>
          <p:cNvSpPr>
            <a:spLocks noGrp="1"/>
          </p:cNvSpPr>
          <p:nvPr/>
        </p:nvSpPr>
        <p:spPr bwMode="auto">
          <a:xfrm>
            <a:off x="609600" y="5238750"/>
            <a:ext cx="10972800" cy="762000"/>
          </a:xfrm>
          <a:prstGeom prst="rect">
            <a:avLst/>
          </a:prstGeom>
          <a:noFill/>
          <a:ln w="0">
            <a:noFill/>
          </a:ln>
        </p:spPr>
        <p:txBody>
          <a:bodyPr lIns="0" tIns="0" rIns="0" bIns="0"/>
          <a:lstStyle>
            <a:defPPr>
              <a:defRPr sz="1900" b="0">
                <a:solidFill>
                  <a:srgbClr val="151B23"/>
                </a:solidFill>
              </a:defRPr>
            </a:defPPr>
            <a:lvl1pPr>
              <a:buNone/>
              <a:defRPr sz="1900" b="0">
                <a:solidFill>
                  <a:srgbClr val="151B23"/>
                </a:solidFill>
              </a:defRPr>
            </a:lvl1pPr>
            <a:lvl2pPr>
              <a:buNone/>
              <a:defRPr sz="1900" b="0">
                <a:solidFill>
                  <a:srgbClr val="151B23"/>
                </a:solidFill>
              </a:defRPr>
            </a:lvl2pPr>
            <a:lvl3pPr>
              <a:buNone/>
              <a:defRPr sz="1900" b="0">
                <a:solidFill>
                  <a:srgbClr val="151B23"/>
                </a:solidFill>
              </a:defRPr>
            </a:lvl3pPr>
            <a:lvl4pPr>
              <a:buNone/>
              <a:defRPr sz="1900" b="0">
                <a:solidFill>
                  <a:srgbClr val="151B23"/>
                </a:solidFill>
              </a:defRPr>
            </a:lvl4pPr>
            <a:lvl5pPr>
              <a:buNone/>
              <a:defRPr sz="1900" b="0">
                <a:solidFill>
                  <a:srgbClr val="151B23"/>
                </a:solidFill>
              </a:defRPr>
            </a:lvl5pPr>
            <a:lvl6pPr>
              <a:buNone/>
              <a:defRPr sz="1900" b="0">
                <a:solidFill>
                  <a:srgbClr val="151B23"/>
                </a:solidFill>
              </a:defRPr>
            </a:lvl6pPr>
            <a:lvl7pPr>
              <a:buNone/>
              <a:defRPr sz="1900" b="0">
                <a:solidFill>
                  <a:srgbClr val="151B23"/>
                </a:solidFill>
              </a:defRPr>
            </a:lvl7pPr>
            <a:lvl8pPr>
              <a:buNone/>
              <a:defRPr sz="1900" b="0">
                <a:solidFill>
                  <a:srgbClr val="151B23"/>
                </a:solidFill>
              </a:defRPr>
            </a:lvl8pPr>
            <a:lvl9pPr>
              <a:buNone/>
              <a:defRPr sz="1900" b="0">
                <a:solidFill>
                  <a:srgbClr val="151B23"/>
                </a:solidFill>
              </a:defRPr>
            </a:lvl9pPr>
          </a:lstStyle>
          <a:p>
            <a:pPr>
              <a:buNone/>
              <a:defRPr sz="1900" b="0">
                <a:solidFill>
                  <a:srgbClr val="151B23"/>
                </a:solidFill>
              </a:defRPr>
            </a:pPr>
            <a:r>
              <a:rPr sz="1900" b="0">
                <a:solidFill>
                  <a:srgbClr val="151B23"/>
                </a:solidFill>
              </a:rPr>
              <a:t>Smoke: 1 VU, 1 vòng qua 5 API. Kiểm tra 10/10 checks và 2 thresholds.</a:t>
            </a:r>
            <a:endParaRPr/>
          </a:p>
          <a:p>
            <a:pPr>
              <a:buNone/>
              <a:defRPr sz="1900" b="0">
                <a:solidFill>
                  <a:srgbClr val="151B23"/>
                </a:solidFill>
              </a:defRPr>
            </a:pPr>
            <a:r>
              <a:rPr sz="1900" b="0">
                <a:solidFill>
                  <a:srgbClr val="151B23"/>
                </a:solidFill>
              </a:rPr>
              <a:t>Restart backend sẽ reset dữ liệu, cần seed lại trước bài tải.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13546094" name="K6 / REQUEST VÀ KIỂM TRA"/>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K6 / REQUEST VÀ KIỂM TRA</a:t>
            </a:r>
            <a:endParaRPr/>
          </a:p>
        </p:txBody>
      </p:sp>
      <p:sp>
        <p:nvSpPr>
          <p:cNvPr id="926880912" name="k6 thực hiện một luồng kiểm thử thế nào?"/>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k6 thực hiện một luồng kiểm thử thế nào?</a:t>
            </a:r>
            <a:endParaRPr/>
          </a:p>
        </p:txBody>
      </p:sp>
      <p:sp>
        <p:nvSpPr>
          <p:cNvPr id="636006817"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493081023" name="35"/>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35</a:t>
            </a:r>
            <a:endParaRPr/>
          </a:p>
        </p:txBody>
      </p:sp>
      <p:sp>
        <p:nvSpPr>
          <p:cNvPr id="1440060818" name="1. Script gửi request đến API"/>
          <p:cNvSpPr>
            <a:spLocks noGrp="1"/>
          </p:cNvSpPr>
          <p:nvPr/>
        </p:nvSpPr>
        <p:spPr bwMode="auto">
          <a:xfrm>
            <a:off x="609600" y="17621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1. Script gửi request đến API</a:t>
            </a:r>
            <a:endParaRPr/>
          </a:p>
        </p:txBody>
      </p:sp>
      <p:sp>
        <p:nvSpPr>
          <p:cNvPr id="1031844878" name="Smoke chạy lần lượt Login, Search, Detail, Cart rồi Checkout. HAR có t"/>
          <p:cNvSpPr>
            <a:spLocks noGrp="1"/>
          </p:cNvSpPr>
          <p:nvPr/>
        </p:nvSpPr>
        <p:spPr bwMode="auto">
          <a:xfrm>
            <a:off x="609600" y="2124075"/>
            <a:ext cx="10953750" cy="74295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Smoke chạy lần lượt Login, Search, Detail, Cart rồi Checkout.</a:t>
            </a:r>
            <a:endParaRPr/>
          </a:p>
          <a:p>
            <a:pPr>
              <a:buNone/>
              <a:defRPr sz="2050" b="0">
                <a:solidFill>
                  <a:srgbClr val="151B23"/>
                </a:solidFill>
              </a:defRPr>
            </a:pPr>
            <a:r>
              <a:rPr sz="2050" b="0">
                <a:solidFill>
                  <a:srgbClr val="151B23"/>
                </a:solidFill>
              </a:rPr>
              <a:t>HAR có thể làm tài liệu tham chiếu để viết script HTTP.</a:t>
            </a:r>
            <a:endParaRPr/>
          </a:p>
        </p:txBody>
      </p:sp>
      <p:sp>
        <p:nvSpPr>
          <p:cNvPr id="1075422460" name="2. Checkpoint kiểm tra từng response"/>
          <p:cNvSpPr>
            <a:spLocks noGrp="1"/>
          </p:cNvSpPr>
          <p:nvPr/>
        </p:nvSpPr>
        <p:spPr bwMode="auto">
          <a:xfrm>
            <a:off x="609600" y="319087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2. Checkpoint kiểm tra từng response</a:t>
            </a:r>
            <a:endParaRPr/>
          </a:p>
        </p:txBody>
      </p:sp>
      <p:sp>
        <p:nvSpPr>
          <p:cNvPr id="1122450853" name="check() kiểm tra status và dữ liệu, ví dụ Login có token, Checkout có "/>
          <p:cNvSpPr>
            <a:spLocks noGrp="1"/>
          </p:cNvSpPr>
          <p:nvPr/>
        </p:nvSpPr>
        <p:spPr bwMode="auto">
          <a:xfrm>
            <a:off x="609600" y="3552825"/>
            <a:ext cx="10953750" cy="76200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check() kiểm tra status và dữ liệu, ví dụ Login có token, Checkout có orderId.</a:t>
            </a:r>
            <a:endParaRPr/>
          </a:p>
          <a:p>
            <a:pPr>
              <a:buNone/>
              <a:defRPr sz="2050" b="0">
                <a:solidFill>
                  <a:srgbClr val="151B23"/>
                </a:solidFill>
              </a:defRPr>
            </a:pPr>
            <a:r>
              <a:rPr sz="2050" b="0">
                <a:solidFill>
                  <a:srgbClr val="151B23"/>
                </a:solidFill>
              </a:rPr>
              <a:t>HTTP 200 vẫn có thể sai nội dung và làm check thất bại.</a:t>
            </a:r>
            <a:endParaRPr/>
          </a:p>
        </p:txBody>
      </p:sp>
      <p:sp>
        <p:nvSpPr>
          <p:cNvPr id="973370619" name="3. Threshold: điều kiện đạt của bài kiểm thử"/>
          <p:cNvSpPr>
            <a:spLocks noGrp="1"/>
          </p:cNvSpPr>
          <p:nvPr/>
        </p:nvSpPr>
        <p:spPr bwMode="auto">
          <a:xfrm>
            <a:off x="609600" y="4648200"/>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3. Threshold: điều kiện đạt của bài kiểm thử</a:t>
            </a:r>
            <a:endParaRPr/>
          </a:p>
        </p:txBody>
      </p:sp>
      <p:sp>
        <p:nvSpPr>
          <p:cNvPr id="1788035876" name="Smoke yêu cầu checks = 100% và p95 &lt; 500 ms. Qua smoke mới tiếp tục ba"/>
          <p:cNvSpPr>
            <a:spLocks noGrp="1"/>
          </p:cNvSpPr>
          <p:nvPr/>
        </p:nvSpPr>
        <p:spPr bwMode="auto">
          <a:xfrm>
            <a:off x="609600" y="5010149"/>
            <a:ext cx="10953750" cy="80962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Smoke yêu cầu checks = 100% và p95 &lt; 500 ms.</a:t>
            </a:r>
            <a:endParaRPr/>
          </a:p>
          <a:p>
            <a:pPr>
              <a:buNone/>
              <a:defRPr sz="2050" b="0">
                <a:solidFill>
                  <a:srgbClr val="151B23"/>
                </a:solidFill>
              </a:defRPr>
            </a:pPr>
            <a:r>
              <a:rPr sz="2050" b="0">
                <a:solidFill>
                  <a:srgbClr val="151B23"/>
                </a:solidFill>
              </a:rPr>
              <a:t>Qua smoke mới tiếp tục baseline, stress hoặc spike để đánh giá dưới tải.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01253732" name="K6 / DATA DRIVEN VÀ CORRELATION"/>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K6 / DATA DRIVEN VÀ CORRELATION</a:t>
            </a:r>
            <a:endParaRPr/>
          </a:p>
        </p:txBody>
      </p:sp>
      <p:sp>
        <p:nvSpPr>
          <p:cNvPr id="1945883144" name="Tài khoản đầu vào và token đăng nhập"/>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Tài khoản đầu vào và token đăng nhập</a:t>
            </a:r>
            <a:endParaRPr/>
          </a:p>
        </p:txBody>
      </p:sp>
      <p:sp>
        <p:nvSpPr>
          <p:cNvPr id="1564346204"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1448808559" name="36"/>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36</a:t>
            </a:r>
            <a:endParaRPr/>
          </a:p>
        </p:txBody>
      </p:sp>
      <p:sp>
        <p:nvSpPr>
          <p:cNvPr id="1951288907" name="Data driven: chọn tài khoản từ dữ liệu đã chuẩn bị"/>
          <p:cNvSpPr>
            <a:spLocks noGrp="1"/>
          </p:cNvSpPr>
          <p:nvPr/>
        </p:nvSpPr>
        <p:spPr bwMode="auto">
          <a:xfrm>
            <a:off x="609600" y="17621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Data driven: chọn tài khoản từ dữ liệu đã chuẩn bị</a:t>
            </a:r>
            <a:endParaRPr/>
          </a:p>
        </p:txBody>
      </p:sp>
      <p:sp>
        <p:nvSpPr>
          <p:cNvPr id="170872738" name="Script đọc 50 tài khoản CSV bằng SharedArray. Baseline dùng 1 tài khoả"/>
          <p:cNvSpPr>
            <a:spLocks noGrp="1"/>
          </p:cNvSpPr>
          <p:nvPr/>
        </p:nvSpPr>
        <p:spPr bwMode="auto">
          <a:xfrm>
            <a:off x="609600" y="2124075"/>
            <a:ext cx="10953750" cy="80962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Script đọc 50 tài khoản CSV bằng SharedArray. Baseline dùng 1 tài khoản/VU.</a:t>
            </a:r>
            <a:endParaRPr/>
          </a:p>
          <a:p>
            <a:pPr>
              <a:buNone/>
              <a:defRPr sz="2050" b="0">
                <a:solidFill>
                  <a:srgbClr val="151B23"/>
                </a:solidFill>
              </a:defRPr>
            </a:pPr>
            <a:r>
              <a:rPr sz="2050" b="0">
                <a:solidFill>
                  <a:srgbClr val="151B23"/>
                </a:solidFill>
              </a:rPr>
              <a:t>Stress/spike dùng vòng lại danh sách: 1.500 VUs chia sẻ 50 tài khoản.</a:t>
            </a:r>
            <a:endParaRPr/>
          </a:p>
        </p:txBody>
      </p:sp>
      <p:sp>
        <p:nvSpPr>
          <p:cNvPr id="1457315115" name="Correlation: lấy dữ liệu mới từ response để dùng tiếp"/>
          <p:cNvSpPr>
            <a:spLocks noGrp="1"/>
          </p:cNvSpPr>
          <p:nvPr/>
        </p:nvSpPr>
        <p:spPr bwMode="auto">
          <a:xfrm>
            <a:off x="609600" y="3238500"/>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Correlation: lấy dữ liệu mới từ response để dùng tiếp</a:t>
            </a:r>
            <a:endParaRPr/>
          </a:p>
        </p:txBody>
      </p:sp>
      <p:sp>
        <p:nvSpPr>
          <p:cNvPr id="1968523351" name="VU đăng nhập khi lần đầu cần Cart/Checkout, lấy body.token và lưu riên"/>
          <p:cNvSpPr>
            <a:spLocks noGrp="1"/>
          </p:cNvSpPr>
          <p:nvPr/>
        </p:nvSpPr>
        <p:spPr bwMode="auto">
          <a:xfrm>
            <a:off x="609600" y="3600450"/>
            <a:ext cx="10953750" cy="80962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VU đăng nhập khi lần đầu cần Cart/Checkout, lấy body.token và lưu riêng.</a:t>
            </a:r>
            <a:endParaRPr/>
          </a:p>
          <a:p>
            <a:pPr>
              <a:buNone/>
              <a:defRPr sz="2050" b="0">
                <a:solidFill>
                  <a:srgbClr val="151B23"/>
                </a:solidFill>
              </a:defRPr>
            </a:pPr>
            <a:r>
              <a:rPr sz="2050" b="0">
                <a:solidFill>
                  <a:srgbClr val="151B23"/>
                </a:solidFill>
              </a:rPr>
              <a:t>Request sau gửi Authorization: Bearer &lt;token&gt; của chính VU đó.</a:t>
            </a:r>
            <a:endParaRPr/>
          </a:p>
        </p:txBody>
      </p:sp>
      <p:sp>
        <p:nvSpPr>
          <p:cNvPr id="1488052074" name="Ví dụ phân biệt"/>
          <p:cNvSpPr>
            <a:spLocks noGrp="1"/>
          </p:cNvSpPr>
          <p:nvPr/>
        </p:nvSpPr>
        <p:spPr bwMode="auto">
          <a:xfrm>
            <a:off x="609600" y="471487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Ví dụ phân biệt</a:t>
            </a:r>
            <a:endParaRPr/>
          </a:p>
        </p:txBody>
      </p:sp>
      <p:sp>
        <p:nvSpPr>
          <p:cNvPr id="1888034998" name="email/password có sẵn trong CSV. Token chỉ có sau khi Login thành công"/>
          <p:cNvSpPr>
            <a:spLocks noGrp="1"/>
          </p:cNvSpPr>
          <p:nvPr/>
        </p:nvSpPr>
        <p:spPr bwMode="auto">
          <a:xfrm>
            <a:off x="609600" y="5076825"/>
            <a:ext cx="10953750" cy="80962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email/password có sẵn trong CSV. Token chỉ có sau khi Login thành công.</a:t>
            </a:r>
            <a:endParaRPr/>
          </a:p>
          <a:p>
            <a:pPr>
              <a:buNone/>
              <a:defRPr sz="2050" b="0">
                <a:solidFill>
                  <a:srgbClr val="151B23"/>
                </a:solidFill>
              </a:defRPr>
            </a:pPr>
            <a:r>
              <a:rPr sz="2050" b="0">
                <a:solidFill>
                  <a:srgbClr val="151B23"/>
                </a:solidFill>
              </a:rPr>
              <a:t>BASE_URL là tham số cấu hình. orderId là dữ liệu để check ở bước Checkout.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59339832" name="K6 / KỊCH BẢN PHỨC TẠP"/>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K6 / KỊCH BẢN PHỨC TẠP</a:t>
            </a:r>
            <a:endParaRPr/>
          </a:p>
        </p:txBody>
      </p:sp>
      <p:sp>
        <p:nvSpPr>
          <p:cNvPr id="1230785631" name="k6: cấu hình profile thực tế"/>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k6: cấu hình profile thực tế</a:t>
            </a:r>
            <a:endParaRPr/>
          </a:p>
        </p:txBody>
      </p:sp>
      <p:sp>
        <p:nvSpPr>
          <p:cNvPr id="125120812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299009315" name="18"/>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37</a:t>
            </a:r>
            <a:endParaRPr/>
          </a:p>
        </p:txBody>
      </p:sp>
      <p:graphicFrame>
        <p:nvGraphicFramePr>
          <p:cNvPr id="1998407952"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864870">
                <a:tc>
                  <a:txBody>
                    <a:bodyPr/>
                    <a:p>
                      <a:pPr>
                        <a:buNone/>
                        <a:defRPr/>
                      </a:pPr>
                      <a:r>
                        <a:rPr sz="1800" b="1">
                          <a:solidFill>
                            <a:srgbClr val="153E75"/>
                          </a:solidFill>
                          <a:latin typeface="Arial"/>
                          <a:ea typeface="Arial"/>
                          <a:cs typeface="Arial"/>
                        </a:rPr>
                        <a:t>Profile</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Thiết kế đã ghi trong report</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Điểm quan sát</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Baseline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60s ramp, 300s steady, 60s down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50 VU, metric steady</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Stress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Chạy 11 bậc tăng dần từ 500 đến 2.800 VUs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Xác định điểm gãy hệ thống</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Spike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50 lên 1.500 VUs, sau đó về 60 VUs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Đỉnh tải và recovery</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Tuning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Bản sao SUT dùng WAL/index</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So sánh với cấu hình gốc</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474899006" name="TUNING / PHÂN TÍCH NGUYÊN NHÂN"/>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TUNING / PHÂN TÍCH NGUYÊN NHÂN</a:t>
            </a:r>
            <a:endParaRPr/>
          </a:p>
        </p:txBody>
      </p:sp>
      <p:sp>
        <p:nvSpPr>
          <p:cNvPr id="418521727" name="EShop chậm ở đâu khi tăng tải?"/>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EShop chậm ở đâu khi tăng tải?</a:t>
            </a:r>
            <a:endParaRPr/>
          </a:p>
        </p:txBody>
      </p:sp>
      <p:sp>
        <p:nvSpPr>
          <p:cNvPr id="1057002685"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1411247935" name="38"/>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38</a:t>
            </a:r>
            <a:endParaRPr/>
          </a:p>
        </p:txBody>
      </p:sp>
      <p:sp>
        <p:nvSpPr>
          <p:cNvPr id="418529481" name="Stress 1.500 VUs: p95 tăng lên 5.380,45 ms, HTTP lỗi 2,659%. Đây là dấ"/>
          <p:cNvSpPr>
            <a:spLocks noGrp="1"/>
          </p:cNvSpPr>
          <p:nvPr/>
        </p:nvSpPr>
        <p:spPr bwMode="auto">
          <a:xfrm>
            <a:off x="609600" y="1714500"/>
            <a:ext cx="10972800" cy="76200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Stress 1.500 VUs: p95 tăng lên 5.380,45 ms, HTTP lỗi 2,659%.</a:t>
            </a:r>
            <a:endParaRPr/>
          </a:p>
          <a:p>
            <a:pPr>
              <a:buNone/>
              <a:defRPr sz="2050" b="0">
                <a:solidFill>
                  <a:srgbClr val="151B23"/>
                </a:solidFill>
              </a:defRPr>
            </a:pPr>
            <a:r>
              <a:rPr sz="2050" b="0">
                <a:solidFill>
                  <a:srgbClr val="151B23"/>
                </a:solidFill>
              </a:rPr>
              <a:t>Đây là dấu hiệu suy giảm. Muốn xác định nguyên nhân cần đo thêm:</a:t>
            </a:r>
            <a:endParaRPr/>
          </a:p>
        </p:txBody>
      </p:sp>
      <p:sp>
        <p:nvSpPr>
          <p:cNvPr id="1024212269" name="Checkout có thể phải chờ ghi SQLite"/>
          <p:cNvSpPr>
            <a:spLocks noGrp="1"/>
          </p:cNvSpPr>
          <p:nvPr/>
        </p:nvSpPr>
        <p:spPr bwMode="auto">
          <a:xfrm>
            <a:off x="609600" y="27146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Checkout có thể phải chờ ghi SQLite</a:t>
            </a:r>
            <a:endParaRPr/>
          </a:p>
        </p:txBody>
      </p:sp>
      <p:sp>
        <p:nvSpPr>
          <p:cNvPr id="1438927584" name="Nhiều đơn hàng cùng ghi có thể tranh chấp khóa. Cần xem thời gian comm"/>
          <p:cNvSpPr>
            <a:spLocks noGrp="1"/>
          </p:cNvSpPr>
          <p:nvPr/>
        </p:nvSpPr>
        <p:spPr bwMode="auto">
          <a:xfrm>
            <a:off x="609600" y="3076574"/>
            <a:ext cx="10953750" cy="71437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Nhiều đơn hàng cùng ghi có thể tranh chấp khóa. Cần xem thời gian commit,</a:t>
            </a:r>
            <a:endParaRPr/>
          </a:p>
          <a:p>
            <a:pPr>
              <a:buNone/>
              <a:defRPr sz="2050" b="0">
                <a:solidFill>
                  <a:srgbClr val="151B23"/>
                </a:solidFill>
              </a:defRPr>
            </a:pPr>
            <a:r>
              <a:rPr sz="2050" b="0">
                <a:solidFill>
                  <a:srgbClr val="151B23"/>
                </a:solidFill>
              </a:rPr>
              <a:t>log SQLITE_BUSY/timeout và I/O để kiểm tra giả thuyết này.</a:t>
            </a:r>
            <a:endParaRPr/>
          </a:p>
        </p:txBody>
      </p:sp>
      <p:sp>
        <p:nvSpPr>
          <p:cNvPr id="1682636289" name="Search có thể tốn thời gian dò sản phẩm"/>
          <p:cNvSpPr>
            <a:spLocks noGrp="1"/>
          </p:cNvSpPr>
          <p:nvPr/>
        </p:nvSpPr>
        <p:spPr bwMode="auto">
          <a:xfrm>
            <a:off x="609600" y="40100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Search có thể tốn thời gian dò sản phẩm</a:t>
            </a:r>
            <a:endParaRPr/>
          </a:p>
        </p:txBody>
      </p:sp>
      <p:sp>
        <p:nvSpPr>
          <p:cNvPr id="1665680884" name="Truy vấn name LIKE '%keyword%' tìm chuỗi ở mọi vị trí. Cần xem query p"/>
          <p:cNvSpPr>
            <a:spLocks noGrp="1"/>
          </p:cNvSpPr>
          <p:nvPr/>
        </p:nvSpPr>
        <p:spPr bwMode="auto">
          <a:xfrm>
            <a:off x="609600" y="4371975"/>
            <a:ext cx="10953750" cy="71437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Truy vấn name LIKE '%keyword%' tìm chuỗi ở mọi vị trí.</a:t>
            </a:r>
            <a:endParaRPr/>
          </a:p>
          <a:p>
            <a:pPr>
              <a:buNone/>
              <a:defRPr sz="2050" b="0">
                <a:solidFill>
                  <a:srgbClr val="151B23"/>
                </a:solidFill>
              </a:defRPr>
            </a:pPr>
            <a:r>
              <a:rPr sz="2050" b="0">
                <a:solidFill>
                  <a:srgbClr val="151B23"/>
                </a:solidFill>
              </a:rPr>
              <a:t>Cần xem query plan và thời gian truy vấn trước khi chọn cách tối ưu.</a:t>
            </a:r>
            <a:endParaRPr/>
          </a:p>
        </p:txBody>
      </p:sp>
      <p:sp>
        <p:nvSpPr>
          <p:cNvPr id="831743571" name="Cũng cần đo CPU/event-loop của Node.js và CPU/RAM máy chạy k6. Bộ run "/>
          <p:cNvSpPr>
            <a:spLocks noGrp="1"/>
          </p:cNvSpPr>
          <p:nvPr/>
        </p:nvSpPr>
        <p:spPr bwMode="auto">
          <a:xfrm>
            <a:off x="609600" y="5410200"/>
            <a:ext cx="10972800" cy="666750"/>
          </a:xfrm>
          <a:prstGeom prst="rect">
            <a:avLst/>
          </a:prstGeom>
          <a:noFill/>
          <a:ln w="0">
            <a:noFill/>
          </a:ln>
        </p:spPr>
        <p:txBody>
          <a:bodyPr lIns="0" tIns="0" rIns="0" bIns="0"/>
          <a:lstStyle>
            <a:defPPr>
              <a:defRPr sz="1900" b="0">
                <a:solidFill>
                  <a:srgbClr val="151B23"/>
                </a:solidFill>
              </a:defRPr>
            </a:defPPr>
            <a:lvl1pPr>
              <a:buNone/>
              <a:defRPr sz="1900" b="0">
                <a:solidFill>
                  <a:srgbClr val="151B23"/>
                </a:solidFill>
              </a:defRPr>
            </a:lvl1pPr>
            <a:lvl2pPr>
              <a:buNone/>
              <a:defRPr sz="1900" b="0">
                <a:solidFill>
                  <a:srgbClr val="151B23"/>
                </a:solidFill>
              </a:defRPr>
            </a:lvl2pPr>
            <a:lvl3pPr>
              <a:buNone/>
              <a:defRPr sz="1900" b="0">
                <a:solidFill>
                  <a:srgbClr val="151B23"/>
                </a:solidFill>
              </a:defRPr>
            </a:lvl3pPr>
            <a:lvl4pPr>
              <a:buNone/>
              <a:defRPr sz="1900" b="0">
                <a:solidFill>
                  <a:srgbClr val="151B23"/>
                </a:solidFill>
              </a:defRPr>
            </a:lvl4pPr>
            <a:lvl5pPr>
              <a:buNone/>
              <a:defRPr sz="1900" b="0">
                <a:solidFill>
                  <a:srgbClr val="151B23"/>
                </a:solidFill>
              </a:defRPr>
            </a:lvl5pPr>
            <a:lvl6pPr>
              <a:buNone/>
              <a:defRPr sz="1900" b="0">
                <a:solidFill>
                  <a:srgbClr val="151B23"/>
                </a:solidFill>
              </a:defRPr>
            </a:lvl6pPr>
            <a:lvl7pPr>
              <a:buNone/>
              <a:defRPr sz="1900" b="0">
                <a:solidFill>
                  <a:srgbClr val="151B23"/>
                </a:solidFill>
              </a:defRPr>
            </a:lvl7pPr>
            <a:lvl8pPr>
              <a:buNone/>
              <a:defRPr sz="1900" b="0">
                <a:solidFill>
                  <a:srgbClr val="151B23"/>
                </a:solidFill>
              </a:defRPr>
            </a:lvl8pPr>
            <a:lvl9pPr>
              <a:buNone/>
              <a:defRPr sz="1900" b="0">
                <a:solidFill>
                  <a:srgbClr val="151B23"/>
                </a:solidFill>
              </a:defRPr>
            </a:lvl9pPr>
          </a:lstStyle>
          <a:p>
            <a:pPr>
              <a:buNone/>
              <a:defRPr sz="1900" b="0">
                <a:solidFill>
                  <a:srgbClr val="151B23"/>
                </a:solidFill>
              </a:defRPr>
            </a:pPr>
            <a:r>
              <a:rPr sz="1900" b="0">
                <a:solidFill>
                  <a:srgbClr val="151B23"/>
                </a:solidFill>
              </a:rPr>
              <a:t>Cũng cần đo CPU/event-loop của Node.js và CPU/RAM máy chạy k6.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42845618" name="TUNING / CƠ CHẾ WAL"/>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TUNING / CƠ CHẾ WAL</a:t>
            </a:r>
            <a:endParaRPr/>
          </a:p>
        </p:txBody>
      </p:sp>
      <p:sp>
        <p:nvSpPr>
          <p:cNvPr id="1552266738" name="WAL giúp việc đọc và ghi SQLite thế nào?"/>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WAL giúp việc đọc và ghi SQLite thế nào?</a:t>
            </a:r>
            <a:endParaRPr/>
          </a:p>
        </p:txBody>
      </p:sp>
      <p:sp>
        <p:nvSpPr>
          <p:cNvPr id="1397572992"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828418905" name="39"/>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39</a:t>
            </a:r>
            <a:endParaRPr/>
          </a:p>
        </p:txBody>
      </p:sp>
      <p:sp>
        <p:nvSpPr>
          <p:cNvPr id="156343967" name="Cách ghi dữ liệu"/>
          <p:cNvSpPr>
            <a:spLocks noGrp="1"/>
          </p:cNvSpPr>
          <p:nvPr/>
        </p:nvSpPr>
        <p:spPr bwMode="auto">
          <a:xfrm>
            <a:off x="609600" y="17621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Cách ghi dữ liệu</a:t>
            </a:r>
            <a:endParaRPr/>
          </a:p>
        </p:txBody>
      </p:sp>
      <p:sp>
        <p:nvSpPr>
          <p:cNvPr id="761332420" name="Ở chế độ DELETE, SQLite lưu dữ liệu cũ vào rollback journal để có thể "/>
          <p:cNvSpPr>
            <a:spLocks noGrp="1"/>
          </p:cNvSpPr>
          <p:nvPr/>
        </p:nvSpPr>
        <p:spPr bwMode="auto">
          <a:xfrm>
            <a:off x="609600" y="2124075"/>
            <a:ext cx="10953750" cy="83820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Ở chế độ DELETE, SQLite lưu dữ liệu cũ vào rollback journal để có thể phục hồi.</a:t>
            </a:r>
            <a:endParaRPr/>
          </a:p>
          <a:p>
            <a:pPr>
              <a:buNone/>
              <a:defRPr sz="2050" b="0">
                <a:solidFill>
                  <a:srgbClr val="151B23"/>
                </a:solidFill>
              </a:defRPr>
            </a:pPr>
            <a:r>
              <a:rPr sz="2050" b="0">
                <a:solidFill>
                  <a:srgbClr val="151B23"/>
                </a:solidFill>
              </a:rPr>
              <a:t>Ở WAL, SQLite ghi thay đổi vào file WAL trước, rồi checkpoint về database chính.</a:t>
            </a:r>
            <a:endParaRPr/>
          </a:p>
        </p:txBody>
      </p:sp>
      <p:sp>
        <p:nvSpPr>
          <p:cNvPr id="1861468310" name="Ví dụ: 80 VUs xem sản phẩm, 20 VUs tạo đơn"/>
          <p:cNvSpPr>
            <a:spLocks noGrp="1"/>
          </p:cNvSpPr>
          <p:nvPr/>
        </p:nvSpPr>
        <p:spPr bwMode="auto">
          <a:xfrm>
            <a:off x="609600" y="32480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Ví dụ: 80 VUs xem sản phẩm, 20 VUs tạo đơn</a:t>
            </a:r>
            <a:endParaRPr/>
          </a:p>
        </p:txBody>
      </p:sp>
      <p:sp>
        <p:nvSpPr>
          <p:cNvPr id="770010063" name="Với rollback journal, thao tác ghi có thể chờ các thao tác đọc kết thú"/>
          <p:cNvSpPr>
            <a:spLocks noGrp="1"/>
          </p:cNvSpPr>
          <p:nvPr/>
        </p:nvSpPr>
        <p:spPr bwMode="auto">
          <a:xfrm>
            <a:off x="609600" y="3609975"/>
            <a:ext cx="10953750" cy="85725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Với rollback journal, thao tác ghi có thể chờ các thao tác đọc kết thúc để commit.</a:t>
            </a:r>
            <a:endParaRPr/>
          </a:p>
          <a:p>
            <a:pPr>
              <a:buNone/>
              <a:defRPr sz="2050" b="0">
                <a:solidFill>
                  <a:srgbClr val="151B23"/>
                </a:solidFill>
              </a:defRPr>
            </a:pPr>
            <a:r>
              <a:rPr sz="2050" b="0">
                <a:solidFill>
                  <a:srgbClr val="151B23"/>
                </a:solidFill>
              </a:rPr>
              <a:t>WAL cho phép reader tiếp tục đọc khi writer ghi vào WAL, giảm chặn đọc/ghi.</a:t>
            </a:r>
            <a:endParaRPr/>
          </a:p>
        </p:txBody>
      </p:sp>
      <p:sp>
        <p:nvSpPr>
          <p:cNvPr id="757772800" name="Áp dụng vào EShop"/>
          <p:cNvSpPr>
            <a:spLocks noGrp="1"/>
          </p:cNvSpPr>
          <p:nvPr/>
        </p:nvSpPr>
        <p:spPr bwMode="auto">
          <a:xfrm>
            <a:off x="609600" y="47720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Áp dụng vào EShop</a:t>
            </a:r>
            <a:endParaRPr/>
          </a:p>
        </p:txBody>
      </p:sp>
      <p:sp>
        <p:nvSpPr>
          <p:cNvPr id="449205788" name="Cấu hình: PRAGMA journal_mode=WAL; SQLite vẫn chỉ có một writer mỗi lú"/>
          <p:cNvSpPr>
            <a:spLocks noGrp="1"/>
          </p:cNvSpPr>
          <p:nvPr/>
        </p:nvSpPr>
        <p:spPr bwMode="auto">
          <a:xfrm>
            <a:off x="609600" y="5133975"/>
            <a:ext cx="10953750" cy="78105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Cấu hình: PRAGMA journal_mode=WAL;</a:t>
            </a:r>
            <a:endParaRPr/>
          </a:p>
          <a:p>
            <a:pPr>
              <a:buNone/>
              <a:defRPr sz="2050" b="0">
                <a:solidFill>
                  <a:srgbClr val="151B23"/>
                </a:solidFill>
              </a:defRPr>
            </a:pPr>
            <a:r>
              <a:rPr sz="2050" b="0">
                <a:solidFill>
                  <a:srgbClr val="151B23"/>
                </a:solidFill>
              </a:rPr>
              <a:t>SQLite vẫn chỉ có một writer mỗi lúc. Mức cải thiện thực tế cần đo trước/sau.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94903477" name="TUNING / INDEX VÀ KIỂM CHỨNG"/>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TUNING / INDEX VÀ KIỂM CHỨNG</a:t>
            </a:r>
            <a:endParaRPr/>
          </a:p>
        </p:txBody>
      </p:sp>
      <p:sp>
        <p:nvSpPr>
          <p:cNvPr id="1296019841" name="Vì sao thêm index chưa chắc giúp Search?"/>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Vì sao thêm index chưa chắc giúp Search?</a:t>
            </a:r>
            <a:endParaRPr/>
          </a:p>
        </p:txBody>
      </p:sp>
      <p:sp>
        <p:nvSpPr>
          <p:cNvPr id="1522829446"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1523935263" name="40"/>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40</a:t>
            </a:r>
            <a:endParaRPr/>
          </a:p>
        </p:txBody>
      </p:sp>
      <p:sp>
        <p:nvSpPr>
          <p:cNvPr id="1654077762" name="Index giống mục lục đã sắp xếp theo tên"/>
          <p:cNvSpPr>
            <a:spLocks noGrp="1"/>
          </p:cNvSpPr>
          <p:nvPr/>
        </p:nvSpPr>
        <p:spPr bwMode="auto">
          <a:xfrm>
            <a:off x="609600" y="17621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Index giống mục lục đã sắp xếp theo tên</a:t>
            </a:r>
            <a:endParaRPr/>
          </a:p>
        </p:txBody>
      </p:sp>
      <p:sp>
        <p:nvSpPr>
          <p:cNvPr id="755216223" name="Index giúp thu hẹp vùng cần tìm khi truy vấn phù hợp. Nhưng Search của"/>
          <p:cNvSpPr>
            <a:spLocks noGrp="1"/>
          </p:cNvSpPr>
          <p:nvPr/>
        </p:nvSpPr>
        <p:spPr bwMode="auto">
          <a:xfrm>
            <a:off x="609600" y="2124075"/>
            <a:ext cx="10953750" cy="85725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Index giúp thu hẹp vùng cần tìm khi truy vấn phù hợp.</a:t>
            </a:r>
            <a:endParaRPr/>
          </a:p>
          <a:p>
            <a:pPr>
              <a:buNone/>
              <a:defRPr sz="2050" b="0">
                <a:solidFill>
                  <a:srgbClr val="151B23"/>
                </a:solidFill>
              </a:defRPr>
            </a:pPr>
            <a:r>
              <a:rPr sz="2050" b="0">
                <a:solidFill>
                  <a:srgbClr val="151B23"/>
                </a:solidFill>
              </a:rPr>
              <a:t>Nhưng Search của EShop dùng LIKE '%iPhone%': tên có thể chứa iPhone ở bất kỳ đâu.</a:t>
            </a:r>
            <a:endParaRPr/>
          </a:p>
        </p:txBody>
      </p:sp>
      <p:sp>
        <p:nvSpPr>
          <p:cNvPr id="1996733775" name="Dấu % ở đầu làm mất lợi thế tìm theo phần đầu tên"/>
          <p:cNvSpPr>
            <a:spLocks noGrp="1"/>
          </p:cNvSpPr>
          <p:nvPr/>
        </p:nvSpPr>
        <p:spPr bwMode="auto">
          <a:xfrm>
            <a:off x="609600" y="3295650"/>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Dấu % ở đầu làm mất lợi thế tìm theo phần đầu tên</a:t>
            </a:r>
            <a:endParaRPr/>
          </a:p>
        </p:txBody>
      </p:sp>
      <p:sp>
        <p:nvSpPr>
          <p:cNvPr id="666528285" name="SQLite không dùng được phép tối ưu khoảng LIKE thông thường cho mẫu nà"/>
          <p:cNvSpPr>
            <a:spLocks noGrp="1"/>
          </p:cNvSpPr>
          <p:nvPr/>
        </p:nvSpPr>
        <p:spPr bwMode="auto">
          <a:xfrm>
            <a:off x="609600" y="3657600"/>
            <a:ext cx="10953750" cy="85725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SQLite không dùng được phép tối ưu khoảng LIKE thông thường cho mẫu này.</a:t>
            </a:r>
            <a:endParaRPr/>
          </a:p>
          <a:p>
            <a:pPr>
              <a:buNone/>
              <a:defRPr sz="2050" b="0">
                <a:solidFill>
                  <a:srgbClr val="151B23"/>
                </a:solidFill>
              </a:defRPr>
            </a:pPr>
            <a:r>
              <a:rPr sz="2050" b="0">
                <a:solidFill>
                  <a:srgbClr val="151B23"/>
                </a:solidFill>
              </a:rPr>
              <a:t>Cần xem EXPLAIN QUERY PLAN: SCAN là quét, SEARCH là tìm theo điều kiện/index.</a:t>
            </a:r>
            <a:endParaRPr/>
          </a:p>
        </p:txBody>
      </p:sp>
      <p:sp>
        <p:nvSpPr>
          <p:cNvPr id="1832723204" name="EXPLAIN QUERY PLAN SELECT * FROM products WHERE name LIKE '%iPhone%';"/>
          <p:cNvSpPr>
            <a:spLocks noGrp="1"/>
          </p:cNvSpPr>
          <p:nvPr/>
        </p:nvSpPr>
        <p:spPr bwMode="auto">
          <a:xfrm>
            <a:off x="609600" y="4848225"/>
            <a:ext cx="10972800" cy="685800"/>
          </a:xfrm>
          <a:prstGeom prst="rect">
            <a:avLst/>
          </a:prstGeom>
          <a:noFill/>
          <a:ln w="0">
            <a:noFill/>
          </a:ln>
        </p:spPr>
        <p:txBody>
          <a:bodyPr lIns="0" tIns="0" rIns="0" bIns="0"/>
          <a:lstStyle>
            <a:defPPr>
              <a:defRPr sz="1900" b="0">
                <a:solidFill>
                  <a:srgbClr val="151B23"/>
                </a:solidFill>
              </a:defRPr>
            </a:defPPr>
            <a:lvl1pPr>
              <a:buNone/>
              <a:defRPr sz="1900" b="0">
                <a:solidFill>
                  <a:srgbClr val="151B23"/>
                </a:solidFill>
              </a:defRPr>
            </a:lvl1pPr>
            <a:lvl2pPr>
              <a:buNone/>
              <a:defRPr sz="1900" b="0">
                <a:solidFill>
                  <a:srgbClr val="151B23"/>
                </a:solidFill>
              </a:defRPr>
            </a:lvl2pPr>
            <a:lvl3pPr>
              <a:buNone/>
              <a:defRPr sz="1900" b="0">
                <a:solidFill>
                  <a:srgbClr val="151B23"/>
                </a:solidFill>
              </a:defRPr>
            </a:lvl3pPr>
            <a:lvl4pPr>
              <a:buNone/>
              <a:defRPr sz="1900" b="0">
                <a:solidFill>
                  <a:srgbClr val="151B23"/>
                </a:solidFill>
              </a:defRPr>
            </a:lvl4pPr>
            <a:lvl5pPr>
              <a:buNone/>
              <a:defRPr sz="1900" b="0">
                <a:solidFill>
                  <a:srgbClr val="151B23"/>
                </a:solidFill>
              </a:defRPr>
            </a:lvl5pPr>
            <a:lvl6pPr>
              <a:buNone/>
              <a:defRPr sz="1900" b="0">
                <a:solidFill>
                  <a:srgbClr val="151B23"/>
                </a:solidFill>
              </a:defRPr>
            </a:lvl6pPr>
            <a:lvl7pPr>
              <a:buNone/>
              <a:defRPr sz="1900" b="0">
                <a:solidFill>
                  <a:srgbClr val="151B23"/>
                </a:solidFill>
              </a:defRPr>
            </a:lvl7pPr>
            <a:lvl8pPr>
              <a:buNone/>
              <a:defRPr sz="1900" b="0">
                <a:solidFill>
                  <a:srgbClr val="151B23"/>
                </a:solidFill>
              </a:defRPr>
            </a:lvl8pPr>
            <a:lvl9pPr>
              <a:buNone/>
              <a:defRPr sz="1900" b="0">
                <a:solidFill>
                  <a:srgbClr val="151B23"/>
                </a:solidFill>
              </a:defRPr>
            </a:lvl9pPr>
          </a:lstStyle>
          <a:p>
            <a:pPr>
              <a:buNone/>
              <a:defRPr sz="1900" b="0">
                <a:solidFill>
                  <a:srgbClr val="151B23"/>
                </a:solidFill>
              </a:defRPr>
            </a:pPr>
            <a:r>
              <a:rPr sz="1900" b="0">
                <a:solidFill>
                  <a:srgbClr val="151B23"/>
                </a:solidFill>
              </a:rPr>
              <a:t>EXPLAIN QUERY PLAN</a:t>
            </a:r>
            <a:endParaRPr/>
          </a:p>
          <a:p>
            <a:pPr>
              <a:buNone/>
              <a:defRPr sz="1900" b="0">
                <a:solidFill>
                  <a:srgbClr val="151B23"/>
                </a:solidFill>
              </a:defRPr>
            </a:pPr>
            <a:r>
              <a:rPr sz="1900" b="0">
                <a:solidFill>
                  <a:srgbClr val="151B23"/>
                </a:solidFill>
              </a:rPr>
              <a:t>SELECT * FROM products WHERE name LIKE '%iPhone%';</a:t>
            </a:r>
            <a:endParaRPr/>
          </a:p>
        </p:txBody>
      </p:sp>
      <p:sp>
        <p:nvSpPr>
          <p:cNvPr id="1691120442" name="Bản tuned đổi cả WAL và index. Một lần đo trước/sau chưa tách được tác"/>
          <p:cNvSpPr>
            <a:spLocks noGrp="1"/>
          </p:cNvSpPr>
          <p:nvPr/>
        </p:nvSpPr>
        <p:spPr bwMode="auto">
          <a:xfrm>
            <a:off x="609600" y="5619750"/>
            <a:ext cx="10972800" cy="619125"/>
          </a:xfrm>
          <a:prstGeom prst="rect">
            <a:avLst/>
          </a:prstGeom>
          <a:noFill/>
          <a:ln w="0">
            <a:noFill/>
          </a:ln>
        </p:spPr>
        <p:txBody>
          <a:bodyPr lIns="0" tIns="0" rIns="0" bIns="0"/>
          <a:lstStyle>
            <a:defPPr>
              <a:defRPr sz="1800" b="0">
                <a:solidFill>
                  <a:srgbClr val="151B23"/>
                </a:solidFill>
              </a:defRPr>
            </a:defPPr>
            <a:lvl1pPr>
              <a:buNone/>
              <a:defRPr sz="1800" b="0">
                <a:solidFill>
                  <a:srgbClr val="151B23"/>
                </a:solidFill>
              </a:defRPr>
            </a:lvl1pPr>
            <a:lvl2pPr>
              <a:buNone/>
              <a:defRPr sz="1800" b="0">
                <a:solidFill>
                  <a:srgbClr val="151B23"/>
                </a:solidFill>
              </a:defRPr>
            </a:lvl2pPr>
            <a:lvl3pPr>
              <a:buNone/>
              <a:defRPr sz="1800" b="0">
                <a:solidFill>
                  <a:srgbClr val="151B23"/>
                </a:solidFill>
              </a:defRPr>
            </a:lvl3pPr>
            <a:lvl4pPr>
              <a:buNone/>
              <a:defRPr sz="1800" b="0">
                <a:solidFill>
                  <a:srgbClr val="151B23"/>
                </a:solidFill>
              </a:defRPr>
            </a:lvl4pPr>
            <a:lvl5pPr>
              <a:buNone/>
              <a:defRPr sz="1800" b="0">
                <a:solidFill>
                  <a:srgbClr val="151B23"/>
                </a:solidFill>
              </a:defRPr>
            </a:lvl5pPr>
            <a:lvl6pPr>
              <a:buNone/>
              <a:defRPr sz="1800" b="0">
                <a:solidFill>
                  <a:srgbClr val="151B23"/>
                </a:solidFill>
              </a:defRPr>
            </a:lvl6pPr>
            <a:lvl7pPr>
              <a:buNone/>
              <a:defRPr sz="1800" b="0">
                <a:solidFill>
                  <a:srgbClr val="151B23"/>
                </a:solidFill>
              </a:defRPr>
            </a:lvl7pPr>
            <a:lvl8pPr>
              <a:buNone/>
              <a:defRPr sz="1800" b="0">
                <a:solidFill>
                  <a:srgbClr val="151B23"/>
                </a:solidFill>
              </a:defRPr>
            </a:lvl8pPr>
            <a:lvl9pPr>
              <a:buNone/>
              <a:defRPr sz="1800" b="0">
                <a:solidFill>
                  <a:srgbClr val="151B23"/>
                </a:solidFill>
              </a:defRPr>
            </a:lvl9pPr>
          </a:lstStyle>
          <a:p>
            <a:pPr>
              <a:buNone/>
              <a:defRPr sz="1800" b="0">
                <a:solidFill>
                  <a:srgbClr val="151B23"/>
                </a:solidFill>
              </a:defRPr>
            </a:pPr>
            <a:r>
              <a:rPr sz="1800" b="0">
                <a:solidFill>
                  <a:srgbClr val="151B23"/>
                </a:solidFill>
              </a:rPr>
              <a:t>Bản tuned đổi cả WAL và index. Một lần đo trước/sau chưa tách được tác dụng</a:t>
            </a:r>
            <a:endParaRPr/>
          </a:p>
          <a:p>
            <a:pPr>
              <a:buNone/>
              <a:defRPr sz="1800" b="0">
                <a:solidFill>
                  <a:srgbClr val="151B23"/>
                </a:solidFill>
              </a:defRPr>
            </a:pPr>
            <a:r>
              <a:rPr sz="1800" b="0">
                <a:solidFill>
                  <a:srgbClr val="151B23"/>
                </a:solidFill>
              </a:rPr>
              <a:t>của từng thay đổi. Cần thử riêng và chạy lặp trong cùng điều kiện.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53016753" name="DEMO CỦA LÊ NGUYỄN QUỐC THÁI"/>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DEMO CỦA LÊ NGUYỄN QUỐC THÁI</a:t>
            </a:r>
            <a:endParaRPr/>
          </a:p>
        </p:txBody>
      </p:sp>
      <p:sp>
        <p:nvSpPr>
          <p:cNvPr id="1800751003" name="Video demo 1: k6 và tuni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Video demo 1: k6 và tuning</a:t>
            </a:r>
            <a:endParaRPr/>
          </a:p>
        </p:txBody>
      </p:sp>
      <p:sp>
        <p:nvSpPr>
          <p:cNvPr id="2118905254"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866292078" name="19"/>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41</a:t>
            </a:r>
            <a:endParaRPr/>
          </a:p>
        </p:txBody>
      </p:sp>
      <p:sp>
        <p:nvSpPr>
          <p:cNvPr id="1692439663" name="Lê Nguyễn Quốc Thái"/>
          <p:cNvSpPr>
            <a:spLocks noGrp="1"/>
          </p:cNvSpPr>
          <p:nvPr/>
        </p:nvSpPr>
        <p:spPr bwMode="auto">
          <a:xfrm>
            <a:off x="609600" y="1752599"/>
            <a:ext cx="10972800" cy="400050"/>
          </a:xfrm>
          <a:prstGeom prst="rect">
            <a:avLst/>
          </a:prstGeom>
          <a:noFill/>
          <a:ln w="0">
            <a:noFill/>
          </a:ln>
        </p:spPr>
        <p:txBody>
          <a:bodyPr wrap="square" lIns="0" tIns="0" rIns="0" bIns="0">
            <a:noAutofit/>
          </a:bodyPr>
          <a:lstStyle>
            <a:defPPr>
              <a:defRPr sz="2250" b="1">
                <a:solidFill>
                  <a:srgbClr val="2456A6"/>
                </a:solidFill>
                <a:latin typeface="Arial"/>
                <a:ea typeface="Arial"/>
                <a:cs typeface="Arial"/>
              </a:defRPr>
            </a:defPPr>
            <a:lvl1pPr>
              <a:buNone/>
              <a:defRPr sz="2250" b="1">
                <a:solidFill>
                  <a:srgbClr val="2456A6"/>
                </a:solidFill>
                <a:latin typeface="Arial"/>
                <a:ea typeface="Arial"/>
                <a:cs typeface="Arial"/>
              </a:defRPr>
            </a:lvl1pPr>
            <a:lvl2pPr>
              <a:buNone/>
              <a:defRPr sz="2250" b="1">
                <a:solidFill>
                  <a:srgbClr val="2456A6"/>
                </a:solidFill>
                <a:latin typeface="Arial"/>
                <a:ea typeface="Arial"/>
                <a:cs typeface="Arial"/>
              </a:defRPr>
            </a:lvl2pPr>
            <a:lvl3pPr>
              <a:buNone/>
              <a:defRPr sz="2250" b="1">
                <a:solidFill>
                  <a:srgbClr val="2456A6"/>
                </a:solidFill>
                <a:latin typeface="Arial"/>
                <a:ea typeface="Arial"/>
                <a:cs typeface="Arial"/>
              </a:defRPr>
            </a:lvl3pPr>
            <a:lvl4pPr>
              <a:buNone/>
              <a:defRPr sz="2250" b="1">
                <a:solidFill>
                  <a:srgbClr val="2456A6"/>
                </a:solidFill>
                <a:latin typeface="Arial"/>
                <a:ea typeface="Arial"/>
                <a:cs typeface="Arial"/>
              </a:defRPr>
            </a:lvl4pPr>
            <a:lvl5pPr>
              <a:buNone/>
              <a:defRPr sz="2250" b="1">
                <a:solidFill>
                  <a:srgbClr val="2456A6"/>
                </a:solidFill>
                <a:latin typeface="Arial"/>
                <a:ea typeface="Arial"/>
                <a:cs typeface="Arial"/>
              </a:defRPr>
            </a:lvl5pPr>
            <a:lvl6pPr>
              <a:buNone/>
              <a:defRPr sz="2250" b="1">
                <a:solidFill>
                  <a:srgbClr val="2456A6"/>
                </a:solidFill>
                <a:latin typeface="Arial"/>
                <a:ea typeface="Arial"/>
                <a:cs typeface="Arial"/>
              </a:defRPr>
            </a:lvl6pPr>
            <a:lvl7pPr>
              <a:buNone/>
              <a:defRPr sz="2250" b="1">
                <a:solidFill>
                  <a:srgbClr val="2456A6"/>
                </a:solidFill>
                <a:latin typeface="Arial"/>
                <a:ea typeface="Arial"/>
                <a:cs typeface="Arial"/>
              </a:defRPr>
            </a:lvl7pPr>
            <a:lvl8pPr>
              <a:buNone/>
              <a:defRPr sz="2250" b="1">
                <a:solidFill>
                  <a:srgbClr val="2456A6"/>
                </a:solidFill>
                <a:latin typeface="Arial"/>
                <a:ea typeface="Arial"/>
                <a:cs typeface="Arial"/>
              </a:defRPr>
            </a:lvl8pPr>
            <a:lvl9pPr>
              <a:buNone/>
              <a:defRPr sz="2250" b="1">
                <a:solidFill>
                  <a:srgbClr val="2456A6"/>
                </a:solidFill>
                <a:latin typeface="Arial"/>
                <a:ea typeface="Arial"/>
                <a:cs typeface="Arial"/>
              </a:defRPr>
            </a:lvl9pPr>
          </a:lstStyle>
          <a:p>
            <a:pPr>
              <a:buNone/>
              <a:defRPr sz="2250" b="1">
                <a:solidFill>
                  <a:srgbClr val="2456A6"/>
                </a:solidFill>
                <a:latin typeface="Arial"/>
                <a:ea typeface="Arial"/>
                <a:cs typeface="Arial"/>
              </a:defRPr>
            </a:pPr>
            <a:r>
              <a:rPr sz="2250" b="1">
                <a:solidFill>
                  <a:srgbClr val="2456A6"/>
                </a:solidFill>
                <a:latin typeface="Arial"/>
                <a:ea typeface="Arial"/>
                <a:cs typeface="Arial"/>
              </a:rPr>
              <a:t>Lê Nguyễn Quốc Thái</a:t>
            </a:r>
            <a:endParaRPr/>
          </a:p>
        </p:txBody>
      </p:sp>
      <p:sp>
        <p:nvSpPr>
          <p:cNvPr id="927927577" name="1. Cài đặt, chuẩn bị SUT và chạy smoke."/>
          <p:cNvSpPr>
            <a:spLocks noGrp="1"/>
          </p:cNvSpPr>
          <p:nvPr/>
        </p:nvSpPr>
        <p:spPr bwMode="auto">
          <a:xfrm>
            <a:off x="609600" y="2438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1. Cài đặt, chuẩn bị SUT và chạy smoke.</a:t>
            </a:r>
            <a:endParaRPr/>
          </a:p>
        </p:txBody>
      </p:sp>
      <p:sp>
        <p:nvSpPr>
          <p:cNvPr id="1748408239" name="2. Baseline với dữ liệu, token và checkpoints."/>
          <p:cNvSpPr>
            <a:spLocks noGrp="1"/>
          </p:cNvSpPr>
          <p:nvPr/>
        </p:nvSpPr>
        <p:spPr bwMode="auto">
          <a:xfrm>
            <a:off x="609600" y="3200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2. Baseline với dữ liệu, token và checkpoints.</a:t>
            </a:r>
            <a:endParaRPr/>
          </a:p>
        </p:txBody>
      </p:sp>
      <p:sp>
        <p:nvSpPr>
          <p:cNvPr id="564988147" name="3. Stress/spike, đọc kết quả và đối chiếu tuning."/>
          <p:cNvSpPr>
            <a:spLocks noGrp="1"/>
          </p:cNvSpPr>
          <p:nvPr/>
        </p:nvSpPr>
        <p:spPr bwMode="auto">
          <a:xfrm>
            <a:off x="609600" y="3962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3. Stress/spike, đọc kết quả và đối chiếu tuning.</a:t>
            </a:r>
            <a:endParaRPr/>
          </a:p>
        </p:txBody>
      </p:sp>
      <p:sp>
        <p:nvSpPr>
          <p:cNvPr id="1822174461" name="LINK_VIDEO_1"/>
          <p:cNvSpPr>
            <a:spLocks noGrp="1"/>
          </p:cNvSpPr>
          <p:nvPr/>
        </p:nvSpPr>
        <p:spPr bwMode="auto">
          <a:xfrm>
            <a:off x="609600" y="5181600"/>
            <a:ext cx="10972800" cy="495300"/>
          </a:xfrm>
          <a:prstGeom prst="rect">
            <a:avLst/>
          </a:prstGeom>
          <a:noFill/>
          <a:ln w="0">
            <a:noFill/>
          </a:ln>
        </p:spPr>
        <p:txBody>
          <a:bodyPr wrap="square" lIns="0" tIns="0" rIns="0" bIns="0">
            <a:noAutofit/>
          </a:bodyPr>
          <a:lstStyle>
            <a:defPPr>
              <a:defRPr sz="2100" b="1">
                <a:solidFill>
                  <a:srgbClr val="2456A6"/>
                </a:solidFill>
                <a:latin typeface="Arial"/>
                <a:ea typeface="Arial"/>
                <a:cs typeface="Arial"/>
              </a:defRPr>
            </a:defPPr>
            <a:lvl1pPr>
              <a:buNone/>
              <a:defRPr sz="2100" b="1">
                <a:solidFill>
                  <a:srgbClr val="2456A6"/>
                </a:solidFill>
                <a:latin typeface="Arial"/>
                <a:ea typeface="Arial"/>
                <a:cs typeface="Arial"/>
              </a:defRPr>
            </a:lvl1pPr>
            <a:lvl2pPr>
              <a:buNone/>
              <a:defRPr sz="2100" b="1">
                <a:solidFill>
                  <a:srgbClr val="2456A6"/>
                </a:solidFill>
                <a:latin typeface="Arial"/>
                <a:ea typeface="Arial"/>
                <a:cs typeface="Arial"/>
              </a:defRPr>
            </a:lvl2pPr>
            <a:lvl3pPr>
              <a:buNone/>
              <a:defRPr sz="2100" b="1">
                <a:solidFill>
                  <a:srgbClr val="2456A6"/>
                </a:solidFill>
                <a:latin typeface="Arial"/>
                <a:ea typeface="Arial"/>
                <a:cs typeface="Arial"/>
              </a:defRPr>
            </a:lvl3pPr>
            <a:lvl4pPr>
              <a:buNone/>
              <a:defRPr sz="2100" b="1">
                <a:solidFill>
                  <a:srgbClr val="2456A6"/>
                </a:solidFill>
                <a:latin typeface="Arial"/>
                <a:ea typeface="Arial"/>
                <a:cs typeface="Arial"/>
              </a:defRPr>
            </a:lvl4pPr>
            <a:lvl5pPr>
              <a:buNone/>
              <a:defRPr sz="2100" b="1">
                <a:solidFill>
                  <a:srgbClr val="2456A6"/>
                </a:solidFill>
                <a:latin typeface="Arial"/>
                <a:ea typeface="Arial"/>
                <a:cs typeface="Arial"/>
              </a:defRPr>
            </a:lvl5pPr>
            <a:lvl6pPr>
              <a:buNone/>
              <a:defRPr sz="2100" b="1">
                <a:solidFill>
                  <a:srgbClr val="2456A6"/>
                </a:solidFill>
                <a:latin typeface="Arial"/>
                <a:ea typeface="Arial"/>
                <a:cs typeface="Arial"/>
              </a:defRPr>
            </a:lvl6pPr>
            <a:lvl7pPr>
              <a:buNone/>
              <a:defRPr sz="2100" b="1">
                <a:solidFill>
                  <a:srgbClr val="2456A6"/>
                </a:solidFill>
                <a:latin typeface="Arial"/>
                <a:ea typeface="Arial"/>
                <a:cs typeface="Arial"/>
              </a:defRPr>
            </a:lvl7pPr>
            <a:lvl8pPr>
              <a:buNone/>
              <a:defRPr sz="2100" b="1">
                <a:solidFill>
                  <a:srgbClr val="2456A6"/>
                </a:solidFill>
                <a:latin typeface="Arial"/>
                <a:ea typeface="Arial"/>
                <a:cs typeface="Arial"/>
              </a:defRPr>
            </a:lvl8pPr>
            <a:lvl9pPr>
              <a:buNone/>
              <a:defRPr sz="2100" b="1">
                <a:solidFill>
                  <a:srgbClr val="2456A6"/>
                </a:solidFill>
                <a:latin typeface="Arial"/>
                <a:ea typeface="Arial"/>
                <a:cs typeface="Arial"/>
              </a:defRPr>
            </a:lvl9pPr>
          </a:lstStyle>
          <a:p>
            <a:pPr>
              <a:buNone/>
              <a:defRPr sz="2100" b="1">
                <a:solidFill>
                  <a:srgbClr val="2456A6"/>
                </a:solidFill>
                <a:latin typeface="Arial"/>
                <a:ea typeface="Arial"/>
                <a:cs typeface="Arial"/>
              </a:defRPr>
            </a:pPr>
            <a:r>
              <a:rPr sz="2100" b="1">
                <a:solidFill>
                  <a:srgbClr val="2456A6"/>
                </a:solidFill>
                <a:latin typeface="Arial"/>
                <a:ea typeface="Arial"/>
                <a:cs typeface="Arial"/>
              </a:rPr>
              <a:t>Link YouTube: </a:t>
            </a:r>
            <a:r>
              <a:rPr lang="en-US" sz="2100" b="1" i="0" u="none" strike="noStrike" cap="none" spc="0">
                <a:solidFill>
                  <a:srgbClr val="2456A6"/>
                </a:solidFill>
                <a:latin typeface="Arial"/>
                <a:ea typeface="Arial"/>
                <a:cs typeface="Arial"/>
              </a:rPr>
              <a:t>https://youtu.be/aF_gRp-tkxY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74364465" name="K6 / KẾT QUẢ"/>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K6 / KẾT QUẢ</a:t>
            </a:r>
            <a:endParaRPr/>
          </a:p>
        </p:txBody>
      </p:sp>
      <p:sp>
        <p:nvSpPr>
          <p:cNvPr id="1017686958" name="Baseline: tổng thể nhanh, Checkout chậm hơn"/>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Baseline: tổng thể nhanh, Checkout chậm hơn</a:t>
            </a:r>
            <a:endParaRPr/>
          </a:p>
        </p:txBody>
      </p:sp>
      <p:sp>
        <p:nvSpPr>
          <p:cNvPr id="291008191"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1537389350" name="42"/>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42</a:t>
            </a:r>
            <a:endParaRPr/>
          </a:p>
        </p:txBody>
      </p:sp>
      <p:pic>
        <p:nvPicPr>
          <p:cNvPr id="373025960" name=""/>
          <p:cNvPicPr>
            <a:picLocks noChangeAspect="1"/>
          </p:cNvPicPr>
          <p:nvPr/>
        </p:nvPicPr>
        <p:blipFill rotWithShape="1">
          <a:blip r:embed="rId3"/>
          <a:stretch/>
        </p:blipFill>
        <p:spPr bwMode="auto">
          <a:xfrm>
            <a:off x="523875" y="1977946"/>
            <a:ext cx="5429250" cy="2711609"/>
          </a:xfrm>
          <a:prstGeom prst="rect">
            <a:avLst/>
          </a:prstGeom>
        </p:spPr>
      </p:pic>
      <p:pic>
        <p:nvPicPr>
          <p:cNvPr id="432353442" name=""/>
          <p:cNvPicPr>
            <a:picLocks noChangeAspect="1"/>
          </p:cNvPicPr>
          <p:nvPr/>
        </p:nvPicPr>
        <p:blipFill rotWithShape="1">
          <a:blip r:embed="rId4"/>
          <a:stretch/>
        </p:blipFill>
        <p:spPr bwMode="auto">
          <a:xfrm>
            <a:off x="6096000" y="1942267"/>
            <a:ext cx="5572125" cy="2782967"/>
          </a:xfrm>
          <a:prstGeom prst="rect">
            <a:avLst/>
          </a:prstGeom>
        </p:spPr>
      </p:pic>
      <p:sp>
        <p:nvSpPr>
          <p:cNvPr id="76017634" name="50 VUs, steady 300 giây: 5.925 requests, 19,750 RPS, HTTP lỗi 0%. p95 "/>
          <p:cNvSpPr>
            <a:spLocks noGrp="1"/>
          </p:cNvSpPr>
          <p:nvPr/>
        </p:nvSpPr>
        <p:spPr bwMode="auto">
          <a:xfrm>
            <a:off x="609600" y="5210175"/>
            <a:ext cx="10972800" cy="74295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50 VUs, steady 300 giây: 5.925 requests, 19,750 RPS, HTTP lỗi 0%.</a:t>
            </a:r>
            <a:endParaRPr/>
          </a:p>
          <a:p>
            <a:pPr>
              <a:buNone/>
              <a:defRPr sz="2050" b="0">
                <a:solidFill>
                  <a:srgbClr val="151B23"/>
                </a:solidFill>
              </a:defRPr>
            </a:pPr>
            <a:r>
              <a:rPr sz="2050" b="0">
                <a:solidFill>
                  <a:srgbClr val="151B23"/>
                </a:solidFill>
              </a:rPr>
              <a:t>p95 tổng 8,122 ms. Checkout p95 16,006 ms, vẫn dưới ngưỡng 500 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55576211" name="K6 / KẾT QUẢ"/>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K6 / KẾT QUẢ</a:t>
            </a:r>
            <a:endParaRPr/>
          </a:p>
        </p:txBody>
      </p:sp>
      <p:sp>
        <p:nvSpPr>
          <p:cNvPr id="767852995" name="Stress và spike: tải cao làm chậm và tăng lỗi"/>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Stress và spike: tải cao làm chậm và tăng lỗi</a:t>
            </a:r>
            <a:endParaRPr/>
          </a:p>
        </p:txBody>
      </p:sp>
      <p:sp>
        <p:nvSpPr>
          <p:cNvPr id="1063147273"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555724700" name="43"/>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43</a:t>
            </a:r>
            <a:endParaRPr/>
          </a:p>
        </p:txBody>
      </p:sp>
      <p:pic>
        <p:nvPicPr>
          <p:cNvPr id="1043933682" name=""/>
          <p:cNvPicPr>
            <a:picLocks noChangeAspect="1"/>
          </p:cNvPicPr>
          <p:nvPr/>
        </p:nvPicPr>
        <p:blipFill rotWithShape="1">
          <a:blip r:embed="rId3"/>
          <a:stretch/>
        </p:blipFill>
        <p:spPr bwMode="auto">
          <a:xfrm>
            <a:off x="523875" y="2159331"/>
            <a:ext cx="5476875" cy="2205964"/>
          </a:xfrm>
          <a:prstGeom prst="rect">
            <a:avLst/>
          </a:prstGeom>
        </p:spPr>
      </p:pic>
      <p:pic>
        <p:nvPicPr>
          <p:cNvPr id="173961784" name=""/>
          <p:cNvPicPr>
            <a:picLocks noChangeAspect="1"/>
          </p:cNvPicPr>
          <p:nvPr/>
        </p:nvPicPr>
        <p:blipFill rotWithShape="1">
          <a:blip r:embed="rId4"/>
          <a:stretch/>
        </p:blipFill>
        <p:spPr bwMode="auto">
          <a:xfrm>
            <a:off x="6143625" y="2159331"/>
            <a:ext cx="5476875" cy="2205964"/>
          </a:xfrm>
          <a:prstGeom prst="rect">
            <a:avLst/>
          </a:prstGeom>
        </p:spPr>
      </p:pic>
      <p:sp>
        <p:nvSpPr>
          <p:cNvPr id="1154767170" name="Stress: bậc đầu fail 1.500 VUs. p95 5.380,45 ms, lỗi 2,659%. Các bậc c"/>
          <p:cNvSpPr>
            <a:spLocks noGrp="1"/>
          </p:cNvSpPr>
          <p:nvPr/>
        </p:nvSpPr>
        <p:spPr bwMode="auto">
          <a:xfrm>
            <a:off x="609600" y="5048250"/>
            <a:ext cx="5286375" cy="1009650"/>
          </a:xfrm>
          <a:prstGeom prst="rect">
            <a:avLst/>
          </a:prstGeom>
          <a:noFill/>
          <a:ln w="0">
            <a:noFill/>
          </a:ln>
        </p:spPr>
        <p:txBody>
          <a:bodyPr lIns="0" tIns="0" rIns="0" bIns="0"/>
          <a:lstStyle>
            <a:defPPr>
              <a:defRPr sz="1900" b="0">
                <a:solidFill>
                  <a:srgbClr val="151B23"/>
                </a:solidFill>
              </a:defRPr>
            </a:defPPr>
            <a:lvl1pPr>
              <a:buNone/>
              <a:defRPr sz="1900" b="0">
                <a:solidFill>
                  <a:srgbClr val="151B23"/>
                </a:solidFill>
              </a:defRPr>
            </a:lvl1pPr>
            <a:lvl2pPr>
              <a:buNone/>
              <a:defRPr sz="1900" b="0">
                <a:solidFill>
                  <a:srgbClr val="151B23"/>
                </a:solidFill>
              </a:defRPr>
            </a:lvl2pPr>
            <a:lvl3pPr>
              <a:buNone/>
              <a:defRPr sz="1900" b="0">
                <a:solidFill>
                  <a:srgbClr val="151B23"/>
                </a:solidFill>
              </a:defRPr>
            </a:lvl3pPr>
            <a:lvl4pPr>
              <a:buNone/>
              <a:defRPr sz="1900" b="0">
                <a:solidFill>
                  <a:srgbClr val="151B23"/>
                </a:solidFill>
              </a:defRPr>
            </a:lvl4pPr>
            <a:lvl5pPr>
              <a:buNone/>
              <a:defRPr sz="1900" b="0">
                <a:solidFill>
                  <a:srgbClr val="151B23"/>
                </a:solidFill>
              </a:defRPr>
            </a:lvl5pPr>
            <a:lvl6pPr>
              <a:buNone/>
              <a:defRPr sz="1900" b="0">
                <a:solidFill>
                  <a:srgbClr val="151B23"/>
                </a:solidFill>
              </a:defRPr>
            </a:lvl6pPr>
            <a:lvl7pPr>
              <a:buNone/>
              <a:defRPr sz="1900" b="0">
                <a:solidFill>
                  <a:srgbClr val="151B23"/>
                </a:solidFill>
              </a:defRPr>
            </a:lvl7pPr>
            <a:lvl8pPr>
              <a:buNone/>
              <a:defRPr sz="1900" b="0">
                <a:solidFill>
                  <a:srgbClr val="151B23"/>
                </a:solidFill>
              </a:defRPr>
            </a:lvl8pPr>
            <a:lvl9pPr>
              <a:buNone/>
              <a:defRPr sz="1900" b="0">
                <a:solidFill>
                  <a:srgbClr val="151B23"/>
                </a:solidFill>
              </a:defRPr>
            </a:lvl9pPr>
          </a:lstStyle>
          <a:p>
            <a:pPr>
              <a:buNone/>
              <a:defRPr sz="1900" b="0">
                <a:solidFill>
                  <a:srgbClr val="151B23"/>
                </a:solidFill>
              </a:defRPr>
            </a:pPr>
            <a:r>
              <a:rPr sz="1900" b="0">
                <a:solidFill>
                  <a:srgbClr val="151B23"/>
                </a:solidFill>
              </a:rPr>
              <a:t>Stress: bậc đầu fail 1.500 VUs.</a:t>
            </a:r>
            <a:endParaRPr/>
          </a:p>
          <a:p>
            <a:pPr>
              <a:buNone/>
              <a:defRPr sz="1900" b="0">
                <a:solidFill>
                  <a:srgbClr val="151B23"/>
                </a:solidFill>
              </a:defRPr>
            </a:pPr>
            <a:r>
              <a:rPr sz="1900" b="0">
                <a:solidFill>
                  <a:srgbClr val="151B23"/>
                </a:solidFill>
              </a:rPr>
              <a:t>p95 5.380,45 ms, lỗi 2,659%.</a:t>
            </a:r>
            <a:endParaRPr/>
          </a:p>
          <a:p>
            <a:pPr>
              <a:buNone/>
              <a:defRPr sz="1900" b="0">
                <a:solidFill>
                  <a:srgbClr val="151B23"/>
                </a:solidFill>
              </a:defRPr>
            </a:pPr>
            <a:r>
              <a:rPr sz="1900" b="0">
                <a:solidFill>
                  <a:srgbClr val="151B23"/>
                </a:solidFill>
              </a:rPr>
              <a:t>Các bậc cao hơn có đạt/lỗi xen kẽ.</a:t>
            </a:r>
            <a:endParaRPr/>
          </a:p>
        </p:txBody>
      </p:sp>
      <p:sp>
        <p:nvSpPr>
          <p:cNvPr id="1498891744" name="Spike: 50 lên 1.500 VUs tức thời. p95 5.344,45 ms, lỗi 1,486%. Về 50 V"/>
          <p:cNvSpPr>
            <a:spLocks noGrp="1"/>
          </p:cNvSpPr>
          <p:nvPr/>
        </p:nvSpPr>
        <p:spPr bwMode="auto">
          <a:xfrm>
            <a:off x="6191250" y="5048250"/>
            <a:ext cx="5286375" cy="1009650"/>
          </a:xfrm>
          <a:prstGeom prst="rect">
            <a:avLst/>
          </a:prstGeom>
          <a:noFill/>
          <a:ln w="0">
            <a:noFill/>
          </a:ln>
        </p:spPr>
        <p:txBody>
          <a:bodyPr lIns="0" tIns="0" rIns="0" bIns="0"/>
          <a:lstStyle>
            <a:defPPr>
              <a:defRPr sz="1900" b="0">
                <a:solidFill>
                  <a:srgbClr val="151B23"/>
                </a:solidFill>
              </a:defRPr>
            </a:defPPr>
            <a:lvl1pPr>
              <a:buNone/>
              <a:defRPr sz="1900" b="0">
                <a:solidFill>
                  <a:srgbClr val="151B23"/>
                </a:solidFill>
              </a:defRPr>
            </a:lvl1pPr>
            <a:lvl2pPr>
              <a:buNone/>
              <a:defRPr sz="1900" b="0">
                <a:solidFill>
                  <a:srgbClr val="151B23"/>
                </a:solidFill>
              </a:defRPr>
            </a:lvl2pPr>
            <a:lvl3pPr>
              <a:buNone/>
              <a:defRPr sz="1900" b="0">
                <a:solidFill>
                  <a:srgbClr val="151B23"/>
                </a:solidFill>
              </a:defRPr>
            </a:lvl3pPr>
            <a:lvl4pPr>
              <a:buNone/>
              <a:defRPr sz="1900" b="0">
                <a:solidFill>
                  <a:srgbClr val="151B23"/>
                </a:solidFill>
              </a:defRPr>
            </a:lvl4pPr>
            <a:lvl5pPr>
              <a:buNone/>
              <a:defRPr sz="1900" b="0">
                <a:solidFill>
                  <a:srgbClr val="151B23"/>
                </a:solidFill>
              </a:defRPr>
            </a:lvl5pPr>
            <a:lvl6pPr>
              <a:buNone/>
              <a:defRPr sz="1900" b="0">
                <a:solidFill>
                  <a:srgbClr val="151B23"/>
                </a:solidFill>
              </a:defRPr>
            </a:lvl6pPr>
            <a:lvl7pPr>
              <a:buNone/>
              <a:defRPr sz="1900" b="0">
                <a:solidFill>
                  <a:srgbClr val="151B23"/>
                </a:solidFill>
              </a:defRPr>
            </a:lvl7pPr>
            <a:lvl8pPr>
              <a:buNone/>
              <a:defRPr sz="1900" b="0">
                <a:solidFill>
                  <a:srgbClr val="151B23"/>
                </a:solidFill>
              </a:defRPr>
            </a:lvl8pPr>
            <a:lvl9pPr>
              <a:buNone/>
              <a:defRPr sz="1900" b="0">
                <a:solidFill>
                  <a:srgbClr val="151B23"/>
                </a:solidFill>
              </a:defRPr>
            </a:lvl9pPr>
          </a:lstStyle>
          <a:p>
            <a:pPr>
              <a:buNone/>
              <a:defRPr sz="1900" b="0">
                <a:solidFill>
                  <a:srgbClr val="151B23"/>
                </a:solidFill>
              </a:defRPr>
            </a:pPr>
            <a:r>
              <a:rPr sz="1900" b="0">
                <a:solidFill>
                  <a:srgbClr val="151B23"/>
                </a:solidFill>
              </a:rPr>
              <a:t>Spike: 50 lên 1.500 VUs tức thời.</a:t>
            </a:r>
            <a:endParaRPr/>
          </a:p>
          <a:p>
            <a:pPr>
              <a:buNone/>
              <a:defRPr sz="1900" b="0">
                <a:solidFill>
                  <a:srgbClr val="151B23"/>
                </a:solidFill>
              </a:defRPr>
            </a:pPr>
            <a:r>
              <a:rPr sz="1900" b="0">
                <a:solidFill>
                  <a:srgbClr val="151B23"/>
                </a:solidFill>
              </a:rPr>
              <a:t>p95 5.344,45 ms, lỗi 1,486%.</a:t>
            </a:r>
            <a:endParaRPr/>
          </a:p>
          <a:p>
            <a:pPr>
              <a:buNone/>
              <a:defRPr sz="1900" b="0">
                <a:solidFill>
                  <a:srgbClr val="151B23"/>
                </a:solidFill>
              </a:defRPr>
            </a:pPr>
            <a:r>
              <a:rPr sz="1900" b="0">
                <a:solidFill>
                  <a:srgbClr val="151B23"/>
                </a:solidFill>
              </a:rPr>
              <a:t>Về 50 VUs: p95 13,04 ms, lỗi 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82400124" name="K6 / TUNI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K6 / TUNING</a:t>
            </a:r>
            <a:endParaRPr/>
          </a:p>
        </p:txBody>
      </p:sp>
      <p:sp>
        <p:nvSpPr>
          <p:cNvPr id="1938701050" name="Baseline trước và sau cấu hình tuned"/>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Baseline trước và sau cấu hình tuned</a:t>
            </a:r>
            <a:endParaRPr/>
          </a:p>
        </p:txBody>
      </p:sp>
      <p:sp>
        <p:nvSpPr>
          <p:cNvPr id="70909557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118989920" name="22"/>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44</a:t>
            </a:r>
            <a:endParaRPr/>
          </a:p>
        </p:txBody>
      </p:sp>
      <p:graphicFrame>
        <p:nvGraphicFramePr>
          <p:cNvPr id="1472509588"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864870">
                <a:tc>
                  <a:txBody>
                    <a:bodyPr/>
                    <a:p>
                      <a:pPr>
                        <a:buNone/>
                        <a:defRPr/>
                      </a:pPr>
                      <a:r>
                        <a:rPr sz="1800" b="1">
                          <a:solidFill>
                            <a:srgbClr val="153E75"/>
                          </a:solidFill>
                          <a:latin typeface="Arial"/>
                          <a:ea typeface="Arial"/>
                          <a:cs typeface="Arial"/>
                        </a:rPr>
                        <a:t>Metric</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Trước tuning</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Sau tuning</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Steady requests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5.925</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5.942</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p95 / p99 (ms)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8,122 / 14,546</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6,328 / 10,586</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HTTP lỗi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0%</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0%</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RPS trong 300s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19,750</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19,807</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5258596" name="K6 / SO SÁNH TRƯỚC VÀ SAU"/>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K6 / SO SÁNH TRƯỚC VÀ SAU</a:t>
            </a:r>
            <a:endParaRPr/>
          </a:p>
        </p:txBody>
      </p:sp>
      <p:sp>
        <p:nvSpPr>
          <p:cNvPr id="753403975" name="Stress sau tuning: cải thiện đến bậc 2.600 VUs"/>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Stress sau tuning: cải thiện đến bậc 2.600 VUs</a:t>
            </a:r>
            <a:endParaRPr/>
          </a:p>
        </p:txBody>
      </p:sp>
      <p:sp>
        <p:nvSpPr>
          <p:cNvPr id="239372562"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1680026732" name="45"/>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45</a:t>
            </a:r>
            <a:endParaRPr/>
          </a:p>
        </p:txBody>
      </p:sp>
      <p:pic>
        <p:nvPicPr>
          <p:cNvPr id="775367465" name=""/>
          <p:cNvPicPr>
            <a:picLocks noChangeAspect="1"/>
          </p:cNvPicPr>
          <p:nvPr/>
        </p:nvPicPr>
        <p:blipFill rotWithShape="1">
          <a:blip r:embed="rId3"/>
          <a:srcRect l="0" t="0" r="0" b="66000"/>
          <a:stretch/>
        </p:blipFill>
        <p:spPr bwMode="auto">
          <a:xfrm>
            <a:off x="609600" y="1952625"/>
            <a:ext cx="6286500" cy="3333750"/>
          </a:xfrm>
          <a:prstGeom prst="rect">
            <a:avLst/>
          </a:prstGeom>
        </p:spPr>
      </p:pic>
      <p:sp>
        <p:nvSpPr>
          <p:cNvPr id="1917142613" name="Biểu đồ p95 theo VUs (trục log10)"/>
          <p:cNvSpPr>
            <a:spLocks noGrp="1"/>
          </p:cNvSpPr>
          <p:nvPr/>
        </p:nvSpPr>
        <p:spPr bwMode="auto">
          <a:xfrm>
            <a:off x="609600" y="5524500"/>
            <a:ext cx="6286500" cy="381000"/>
          </a:xfrm>
          <a:prstGeom prst="rect">
            <a:avLst/>
          </a:prstGeom>
          <a:noFill/>
          <a:ln w="0">
            <a:noFill/>
          </a:ln>
        </p:spPr>
        <p:txBody>
          <a:bodyPr lIns="0" tIns="0" rIns="0" bIns="0"/>
          <a:lstStyle>
            <a:defPPr>
              <a:defRPr sz="1650" b="0">
                <a:solidFill>
                  <a:srgbClr val="596471"/>
                </a:solidFill>
              </a:defRPr>
            </a:defPPr>
            <a:lvl1pPr>
              <a:buNone/>
              <a:defRPr sz="1650" b="0">
                <a:solidFill>
                  <a:srgbClr val="596471"/>
                </a:solidFill>
              </a:defRPr>
            </a:lvl1pPr>
            <a:lvl2pPr>
              <a:buNone/>
              <a:defRPr sz="1650" b="0">
                <a:solidFill>
                  <a:srgbClr val="596471"/>
                </a:solidFill>
              </a:defRPr>
            </a:lvl2pPr>
            <a:lvl3pPr>
              <a:buNone/>
              <a:defRPr sz="1650" b="0">
                <a:solidFill>
                  <a:srgbClr val="596471"/>
                </a:solidFill>
              </a:defRPr>
            </a:lvl3pPr>
            <a:lvl4pPr>
              <a:buNone/>
              <a:defRPr sz="1650" b="0">
                <a:solidFill>
                  <a:srgbClr val="596471"/>
                </a:solidFill>
              </a:defRPr>
            </a:lvl4pPr>
            <a:lvl5pPr>
              <a:buNone/>
              <a:defRPr sz="1650" b="0">
                <a:solidFill>
                  <a:srgbClr val="596471"/>
                </a:solidFill>
              </a:defRPr>
            </a:lvl5pPr>
            <a:lvl6pPr>
              <a:buNone/>
              <a:defRPr sz="1650" b="0">
                <a:solidFill>
                  <a:srgbClr val="596471"/>
                </a:solidFill>
              </a:defRPr>
            </a:lvl6pPr>
            <a:lvl7pPr>
              <a:buNone/>
              <a:defRPr sz="1650" b="0">
                <a:solidFill>
                  <a:srgbClr val="596471"/>
                </a:solidFill>
              </a:defRPr>
            </a:lvl7pPr>
            <a:lvl8pPr>
              <a:buNone/>
              <a:defRPr sz="1650" b="0">
                <a:solidFill>
                  <a:srgbClr val="596471"/>
                </a:solidFill>
              </a:defRPr>
            </a:lvl8pPr>
            <a:lvl9pPr>
              <a:buNone/>
              <a:defRPr sz="1650" b="0">
                <a:solidFill>
                  <a:srgbClr val="596471"/>
                </a:solidFill>
              </a:defRPr>
            </a:lvl9pPr>
          </a:lstStyle>
          <a:p>
            <a:pPr>
              <a:buNone/>
              <a:defRPr sz="1650" b="0">
                <a:solidFill>
                  <a:srgbClr val="596471"/>
                </a:solidFill>
              </a:defRPr>
            </a:pPr>
            <a:r>
              <a:rPr sz="1650" b="0">
                <a:solidFill>
                  <a:srgbClr val="596471"/>
                </a:solidFill>
              </a:rPr>
              <a:t>Biểu đồ p95 theo VUs (trục log10)</a:t>
            </a:r>
            <a:endParaRPr/>
          </a:p>
        </p:txBody>
      </p:sp>
      <p:sp>
        <p:nvSpPr>
          <p:cNvPr id="271268104" name="Bậc đầu vi phạm"/>
          <p:cNvSpPr>
            <a:spLocks noGrp="1"/>
          </p:cNvSpPr>
          <p:nvPr/>
        </p:nvSpPr>
        <p:spPr bwMode="auto">
          <a:xfrm>
            <a:off x="7334250" y="1885950"/>
            <a:ext cx="4095750" cy="333375"/>
          </a:xfrm>
          <a:prstGeom prst="rect">
            <a:avLst/>
          </a:prstGeom>
          <a:noFill/>
          <a:ln w="0">
            <a:noFill/>
          </a:ln>
        </p:spPr>
        <p:txBody>
          <a:bodyPr lIns="0" tIns="0" rIns="0" bIns="0"/>
          <a:lstStyle>
            <a:defPPr>
              <a:defRPr sz="2100" b="1">
                <a:solidFill>
                  <a:srgbClr val="2456A6"/>
                </a:solidFill>
              </a:defRPr>
            </a:defPPr>
            <a:lvl1pPr>
              <a:buNone/>
              <a:defRPr sz="2100" b="1">
                <a:solidFill>
                  <a:srgbClr val="2456A6"/>
                </a:solidFill>
              </a:defRPr>
            </a:lvl1pPr>
            <a:lvl2pPr>
              <a:buNone/>
              <a:defRPr sz="2100" b="1">
                <a:solidFill>
                  <a:srgbClr val="2456A6"/>
                </a:solidFill>
              </a:defRPr>
            </a:lvl2pPr>
            <a:lvl3pPr>
              <a:buNone/>
              <a:defRPr sz="2100" b="1">
                <a:solidFill>
                  <a:srgbClr val="2456A6"/>
                </a:solidFill>
              </a:defRPr>
            </a:lvl3pPr>
            <a:lvl4pPr>
              <a:buNone/>
              <a:defRPr sz="2100" b="1">
                <a:solidFill>
                  <a:srgbClr val="2456A6"/>
                </a:solidFill>
              </a:defRPr>
            </a:lvl4pPr>
            <a:lvl5pPr>
              <a:buNone/>
              <a:defRPr sz="2100" b="1">
                <a:solidFill>
                  <a:srgbClr val="2456A6"/>
                </a:solidFill>
              </a:defRPr>
            </a:lvl5pPr>
            <a:lvl6pPr>
              <a:buNone/>
              <a:defRPr sz="2100" b="1">
                <a:solidFill>
                  <a:srgbClr val="2456A6"/>
                </a:solidFill>
              </a:defRPr>
            </a:lvl6pPr>
            <a:lvl7pPr>
              <a:buNone/>
              <a:defRPr sz="2100" b="1">
                <a:solidFill>
                  <a:srgbClr val="2456A6"/>
                </a:solidFill>
              </a:defRPr>
            </a:lvl7pPr>
            <a:lvl8pPr>
              <a:buNone/>
              <a:defRPr sz="2100" b="1">
                <a:solidFill>
                  <a:srgbClr val="2456A6"/>
                </a:solidFill>
              </a:defRPr>
            </a:lvl8pPr>
            <a:lvl9pPr>
              <a:buNone/>
              <a:defRPr sz="2100" b="1">
                <a:solidFill>
                  <a:srgbClr val="2456A6"/>
                </a:solidFill>
              </a:defRPr>
            </a:lvl9pPr>
          </a:lstStyle>
          <a:p>
            <a:pPr>
              <a:buNone/>
              <a:defRPr sz="2100" b="1">
                <a:solidFill>
                  <a:srgbClr val="2456A6"/>
                </a:solidFill>
              </a:defRPr>
            </a:pPr>
            <a:r>
              <a:rPr sz="2100" b="1">
                <a:solidFill>
                  <a:srgbClr val="2456A6"/>
                </a:solidFill>
              </a:rPr>
              <a:t>Bậc đầu vi phạm</a:t>
            </a:r>
            <a:endParaRPr/>
          </a:p>
        </p:txBody>
      </p:sp>
      <p:sp>
        <p:nvSpPr>
          <p:cNvPr id="1911628702" name="Trước: 1.500 VUs Sau: 2.800 VUs"/>
          <p:cNvSpPr>
            <a:spLocks noGrp="1"/>
          </p:cNvSpPr>
          <p:nvPr/>
        </p:nvSpPr>
        <p:spPr bwMode="auto">
          <a:xfrm>
            <a:off x="7334250" y="2333625"/>
            <a:ext cx="4095750" cy="857250"/>
          </a:xfrm>
          <a:prstGeom prst="rect">
            <a:avLst/>
          </a:prstGeom>
          <a:noFill/>
          <a:ln w="0">
            <a:noFill/>
          </a:ln>
        </p:spPr>
        <p:txBody>
          <a:bodyPr lIns="0" tIns="0" rIns="0" bIns="0"/>
          <a:lstStyle>
            <a:defPPr>
              <a:defRPr sz="2200" b="0">
                <a:solidFill>
                  <a:srgbClr val="151B23"/>
                </a:solidFill>
              </a:defRPr>
            </a:defPPr>
            <a:lvl1pPr>
              <a:buNone/>
              <a:defRPr sz="2200" b="0">
                <a:solidFill>
                  <a:srgbClr val="151B23"/>
                </a:solidFill>
              </a:defRPr>
            </a:lvl1pPr>
            <a:lvl2pPr>
              <a:buNone/>
              <a:defRPr sz="2200" b="0">
                <a:solidFill>
                  <a:srgbClr val="151B23"/>
                </a:solidFill>
              </a:defRPr>
            </a:lvl2pPr>
            <a:lvl3pPr>
              <a:buNone/>
              <a:defRPr sz="2200" b="0">
                <a:solidFill>
                  <a:srgbClr val="151B23"/>
                </a:solidFill>
              </a:defRPr>
            </a:lvl3pPr>
            <a:lvl4pPr>
              <a:buNone/>
              <a:defRPr sz="2200" b="0">
                <a:solidFill>
                  <a:srgbClr val="151B23"/>
                </a:solidFill>
              </a:defRPr>
            </a:lvl4pPr>
            <a:lvl5pPr>
              <a:buNone/>
              <a:defRPr sz="2200" b="0">
                <a:solidFill>
                  <a:srgbClr val="151B23"/>
                </a:solidFill>
              </a:defRPr>
            </a:lvl5pPr>
            <a:lvl6pPr>
              <a:buNone/>
              <a:defRPr sz="2200" b="0">
                <a:solidFill>
                  <a:srgbClr val="151B23"/>
                </a:solidFill>
              </a:defRPr>
            </a:lvl6pPr>
            <a:lvl7pPr>
              <a:buNone/>
              <a:defRPr sz="2200" b="0">
                <a:solidFill>
                  <a:srgbClr val="151B23"/>
                </a:solidFill>
              </a:defRPr>
            </a:lvl7pPr>
            <a:lvl8pPr>
              <a:buNone/>
              <a:defRPr sz="2200" b="0">
                <a:solidFill>
                  <a:srgbClr val="151B23"/>
                </a:solidFill>
              </a:defRPr>
            </a:lvl8pPr>
            <a:lvl9pPr>
              <a:buNone/>
              <a:defRPr sz="2200" b="0">
                <a:solidFill>
                  <a:srgbClr val="151B23"/>
                </a:solidFill>
              </a:defRPr>
            </a:lvl9pPr>
          </a:lstStyle>
          <a:p>
            <a:pPr>
              <a:buNone/>
              <a:defRPr sz="2200" b="0">
                <a:solidFill>
                  <a:srgbClr val="151B23"/>
                </a:solidFill>
              </a:defRPr>
            </a:pPr>
            <a:r>
              <a:rPr sz="2200" b="0">
                <a:solidFill>
                  <a:srgbClr val="151B23"/>
                </a:solidFill>
              </a:rPr>
              <a:t>Trước: 1.500 VUs</a:t>
            </a:r>
            <a:endParaRPr/>
          </a:p>
          <a:p>
            <a:pPr>
              <a:buNone/>
              <a:defRPr sz="2200" b="0">
                <a:solidFill>
                  <a:srgbClr val="151B23"/>
                </a:solidFill>
              </a:defRPr>
            </a:pPr>
            <a:r>
              <a:rPr sz="2200" b="0">
                <a:solidFill>
                  <a:srgbClr val="151B23"/>
                </a:solidFill>
              </a:rPr>
              <a:t>Sau: 2.800 VUs</a:t>
            </a:r>
            <a:endParaRPr/>
          </a:p>
        </p:txBody>
      </p:sp>
      <p:sp>
        <p:nvSpPr>
          <p:cNvPr id="1513581048" name="Ở 2.800 VUs sau tuning"/>
          <p:cNvSpPr>
            <a:spLocks noGrp="1"/>
          </p:cNvSpPr>
          <p:nvPr/>
        </p:nvSpPr>
        <p:spPr bwMode="auto">
          <a:xfrm>
            <a:off x="7334250" y="3457575"/>
            <a:ext cx="4095750" cy="333375"/>
          </a:xfrm>
          <a:prstGeom prst="rect">
            <a:avLst/>
          </a:prstGeom>
          <a:noFill/>
          <a:ln w="0">
            <a:noFill/>
          </a:ln>
        </p:spPr>
        <p:txBody>
          <a:bodyPr lIns="0" tIns="0" rIns="0" bIns="0"/>
          <a:lstStyle>
            <a:defPPr>
              <a:defRPr sz="1950" b="1">
                <a:solidFill>
                  <a:srgbClr val="2456A6"/>
                </a:solidFill>
              </a:defRPr>
            </a:defPPr>
            <a:lvl1pPr>
              <a:buNone/>
              <a:defRPr sz="1950" b="1">
                <a:solidFill>
                  <a:srgbClr val="2456A6"/>
                </a:solidFill>
              </a:defRPr>
            </a:lvl1pPr>
            <a:lvl2pPr>
              <a:buNone/>
              <a:defRPr sz="1950" b="1">
                <a:solidFill>
                  <a:srgbClr val="2456A6"/>
                </a:solidFill>
              </a:defRPr>
            </a:lvl2pPr>
            <a:lvl3pPr>
              <a:buNone/>
              <a:defRPr sz="1950" b="1">
                <a:solidFill>
                  <a:srgbClr val="2456A6"/>
                </a:solidFill>
              </a:defRPr>
            </a:lvl3pPr>
            <a:lvl4pPr>
              <a:buNone/>
              <a:defRPr sz="1950" b="1">
                <a:solidFill>
                  <a:srgbClr val="2456A6"/>
                </a:solidFill>
              </a:defRPr>
            </a:lvl4pPr>
            <a:lvl5pPr>
              <a:buNone/>
              <a:defRPr sz="1950" b="1">
                <a:solidFill>
                  <a:srgbClr val="2456A6"/>
                </a:solidFill>
              </a:defRPr>
            </a:lvl5pPr>
            <a:lvl6pPr>
              <a:buNone/>
              <a:defRPr sz="1950" b="1">
                <a:solidFill>
                  <a:srgbClr val="2456A6"/>
                </a:solidFill>
              </a:defRPr>
            </a:lvl6pPr>
            <a:lvl7pPr>
              <a:buNone/>
              <a:defRPr sz="1950" b="1">
                <a:solidFill>
                  <a:srgbClr val="2456A6"/>
                </a:solidFill>
              </a:defRPr>
            </a:lvl7pPr>
            <a:lvl8pPr>
              <a:buNone/>
              <a:defRPr sz="1950" b="1">
                <a:solidFill>
                  <a:srgbClr val="2456A6"/>
                </a:solidFill>
              </a:defRPr>
            </a:lvl8pPr>
            <a:lvl9pPr>
              <a:buNone/>
              <a:defRPr sz="1950" b="1">
                <a:solidFill>
                  <a:srgbClr val="2456A6"/>
                </a:solidFill>
              </a:defRPr>
            </a:lvl9pPr>
          </a:lstStyle>
          <a:p>
            <a:pPr>
              <a:buNone/>
              <a:defRPr sz="1950" b="1">
                <a:solidFill>
                  <a:srgbClr val="2456A6"/>
                </a:solidFill>
              </a:defRPr>
            </a:pPr>
            <a:r>
              <a:rPr sz="1950" b="1">
                <a:solidFill>
                  <a:srgbClr val="2456A6"/>
                </a:solidFill>
              </a:rPr>
              <a:t>Ở 2.800 VUs sau tuning</a:t>
            </a:r>
            <a:endParaRPr/>
          </a:p>
        </p:txBody>
      </p:sp>
      <p:sp>
        <p:nvSpPr>
          <p:cNvPr id="1743274361" name="p95 5.288,187 ms HTTP lỗi 0,596% Vẫn fail vì p95 &gt; 500 ms."/>
          <p:cNvSpPr>
            <a:spLocks noGrp="1"/>
          </p:cNvSpPr>
          <p:nvPr/>
        </p:nvSpPr>
        <p:spPr bwMode="auto">
          <a:xfrm>
            <a:off x="7334250" y="3886200"/>
            <a:ext cx="4095750" cy="109537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p95 5.288,187 ms</a:t>
            </a:r>
            <a:endParaRPr/>
          </a:p>
          <a:p>
            <a:pPr>
              <a:buNone/>
              <a:defRPr sz="2050" b="0">
                <a:solidFill>
                  <a:srgbClr val="151B23"/>
                </a:solidFill>
              </a:defRPr>
            </a:pPr>
            <a:r>
              <a:rPr sz="2050" b="0">
                <a:solidFill>
                  <a:srgbClr val="151B23"/>
                </a:solidFill>
              </a:rPr>
              <a:t>HTTP lỗi 0,596%</a:t>
            </a:r>
            <a:endParaRPr/>
          </a:p>
          <a:p>
            <a:pPr>
              <a:buNone/>
              <a:defRPr sz="2050" b="0">
                <a:solidFill>
                  <a:srgbClr val="151B23"/>
                </a:solidFill>
              </a:defRPr>
            </a:pPr>
            <a:r>
              <a:rPr sz="2050" b="0">
                <a:solidFill>
                  <a:srgbClr val="151B23"/>
                </a:solidFill>
              </a:rPr>
              <a:t>Vẫn fail vì p95 &gt; 500 ms.</a:t>
            </a:r>
            <a:endParaRPr/>
          </a:p>
        </p:txBody>
      </p:sp>
      <p:sp>
        <p:nvSpPr>
          <p:cNvPr id="715553990" name="Mỗi cấu hình mới có một run. Chưa tách tác dụng WAL/index."/>
          <p:cNvSpPr>
            <a:spLocks noGrp="1"/>
          </p:cNvSpPr>
          <p:nvPr/>
        </p:nvSpPr>
        <p:spPr bwMode="auto">
          <a:xfrm>
            <a:off x="7334250" y="5324475"/>
            <a:ext cx="4095750" cy="714375"/>
          </a:xfrm>
          <a:prstGeom prst="rect">
            <a:avLst/>
          </a:prstGeom>
          <a:noFill/>
          <a:ln w="0">
            <a:noFill/>
          </a:ln>
        </p:spPr>
        <p:txBody>
          <a:bodyPr lIns="0" tIns="0" rIns="0" bIns="0"/>
          <a:lstStyle>
            <a:defPPr>
              <a:defRPr sz="1800" b="0">
                <a:solidFill>
                  <a:srgbClr val="151B23"/>
                </a:solidFill>
              </a:defRPr>
            </a:defPPr>
            <a:lvl1pPr>
              <a:buNone/>
              <a:defRPr sz="1800" b="0">
                <a:solidFill>
                  <a:srgbClr val="151B23"/>
                </a:solidFill>
              </a:defRPr>
            </a:lvl1pPr>
            <a:lvl2pPr>
              <a:buNone/>
              <a:defRPr sz="1800" b="0">
                <a:solidFill>
                  <a:srgbClr val="151B23"/>
                </a:solidFill>
              </a:defRPr>
            </a:lvl2pPr>
            <a:lvl3pPr>
              <a:buNone/>
              <a:defRPr sz="1800" b="0">
                <a:solidFill>
                  <a:srgbClr val="151B23"/>
                </a:solidFill>
              </a:defRPr>
            </a:lvl3pPr>
            <a:lvl4pPr>
              <a:buNone/>
              <a:defRPr sz="1800" b="0">
                <a:solidFill>
                  <a:srgbClr val="151B23"/>
                </a:solidFill>
              </a:defRPr>
            </a:lvl4pPr>
            <a:lvl5pPr>
              <a:buNone/>
              <a:defRPr sz="1800" b="0">
                <a:solidFill>
                  <a:srgbClr val="151B23"/>
                </a:solidFill>
              </a:defRPr>
            </a:lvl5pPr>
            <a:lvl6pPr>
              <a:buNone/>
              <a:defRPr sz="1800" b="0">
                <a:solidFill>
                  <a:srgbClr val="151B23"/>
                </a:solidFill>
              </a:defRPr>
            </a:lvl6pPr>
            <a:lvl7pPr>
              <a:buNone/>
              <a:defRPr sz="1800" b="0">
                <a:solidFill>
                  <a:srgbClr val="151B23"/>
                </a:solidFill>
              </a:defRPr>
            </a:lvl7pPr>
            <a:lvl8pPr>
              <a:buNone/>
              <a:defRPr sz="1800" b="0">
                <a:solidFill>
                  <a:srgbClr val="151B23"/>
                </a:solidFill>
              </a:defRPr>
            </a:lvl8pPr>
            <a:lvl9pPr>
              <a:buNone/>
              <a:defRPr sz="1800" b="0">
                <a:solidFill>
                  <a:srgbClr val="151B23"/>
                </a:solidFill>
              </a:defRPr>
            </a:lvl9pPr>
          </a:lstStyle>
          <a:p>
            <a:pPr>
              <a:buNone/>
              <a:defRPr sz="1800" b="0">
                <a:solidFill>
                  <a:srgbClr val="151B23"/>
                </a:solidFill>
              </a:defRPr>
            </a:pPr>
            <a:r>
              <a:rPr sz="1800" b="0">
                <a:solidFill>
                  <a:srgbClr val="151B23"/>
                </a:solidFill>
              </a:rPr>
              <a:t>Mỗi cấu hình mới có một run.</a:t>
            </a:r>
            <a:endParaRPr/>
          </a:p>
          <a:p>
            <a:pPr>
              <a:buNone/>
              <a:defRPr sz="1800" b="0">
                <a:solidFill>
                  <a:srgbClr val="151B23"/>
                </a:solidFill>
              </a:defRPr>
            </a:pPr>
            <a:r>
              <a:rPr sz="1800" b="0">
                <a:solidFill>
                  <a:srgbClr val="151B23"/>
                </a:solidFill>
              </a:rPr>
              <a:t>Chưa tách tác dụng WAL/index.</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3283175" name="K6 / SO SÁNH TRƯỚC VÀ SAU"/>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K6 / SO SÁNH TRƯỚC VÀ SAU</a:t>
            </a:r>
            <a:endParaRPr/>
          </a:p>
        </p:txBody>
      </p:sp>
      <p:sp>
        <p:nvSpPr>
          <p:cNvPr id="1027077513" name="Spike sau tuning: đỉnh tải đạt các ngưỡng"/>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Spike sau tuning: đỉnh tải đạt các ngưỡng</a:t>
            </a:r>
            <a:endParaRPr/>
          </a:p>
        </p:txBody>
      </p:sp>
      <p:sp>
        <p:nvSpPr>
          <p:cNvPr id="369274490"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1780363117" name="46"/>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46</a:t>
            </a:r>
            <a:endParaRPr/>
          </a:p>
        </p:txBody>
      </p:sp>
      <p:pic>
        <p:nvPicPr>
          <p:cNvPr id="1007807597" name=""/>
          <p:cNvPicPr>
            <a:picLocks noChangeAspect="1"/>
          </p:cNvPicPr>
          <p:nvPr/>
        </p:nvPicPr>
        <p:blipFill rotWithShape="1">
          <a:blip r:embed="rId3"/>
          <a:srcRect l="0" t="0" r="0" b="66000"/>
          <a:stretch/>
        </p:blipFill>
        <p:spPr bwMode="auto">
          <a:xfrm>
            <a:off x="609600" y="1952625"/>
            <a:ext cx="6286500" cy="3333750"/>
          </a:xfrm>
          <a:prstGeom prst="rect">
            <a:avLst/>
          </a:prstGeom>
        </p:spPr>
      </p:pic>
      <p:sp>
        <p:nvSpPr>
          <p:cNvPr id="866698608" name="Biểu đồ p95 theo giai đoạn (trục log10)"/>
          <p:cNvSpPr>
            <a:spLocks noGrp="1"/>
          </p:cNvSpPr>
          <p:nvPr/>
        </p:nvSpPr>
        <p:spPr bwMode="auto">
          <a:xfrm>
            <a:off x="609600" y="5524500"/>
            <a:ext cx="6286500" cy="381000"/>
          </a:xfrm>
          <a:prstGeom prst="rect">
            <a:avLst/>
          </a:prstGeom>
          <a:noFill/>
          <a:ln w="0">
            <a:noFill/>
          </a:ln>
        </p:spPr>
        <p:txBody>
          <a:bodyPr lIns="0" tIns="0" rIns="0" bIns="0"/>
          <a:lstStyle>
            <a:defPPr>
              <a:defRPr sz="1650" b="0">
                <a:solidFill>
                  <a:srgbClr val="596471"/>
                </a:solidFill>
              </a:defRPr>
            </a:defPPr>
            <a:lvl1pPr>
              <a:buNone/>
              <a:defRPr sz="1650" b="0">
                <a:solidFill>
                  <a:srgbClr val="596471"/>
                </a:solidFill>
              </a:defRPr>
            </a:lvl1pPr>
            <a:lvl2pPr>
              <a:buNone/>
              <a:defRPr sz="1650" b="0">
                <a:solidFill>
                  <a:srgbClr val="596471"/>
                </a:solidFill>
              </a:defRPr>
            </a:lvl2pPr>
            <a:lvl3pPr>
              <a:buNone/>
              <a:defRPr sz="1650" b="0">
                <a:solidFill>
                  <a:srgbClr val="596471"/>
                </a:solidFill>
              </a:defRPr>
            </a:lvl3pPr>
            <a:lvl4pPr>
              <a:buNone/>
              <a:defRPr sz="1650" b="0">
                <a:solidFill>
                  <a:srgbClr val="596471"/>
                </a:solidFill>
              </a:defRPr>
            </a:lvl4pPr>
            <a:lvl5pPr>
              <a:buNone/>
              <a:defRPr sz="1650" b="0">
                <a:solidFill>
                  <a:srgbClr val="596471"/>
                </a:solidFill>
              </a:defRPr>
            </a:lvl5pPr>
            <a:lvl6pPr>
              <a:buNone/>
              <a:defRPr sz="1650" b="0">
                <a:solidFill>
                  <a:srgbClr val="596471"/>
                </a:solidFill>
              </a:defRPr>
            </a:lvl6pPr>
            <a:lvl7pPr>
              <a:buNone/>
              <a:defRPr sz="1650" b="0">
                <a:solidFill>
                  <a:srgbClr val="596471"/>
                </a:solidFill>
              </a:defRPr>
            </a:lvl7pPr>
            <a:lvl8pPr>
              <a:buNone/>
              <a:defRPr sz="1650" b="0">
                <a:solidFill>
                  <a:srgbClr val="596471"/>
                </a:solidFill>
              </a:defRPr>
            </a:lvl8pPr>
            <a:lvl9pPr>
              <a:buNone/>
              <a:defRPr sz="1650" b="0">
                <a:solidFill>
                  <a:srgbClr val="596471"/>
                </a:solidFill>
              </a:defRPr>
            </a:lvl9pPr>
          </a:lstStyle>
          <a:p>
            <a:pPr>
              <a:buNone/>
              <a:defRPr sz="1650" b="0">
                <a:solidFill>
                  <a:srgbClr val="596471"/>
                </a:solidFill>
              </a:defRPr>
            </a:pPr>
            <a:r>
              <a:rPr sz="1650" b="0">
                <a:solidFill>
                  <a:srgbClr val="596471"/>
                </a:solidFill>
              </a:rPr>
              <a:t>Biểu đồ p95 theo giai đoạn (trục log10)</a:t>
            </a:r>
            <a:endParaRPr/>
          </a:p>
        </p:txBody>
      </p:sp>
      <p:sp>
        <p:nvSpPr>
          <p:cNvPr id="135651568" name="Cùng đỉnh 1.500 VUs"/>
          <p:cNvSpPr>
            <a:spLocks noGrp="1"/>
          </p:cNvSpPr>
          <p:nvPr/>
        </p:nvSpPr>
        <p:spPr bwMode="auto">
          <a:xfrm>
            <a:off x="7334250" y="1885950"/>
            <a:ext cx="4095750" cy="333375"/>
          </a:xfrm>
          <a:prstGeom prst="rect">
            <a:avLst/>
          </a:prstGeom>
          <a:noFill/>
          <a:ln w="0">
            <a:noFill/>
          </a:ln>
        </p:spPr>
        <p:txBody>
          <a:bodyPr lIns="0" tIns="0" rIns="0" bIns="0"/>
          <a:lstStyle>
            <a:defPPr>
              <a:defRPr sz="2100" b="1">
                <a:solidFill>
                  <a:srgbClr val="2456A6"/>
                </a:solidFill>
              </a:defRPr>
            </a:defPPr>
            <a:lvl1pPr>
              <a:buNone/>
              <a:defRPr sz="2100" b="1">
                <a:solidFill>
                  <a:srgbClr val="2456A6"/>
                </a:solidFill>
              </a:defRPr>
            </a:lvl1pPr>
            <a:lvl2pPr>
              <a:buNone/>
              <a:defRPr sz="2100" b="1">
                <a:solidFill>
                  <a:srgbClr val="2456A6"/>
                </a:solidFill>
              </a:defRPr>
            </a:lvl2pPr>
            <a:lvl3pPr>
              <a:buNone/>
              <a:defRPr sz="2100" b="1">
                <a:solidFill>
                  <a:srgbClr val="2456A6"/>
                </a:solidFill>
              </a:defRPr>
            </a:lvl3pPr>
            <a:lvl4pPr>
              <a:buNone/>
              <a:defRPr sz="2100" b="1">
                <a:solidFill>
                  <a:srgbClr val="2456A6"/>
                </a:solidFill>
              </a:defRPr>
            </a:lvl4pPr>
            <a:lvl5pPr>
              <a:buNone/>
              <a:defRPr sz="2100" b="1">
                <a:solidFill>
                  <a:srgbClr val="2456A6"/>
                </a:solidFill>
              </a:defRPr>
            </a:lvl5pPr>
            <a:lvl6pPr>
              <a:buNone/>
              <a:defRPr sz="2100" b="1">
                <a:solidFill>
                  <a:srgbClr val="2456A6"/>
                </a:solidFill>
              </a:defRPr>
            </a:lvl6pPr>
            <a:lvl7pPr>
              <a:buNone/>
              <a:defRPr sz="2100" b="1">
                <a:solidFill>
                  <a:srgbClr val="2456A6"/>
                </a:solidFill>
              </a:defRPr>
            </a:lvl7pPr>
            <a:lvl8pPr>
              <a:buNone/>
              <a:defRPr sz="2100" b="1">
                <a:solidFill>
                  <a:srgbClr val="2456A6"/>
                </a:solidFill>
              </a:defRPr>
            </a:lvl8pPr>
            <a:lvl9pPr>
              <a:buNone/>
              <a:defRPr sz="2100" b="1">
                <a:solidFill>
                  <a:srgbClr val="2456A6"/>
                </a:solidFill>
              </a:defRPr>
            </a:lvl9pPr>
          </a:lstStyle>
          <a:p>
            <a:pPr>
              <a:buNone/>
              <a:defRPr sz="2100" b="1">
                <a:solidFill>
                  <a:srgbClr val="2456A6"/>
                </a:solidFill>
              </a:defRPr>
            </a:pPr>
            <a:r>
              <a:rPr sz="2100" b="1">
                <a:solidFill>
                  <a:srgbClr val="2456A6"/>
                </a:solidFill>
              </a:rPr>
              <a:t>Cùng đỉnh 1.500 VUs</a:t>
            </a:r>
            <a:endParaRPr/>
          </a:p>
        </p:txBody>
      </p:sp>
      <p:sp>
        <p:nvSpPr>
          <p:cNvPr id="1343977356" name="p95: 5.344,455 ms xuống 6,849 ms HTTP lỗi: 1,486% xuống 0%"/>
          <p:cNvSpPr>
            <a:spLocks noGrp="1"/>
          </p:cNvSpPr>
          <p:nvPr/>
        </p:nvSpPr>
        <p:spPr bwMode="auto">
          <a:xfrm>
            <a:off x="7334250" y="2371725"/>
            <a:ext cx="4095750" cy="119062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p95: 5.344,455 ms</a:t>
            </a:r>
            <a:endParaRPr/>
          </a:p>
          <a:p>
            <a:pPr>
              <a:buNone/>
              <a:defRPr sz="2050" b="0">
                <a:solidFill>
                  <a:srgbClr val="151B23"/>
                </a:solidFill>
              </a:defRPr>
            </a:pPr>
            <a:r>
              <a:rPr sz="2050" b="0">
                <a:solidFill>
                  <a:srgbClr val="151B23"/>
                </a:solidFill>
              </a:rPr>
              <a:t>xuống 6,849 ms</a:t>
            </a:r>
            <a:endParaRPr/>
          </a:p>
          <a:p>
            <a:pPr>
              <a:buNone/>
              <a:defRPr sz="2050" b="0">
                <a:solidFill>
                  <a:srgbClr val="151B23"/>
                </a:solidFill>
              </a:defRPr>
            </a:pPr>
            <a:r>
              <a:rPr sz="2050" b="0">
                <a:solidFill>
                  <a:srgbClr val="151B23"/>
                </a:solidFill>
              </a:rPr>
              <a:t>HTTP lỗi: 1,486% xuống 0%</a:t>
            </a:r>
            <a:endParaRPr/>
          </a:p>
        </p:txBody>
      </p:sp>
      <p:sp>
        <p:nvSpPr>
          <p:cNvPr id="887419211" name="Kết quả toàn bài"/>
          <p:cNvSpPr>
            <a:spLocks noGrp="1"/>
          </p:cNvSpPr>
          <p:nvPr/>
        </p:nvSpPr>
        <p:spPr bwMode="auto">
          <a:xfrm>
            <a:off x="7334250" y="3943350"/>
            <a:ext cx="4095750" cy="333375"/>
          </a:xfrm>
          <a:prstGeom prst="rect">
            <a:avLst/>
          </a:prstGeom>
          <a:noFill/>
          <a:ln w="0">
            <a:noFill/>
          </a:ln>
        </p:spPr>
        <p:txBody>
          <a:bodyPr lIns="0" tIns="0" rIns="0" bIns="0"/>
          <a:lstStyle>
            <a:defPPr>
              <a:defRPr sz="2100" b="1">
                <a:solidFill>
                  <a:srgbClr val="2456A6"/>
                </a:solidFill>
              </a:defRPr>
            </a:defPPr>
            <a:lvl1pPr>
              <a:buNone/>
              <a:defRPr sz="2100" b="1">
                <a:solidFill>
                  <a:srgbClr val="2456A6"/>
                </a:solidFill>
              </a:defRPr>
            </a:lvl1pPr>
            <a:lvl2pPr>
              <a:buNone/>
              <a:defRPr sz="2100" b="1">
                <a:solidFill>
                  <a:srgbClr val="2456A6"/>
                </a:solidFill>
              </a:defRPr>
            </a:lvl2pPr>
            <a:lvl3pPr>
              <a:buNone/>
              <a:defRPr sz="2100" b="1">
                <a:solidFill>
                  <a:srgbClr val="2456A6"/>
                </a:solidFill>
              </a:defRPr>
            </a:lvl3pPr>
            <a:lvl4pPr>
              <a:buNone/>
              <a:defRPr sz="2100" b="1">
                <a:solidFill>
                  <a:srgbClr val="2456A6"/>
                </a:solidFill>
              </a:defRPr>
            </a:lvl4pPr>
            <a:lvl5pPr>
              <a:buNone/>
              <a:defRPr sz="2100" b="1">
                <a:solidFill>
                  <a:srgbClr val="2456A6"/>
                </a:solidFill>
              </a:defRPr>
            </a:lvl5pPr>
            <a:lvl6pPr>
              <a:buNone/>
              <a:defRPr sz="2100" b="1">
                <a:solidFill>
                  <a:srgbClr val="2456A6"/>
                </a:solidFill>
              </a:defRPr>
            </a:lvl6pPr>
            <a:lvl7pPr>
              <a:buNone/>
              <a:defRPr sz="2100" b="1">
                <a:solidFill>
                  <a:srgbClr val="2456A6"/>
                </a:solidFill>
              </a:defRPr>
            </a:lvl7pPr>
            <a:lvl8pPr>
              <a:buNone/>
              <a:defRPr sz="2100" b="1">
                <a:solidFill>
                  <a:srgbClr val="2456A6"/>
                </a:solidFill>
              </a:defRPr>
            </a:lvl8pPr>
            <a:lvl9pPr>
              <a:buNone/>
              <a:defRPr sz="2100" b="1">
                <a:solidFill>
                  <a:srgbClr val="2456A6"/>
                </a:solidFill>
              </a:defRPr>
            </a:lvl9pPr>
          </a:lstStyle>
          <a:p>
            <a:pPr>
              <a:buNone/>
              <a:defRPr sz="2100" b="1">
                <a:solidFill>
                  <a:srgbClr val="2456A6"/>
                </a:solidFill>
              </a:defRPr>
            </a:pPr>
            <a:r>
              <a:rPr sz="2100" b="1">
                <a:solidFill>
                  <a:srgbClr val="2456A6"/>
                </a:solidFill>
              </a:rPr>
              <a:t>Kết quả toàn bài</a:t>
            </a:r>
            <a:endParaRPr/>
          </a:p>
        </p:txBody>
      </p:sp>
      <p:sp>
        <p:nvSpPr>
          <p:cNvPr id="598767648" name="Trước: 47/63 ngưỡng đạt Sau: 63/63 ngưỡng đạt"/>
          <p:cNvSpPr>
            <a:spLocks noGrp="1"/>
          </p:cNvSpPr>
          <p:nvPr/>
        </p:nvSpPr>
        <p:spPr bwMode="auto">
          <a:xfrm>
            <a:off x="7334250" y="4410075"/>
            <a:ext cx="4095750" cy="80962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Trước: 47/63 ngưỡng đạt</a:t>
            </a:r>
            <a:endParaRPr/>
          </a:p>
          <a:p>
            <a:pPr>
              <a:buNone/>
              <a:defRPr sz="2050" b="0">
                <a:solidFill>
                  <a:srgbClr val="151B23"/>
                </a:solidFill>
              </a:defRPr>
            </a:pPr>
            <a:r>
              <a:rPr sz="2050" b="0">
                <a:solidFill>
                  <a:srgbClr val="151B23"/>
                </a:solidFill>
              </a:rPr>
              <a:t>Sau: 63/63 ngưỡng đạt</a:t>
            </a:r>
            <a:endParaRPr/>
          </a:p>
        </p:txBody>
      </p:sp>
      <p:sp>
        <p:nvSpPr>
          <p:cNvPr id="1565684403" name="Đây là một cặp run trước/sau. Cần chạy lặp để kiểm chứng."/>
          <p:cNvSpPr>
            <a:spLocks noGrp="1"/>
          </p:cNvSpPr>
          <p:nvPr/>
        </p:nvSpPr>
        <p:spPr bwMode="auto">
          <a:xfrm>
            <a:off x="7334250" y="5438774"/>
            <a:ext cx="4095750" cy="666750"/>
          </a:xfrm>
          <a:prstGeom prst="rect">
            <a:avLst/>
          </a:prstGeom>
          <a:noFill/>
          <a:ln w="0">
            <a:noFill/>
          </a:ln>
        </p:spPr>
        <p:txBody>
          <a:bodyPr lIns="0" tIns="0" rIns="0" bIns="0"/>
          <a:lstStyle>
            <a:defPPr>
              <a:defRPr sz="1800" b="0">
                <a:solidFill>
                  <a:srgbClr val="151B23"/>
                </a:solidFill>
              </a:defRPr>
            </a:defPPr>
            <a:lvl1pPr>
              <a:buNone/>
              <a:defRPr sz="1800" b="0">
                <a:solidFill>
                  <a:srgbClr val="151B23"/>
                </a:solidFill>
              </a:defRPr>
            </a:lvl1pPr>
            <a:lvl2pPr>
              <a:buNone/>
              <a:defRPr sz="1800" b="0">
                <a:solidFill>
                  <a:srgbClr val="151B23"/>
                </a:solidFill>
              </a:defRPr>
            </a:lvl2pPr>
            <a:lvl3pPr>
              <a:buNone/>
              <a:defRPr sz="1800" b="0">
                <a:solidFill>
                  <a:srgbClr val="151B23"/>
                </a:solidFill>
              </a:defRPr>
            </a:lvl3pPr>
            <a:lvl4pPr>
              <a:buNone/>
              <a:defRPr sz="1800" b="0">
                <a:solidFill>
                  <a:srgbClr val="151B23"/>
                </a:solidFill>
              </a:defRPr>
            </a:lvl4pPr>
            <a:lvl5pPr>
              <a:buNone/>
              <a:defRPr sz="1800" b="0">
                <a:solidFill>
                  <a:srgbClr val="151B23"/>
                </a:solidFill>
              </a:defRPr>
            </a:lvl5pPr>
            <a:lvl6pPr>
              <a:buNone/>
              <a:defRPr sz="1800" b="0">
                <a:solidFill>
                  <a:srgbClr val="151B23"/>
                </a:solidFill>
              </a:defRPr>
            </a:lvl6pPr>
            <a:lvl7pPr>
              <a:buNone/>
              <a:defRPr sz="1800" b="0">
                <a:solidFill>
                  <a:srgbClr val="151B23"/>
                </a:solidFill>
              </a:defRPr>
            </a:lvl7pPr>
            <a:lvl8pPr>
              <a:buNone/>
              <a:defRPr sz="1800" b="0">
                <a:solidFill>
                  <a:srgbClr val="151B23"/>
                </a:solidFill>
              </a:defRPr>
            </a:lvl8pPr>
            <a:lvl9pPr>
              <a:buNone/>
              <a:defRPr sz="1800" b="0">
                <a:solidFill>
                  <a:srgbClr val="151B23"/>
                </a:solidFill>
              </a:defRPr>
            </a:lvl9pPr>
          </a:lstStyle>
          <a:p>
            <a:pPr>
              <a:buNone/>
              <a:defRPr sz="1800" b="0">
                <a:solidFill>
                  <a:srgbClr val="151B23"/>
                </a:solidFill>
              </a:defRPr>
            </a:pPr>
            <a:r>
              <a:rPr sz="1800" b="0">
                <a:solidFill>
                  <a:srgbClr val="151B23"/>
                </a:solidFill>
              </a:rPr>
              <a:t>Đây là một cặp run trước/sau.</a:t>
            </a:r>
            <a:endParaRPr/>
          </a:p>
          <a:p>
            <a:pPr>
              <a:buNone/>
              <a:defRPr sz="1800" b="0">
                <a:solidFill>
                  <a:srgbClr val="151B23"/>
                </a:solidFill>
              </a:defRPr>
            </a:pPr>
            <a:r>
              <a:rPr sz="1800" b="0">
                <a:solidFill>
                  <a:srgbClr val="151B23"/>
                </a:solidFill>
              </a:rPr>
              <a:t>Cần chạy lặp để kiểm chứng.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82665390" name="BÀI TẬP CỦA QUỐC THÁI"/>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BÀI TẬP CỦA QUỐC THÁI</a:t>
            </a:r>
            <a:endParaRPr/>
          </a:p>
        </p:txBody>
      </p:sp>
      <p:sp>
        <p:nvSpPr>
          <p:cNvPr id="663004216" name="Bài tập áp dụng 1: dữ liệu stress và spike"/>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Bài tập áp dụng 1: dữ liệu stress và spike</a:t>
            </a:r>
            <a:endParaRPr/>
          </a:p>
        </p:txBody>
      </p:sp>
      <p:sp>
        <p:nvSpPr>
          <p:cNvPr id="1504420435"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2137537319" name="45"/>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47</a:t>
            </a:r>
            <a:endParaRPr/>
          </a:p>
        </p:txBody>
      </p:sp>
      <p:sp>
        <p:nvSpPr>
          <p:cNvPr id="595757986" name="Một giai đoạn đạt khi đồng thời p95 &lt; 500 ms và HTTP lỗi &lt; 1%."/>
          <p:cNvSpPr>
            <a:spLocks noGrp="1"/>
          </p:cNvSpPr>
          <p:nvPr/>
        </p:nvSpPr>
        <p:spPr bwMode="auto">
          <a:xfrm>
            <a:off x="609600" y="1685925"/>
            <a:ext cx="10972800" cy="342900"/>
          </a:xfrm>
          <a:prstGeom prst="rect">
            <a:avLst/>
          </a:prstGeom>
          <a:noFill/>
          <a:ln w="0">
            <a:noFill/>
          </a:ln>
        </p:spPr>
        <p:txBody>
          <a:bodyPr lIns="0" tIns="0" rIns="0" bIns="0"/>
          <a:lstStyle>
            <a:defPPr>
              <a:defRPr sz="1950" b="1">
                <a:solidFill>
                  <a:srgbClr val="2456A6"/>
                </a:solidFill>
              </a:defRPr>
            </a:defPPr>
            <a:lvl1pPr>
              <a:buNone/>
              <a:defRPr sz="1950" b="1">
                <a:solidFill>
                  <a:srgbClr val="2456A6"/>
                </a:solidFill>
              </a:defRPr>
            </a:lvl1pPr>
            <a:lvl2pPr>
              <a:buNone/>
              <a:defRPr sz="1950" b="1">
                <a:solidFill>
                  <a:srgbClr val="2456A6"/>
                </a:solidFill>
              </a:defRPr>
            </a:lvl2pPr>
            <a:lvl3pPr>
              <a:buNone/>
              <a:defRPr sz="1950" b="1">
                <a:solidFill>
                  <a:srgbClr val="2456A6"/>
                </a:solidFill>
              </a:defRPr>
            </a:lvl3pPr>
            <a:lvl4pPr>
              <a:buNone/>
              <a:defRPr sz="1950" b="1">
                <a:solidFill>
                  <a:srgbClr val="2456A6"/>
                </a:solidFill>
              </a:defRPr>
            </a:lvl4pPr>
            <a:lvl5pPr>
              <a:buNone/>
              <a:defRPr sz="1950" b="1">
                <a:solidFill>
                  <a:srgbClr val="2456A6"/>
                </a:solidFill>
              </a:defRPr>
            </a:lvl5pPr>
            <a:lvl6pPr>
              <a:buNone/>
              <a:defRPr sz="1950" b="1">
                <a:solidFill>
                  <a:srgbClr val="2456A6"/>
                </a:solidFill>
              </a:defRPr>
            </a:lvl6pPr>
            <a:lvl7pPr>
              <a:buNone/>
              <a:defRPr sz="1950" b="1">
                <a:solidFill>
                  <a:srgbClr val="2456A6"/>
                </a:solidFill>
              </a:defRPr>
            </a:lvl7pPr>
            <a:lvl8pPr>
              <a:buNone/>
              <a:defRPr sz="1950" b="1">
                <a:solidFill>
                  <a:srgbClr val="2456A6"/>
                </a:solidFill>
              </a:defRPr>
            </a:lvl8pPr>
            <a:lvl9pPr>
              <a:buNone/>
              <a:defRPr sz="1950" b="1">
                <a:solidFill>
                  <a:srgbClr val="2456A6"/>
                </a:solidFill>
              </a:defRPr>
            </a:lvl9pPr>
          </a:lstStyle>
          <a:p>
            <a:pPr>
              <a:buNone/>
              <a:defRPr sz="1950" b="1">
                <a:solidFill>
                  <a:srgbClr val="2456A6"/>
                </a:solidFill>
              </a:defRPr>
            </a:pPr>
            <a:r>
              <a:rPr sz="1950" b="1">
                <a:solidFill>
                  <a:srgbClr val="2456A6"/>
                </a:solidFill>
              </a:rPr>
              <a:t>Một giai đoạn đạt khi đồng thời p95 &lt; 500 ms và HTTP lỗi &lt; 1%.</a:t>
            </a:r>
            <a:endParaRPr/>
          </a:p>
        </p:txBody>
      </p:sp>
      <p:sp>
        <p:nvSpPr>
          <p:cNvPr id="1410858095" name="Bảng A: stress, mỗi bậc giữ 60 giây (trích theo thứ tự chạy)"/>
          <p:cNvSpPr>
            <a:spLocks noGrp="1"/>
          </p:cNvSpPr>
          <p:nvPr/>
        </p:nvSpPr>
        <p:spPr bwMode="auto">
          <a:xfrm>
            <a:off x="609600" y="2114550"/>
            <a:ext cx="10972800" cy="304800"/>
          </a:xfrm>
          <a:prstGeom prst="rect">
            <a:avLst/>
          </a:prstGeom>
          <a:noFill/>
          <a:ln w="0">
            <a:noFill/>
          </a:ln>
        </p:spPr>
        <p:txBody>
          <a:bodyPr lIns="0" tIns="0" rIns="0" bIns="0"/>
          <a:lstStyle>
            <a:defPPr>
              <a:defRPr sz="1800" b="0">
                <a:solidFill>
                  <a:srgbClr val="151B23"/>
                </a:solidFill>
              </a:defRPr>
            </a:defPPr>
            <a:lvl1pPr>
              <a:buNone/>
              <a:defRPr sz="1800" b="0">
                <a:solidFill>
                  <a:srgbClr val="151B23"/>
                </a:solidFill>
              </a:defRPr>
            </a:lvl1pPr>
            <a:lvl2pPr>
              <a:buNone/>
              <a:defRPr sz="1800" b="0">
                <a:solidFill>
                  <a:srgbClr val="151B23"/>
                </a:solidFill>
              </a:defRPr>
            </a:lvl2pPr>
            <a:lvl3pPr>
              <a:buNone/>
              <a:defRPr sz="1800" b="0">
                <a:solidFill>
                  <a:srgbClr val="151B23"/>
                </a:solidFill>
              </a:defRPr>
            </a:lvl3pPr>
            <a:lvl4pPr>
              <a:buNone/>
              <a:defRPr sz="1800" b="0">
                <a:solidFill>
                  <a:srgbClr val="151B23"/>
                </a:solidFill>
              </a:defRPr>
            </a:lvl4pPr>
            <a:lvl5pPr>
              <a:buNone/>
              <a:defRPr sz="1800" b="0">
                <a:solidFill>
                  <a:srgbClr val="151B23"/>
                </a:solidFill>
              </a:defRPr>
            </a:lvl5pPr>
            <a:lvl6pPr>
              <a:buNone/>
              <a:defRPr sz="1800" b="0">
                <a:solidFill>
                  <a:srgbClr val="151B23"/>
                </a:solidFill>
              </a:defRPr>
            </a:lvl6pPr>
            <a:lvl7pPr>
              <a:buNone/>
              <a:defRPr sz="1800" b="0">
                <a:solidFill>
                  <a:srgbClr val="151B23"/>
                </a:solidFill>
              </a:defRPr>
            </a:lvl7pPr>
            <a:lvl8pPr>
              <a:buNone/>
              <a:defRPr sz="1800" b="0">
                <a:solidFill>
                  <a:srgbClr val="151B23"/>
                </a:solidFill>
              </a:defRPr>
            </a:lvl8pPr>
            <a:lvl9pPr>
              <a:buNone/>
              <a:defRPr sz="1800" b="0">
                <a:solidFill>
                  <a:srgbClr val="151B23"/>
                </a:solidFill>
              </a:defRPr>
            </a:lvl9pPr>
          </a:lstStyle>
          <a:p>
            <a:pPr>
              <a:buNone/>
              <a:defRPr sz="1800" b="0">
                <a:solidFill>
                  <a:srgbClr val="151B23"/>
                </a:solidFill>
              </a:defRPr>
            </a:pPr>
            <a:r>
              <a:rPr sz="1800" b="0">
                <a:solidFill>
                  <a:srgbClr val="151B23"/>
                </a:solidFill>
              </a:rPr>
              <a:t>Bảng A: stress, mỗi bậc giữ 60 giây (trích theo thứ tự chạy)</a:t>
            </a:r>
            <a:endParaRPr/>
          </a:p>
        </p:txBody>
      </p:sp>
      <p:graphicFrame>
        <p:nvGraphicFramePr>
          <p:cNvPr id="2102401632" name=""/>
          <p:cNvGraphicFramePr>
            <a:graphicFrameLocks xmlns:a="http://schemas.openxmlformats.org/drawingml/2006/main"/>
          </p:cNvGraphicFramePr>
          <p:nvPr/>
        </p:nvGraphicFramePr>
        <p:xfrm rot="0">
          <a:off x="609600" y="2466975"/>
          <a:ext cx="10972800" cy="1828800"/>
        </p:xfrm>
        <a:graphic>
          <a:graphicData uri="http://schemas.openxmlformats.org/drawingml/2006/table">
            <a:tbl>
              <a:tblPr firstRow="0" firstCol="0" lastRow="0" lastCol="0" bandRow="0" bandCol="0"/>
              <a:tblGrid>
                <a:gridCol w="2000250"/>
                <a:gridCol w="2381250"/>
                <a:gridCol w="3333750"/>
                <a:gridCol w="3257550"/>
              </a:tblGrid>
              <a:tr h="304800">
                <a:tc>
                  <a:txBody>
                    <a:bodyPr/>
                    <a:p>
                      <a:pPr>
                        <a:defRPr/>
                      </a:pPr>
                      <a:r>
                        <a:rPr sz="1600" b="1">
                          <a:solidFill>
                            <a:srgbClr val="2456A6"/>
                          </a:solidFill>
                        </a:rPr>
                        <a:t>VUs</a:t>
                      </a:r>
                      <a:endParaRPr/>
                    </a:p>
                  </a:txBody>
                  <a:tcPr marL="91440" marR="91440" marT="45720" marB="45720">
                    <a:solidFill>
                      <a:srgbClr val="EAF0F8"/>
                    </a:solidFill>
                  </a:tcPr>
                </a:tc>
                <a:tc>
                  <a:txBody>
                    <a:bodyPr/>
                    <a:p>
                      <a:pPr>
                        <a:defRPr/>
                      </a:pPr>
                      <a:r>
                        <a:rPr sz="1600" b="1">
                          <a:solidFill>
                            <a:srgbClr val="2456A6"/>
                          </a:solidFill>
                        </a:rPr>
                        <a:t>RPS</a:t>
                      </a:r>
                      <a:endParaRPr/>
                    </a:p>
                  </a:txBody>
                  <a:tcPr marL="91440" marR="91440" marT="45720" marB="45720">
                    <a:solidFill>
                      <a:srgbClr val="EAF0F8"/>
                    </a:solidFill>
                  </a:tcPr>
                </a:tc>
                <a:tc>
                  <a:txBody>
                    <a:bodyPr/>
                    <a:p>
                      <a:pPr>
                        <a:defRPr/>
                      </a:pPr>
                      <a:r>
                        <a:rPr sz="1600" b="1">
                          <a:solidFill>
                            <a:srgbClr val="2456A6"/>
                          </a:solidFill>
                        </a:rPr>
                        <a:t>p95 (ms)</a:t>
                      </a:r>
                      <a:endParaRPr/>
                    </a:p>
                  </a:txBody>
                  <a:tcPr marL="91440" marR="91440" marT="45720" marB="45720">
                    <a:solidFill>
                      <a:srgbClr val="EAF0F8"/>
                    </a:solidFill>
                  </a:tcPr>
                </a:tc>
                <a:tc>
                  <a:txBody>
                    <a:bodyPr/>
                    <a:p>
                      <a:pPr>
                        <a:defRPr/>
                      </a:pPr>
                      <a:r>
                        <a:rPr sz="1600" b="1">
                          <a:solidFill>
                            <a:srgbClr val="2456A6"/>
                          </a:solidFill>
                        </a:rPr>
                        <a:t>HTTP lỗi (%)</a:t>
                      </a:r>
                      <a:endParaRPr/>
                    </a:p>
                  </a:txBody>
                  <a:tcPr marL="91440" marR="91440" marT="45720" marB="45720">
                    <a:solidFill>
                      <a:srgbClr val="EAF0F8"/>
                    </a:solidFill>
                  </a:tcPr>
                </a:tc>
              </a:tr>
              <a:tr h="304800">
                <a:tc>
                  <a:txBody>
                    <a:bodyPr/>
                    <a:p>
                      <a:pPr>
                        <a:defRPr/>
                      </a:pPr>
                      <a:r>
                        <a:rPr sz="1600" b="0">
                          <a:solidFill>
                            <a:srgbClr val="151B23"/>
                          </a:solidFill>
                        </a:rPr>
                        <a:t>500</a:t>
                      </a:r>
                      <a:endParaRPr/>
                    </a:p>
                  </a:txBody>
                  <a:tcPr marL="91440" marR="91440" marT="45720" marB="45720">
                    <a:solidFill>
                      <a:srgbClr val="FFFFFF"/>
                    </a:solidFill>
                  </a:tcPr>
                </a:tc>
                <a:tc>
                  <a:txBody>
                    <a:bodyPr/>
                    <a:p>
                      <a:pPr>
                        <a:defRPr/>
                      </a:pPr>
                      <a:r>
                        <a:rPr sz="1600" b="0">
                          <a:solidFill>
                            <a:srgbClr val="151B23"/>
                          </a:solidFill>
                        </a:rPr>
                        <a:t>182,22</a:t>
                      </a:r>
                      <a:endParaRPr/>
                    </a:p>
                  </a:txBody>
                  <a:tcPr marL="91440" marR="91440" marT="45720" marB="45720">
                    <a:solidFill>
                      <a:srgbClr val="FFFFFF"/>
                    </a:solidFill>
                  </a:tcPr>
                </a:tc>
                <a:tc>
                  <a:txBody>
                    <a:bodyPr/>
                    <a:p>
                      <a:pPr>
                        <a:defRPr/>
                      </a:pPr>
                      <a:r>
                        <a:rPr sz="1600" b="0">
                          <a:solidFill>
                            <a:srgbClr val="151B23"/>
                          </a:solidFill>
                        </a:rPr>
                        <a:t>8,35</a:t>
                      </a:r>
                      <a:endParaRPr/>
                    </a:p>
                  </a:txBody>
                  <a:tcPr marL="91440" marR="91440" marT="45720" marB="45720">
                    <a:solidFill>
                      <a:srgbClr val="FFFFFF"/>
                    </a:solidFill>
                  </a:tcPr>
                </a:tc>
                <a:tc>
                  <a:txBody>
                    <a:bodyPr/>
                    <a:p>
                      <a:pPr>
                        <a:defRPr/>
                      </a:pPr>
                      <a:r>
                        <a:rPr sz="1600" b="0">
                          <a:solidFill>
                            <a:srgbClr val="151B23"/>
                          </a:solidFill>
                        </a:rPr>
                        <a:t>0,009</a:t>
                      </a:r>
                      <a:endParaRPr/>
                    </a:p>
                  </a:txBody>
                  <a:tcPr marL="91440" marR="91440" marT="45720" marB="45720">
                    <a:solidFill>
                      <a:srgbClr val="FFFFFF"/>
                    </a:solidFill>
                  </a:tcPr>
                </a:tc>
              </a:tr>
              <a:tr h="304800">
                <a:tc>
                  <a:txBody>
                    <a:bodyPr/>
                    <a:p>
                      <a:pPr>
                        <a:defRPr/>
                      </a:pPr>
                      <a:r>
                        <a:rPr sz="1600" b="0">
                          <a:solidFill>
                            <a:srgbClr val="151B23"/>
                          </a:solidFill>
                        </a:rPr>
                        <a:t>1.000</a:t>
                      </a:r>
                      <a:endParaRPr/>
                    </a:p>
                  </a:txBody>
                  <a:tcPr marL="91440" marR="91440" marT="45720" marB="45720">
                    <a:solidFill>
                      <a:srgbClr val="FFFFFF"/>
                    </a:solidFill>
                  </a:tcPr>
                </a:tc>
                <a:tc>
                  <a:txBody>
                    <a:bodyPr/>
                    <a:p>
                      <a:pPr>
                        <a:defRPr/>
                      </a:pPr>
                      <a:r>
                        <a:rPr sz="1600" b="0">
                          <a:solidFill>
                            <a:srgbClr val="151B23"/>
                          </a:solidFill>
                        </a:rPr>
                        <a:t>365,37</a:t>
                      </a:r>
                      <a:endParaRPr/>
                    </a:p>
                  </a:txBody>
                  <a:tcPr marL="91440" marR="91440" marT="45720" marB="45720">
                    <a:solidFill>
                      <a:srgbClr val="FFFFFF"/>
                    </a:solidFill>
                  </a:tcPr>
                </a:tc>
                <a:tc>
                  <a:txBody>
                    <a:bodyPr/>
                    <a:p>
                      <a:pPr>
                        <a:defRPr/>
                      </a:pPr>
                      <a:r>
                        <a:rPr sz="1600" b="0">
                          <a:solidFill>
                            <a:srgbClr val="151B23"/>
                          </a:solidFill>
                        </a:rPr>
                        <a:t>8,62</a:t>
                      </a:r>
                      <a:endParaRPr/>
                    </a:p>
                  </a:txBody>
                  <a:tcPr marL="91440" marR="91440" marT="45720" marB="45720">
                    <a:solidFill>
                      <a:srgbClr val="FFFFFF"/>
                    </a:solidFill>
                  </a:tcPr>
                </a:tc>
                <a:tc>
                  <a:txBody>
                    <a:bodyPr/>
                    <a:p>
                      <a:pPr>
                        <a:defRPr/>
                      </a:pPr>
                      <a:r>
                        <a:rPr sz="1600" b="0">
                          <a:solidFill>
                            <a:srgbClr val="151B23"/>
                          </a:solidFill>
                        </a:rPr>
                        <a:t>0,000</a:t>
                      </a:r>
                      <a:endParaRPr/>
                    </a:p>
                  </a:txBody>
                  <a:tcPr marL="91440" marR="91440" marT="45720" marB="45720">
                    <a:solidFill>
                      <a:srgbClr val="FFFFFF"/>
                    </a:solidFill>
                  </a:tcPr>
                </a:tc>
              </a:tr>
              <a:tr h="304800">
                <a:tc>
                  <a:txBody>
                    <a:bodyPr/>
                    <a:p>
                      <a:pPr>
                        <a:defRPr/>
                      </a:pPr>
                      <a:r>
                        <a:rPr sz="1600" b="0">
                          <a:solidFill>
                            <a:srgbClr val="151B23"/>
                          </a:solidFill>
                        </a:rPr>
                        <a:t>1.250</a:t>
                      </a:r>
                      <a:endParaRPr/>
                    </a:p>
                  </a:txBody>
                  <a:tcPr marL="91440" marR="91440" marT="45720" marB="45720">
                    <a:solidFill>
                      <a:srgbClr val="FFFFFF"/>
                    </a:solidFill>
                  </a:tcPr>
                </a:tc>
                <a:tc>
                  <a:txBody>
                    <a:bodyPr/>
                    <a:p>
                      <a:pPr>
                        <a:defRPr/>
                      </a:pPr>
                      <a:r>
                        <a:rPr sz="1600" b="0">
                          <a:solidFill>
                            <a:srgbClr val="151B23"/>
                          </a:solidFill>
                        </a:rPr>
                        <a:t>453,27</a:t>
                      </a:r>
                      <a:endParaRPr/>
                    </a:p>
                  </a:txBody>
                  <a:tcPr marL="91440" marR="91440" marT="45720" marB="45720">
                    <a:solidFill>
                      <a:srgbClr val="FFFFFF"/>
                    </a:solidFill>
                  </a:tcPr>
                </a:tc>
                <a:tc>
                  <a:txBody>
                    <a:bodyPr/>
                    <a:p>
                      <a:pPr>
                        <a:defRPr/>
                      </a:pPr>
                      <a:r>
                        <a:rPr sz="1600" b="0">
                          <a:solidFill>
                            <a:srgbClr val="151B23"/>
                          </a:solidFill>
                        </a:rPr>
                        <a:t>11,08</a:t>
                      </a:r>
                      <a:endParaRPr/>
                    </a:p>
                  </a:txBody>
                  <a:tcPr marL="91440" marR="91440" marT="45720" marB="45720">
                    <a:solidFill>
                      <a:srgbClr val="FFFFFF"/>
                    </a:solidFill>
                  </a:tcPr>
                </a:tc>
                <a:tc>
                  <a:txBody>
                    <a:bodyPr/>
                    <a:p>
                      <a:pPr>
                        <a:defRPr/>
                      </a:pPr>
                      <a:r>
                        <a:rPr sz="1600" b="0">
                          <a:solidFill>
                            <a:srgbClr val="151B23"/>
                          </a:solidFill>
                        </a:rPr>
                        <a:t>0,004</a:t>
                      </a:r>
                      <a:endParaRPr/>
                    </a:p>
                  </a:txBody>
                  <a:tcPr marL="91440" marR="91440" marT="45720" marB="45720">
                    <a:solidFill>
                      <a:srgbClr val="FFFFFF"/>
                    </a:solidFill>
                  </a:tcPr>
                </a:tc>
              </a:tr>
              <a:tr h="304800">
                <a:tc>
                  <a:txBody>
                    <a:bodyPr/>
                    <a:p>
                      <a:pPr>
                        <a:defRPr/>
                      </a:pPr>
                      <a:r>
                        <a:rPr sz="1600" b="0">
                          <a:solidFill>
                            <a:srgbClr val="151B23"/>
                          </a:solidFill>
                        </a:rPr>
                        <a:t>1.500</a:t>
                      </a:r>
                      <a:endParaRPr/>
                    </a:p>
                  </a:txBody>
                  <a:tcPr marL="91440" marR="91440" marT="45720" marB="45720">
                    <a:solidFill>
                      <a:srgbClr val="FFFFFF"/>
                    </a:solidFill>
                  </a:tcPr>
                </a:tc>
                <a:tc>
                  <a:txBody>
                    <a:bodyPr/>
                    <a:p>
                      <a:pPr>
                        <a:defRPr/>
                      </a:pPr>
                      <a:r>
                        <a:rPr sz="1600" b="0">
                          <a:solidFill>
                            <a:srgbClr val="151B23"/>
                          </a:solidFill>
                        </a:rPr>
                        <a:t>365,37</a:t>
                      </a:r>
                      <a:endParaRPr/>
                    </a:p>
                  </a:txBody>
                  <a:tcPr marL="91440" marR="91440" marT="45720" marB="45720">
                    <a:solidFill>
                      <a:srgbClr val="FFFFFF"/>
                    </a:solidFill>
                  </a:tcPr>
                </a:tc>
                <a:tc>
                  <a:txBody>
                    <a:bodyPr/>
                    <a:p>
                      <a:pPr>
                        <a:defRPr/>
                      </a:pPr>
                      <a:r>
                        <a:rPr sz="1600" b="0">
                          <a:solidFill>
                            <a:srgbClr val="151B23"/>
                          </a:solidFill>
                        </a:rPr>
                        <a:t>5.380,45</a:t>
                      </a:r>
                      <a:endParaRPr/>
                    </a:p>
                  </a:txBody>
                  <a:tcPr marL="91440" marR="91440" marT="45720" marB="45720">
                    <a:solidFill>
                      <a:srgbClr val="FFFFFF"/>
                    </a:solidFill>
                  </a:tcPr>
                </a:tc>
                <a:tc>
                  <a:txBody>
                    <a:bodyPr/>
                    <a:p>
                      <a:pPr>
                        <a:defRPr/>
                      </a:pPr>
                      <a:r>
                        <a:rPr sz="1600" b="0">
                          <a:solidFill>
                            <a:srgbClr val="151B23"/>
                          </a:solidFill>
                        </a:rPr>
                        <a:t>2,659</a:t>
                      </a:r>
                      <a:endParaRPr/>
                    </a:p>
                  </a:txBody>
                  <a:tcPr marL="91440" marR="91440" marT="45720" marB="45720">
                    <a:solidFill>
                      <a:srgbClr val="FFFFFF"/>
                    </a:solidFill>
                  </a:tcPr>
                </a:tc>
              </a:tr>
              <a:tr h="304800">
                <a:tc>
                  <a:txBody>
                    <a:bodyPr/>
                    <a:p>
                      <a:pPr>
                        <a:defRPr/>
                      </a:pPr>
                      <a:r>
                        <a:rPr sz="1600" b="0">
                          <a:solidFill>
                            <a:srgbClr val="151B23"/>
                          </a:solidFill>
                        </a:rPr>
                        <a:t>1.750</a:t>
                      </a:r>
                      <a:endParaRPr/>
                    </a:p>
                  </a:txBody>
                  <a:tcPr marL="91440" marR="91440" marT="45720" marB="45720">
                    <a:solidFill>
                      <a:srgbClr val="FFFFFF"/>
                    </a:solidFill>
                  </a:tcPr>
                </a:tc>
                <a:tc>
                  <a:txBody>
                    <a:bodyPr/>
                    <a:p>
                      <a:pPr>
                        <a:defRPr/>
                      </a:pPr>
                      <a:r>
                        <a:rPr sz="1600" b="0">
                          <a:solidFill>
                            <a:srgbClr val="151B23"/>
                          </a:solidFill>
                        </a:rPr>
                        <a:t>633,53</a:t>
                      </a:r>
                      <a:endParaRPr/>
                    </a:p>
                  </a:txBody>
                  <a:tcPr marL="91440" marR="91440" marT="45720" marB="45720">
                    <a:solidFill>
                      <a:srgbClr val="FFFFFF"/>
                    </a:solidFill>
                  </a:tcPr>
                </a:tc>
                <a:tc>
                  <a:txBody>
                    <a:bodyPr/>
                    <a:p>
                      <a:pPr>
                        <a:defRPr/>
                      </a:pPr>
                      <a:r>
                        <a:rPr sz="1600" b="0">
                          <a:solidFill>
                            <a:srgbClr val="151B23"/>
                          </a:solidFill>
                        </a:rPr>
                        <a:t>7.312,27</a:t>
                      </a:r>
                      <a:endParaRPr/>
                    </a:p>
                  </a:txBody>
                  <a:tcPr marL="91440" marR="91440" marT="45720" marB="45720">
                    <a:solidFill>
                      <a:srgbClr val="FFFFFF"/>
                    </a:solidFill>
                  </a:tcPr>
                </a:tc>
                <a:tc>
                  <a:txBody>
                    <a:bodyPr/>
                    <a:p>
                      <a:pPr>
                        <a:defRPr/>
                      </a:pPr>
                      <a:r>
                        <a:rPr sz="1600" b="0">
                          <a:solidFill>
                            <a:srgbClr val="151B23"/>
                          </a:solidFill>
                        </a:rPr>
                        <a:t>4,029</a:t>
                      </a:r>
                      <a:endParaRPr/>
                    </a:p>
                  </a:txBody>
                  <a:tcPr marL="91440" marR="91440" marT="45720" marB="45720">
                    <a:solidFill>
                      <a:srgbClr val="FFFFFF"/>
                    </a:solidFill>
                  </a:tcPr>
                </a:tc>
              </a:tr>
            </a:tbl>
          </a:graphicData>
        </a:graphic>
      </p:graphicFrame>
      <p:sp>
        <p:nvSpPr>
          <p:cNvPr id="1329725236" name="Bảng B: spike, tăng đột ngột rồi giảm về tải nền"/>
          <p:cNvSpPr>
            <a:spLocks noGrp="1"/>
          </p:cNvSpPr>
          <p:nvPr/>
        </p:nvSpPr>
        <p:spPr bwMode="auto">
          <a:xfrm>
            <a:off x="609600" y="4495800"/>
            <a:ext cx="10972800" cy="285750"/>
          </a:xfrm>
          <a:prstGeom prst="rect">
            <a:avLst/>
          </a:prstGeom>
          <a:noFill/>
          <a:ln w="0">
            <a:noFill/>
          </a:ln>
        </p:spPr>
        <p:txBody>
          <a:bodyPr lIns="0" tIns="0" rIns="0" bIns="0"/>
          <a:lstStyle>
            <a:defPPr>
              <a:defRPr sz="1800" b="0">
                <a:solidFill>
                  <a:srgbClr val="151B23"/>
                </a:solidFill>
              </a:defRPr>
            </a:defPPr>
            <a:lvl1pPr>
              <a:buNone/>
              <a:defRPr sz="1800" b="0">
                <a:solidFill>
                  <a:srgbClr val="151B23"/>
                </a:solidFill>
              </a:defRPr>
            </a:lvl1pPr>
            <a:lvl2pPr>
              <a:buNone/>
              <a:defRPr sz="1800" b="0">
                <a:solidFill>
                  <a:srgbClr val="151B23"/>
                </a:solidFill>
              </a:defRPr>
            </a:lvl2pPr>
            <a:lvl3pPr>
              <a:buNone/>
              <a:defRPr sz="1800" b="0">
                <a:solidFill>
                  <a:srgbClr val="151B23"/>
                </a:solidFill>
              </a:defRPr>
            </a:lvl3pPr>
            <a:lvl4pPr>
              <a:buNone/>
              <a:defRPr sz="1800" b="0">
                <a:solidFill>
                  <a:srgbClr val="151B23"/>
                </a:solidFill>
              </a:defRPr>
            </a:lvl4pPr>
            <a:lvl5pPr>
              <a:buNone/>
              <a:defRPr sz="1800" b="0">
                <a:solidFill>
                  <a:srgbClr val="151B23"/>
                </a:solidFill>
              </a:defRPr>
            </a:lvl5pPr>
            <a:lvl6pPr>
              <a:buNone/>
              <a:defRPr sz="1800" b="0">
                <a:solidFill>
                  <a:srgbClr val="151B23"/>
                </a:solidFill>
              </a:defRPr>
            </a:lvl6pPr>
            <a:lvl7pPr>
              <a:buNone/>
              <a:defRPr sz="1800" b="0">
                <a:solidFill>
                  <a:srgbClr val="151B23"/>
                </a:solidFill>
              </a:defRPr>
            </a:lvl7pPr>
            <a:lvl8pPr>
              <a:buNone/>
              <a:defRPr sz="1800" b="0">
                <a:solidFill>
                  <a:srgbClr val="151B23"/>
                </a:solidFill>
              </a:defRPr>
            </a:lvl8pPr>
            <a:lvl9pPr>
              <a:buNone/>
              <a:defRPr sz="1800" b="0">
                <a:solidFill>
                  <a:srgbClr val="151B23"/>
                </a:solidFill>
              </a:defRPr>
            </a:lvl9pPr>
          </a:lstStyle>
          <a:p>
            <a:pPr>
              <a:buNone/>
              <a:defRPr sz="1800" b="0">
                <a:solidFill>
                  <a:srgbClr val="151B23"/>
                </a:solidFill>
              </a:defRPr>
            </a:pPr>
            <a:r>
              <a:rPr sz="1800" b="0">
                <a:solidFill>
                  <a:srgbClr val="151B23"/>
                </a:solidFill>
              </a:rPr>
              <a:t>Bảng B: spike, tăng đột ngột rồi giảm về tải nền</a:t>
            </a:r>
            <a:endParaRPr/>
          </a:p>
        </p:txBody>
      </p:sp>
      <p:graphicFrame>
        <p:nvGraphicFramePr>
          <p:cNvPr id="309750090" name=""/>
          <p:cNvGraphicFramePr>
            <a:graphicFrameLocks xmlns:a="http://schemas.openxmlformats.org/drawingml/2006/main"/>
          </p:cNvGraphicFramePr>
          <p:nvPr/>
        </p:nvGraphicFramePr>
        <p:xfrm rot="0">
          <a:off x="609600" y="4867274"/>
          <a:ext cx="10972800" cy="1219200"/>
        </p:xfrm>
        <a:graphic>
          <a:graphicData uri="http://schemas.openxmlformats.org/drawingml/2006/table">
            <a:tbl>
              <a:tblPr firstRow="0" firstCol="0" lastRow="0" lastCol="0" bandRow="0" bandCol="0"/>
              <a:tblGrid>
                <a:gridCol w="2286000"/>
                <a:gridCol w="1714500"/>
                <a:gridCol w="1333500"/>
                <a:gridCol w="1714500"/>
                <a:gridCol w="2286000"/>
                <a:gridCol w="1638300"/>
              </a:tblGrid>
              <a:tr h="304800">
                <a:tc>
                  <a:txBody>
                    <a:bodyPr/>
                    <a:p>
                      <a:pPr>
                        <a:defRPr/>
                      </a:pPr>
                      <a:r>
                        <a:rPr sz="1600" b="1">
                          <a:solidFill>
                            <a:srgbClr val="2456A6"/>
                          </a:solidFill>
                        </a:rPr>
                        <a:t>Giai đoạn</a:t>
                      </a:r>
                      <a:endParaRPr/>
                    </a:p>
                  </a:txBody>
                  <a:tcPr marL="91440" marR="91440" marT="45720" marB="45720">
                    <a:solidFill>
                      <a:srgbClr val="EAF0F8"/>
                    </a:solidFill>
                  </a:tcPr>
                </a:tc>
                <a:tc>
                  <a:txBody>
                    <a:bodyPr/>
                    <a:p>
                      <a:pPr>
                        <a:defRPr/>
                      </a:pPr>
                      <a:r>
                        <a:rPr sz="1600" b="1">
                          <a:solidFill>
                            <a:srgbClr val="2456A6"/>
                          </a:solidFill>
                        </a:rPr>
                        <a:t>Thời lượng</a:t>
                      </a:r>
                      <a:endParaRPr/>
                    </a:p>
                  </a:txBody>
                  <a:tcPr marL="91440" marR="91440" marT="45720" marB="45720">
                    <a:solidFill>
                      <a:srgbClr val="EAF0F8"/>
                    </a:solidFill>
                  </a:tcPr>
                </a:tc>
                <a:tc>
                  <a:txBody>
                    <a:bodyPr/>
                    <a:p>
                      <a:pPr>
                        <a:defRPr/>
                      </a:pPr>
                      <a:r>
                        <a:rPr sz="1600" b="1">
                          <a:solidFill>
                            <a:srgbClr val="2456A6"/>
                          </a:solidFill>
                        </a:rPr>
                        <a:t>VUs</a:t>
                      </a:r>
                      <a:endParaRPr/>
                    </a:p>
                  </a:txBody>
                  <a:tcPr marL="91440" marR="91440" marT="45720" marB="45720">
                    <a:solidFill>
                      <a:srgbClr val="EAF0F8"/>
                    </a:solidFill>
                  </a:tcPr>
                </a:tc>
                <a:tc>
                  <a:txBody>
                    <a:bodyPr/>
                    <a:p>
                      <a:pPr>
                        <a:defRPr/>
                      </a:pPr>
                      <a:r>
                        <a:rPr sz="1600" b="1">
                          <a:solidFill>
                            <a:srgbClr val="2456A6"/>
                          </a:solidFill>
                        </a:rPr>
                        <a:t>RPS</a:t>
                      </a:r>
                      <a:endParaRPr/>
                    </a:p>
                  </a:txBody>
                  <a:tcPr marL="91440" marR="91440" marT="45720" marB="45720">
                    <a:solidFill>
                      <a:srgbClr val="EAF0F8"/>
                    </a:solidFill>
                  </a:tcPr>
                </a:tc>
                <a:tc>
                  <a:txBody>
                    <a:bodyPr/>
                    <a:p>
                      <a:pPr>
                        <a:defRPr/>
                      </a:pPr>
                      <a:r>
                        <a:rPr sz="1600" b="1">
                          <a:solidFill>
                            <a:srgbClr val="2456A6"/>
                          </a:solidFill>
                        </a:rPr>
                        <a:t>p95 (ms)</a:t>
                      </a:r>
                      <a:endParaRPr/>
                    </a:p>
                  </a:txBody>
                  <a:tcPr marL="91440" marR="91440" marT="45720" marB="45720">
                    <a:solidFill>
                      <a:srgbClr val="EAF0F8"/>
                    </a:solidFill>
                  </a:tcPr>
                </a:tc>
                <a:tc>
                  <a:txBody>
                    <a:bodyPr/>
                    <a:p>
                      <a:pPr>
                        <a:defRPr/>
                      </a:pPr>
                      <a:r>
                        <a:rPr sz="1600" b="1">
                          <a:solidFill>
                            <a:srgbClr val="2456A6"/>
                          </a:solidFill>
                        </a:rPr>
                        <a:t>Lỗi (%)</a:t>
                      </a:r>
                      <a:endParaRPr/>
                    </a:p>
                  </a:txBody>
                  <a:tcPr marL="91440" marR="91440" marT="45720" marB="45720">
                    <a:solidFill>
                      <a:srgbClr val="EAF0F8"/>
                    </a:solidFill>
                  </a:tcPr>
                </a:tc>
              </a:tr>
              <a:tr h="304800">
                <a:tc>
                  <a:txBody>
                    <a:bodyPr/>
                    <a:p>
                      <a:pPr>
                        <a:defRPr/>
                      </a:pPr>
                      <a:r>
                        <a:rPr sz="1600" b="0">
                          <a:solidFill>
                            <a:srgbClr val="151B23"/>
                          </a:solidFill>
                        </a:rPr>
                        <a:t>Trước spike</a:t>
                      </a:r>
                      <a:endParaRPr/>
                    </a:p>
                  </a:txBody>
                  <a:tcPr marL="91440" marR="91440" marT="45720" marB="45720">
                    <a:solidFill>
                      <a:srgbClr val="FFFFFF"/>
                    </a:solidFill>
                  </a:tcPr>
                </a:tc>
                <a:tc>
                  <a:txBody>
                    <a:bodyPr/>
                    <a:p>
                      <a:pPr>
                        <a:defRPr/>
                      </a:pPr>
                      <a:r>
                        <a:rPr sz="1600" b="0">
                          <a:solidFill>
                            <a:srgbClr val="151B23"/>
                          </a:solidFill>
                        </a:rPr>
                        <a:t>30 giây</a:t>
                      </a:r>
                      <a:endParaRPr/>
                    </a:p>
                  </a:txBody>
                  <a:tcPr marL="91440" marR="91440" marT="45720" marB="45720">
                    <a:solidFill>
                      <a:srgbClr val="FFFFFF"/>
                    </a:solidFill>
                  </a:tcPr>
                </a:tc>
                <a:tc>
                  <a:txBody>
                    <a:bodyPr/>
                    <a:p>
                      <a:pPr>
                        <a:defRPr/>
                      </a:pPr>
                      <a:r>
                        <a:rPr sz="1600" b="0">
                          <a:solidFill>
                            <a:srgbClr val="151B23"/>
                          </a:solidFill>
                        </a:rPr>
                        <a:t>50</a:t>
                      </a:r>
                      <a:endParaRPr/>
                    </a:p>
                  </a:txBody>
                  <a:tcPr marL="91440" marR="91440" marT="45720" marB="45720">
                    <a:solidFill>
                      <a:srgbClr val="FFFFFF"/>
                    </a:solidFill>
                  </a:tcPr>
                </a:tc>
                <a:tc>
                  <a:txBody>
                    <a:bodyPr/>
                    <a:p>
                      <a:pPr>
                        <a:defRPr/>
                      </a:pPr>
                      <a:r>
                        <a:rPr sz="1600" b="0">
                          <a:solidFill>
                            <a:srgbClr val="151B23"/>
                          </a:solidFill>
                        </a:rPr>
                        <a:t>21,13</a:t>
                      </a:r>
                      <a:endParaRPr/>
                    </a:p>
                  </a:txBody>
                  <a:tcPr marL="91440" marR="91440" marT="45720" marB="45720">
                    <a:solidFill>
                      <a:srgbClr val="FFFFFF"/>
                    </a:solidFill>
                  </a:tcPr>
                </a:tc>
                <a:tc>
                  <a:txBody>
                    <a:bodyPr/>
                    <a:p>
                      <a:pPr>
                        <a:defRPr/>
                      </a:pPr>
                      <a:r>
                        <a:rPr sz="1600" b="0">
                          <a:solidFill>
                            <a:srgbClr val="151B23"/>
                          </a:solidFill>
                        </a:rPr>
                        <a:t>16,96</a:t>
                      </a:r>
                      <a:endParaRPr/>
                    </a:p>
                  </a:txBody>
                  <a:tcPr marL="91440" marR="91440" marT="45720" marB="45720">
                    <a:solidFill>
                      <a:srgbClr val="FFFFFF"/>
                    </a:solidFill>
                  </a:tcPr>
                </a:tc>
                <a:tc>
                  <a:txBody>
                    <a:bodyPr/>
                    <a:p>
                      <a:pPr>
                        <a:defRPr/>
                      </a:pPr>
                      <a:r>
                        <a:rPr sz="1600" b="0">
                          <a:solidFill>
                            <a:srgbClr val="151B23"/>
                          </a:solidFill>
                        </a:rPr>
                        <a:t>0,000</a:t>
                      </a:r>
                      <a:endParaRPr/>
                    </a:p>
                  </a:txBody>
                  <a:tcPr marL="91440" marR="91440" marT="45720" marB="45720">
                    <a:solidFill>
                      <a:srgbClr val="FFFFFF"/>
                    </a:solidFill>
                  </a:tcPr>
                </a:tc>
              </a:tr>
              <a:tr h="304800">
                <a:tc>
                  <a:txBody>
                    <a:bodyPr/>
                    <a:p>
                      <a:pPr>
                        <a:defRPr/>
                      </a:pPr>
                      <a:r>
                        <a:rPr sz="1600" b="0">
                          <a:solidFill>
                            <a:srgbClr val="151B23"/>
                          </a:solidFill>
                        </a:rPr>
                        <a:t>Trong spike</a:t>
                      </a:r>
                      <a:endParaRPr/>
                    </a:p>
                  </a:txBody>
                  <a:tcPr marL="91440" marR="91440" marT="45720" marB="45720">
                    <a:solidFill>
                      <a:srgbClr val="FFFFFF"/>
                    </a:solidFill>
                  </a:tcPr>
                </a:tc>
                <a:tc>
                  <a:txBody>
                    <a:bodyPr/>
                    <a:p>
                      <a:pPr>
                        <a:defRPr/>
                      </a:pPr>
                      <a:r>
                        <a:rPr sz="1600" b="0">
                          <a:solidFill>
                            <a:srgbClr val="151B23"/>
                          </a:solidFill>
                        </a:rPr>
                        <a:t>60 giây</a:t>
                      </a:r>
                      <a:endParaRPr/>
                    </a:p>
                  </a:txBody>
                  <a:tcPr marL="91440" marR="91440" marT="45720" marB="45720">
                    <a:solidFill>
                      <a:srgbClr val="FFFFFF"/>
                    </a:solidFill>
                  </a:tcPr>
                </a:tc>
                <a:tc>
                  <a:txBody>
                    <a:bodyPr/>
                    <a:p>
                      <a:pPr>
                        <a:defRPr/>
                      </a:pPr>
                      <a:r>
                        <a:rPr sz="1600" b="0">
                          <a:solidFill>
                            <a:srgbClr val="151B23"/>
                          </a:solidFill>
                        </a:rPr>
                        <a:t>1.500</a:t>
                      </a:r>
                      <a:endParaRPr/>
                    </a:p>
                  </a:txBody>
                  <a:tcPr marL="91440" marR="91440" marT="45720" marB="45720">
                    <a:solidFill>
                      <a:srgbClr val="FFFFFF"/>
                    </a:solidFill>
                  </a:tcPr>
                </a:tc>
                <a:tc>
                  <a:txBody>
                    <a:bodyPr/>
                    <a:p>
                      <a:pPr>
                        <a:defRPr/>
                      </a:pPr>
                      <a:r>
                        <a:rPr sz="1600" b="0">
                          <a:solidFill>
                            <a:srgbClr val="151B23"/>
                          </a:solidFill>
                        </a:rPr>
                        <a:t>388,17</a:t>
                      </a:r>
                      <a:endParaRPr/>
                    </a:p>
                  </a:txBody>
                  <a:tcPr marL="91440" marR="91440" marT="45720" marB="45720">
                    <a:solidFill>
                      <a:srgbClr val="FFFFFF"/>
                    </a:solidFill>
                  </a:tcPr>
                </a:tc>
                <a:tc>
                  <a:txBody>
                    <a:bodyPr/>
                    <a:p>
                      <a:pPr>
                        <a:defRPr/>
                      </a:pPr>
                      <a:r>
                        <a:rPr sz="1600" b="0">
                          <a:solidFill>
                            <a:srgbClr val="151B23"/>
                          </a:solidFill>
                        </a:rPr>
                        <a:t>5.344,45</a:t>
                      </a:r>
                      <a:endParaRPr/>
                    </a:p>
                  </a:txBody>
                  <a:tcPr marL="91440" marR="91440" marT="45720" marB="45720">
                    <a:solidFill>
                      <a:srgbClr val="FFFFFF"/>
                    </a:solidFill>
                  </a:tcPr>
                </a:tc>
                <a:tc>
                  <a:txBody>
                    <a:bodyPr/>
                    <a:p>
                      <a:pPr>
                        <a:defRPr/>
                      </a:pPr>
                      <a:r>
                        <a:rPr sz="1600" b="0">
                          <a:solidFill>
                            <a:srgbClr val="151B23"/>
                          </a:solidFill>
                        </a:rPr>
                        <a:t>1,486</a:t>
                      </a:r>
                      <a:endParaRPr/>
                    </a:p>
                  </a:txBody>
                  <a:tcPr marL="91440" marR="91440" marT="45720" marB="45720">
                    <a:solidFill>
                      <a:srgbClr val="FFFFFF"/>
                    </a:solidFill>
                  </a:tcPr>
                </a:tc>
              </a:tr>
              <a:tr h="304800">
                <a:tc>
                  <a:txBody>
                    <a:bodyPr/>
                    <a:p>
                      <a:pPr>
                        <a:defRPr/>
                      </a:pPr>
                      <a:r>
                        <a:rPr sz="1600" b="0">
                          <a:solidFill>
                            <a:srgbClr val="151B23"/>
                          </a:solidFill>
                        </a:rPr>
                        <a:t>Sau spike</a:t>
                      </a:r>
                      <a:endParaRPr/>
                    </a:p>
                  </a:txBody>
                  <a:tcPr marL="91440" marR="91440" marT="45720" marB="45720">
                    <a:solidFill>
                      <a:srgbClr val="FFFFFF"/>
                    </a:solidFill>
                  </a:tcPr>
                </a:tc>
                <a:tc>
                  <a:txBody>
                    <a:bodyPr/>
                    <a:p>
                      <a:pPr>
                        <a:defRPr/>
                      </a:pPr>
                      <a:r>
                        <a:rPr sz="1600" b="0">
                          <a:solidFill>
                            <a:srgbClr val="151B23"/>
                          </a:solidFill>
                        </a:rPr>
                        <a:t>60 giây</a:t>
                      </a:r>
                      <a:endParaRPr/>
                    </a:p>
                  </a:txBody>
                  <a:tcPr marL="91440" marR="91440" marT="45720" marB="45720">
                    <a:solidFill>
                      <a:srgbClr val="FFFFFF"/>
                    </a:solidFill>
                  </a:tcPr>
                </a:tc>
                <a:tc>
                  <a:txBody>
                    <a:bodyPr/>
                    <a:p>
                      <a:pPr>
                        <a:defRPr/>
                      </a:pPr>
                      <a:r>
                        <a:rPr sz="1600" b="0">
                          <a:solidFill>
                            <a:srgbClr val="151B23"/>
                          </a:solidFill>
                        </a:rPr>
                        <a:t>50</a:t>
                      </a:r>
                      <a:endParaRPr/>
                    </a:p>
                  </a:txBody>
                  <a:tcPr marL="91440" marR="91440" marT="45720" marB="45720">
                    <a:solidFill>
                      <a:srgbClr val="FFFFFF"/>
                    </a:solidFill>
                  </a:tcPr>
                </a:tc>
                <a:tc>
                  <a:txBody>
                    <a:bodyPr/>
                    <a:p>
                      <a:pPr>
                        <a:defRPr/>
                      </a:pPr>
                      <a:r>
                        <a:rPr sz="1600" b="0">
                          <a:solidFill>
                            <a:srgbClr val="151B23"/>
                          </a:solidFill>
                        </a:rPr>
                        <a:t>18,08</a:t>
                      </a:r>
                      <a:endParaRPr/>
                    </a:p>
                  </a:txBody>
                  <a:tcPr marL="91440" marR="91440" marT="45720" marB="45720">
                    <a:solidFill>
                      <a:srgbClr val="FFFFFF"/>
                    </a:solidFill>
                  </a:tcPr>
                </a:tc>
                <a:tc>
                  <a:txBody>
                    <a:bodyPr/>
                    <a:p>
                      <a:pPr>
                        <a:defRPr/>
                      </a:pPr>
                      <a:r>
                        <a:rPr sz="1600" b="0">
                          <a:solidFill>
                            <a:srgbClr val="151B23"/>
                          </a:solidFill>
                        </a:rPr>
                        <a:t>13,04</a:t>
                      </a:r>
                      <a:endParaRPr/>
                    </a:p>
                  </a:txBody>
                  <a:tcPr marL="91440" marR="91440" marT="45720" marB="45720">
                    <a:solidFill>
                      <a:srgbClr val="FFFFFF"/>
                    </a:solidFill>
                  </a:tcPr>
                </a:tc>
                <a:tc>
                  <a:txBody>
                    <a:bodyPr/>
                    <a:p>
                      <a:pPr>
                        <a:defRPr/>
                      </a:pPr>
                      <a:r>
                        <a:rPr sz="1600" b="0">
                          <a:solidFill>
                            <a:srgbClr val="151B23"/>
                          </a:solidFill>
                        </a:rPr>
                        <a:t>0,000</a:t>
                      </a:r>
                      <a:endParaRPr/>
                    </a:p>
                  </a:txBody>
                  <a:tcPr marL="91440" marR="91440" marT="45720" marB="45720">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0475390" name="BÀI TẬP CỦA QUỐC THÁI"/>
          <p:cNvSpPr>
            <a:spLocks noGrp="1"/>
          </p:cNvSpPr>
          <p:nvPr/>
        </p:nvSpPr>
        <p:spPr bwMode="auto">
          <a:xfrm>
            <a:off x="609600" y="323850"/>
            <a:ext cx="10572750" cy="266700"/>
          </a:xfrm>
          <a:prstGeom prst="rect">
            <a:avLst/>
          </a:prstGeom>
          <a:noFill/>
          <a:ln w="0">
            <a:noFill/>
          </a:ln>
        </p:spPr>
        <p:txBody>
          <a:bodyPr lIns="0" tIns="0" rIns="0" bIns="0"/>
          <a:lstStyle>
            <a:defPPr>
              <a:defRPr sz="1300" b="1">
                <a:solidFill>
                  <a:srgbClr val="2456A6"/>
                </a:solidFill>
              </a:defRPr>
            </a:defPPr>
            <a:lvl1pPr>
              <a:buNone/>
              <a:defRPr sz="1300" b="1">
                <a:solidFill>
                  <a:srgbClr val="2456A6"/>
                </a:solidFill>
              </a:defRPr>
            </a:lvl1pPr>
            <a:lvl2pPr>
              <a:buNone/>
              <a:defRPr sz="1300" b="1">
                <a:solidFill>
                  <a:srgbClr val="2456A6"/>
                </a:solidFill>
              </a:defRPr>
            </a:lvl2pPr>
            <a:lvl3pPr>
              <a:buNone/>
              <a:defRPr sz="1300" b="1">
                <a:solidFill>
                  <a:srgbClr val="2456A6"/>
                </a:solidFill>
              </a:defRPr>
            </a:lvl3pPr>
            <a:lvl4pPr>
              <a:buNone/>
              <a:defRPr sz="1300" b="1">
                <a:solidFill>
                  <a:srgbClr val="2456A6"/>
                </a:solidFill>
              </a:defRPr>
            </a:lvl4pPr>
            <a:lvl5pPr>
              <a:buNone/>
              <a:defRPr sz="1300" b="1">
                <a:solidFill>
                  <a:srgbClr val="2456A6"/>
                </a:solidFill>
              </a:defRPr>
            </a:lvl5pPr>
            <a:lvl6pPr>
              <a:buNone/>
              <a:defRPr sz="1300" b="1">
                <a:solidFill>
                  <a:srgbClr val="2456A6"/>
                </a:solidFill>
              </a:defRPr>
            </a:lvl6pPr>
            <a:lvl7pPr>
              <a:buNone/>
              <a:defRPr sz="1300" b="1">
                <a:solidFill>
                  <a:srgbClr val="2456A6"/>
                </a:solidFill>
              </a:defRPr>
            </a:lvl7pPr>
            <a:lvl8pPr>
              <a:buNone/>
              <a:defRPr sz="1300" b="1">
                <a:solidFill>
                  <a:srgbClr val="2456A6"/>
                </a:solidFill>
              </a:defRPr>
            </a:lvl8pPr>
            <a:lvl9pPr>
              <a:buNone/>
              <a:defRPr sz="1300" b="1">
                <a:solidFill>
                  <a:srgbClr val="2456A6"/>
                </a:solidFill>
              </a:defRPr>
            </a:lvl9pPr>
          </a:lstStyle>
          <a:p>
            <a:pPr>
              <a:buNone/>
              <a:defRPr sz="1300" b="1">
                <a:solidFill>
                  <a:srgbClr val="2456A6"/>
                </a:solidFill>
              </a:defRPr>
            </a:pPr>
            <a:r>
              <a:rPr sz="1300" b="1">
                <a:solidFill>
                  <a:srgbClr val="2456A6"/>
                </a:solidFill>
              </a:rPr>
              <a:t>BÀI TẬP CỦA QUỐC THÁI</a:t>
            </a:r>
            <a:endParaRPr/>
          </a:p>
        </p:txBody>
      </p:sp>
      <p:sp>
        <p:nvSpPr>
          <p:cNvPr id="866868683" name="Bài tập áp dụng 1: câu hỏi thảo luận"/>
          <p:cNvSpPr>
            <a:spLocks noGrp="1"/>
          </p:cNvSpPr>
          <p:nvPr/>
        </p:nvSpPr>
        <p:spPr bwMode="auto">
          <a:xfrm>
            <a:off x="609600" y="742950"/>
            <a:ext cx="10972800" cy="914400"/>
          </a:xfrm>
          <a:prstGeom prst="rect">
            <a:avLst/>
          </a:prstGeom>
          <a:noFill/>
          <a:ln w="0">
            <a:noFill/>
          </a:ln>
        </p:spPr>
        <p:txBody>
          <a:bodyPr lIns="0" tIns="0" rIns="0" bIns="0"/>
          <a:lstStyle>
            <a:defPPr>
              <a:defRPr sz="3250" b="1">
                <a:solidFill>
                  <a:srgbClr val="151B23"/>
                </a:solidFill>
              </a:defRPr>
            </a:defPPr>
            <a:lvl1pPr>
              <a:buNone/>
              <a:defRPr sz="3250" b="1">
                <a:solidFill>
                  <a:srgbClr val="151B23"/>
                </a:solidFill>
              </a:defRPr>
            </a:lvl1pPr>
            <a:lvl2pPr>
              <a:buNone/>
              <a:defRPr sz="3250" b="1">
                <a:solidFill>
                  <a:srgbClr val="151B23"/>
                </a:solidFill>
              </a:defRPr>
            </a:lvl2pPr>
            <a:lvl3pPr>
              <a:buNone/>
              <a:defRPr sz="3250" b="1">
                <a:solidFill>
                  <a:srgbClr val="151B23"/>
                </a:solidFill>
              </a:defRPr>
            </a:lvl3pPr>
            <a:lvl4pPr>
              <a:buNone/>
              <a:defRPr sz="3250" b="1">
                <a:solidFill>
                  <a:srgbClr val="151B23"/>
                </a:solidFill>
              </a:defRPr>
            </a:lvl4pPr>
            <a:lvl5pPr>
              <a:buNone/>
              <a:defRPr sz="3250" b="1">
                <a:solidFill>
                  <a:srgbClr val="151B23"/>
                </a:solidFill>
              </a:defRPr>
            </a:lvl5pPr>
            <a:lvl6pPr>
              <a:buNone/>
              <a:defRPr sz="3250" b="1">
                <a:solidFill>
                  <a:srgbClr val="151B23"/>
                </a:solidFill>
              </a:defRPr>
            </a:lvl6pPr>
            <a:lvl7pPr>
              <a:buNone/>
              <a:defRPr sz="3250" b="1">
                <a:solidFill>
                  <a:srgbClr val="151B23"/>
                </a:solidFill>
              </a:defRPr>
            </a:lvl7pPr>
            <a:lvl8pPr>
              <a:buNone/>
              <a:defRPr sz="3250" b="1">
                <a:solidFill>
                  <a:srgbClr val="151B23"/>
                </a:solidFill>
              </a:defRPr>
            </a:lvl8pPr>
            <a:lvl9pPr>
              <a:buNone/>
              <a:defRPr sz="3250" b="1">
                <a:solidFill>
                  <a:srgbClr val="151B23"/>
                </a:solidFill>
              </a:defRPr>
            </a:lvl9pPr>
          </a:lstStyle>
          <a:p>
            <a:pPr>
              <a:buNone/>
              <a:defRPr sz="3250" b="1">
                <a:solidFill>
                  <a:srgbClr val="151B23"/>
                </a:solidFill>
              </a:defRPr>
            </a:pPr>
            <a:r>
              <a:rPr sz="3250" b="1">
                <a:solidFill>
                  <a:srgbClr val="151B23"/>
                </a:solidFill>
              </a:rPr>
              <a:t>Bài tập áp dụng 1: câu hỏi thảo luận</a:t>
            </a:r>
            <a:endParaRPr/>
          </a:p>
        </p:txBody>
      </p:sp>
      <p:sp>
        <p:nvSpPr>
          <p:cNvPr id="1492623057" name="Performance Testing trên EShop"/>
          <p:cNvSpPr>
            <a:spLocks noGrp="1"/>
          </p:cNvSpPr>
          <p:nvPr/>
        </p:nvSpPr>
        <p:spPr bwMode="auto">
          <a:xfrm>
            <a:off x="609600" y="6419850"/>
            <a:ext cx="95250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Performance Testing trên EShop</a:t>
            </a:r>
            <a:endParaRPr/>
          </a:p>
        </p:txBody>
      </p:sp>
      <p:sp>
        <p:nvSpPr>
          <p:cNvPr id="74519479" name="48"/>
          <p:cNvSpPr>
            <a:spLocks noGrp="1"/>
          </p:cNvSpPr>
          <p:nvPr/>
        </p:nvSpPr>
        <p:spPr bwMode="auto">
          <a:xfrm>
            <a:off x="11049000" y="6419850"/>
            <a:ext cx="533400" cy="228600"/>
          </a:xfrm>
          <a:prstGeom prst="rect">
            <a:avLst/>
          </a:prstGeom>
          <a:noFill/>
          <a:ln w="0">
            <a:noFill/>
          </a:ln>
        </p:spPr>
        <p:txBody>
          <a:bodyPr lIns="0" tIns="0" rIns="0" bIns="0"/>
          <a:lstStyle>
            <a:defPPr>
              <a:defRPr sz="1200" b="0">
                <a:solidFill>
                  <a:srgbClr val="596471"/>
                </a:solidFill>
              </a:defRPr>
            </a:defPPr>
            <a:lvl1pPr>
              <a:buNone/>
              <a:defRPr sz="1200" b="0">
                <a:solidFill>
                  <a:srgbClr val="596471"/>
                </a:solidFill>
              </a:defRPr>
            </a:lvl1pPr>
            <a:lvl2pPr>
              <a:buNone/>
              <a:defRPr sz="1200" b="0">
                <a:solidFill>
                  <a:srgbClr val="596471"/>
                </a:solidFill>
              </a:defRPr>
            </a:lvl2pPr>
            <a:lvl3pPr>
              <a:buNone/>
              <a:defRPr sz="1200" b="0">
                <a:solidFill>
                  <a:srgbClr val="596471"/>
                </a:solidFill>
              </a:defRPr>
            </a:lvl3pPr>
            <a:lvl4pPr>
              <a:buNone/>
              <a:defRPr sz="1200" b="0">
                <a:solidFill>
                  <a:srgbClr val="596471"/>
                </a:solidFill>
              </a:defRPr>
            </a:lvl4pPr>
            <a:lvl5pPr>
              <a:buNone/>
              <a:defRPr sz="1200" b="0">
                <a:solidFill>
                  <a:srgbClr val="596471"/>
                </a:solidFill>
              </a:defRPr>
            </a:lvl5pPr>
            <a:lvl6pPr>
              <a:buNone/>
              <a:defRPr sz="1200" b="0">
                <a:solidFill>
                  <a:srgbClr val="596471"/>
                </a:solidFill>
              </a:defRPr>
            </a:lvl6pPr>
            <a:lvl7pPr>
              <a:buNone/>
              <a:defRPr sz="1200" b="0">
                <a:solidFill>
                  <a:srgbClr val="596471"/>
                </a:solidFill>
              </a:defRPr>
            </a:lvl7pPr>
            <a:lvl8pPr>
              <a:buNone/>
              <a:defRPr sz="1200" b="0">
                <a:solidFill>
                  <a:srgbClr val="596471"/>
                </a:solidFill>
              </a:defRPr>
            </a:lvl8pPr>
            <a:lvl9pPr>
              <a:buNone/>
              <a:defRPr sz="1200" b="0">
                <a:solidFill>
                  <a:srgbClr val="596471"/>
                </a:solidFill>
              </a:defRPr>
            </a:lvl9pPr>
          </a:lstStyle>
          <a:p>
            <a:pPr>
              <a:buNone/>
              <a:defRPr sz="1200" b="0">
                <a:solidFill>
                  <a:srgbClr val="596471"/>
                </a:solidFill>
              </a:defRPr>
            </a:pPr>
            <a:r>
              <a:rPr sz="1200" b="0">
                <a:solidFill>
                  <a:srgbClr val="596471"/>
                </a:solidFill>
              </a:rPr>
              <a:t>48</a:t>
            </a:r>
            <a:endParaRPr/>
          </a:p>
        </p:txBody>
      </p:sp>
      <p:sp>
        <p:nvSpPr>
          <p:cNvPr id="1251630404" name="Câu 1: đọc chỉ số (1 phút)"/>
          <p:cNvSpPr>
            <a:spLocks noGrp="1"/>
          </p:cNvSpPr>
          <p:nvPr/>
        </p:nvSpPr>
        <p:spPr bwMode="auto">
          <a:xfrm>
            <a:off x="609600" y="176212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Câu 1: đọc chỉ số (1 phút)</a:t>
            </a:r>
            <a:endParaRPr/>
          </a:p>
        </p:txBody>
      </p:sp>
      <p:sp>
        <p:nvSpPr>
          <p:cNvPr id="785082055" name="Trong spike, p95 = 5.344,45 ms có nghĩa gì? Đối chiếu cả p95 và tỷ lệ "/>
          <p:cNvSpPr>
            <a:spLocks noGrp="1"/>
          </p:cNvSpPr>
          <p:nvPr/>
        </p:nvSpPr>
        <p:spPr bwMode="auto">
          <a:xfrm>
            <a:off x="609600" y="2124075"/>
            <a:ext cx="10953750" cy="80962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Trong spike, p95 = 5.344,45 ms có nghĩa gì?</a:t>
            </a:r>
            <a:endParaRPr/>
          </a:p>
          <a:p>
            <a:pPr>
              <a:buNone/>
              <a:defRPr sz="2050" b="0">
                <a:solidFill>
                  <a:srgbClr val="151B23"/>
                </a:solidFill>
              </a:defRPr>
            </a:pPr>
            <a:r>
              <a:rPr sz="2050" b="0">
                <a:solidFill>
                  <a:srgbClr val="151B23"/>
                </a:solidFill>
              </a:rPr>
              <a:t>Đối chiếu cả p95 và tỷ lệ HTTP lỗi để kết luận giai đoạn này đạt hay không.</a:t>
            </a:r>
            <a:endParaRPr/>
          </a:p>
        </p:txBody>
      </p:sp>
      <p:sp>
        <p:nvSpPr>
          <p:cNvPr id="1817368418" name="Câu 2: đọc stress test (2 phút)"/>
          <p:cNvSpPr>
            <a:spLocks noGrp="1"/>
          </p:cNvSpPr>
          <p:nvPr/>
        </p:nvSpPr>
        <p:spPr bwMode="auto">
          <a:xfrm>
            <a:off x="609600" y="326707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Câu 2: đọc stress test (2 phút)</a:t>
            </a:r>
            <a:endParaRPr/>
          </a:p>
        </p:txBody>
      </p:sp>
      <p:sp>
        <p:nvSpPr>
          <p:cNvPr id="2079176627" name="Trong bảng A, bậc tải đầu tiên không đạt là bậc nào? Dẫn số liệu chứng"/>
          <p:cNvSpPr>
            <a:spLocks noGrp="1"/>
          </p:cNvSpPr>
          <p:nvPr/>
        </p:nvSpPr>
        <p:spPr bwMode="auto">
          <a:xfrm>
            <a:off x="609600" y="3629025"/>
            <a:ext cx="10953750" cy="714375"/>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Trong bảng A, bậc tải đầu tiên không đạt là bậc nào?</a:t>
            </a:r>
            <a:endParaRPr/>
          </a:p>
          <a:p>
            <a:pPr>
              <a:buNone/>
              <a:defRPr sz="2050" b="0">
                <a:solidFill>
                  <a:srgbClr val="151B23"/>
                </a:solidFill>
              </a:defRPr>
            </a:pPr>
            <a:r>
              <a:rPr sz="2050" b="0">
                <a:solidFill>
                  <a:srgbClr val="151B23"/>
                </a:solidFill>
              </a:rPr>
              <a:t>Dẫn số liệu chứng minh.</a:t>
            </a:r>
            <a:endParaRPr/>
          </a:p>
        </p:txBody>
      </p:sp>
      <p:sp>
        <p:nvSpPr>
          <p:cNvPr id="235095199" name="Câu 3: đọc spike test (2 phút)"/>
          <p:cNvSpPr>
            <a:spLocks noGrp="1"/>
          </p:cNvSpPr>
          <p:nvPr/>
        </p:nvSpPr>
        <p:spPr bwMode="auto">
          <a:xfrm>
            <a:off x="609600" y="4676775"/>
            <a:ext cx="10953750" cy="304800"/>
          </a:xfrm>
          <a:prstGeom prst="rect">
            <a:avLst/>
          </a:prstGeom>
          <a:noFill/>
          <a:ln w="0">
            <a:noFill/>
          </a:ln>
        </p:spPr>
        <p:txBody>
          <a:bodyPr lIns="0" tIns="0" rIns="0" bIns="0"/>
          <a:lstStyle>
            <a:defPPr>
              <a:defRPr sz="2050" b="1">
                <a:solidFill>
                  <a:srgbClr val="2456A6"/>
                </a:solidFill>
              </a:defRPr>
            </a:defPPr>
            <a:lvl1pPr>
              <a:buNone/>
              <a:defRPr sz="2050" b="1">
                <a:solidFill>
                  <a:srgbClr val="2456A6"/>
                </a:solidFill>
              </a:defRPr>
            </a:lvl1pPr>
            <a:lvl2pPr>
              <a:buNone/>
              <a:defRPr sz="2050" b="1">
                <a:solidFill>
                  <a:srgbClr val="2456A6"/>
                </a:solidFill>
              </a:defRPr>
            </a:lvl2pPr>
            <a:lvl3pPr>
              <a:buNone/>
              <a:defRPr sz="2050" b="1">
                <a:solidFill>
                  <a:srgbClr val="2456A6"/>
                </a:solidFill>
              </a:defRPr>
            </a:lvl3pPr>
            <a:lvl4pPr>
              <a:buNone/>
              <a:defRPr sz="2050" b="1">
                <a:solidFill>
                  <a:srgbClr val="2456A6"/>
                </a:solidFill>
              </a:defRPr>
            </a:lvl4pPr>
            <a:lvl5pPr>
              <a:buNone/>
              <a:defRPr sz="2050" b="1">
                <a:solidFill>
                  <a:srgbClr val="2456A6"/>
                </a:solidFill>
              </a:defRPr>
            </a:lvl5pPr>
            <a:lvl6pPr>
              <a:buNone/>
              <a:defRPr sz="2050" b="1">
                <a:solidFill>
                  <a:srgbClr val="2456A6"/>
                </a:solidFill>
              </a:defRPr>
            </a:lvl6pPr>
            <a:lvl7pPr>
              <a:buNone/>
              <a:defRPr sz="2050" b="1">
                <a:solidFill>
                  <a:srgbClr val="2456A6"/>
                </a:solidFill>
              </a:defRPr>
            </a:lvl7pPr>
            <a:lvl8pPr>
              <a:buNone/>
              <a:defRPr sz="2050" b="1">
                <a:solidFill>
                  <a:srgbClr val="2456A6"/>
                </a:solidFill>
              </a:defRPr>
            </a:lvl8pPr>
            <a:lvl9pPr>
              <a:buNone/>
              <a:defRPr sz="2050" b="1">
                <a:solidFill>
                  <a:srgbClr val="2456A6"/>
                </a:solidFill>
              </a:defRPr>
            </a:lvl9pPr>
          </a:lstStyle>
          <a:p>
            <a:pPr>
              <a:buNone/>
              <a:defRPr sz="2050" b="1">
                <a:solidFill>
                  <a:srgbClr val="2456A6"/>
                </a:solidFill>
              </a:defRPr>
            </a:pPr>
            <a:r>
              <a:rPr sz="2050" b="1">
                <a:solidFill>
                  <a:srgbClr val="2456A6"/>
                </a:solidFill>
              </a:rPr>
              <a:t>Câu 3: đọc spike test (2 phút)</a:t>
            </a:r>
            <a:endParaRPr/>
          </a:p>
        </p:txBody>
      </p:sp>
      <p:sp>
        <p:nvSpPr>
          <p:cNvPr id="621762186" name="“RPS trong spike cao hơn trước spike nên hệ thống chịu spike tốt.” Nhậ"/>
          <p:cNvSpPr>
            <a:spLocks noGrp="1"/>
          </p:cNvSpPr>
          <p:nvPr/>
        </p:nvSpPr>
        <p:spPr bwMode="auto">
          <a:xfrm>
            <a:off x="609600" y="5038725"/>
            <a:ext cx="10953750" cy="857250"/>
          </a:xfrm>
          <a:prstGeom prst="rect">
            <a:avLst/>
          </a:prstGeom>
          <a:noFill/>
          <a:ln w="0">
            <a:noFill/>
          </a:ln>
        </p:spPr>
        <p:txBody>
          <a:bodyPr lIns="0" tIns="0" rIns="0" bIns="0"/>
          <a:lstStyle>
            <a:defPPr>
              <a:defRPr sz="2050" b="0">
                <a:solidFill>
                  <a:srgbClr val="151B23"/>
                </a:solidFill>
              </a:defRPr>
            </a:defPPr>
            <a:lvl1pPr>
              <a:buNone/>
              <a:defRPr sz="2050" b="0">
                <a:solidFill>
                  <a:srgbClr val="151B23"/>
                </a:solidFill>
              </a:defRPr>
            </a:lvl1pPr>
            <a:lvl2pPr>
              <a:buNone/>
              <a:defRPr sz="2050" b="0">
                <a:solidFill>
                  <a:srgbClr val="151B23"/>
                </a:solidFill>
              </a:defRPr>
            </a:lvl2pPr>
            <a:lvl3pPr>
              <a:buNone/>
              <a:defRPr sz="2050" b="0">
                <a:solidFill>
                  <a:srgbClr val="151B23"/>
                </a:solidFill>
              </a:defRPr>
            </a:lvl3pPr>
            <a:lvl4pPr>
              <a:buNone/>
              <a:defRPr sz="2050" b="0">
                <a:solidFill>
                  <a:srgbClr val="151B23"/>
                </a:solidFill>
              </a:defRPr>
            </a:lvl4pPr>
            <a:lvl5pPr>
              <a:buNone/>
              <a:defRPr sz="2050" b="0">
                <a:solidFill>
                  <a:srgbClr val="151B23"/>
                </a:solidFill>
              </a:defRPr>
            </a:lvl5pPr>
            <a:lvl6pPr>
              <a:buNone/>
              <a:defRPr sz="2050" b="0">
                <a:solidFill>
                  <a:srgbClr val="151B23"/>
                </a:solidFill>
              </a:defRPr>
            </a:lvl6pPr>
            <a:lvl7pPr>
              <a:buNone/>
              <a:defRPr sz="2050" b="0">
                <a:solidFill>
                  <a:srgbClr val="151B23"/>
                </a:solidFill>
              </a:defRPr>
            </a:lvl7pPr>
            <a:lvl8pPr>
              <a:buNone/>
              <a:defRPr sz="2050" b="0">
                <a:solidFill>
                  <a:srgbClr val="151B23"/>
                </a:solidFill>
              </a:defRPr>
            </a:lvl8pPr>
            <a:lvl9pPr>
              <a:buNone/>
              <a:defRPr sz="2050" b="0">
                <a:solidFill>
                  <a:srgbClr val="151B23"/>
                </a:solidFill>
              </a:defRPr>
            </a:lvl9pPr>
          </a:lstStyle>
          <a:p>
            <a:pPr>
              <a:buNone/>
              <a:defRPr sz="2050" b="0">
                <a:solidFill>
                  <a:srgbClr val="151B23"/>
                </a:solidFill>
              </a:defRPr>
            </a:pPr>
            <a:r>
              <a:rPr sz="2050" b="0">
                <a:solidFill>
                  <a:srgbClr val="151B23"/>
                </a:solidFill>
              </a:rPr>
              <a:t>“RPS trong spike cao hơn trước spike nên hệ thống chịu spike tốt.”</a:t>
            </a:r>
            <a:endParaRPr/>
          </a:p>
          <a:p>
            <a:pPr>
              <a:buNone/>
              <a:defRPr sz="2050" b="0">
                <a:solidFill>
                  <a:srgbClr val="151B23"/>
                </a:solidFill>
              </a:defRPr>
            </a:pPr>
            <a:r>
              <a:rPr sz="2050" b="0">
                <a:solidFill>
                  <a:srgbClr val="151B23"/>
                </a:solidFill>
              </a:rPr>
              <a:t>Nhận xét ý kiến này. Sau spike có đạt cả hai tiêu chí không? Dẫn số liệu.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85985961" name="JMETER / HỮU THẮ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JMETER / HỮU THẮNG</a:t>
            </a:r>
            <a:endParaRPr/>
          </a:p>
        </p:txBody>
      </p:sp>
      <p:sp>
        <p:nvSpPr>
          <p:cNvPr id="1521025359" name="JMeter: các thành phần của test plan"/>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JMeter: các thành phần của test plan</a:t>
            </a:r>
            <a:endParaRPr/>
          </a:p>
        </p:txBody>
      </p:sp>
      <p:sp>
        <p:nvSpPr>
          <p:cNvPr id="1529659086"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559804759" name="24"/>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49</a:t>
            </a:r>
            <a:endParaRPr/>
          </a:p>
        </p:txBody>
      </p:sp>
      <p:graphicFrame>
        <p:nvGraphicFramePr>
          <p:cNvPr id="857923425"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4000500"/>
                <a:gridCol w="6972300"/>
              </a:tblGrid>
              <a:tr h="720725">
                <a:tc>
                  <a:txBody>
                    <a:bodyPr/>
                    <a:p>
                      <a:pPr>
                        <a:buNone/>
                        <a:defRPr/>
                      </a:pPr>
                      <a:r>
                        <a:rPr sz="1800" b="1">
                          <a:solidFill>
                            <a:srgbClr val="153E75"/>
                          </a:solidFill>
                          <a:latin typeface="Arial"/>
                          <a:ea typeface="Arial"/>
                          <a:cs typeface="Arial"/>
                        </a:rPr>
                        <a:t>Thành phần</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Vai trò</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720725">
                <a:tc>
                  <a:txBody>
                    <a:bodyPr/>
                    <a:p>
                      <a:pPr>
                        <a:buNone/>
                        <a:defRPr/>
                      </a:pPr>
                      <a:r>
                        <a:rPr sz="1800">
                          <a:solidFill>
                            <a:srgbClr val="151B23"/>
                          </a:solidFill>
                          <a:latin typeface="Arial"/>
                          <a:ea typeface="Arial"/>
                          <a:cs typeface="Arial"/>
                        </a:rPr>
                        <a:t>Thread Group</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Người dùng, ramp-up và vòng lặp</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HTTP Request sampler</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Gửi request API</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Config / CSV Data Set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Header, biến và dữ liệu đầu vào</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Extractor / Assertion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Lấy dữ liệu động và kiểm tra response</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Timer / Controller</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Think-time và điều phối workload</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46299554" name="JMETER / CÀI ĐẶT"/>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JMETER / CÀI ĐẶT</a:t>
            </a:r>
            <a:endParaRPr/>
          </a:p>
        </p:txBody>
      </p:sp>
      <p:sp>
        <p:nvSpPr>
          <p:cNvPr id="2134518433" name="JMeter: chuẩn bị và chạy CLI"/>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JMeter: chuẩn bị và chạy CLI</a:t>
            </a:r>
            <a:endParaRPr/>
          </a:p>
        </p:txBody>
      </p:sp>
      <p:sp>
        <p:nvSpPr>
          <p:cNvPr id="104576935"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762316016" name="25"/>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50</a:t>
            </a:r>
            <a:endParaRPr/>
          </a:p>
        </p:txBody>
      </p:sp>
      <p:sp>
        <p:nvSpPr>
          <p:cNvPr id="345824616"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600824740" name="Cài Java và JMeter, kiểm tra phiên bản theo README."/>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Cài Java và JMeter, kiểm tra phiên bản theo README.</a:t>
            </a:r>
            <a:endParaRPr/>
          </a:p>
        </p:txBody>
      </p:sp>
      <p:sp>
        <p:nvSpPr>
          <p:cNvPr id="1666503979"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598756711" name="Khởi động SUT, chuẩn bị dữ liệu test tương ứng."/>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Khởi động SUT, chuẩn bị dữ liệu test tương ứng.</a:t>
            </a:r>
            <a:endParaRPr/>
          </a:p>
        </p:txBody>
      </p:sp>
      <p:sp>
        <p:nvSpPr>
          <p:cNvPr id="950970336"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892134747" name="Mở eshop_workload.jmx để xem cấu trúc."/>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Mở eshop_workload.jmx để xem cấu trúc.</a:t>
            </a:r>
            <a:endParaRPr/>
          </a:p>
        </p:txBody>
      </p:sp>
      <p:sp>
        <p:nvSpPr>
          <p:cNvPr id="855132218"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2000726094" name="Chạy CLI và xuất JTL cùng HTML report."/>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Chạy CLI và xuất JTL cùng HTML report.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5762614" name="JMETER / CHỨC NĂ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JMETER / CHỨC NĂNG</a:t>
            </a:r>
            <a:endParaRPr/>
          </a:p>
        </p:txBody>
      </p:sp>
      <p:sp>
        <p:nvSpPr>
          <p:cNvPr id="1887724210" name="JMeter: luồng nghiệp vụ và workload"/>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JMeter: luồng nghiệp vụ và workload</a:t>
            </a:r>
            <a:endParaRPr/>
          </a:p>
        </p:txBody>
      </p:sp>
      <p:sp>
        <p:nvSpPr>
          <p:cNvPr id="1463312319"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259697191" name="26"/>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51</a:t>
            </a:r>
            <a:endParaRPr/>
          </a:p>
        </p:txBody>
      </p:sp>
      <p:sp>
        <p:nvSpPr>
          <p:cNvPr id="207749210"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1406005358" name="Mỗi thread đăng nhập theo cấu hình test plan."/>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Mỗi thread đăng nhập theo cấu hình test plan.</a:t>
            </a:r>
            <a:endParaRPr/>
          </a:p>
        </p:txBody>
      </p:sp>
      <p:sp>
        <p:nvSpPr>
          <p:cNvPr id="804224403"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738485676" name="Chọn Search, Detail hoặc Checkout theo mix 55/25/20."/>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Chọn Search, Detail hoặc Checkout theo mix 55/25/20.</a:t>
            </a:r>
            <a:endParaRPr/>
          </a:p>
        </p:txBody>
      </p:sp>
      <p:sp>
        <p:nvSpPr>
          <p:cNvPr id="753457429"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376775312" name="Dùng timer mô phỏng think-time từng action."/>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Dùng timer mô phỏng think-time từng action.</a:t>
            </a:r>
            <a:endParaRPr/>
          </a:p>
        </p:txBody>
      </p:sp>
      <p:sp>
        <p:nvSpPr>
          <p:cNvPr id="1708938741"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49023722" name="Ghi từng sample và assertion vào kết quả chạy."/>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Ghi từng sample và assertion vào kết quả chạy.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35297838" name="JMETER / KỊCH BẢN"/>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JMETER / KỊCH BẢN</a:t>
            </a:r>
            <a:endParaRPr/>
          </a:p>
        </p:txBody>
      </p:sp>
      <p:sp>
        <p:nvSpPr>
          <p:cNvPr id="913948301" name="JMeter: recorder, data driven và correlation"/>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JMeter: recorder, data driven và correlation</a:t>
            </a:r>
            <a:endParaRPr/>
          </a:p>
        </p:txBody>
      </p:sp>
      <p:sp>
        <p:nvSpPr>
          <p:cNvPr id="189746439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666999411" name="27"/>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52</a:t>
            </a:r>
            <a:endParaRPr/>
          </a:p>
        </p:txBody>
      </p:sp>
      <p:graphicFrame>
        <p:nvGraphicFramePr>
          <p:cNvPr id="1603484809"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333750"/>
                <a:gridCol w="7639050"/>
              </a:tblGrid>
              <a:tr h="720725">
                <a:tc>
                  <a:txBody>
                    <a:bodyPr/>
                    <a:p>
                      <a:pPr>
                        <a:buNone/>
                        <a:defRPr/>
                      </a:pPr>
                      <a:r>
                        <a:rPr sz="1800" b="1">
                          <a:solidFill>
                            <a:srgbClr val="153E75"/>
                          </a:solidFill>
                          <a:latin typeface="Arial"/>
                          <a:ea typeface="Arial"/>
                          <a:cs typeface="Arial"/>
                        </a:rPr>
                        <a:t>Khía cạnh</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Cách dùng trong bài</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720725">
                <a:tc>
                  <a:txBody>
                    <a:bodyPr/>
                    <a:p>
                      <a:pPr>
                        <a:buNone/>
                        <a:defRPr/>
                      </a:pPr>
                      <a:r>
                        <a:rPr sz="1800">
                          <a:solidFill>
                            <a:srgbClr val="151B23"/>
                          </a:solidFill>
                          <a:latin typeface="Arial"/>
                          <a:ea typeface="Arial"/>
                          <a:cs typeface="Arial"/>
                        </a:rPr>
                        <a:t>Record / playback</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Recorder hoặc traffic HAR làm tham chiếu test plan</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Data driven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CSV/biến cho tài khoản và dữ liệu request</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Correlation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Extractor lấy token, Header Manager gửi Bearer</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Checkpoint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Assertions kiểm tra status và nội dung</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Report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CLI lưu JTL rồi sinh HTML</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46350613" name="DEMO CỦA VÕ HỮU THẮ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DEMO CỦA VÕ HỮU THẮNG</a:t>
            </a:r>
            <a:endParaRPr/>
          </a:p>
        </p:txBody>
      </p:sp>
      <p:sp>
        <p:nvSpPr>
          <p:cNvPr id="541310986" name="Video demo 2: JMeter và đối chiếu"/>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Video demo 2: JMeter và đối chiếu</a:t>
            </a:r>
            <a:endParaRPr/>
          </a:p>
        </p:txBody>
      </p:sp>
      <p:sp>
        <p:nvSpPr>
          <p:cNvPr id="258620790"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2798464" name="28"/>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53</a:t>
            </a:r>
            <a:endParaRPr/>
          </a:p>
        </p:txBody>
      </p:sp>
      <p:sp>
        <p:nvSpPr>
          <p:cNvPr id="485512917" name="Võ Hữu Thắng"/>
          <p:cNvSpPr>
            <a:spLocks noGrp="1"/>
          </p:cNvSpPr>
          <p:nvPr/>
        </p:nvSpPr>
        <p:spPr bwMode="auto">
          <a:xfrm>
            <a:off x="609600" y="1752599"/>
            <a:ext cx="10972800" cy="400050"/>
          </a:xfrm>
          <a:prstGeom prst="rect">
            <a:avLst/>
          </a:prstGeom>
          <a:noFill/>
          <a:ln w="0">
            <a:noFill/>
          </a:ln>
        </p:spPr>
        <p:txBody>
          <a:bodyPr wrap="square" lIns="0" tIns="0" rIns="0" bIns="0">
            <a:noAutofit/>
          </a:bodyPr>
          <a:lstStyle>
            <a:defPPr>
              <a:defRPr sz="2250" b="1">
                <a:solidFill>
                  <a:srgbClr val="2456A6"/>
                </a:solidFill>
                <a:latin typeface="Arial"/>
                <a:ea typeface="Arial"/>
                <a:cs typeface="Arial"/>
              </a:defRPr>
            </a:defPPr>
            <a:lvl1pPr>
              <a:buNone/>
              <a:defRPr sz="2250" b="1">
                <a:solidFill>
                  <a:srgbClr val="2456A6"/>
                </a:solidFill>
                <a:latin typeface="Arial"/>
                <a:ea typeface="Arial"/>
                <a:cs typeface="Arial"/>
              </a:defRPr>
            </a:lvl1pPr>
            <a:lvl2pPr>
              <a:buNone/>
              <a:defRPr sz="2250" b="1">
                <a:solidFill>
                  <a:srgbClr val="2456A6"/>
                </a:solidFill>
                <a:latin typeface="Arial"/>
                <a:ea typeface="Arial"/>
                <a:cs typeface="Arial"/>
              </a:defRPr>
            </a:lvl2pPr>
            <a:lvl3pPr>
              <a:buNone/>
              <a:defRPr sz="2250" b="1">
                <a:solidFill>
                  <a:srgbClr val="2456A6"/>
                </a:solidFill>
                <a:latin typeface="Arial"/>
                <a:ea typeface="Arial"/>
                <a:cs typeface="Arial"/>
              </a:defRPr>
            </a:lvl3pPr>
            <a:lvl4pPr>
              <a:buNone/>
              <a:defRPr sz="2250" b="1">
                <a:solidFill>
                  <a:srgbClr val="2456A6"/>
                </a:solidFill>
                <a:latin typeface="Arial"/>
                <a:ea typeface="Arial"/>
                <a:cs typeface="Arial"/>
              </a:defRPr>
            </a:lvl4pPr>
            <a:lvl5pPr>
              <a:buNone/>
              <a:defRPr sz="2250" b="1">
                <a:solidFill>
                  <a:srgbClr val="2456A6"/>
                </a:solidFill>
                <a:latin typeface="Arial"/>
                <a:ea typeface="Arial"/>
                <a:cs typeface="Arial"/>
              </a:defRPr>
            </a:lvl5pPr>
            <a:lvl6pPr>
              <a:buNone/>
              <a:defRPr sz="2250" b="1">
                <a:solidFill>
                  <a:srgbClr val="2456A6"/>
                </a:solidFill>
                <a:latin typeface="Arial"/>
                <a:ea typeface="Arial"/>
                <a:cs typeface="Arial"/>
              </a:defRPr>
            </a:lvl6pPr>
            <a:lvl7pPr>
              <a:buNone/>
              <a:defRPr sz="2250" b="1">
                <a:solidFill>
                  <a:srgbClr val="2456A6"/>
                </a:solidFill>
                <a:latin typeface="Arial"/>
                <a:ea typeface="Arial"/>
                <a:cs typeface="Arial"/>
              </a:defRPr>
            </a:lvl7pPr>
            <a:lvl8pPr>
              <a:buNone/>
              <a:defRPr sz="2250" b="1">
                <a:solidFill>
                  <a:srgbClr val="2456A6"/>
                </a:solidFill>
                <a:latin typeface="Arial"/>
                <a:ea typeface="Arial"/>
                <a:cs typeface="Arial"/>
              </a:defRPr>
            </a:lvl8pPr>
            <a:lvl9pPr>
              <a:buNone/>
              <a:defRPr sz="2250" b="1">
                <a:solidFill>
                  <a:srgbClr val="2456A6"/>
                </a:solidFill>
                <a:latin typeface="Arial"/>
                <a:ea typeface="Arial"/>
                <a:cs typeface="Arial"/>
              </a:defRPr>
            </a:lvl9pPr>
          </a:lstStyle>
          <a:p>
            <a:pPr>
              <a:buNone/>
              <a:defRPr sz="2250" b="1">
                <a:solidFill>
                  <a:srgbClr val="2456A6"/>
                </a:solidFill>
                <a:latin typeface="Arial"/>
                <a:ea typeface="Arial"/>
                <a:cs typeface="Arial"/>
              </a:defRPr>
            </a:pPr>
            <a:r>
              <a:rPr sz="2250" b="1">
                <a:solidFill>
                  <a:srgbClr val="2456A6"/>
                </a:solidFill>
                <a:latin typeface="Arial"/>
                <a:ea typeface="Arial"/>
                <a:cs typeface="Arial"/>
              </a:rPr>
              <a:t>Võ Hữu Thắng</a:t>
            </a:r>
            <a:endParaRPr/>
          </a:p>
        </p:txBody>
      </p:sp>
      <p:sp>
        <p:nvSpPr>
          <p:cNvPr id="1083428905" name="1. Cài Java/JMeter và mở test plan EShop."/>
          <p:cNvSpPr>
            <a:spLocks noGrp="1"/>
          </p:cNvSpPr>
          <p:nvPr/>
        </p:nvSpPr>
        <p:spPr bwMode="auto">
          <a:xfrm>
            <a:off x="609600" y="2438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1. Cài Java/JMeter và mở test plan EShop.</a:t>
            </a:r>
            <a:endParaRPr/>
          </a:p>
        </p:txBody>
      </p:sp>
      <p:sp>
        <p:nvSpPr>
          <p:cNvPr id="1193708141" name="2. Dữ liệu, token extractor và assertions."/>
          <p:cNvSpPr>
            <a:spLocks noGrp="1"/>
          </p:cNvSpPr>
          <p:nvPr/>
        </p:nvSpPr>
        <p:spPr bwMode="auto">
          <a:xfrm>
            <a:off x="609600" y="3200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2. Dữ liệu, token extractor và assertions.</a:t>
            </a:r>
            <a:endParaRPr/>
          </a:p>
        </p:txBody>
      </p:sp>
      <p:sp>
        <p:nvSpPr>
          <p:cNvPr id="761021398" name="3. Chạy CLI, xem HTML report và so sánh với k6."/>
          <p:cNvSpPr>
            <a:spLocks noGrp="1"/>
          </p:cNvSpPr>
          <p:nvPr/>
        </p:nvSpPr>
        <p:spPr bwMode="auto">
          <a:xfrm>
            <a:off x="609600" y="3962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3. Chạy CLI, xem HTML report và so sánh với k6.</a:t>
            </a:r>
            <a:endParaRPr/>
          </a:p>
        </p:txBody>
      </p:sp>
      <p:sp>
        <p:nvSpPr>
          <p:cNvPr id="611760784" name="LINK_VIDEO_2"/>
          <p:cNvSpPr>
            <a:spLocks noGrp="1"/>
          </p:cNvSpPr>
          <p:nvPr/>
        </p:nvSpPr>
        <p:spPr bwMode="auto">
          <a:xfrm>
            <a:off x="609600" y="5181600"/>
            <a:ext cx="10972800" cy="495300"/>
          </a:xfrm>
          <a:prstGeom prst="rect">
            <a:avLst/>
          </a:prstGeom>
          <a:noFill/>
          <a:ln w="0">
            <a:noFill/>
          </a:ln>
        </p:spPr>
        <p:txBody>
          <a:bodyPr wrap="square" lIns="0" tIns="0" rIns="0" bIns="0">
            <a:noAutofit/>
          </a:bodyPr>
          <a:lstStyle>
            <a:defPPr>
              <a:defRPr sz="2100" b="1">
                <a:solidFill>
                  <a:srgbClr val="2456A6"/>
                </a:solidFill>
                <a:latin typeface="Arial"/>
                <a:ea typeface="Arial"/>
                <a:cs typeface="Arial"/>
              </a:defRPr>
            </a:defPPr>
            <a:lvl1pPr>
              <a:buNone/>
              <a:defRPr sz="2100" b="1">
                <a:solidFill>
                  <a:srgbClr val="2456A6"/>
                </a:solidFill>
                <a:latin typeface="Arial"/>
                <a:ea typeface="Arial"/>
                <a:cs typeface="Arial"/>
              </a:defRPr>
            </a:lvl1pPr>
            <a:lvl2pPr>
              <a:buNone/>
              <a:defRPr sz="2100" b="1">
                <a:solidFill>
                  <a:srgbClr val="2456A6"/>
                </a:solidFill>
                <a:latin typeface="Arial"/>
                <a:ea typeface="Arial"/>
                <a:cs typeface="Arial"/>
              </a:defRPr>
            </a:lvl2pPr>
            <a:lvl3pPr>
              <a:buNone/>
              <a:defRPr sz="2100" b="1">
                <a:solidFill>
                  <a:srgbClr val="2456A6"/>
                </a:solidFill>
                <a:latin typeface="Arial"/>
                <a:ea typeface="Arial"/>
                <a:cs typeface="Arial"/>
              </a:defRPr>
            </a:lvl3pPr>
            <a:lvl4pPr>
              <a:buNone/>
              <a:defRPr sz="2100" b="1">
                <a:solidFill>
                  <a:srgbClr val="2456A6"/>
                </a:solidFill>
                <a:latin typeface="Arial"/>
                <a:ea typeface="Arial"/>
                <a:cs typeface="Arial"/>
              </a:defRPr>
            </a:lvl4pPr>
            <a:lvl5pPr>
              <a:buNone/>
              <a:defRPr sz="2100" b="1">
                <a:solidFill>
                  <a:srgbClr val="2456A6"/>
                </a:solidFill>
                <a:latin typeface="Arial"/>
                <a:ea typeface="Arial"/>
                <a:cs typeface="Arial"/>
              </a:defRPr>
            </a:lvl5pPr>
            <a:lvl6pPr>
              <a:buNone/>
              <a:defRPr sz="2100" b="1">
                <a:solidFill>
                  <a:srgbClr val="2456A6"/>
                </a:solidFill>
                <a:latin typeface="Arial"/>
                <a:ea typeface="Arial"/>
                <a:cs typeface="Arial"/>
              </a:defRPr>
            </a:lvl6pPr>
            <a:lvl7pPr>
              <a:buNone/>
              <a:defRPr sz="2100" b="1">
                <a:solidFill>
                  <a:srgbClr val="2456A6"/>
                </a:solidFill>
                <a:latin typeface="Arial"/>
                <a:ea typeface="Arial"/>
                <a:cs typeface="Arial"/>
              </a:defRPr>
            </a:lvl7pPr>
            <a:lvl8pPr>
              <a:buNone/>
              <a:defRPr sz="2100" b="1">
                <a:solidFill>
                  <a:srgbClr val="2456A6"/>
                </a:solidFill>
                <a:latin typeface="Arial"/>
                <a:ea typeface="Arial"/>
                <a:cs typeface="Arial"/>
              </a:defRPr>
            </a:lvl8pPr>
            <a:lvl9pPr>
              <a:buNone/>
              <a:defRPr sz="2100" b="1">
                <a:solidFill>
                  <a:srgbClr val="2456A6"/>
                </a:solidFill>
                <a:latin typeface="Arial"/>
                <a:ea typeface="Arial"/>
                <a:cs typeface="Arial"/>
              </a:defRPr>
            </a:lvl9pPr>
          </a:lstStyle>
          <a:p>
            <a:pPr>
              <a:buNone/>
              <a:defRPr sz="2100" b="1">
                <a:solidFill>
                  <a:srgbClr val="2456A6"/>
                </a:solidFill>
                <a:latin typeface="Arial"/>
                <a:ea typeface="Arial"/>
                <a:cs typeface="Arial"/>
              </a:defRPr>
            </a:pPr>
            <a:r>
              <a:rPr sz="2100" b="1">
                <a:solidFill>
                  <a:srgbClr val="2456A6"/>
                </a:solidFill>
                <a:latin typeface="Arial"/>
                <a:ea typeface="Arial"/>
                <a:cs typeface="Arial"/>
              </a:rPr>
              <a:t>Link YouTube: </a:t>
            </a:r>
            <a:endParaRPr/>
          </a:p>
        </p:txBody>
      </p:sp>
      <p:sp>
        <p:nvSpPr>
          <p:cNvPr id="1704266326" name="Nội dung video bám theo các thao tác vừa trình bày"/>
          <p:cNvSpPr>
            <a:spLocks noGrp="1"/>
          </p:cNvSpPr>
          <p:nvPr/>
        </p:nvSpPr>
        <p:spPr bwMode="auto">
          <a:xfrm>
            <a:off x="609600" y="5857875"/>
            <a:ext cx="10972800" cy="342900"/>
          </a:xfrm>
          <a:prstGeom prst="rect">
            <a:avLst/>
          </a:prstGeom>
          <a:noFill/>
          <a:ln w="0">
            <a:noFill/>
          </a:ln>
        </p:spPr>
        <p:txBody>
          <a:bodyPr wrap="square" lIns="0" tIns="0" rIns="0" bIns="0">
            <a:noAutofit/>
          </a:bodyPr>
          <a:lstStyle>
            <a:defPPr>
              <a:defRPr sz="1750" b="0">
                <a:solidFill>
                  <a:srgbClr val="151B23"/>
                </a:solidFill>
                <a:latin typeface="Arial"/>
                <a:ea typeface="Arial"/>
                <a:cs typeface="Arial"/>
              </a:defRPr>
            </a:defPPr>
            <a:lvl1pPr>
              <a:buNone/>
              <a:defRPr sz="1750" b="0">
                <a:solidFill>
                  <a:srgbClr val="151B23"/>
                </a:solidFill>
                <a:latin typeface="Arial"/>
                <a:ea typeface="Arial"/>
                <a:cs typeface="Arial"/>
              </a:defRPr>
            </a:lvl1pPr>
            <a:lvl2pPr>
              <a:buNone/>
              <a:defRPr sz="1750" b="0">
                <a:solidFill>
                  <a:srgbClr val="151B23"/>
                </a:solidFill>
                <a:latin typeface="Arial"/>
                <a:ea typeface="Arial"/>
                <a:cs typeface="Arial"/>
              </a:defRPr>
            </a:lvl2pPr>
            <a:lvl3pPr>
              <a:buNone/>
              <a:defRPr sz="1750" b="0">
                <a:solidFill>
                  <a:srgbClr val="151B23"/>
                </a:solidFill>
                <a:latin typeface="Arial"/>
                <a:ea typeface="Arial"/>
                <a:cs typeface="Arial"/>
              </a:defRPr>
            </a:lvl3pPr>
            <a:lvl4pPr>
              <a:buNone/>
              <a:defRPr sz="1750" b="0">
                <a:solidFill>
                  <a:srgbClr val="151B23"/>
                </a:solidFill>
                <a:latin typeface="Arial"/>
                <a:ea typeface="Arial"/>
                <a:cs typeface="Arial"/>
              </a:defRPr>
            </a:lvl4pPr>
            <a:lvl5pPr>
              <a:buNone/>
              <a:defRPr sz="1750" b="0">
                <a:solidFill>
                  <a:srgbClr val="151B23"/>
                </a:solidFill>
                <a:latin typeface="Arial"/>
                <a:ea typeface="Arial"/>
                <a:cs typeface="Arial"/>
              </a:defRPr>
            </a:lvl5pPr>
            <a:lvl6pPr>
              <a:buNone/>
              <a:defRPr sz="1750" b="0">
                <a:solidFill>
                  <a:srgbClr val="151B23"/>
                </a:solidFill>
                <a:latin typeface="Arial"/>
                <a:ea typeface="Arial"/>
                <a:cs typeface="Arial"/>
              </a:defRPr>
            </a:lvl6pPr>
            <a:lvl7pPr>
              <a:buNone/>
              <a:defRPr sz="1750" b="0">
                <a:solidFill>
                  <a:srgbClr val="151B23"/>
                </a:solidFill>
                <a:latin typeface="Arial"/>
                <a:ea typeface="Arial"/>
                <a:cs typeface="Arial"/>
              </a:defRPr>
            </a:lvl7pPr>
            <a:lvl8pPr>
              <a:buNone/>
              <a:defRPr sz="1750" b="0">
                <a:solidFill>
                  <a:srgbClr val="151B23"/>
                </a:solidFill>
                <a:latin typeface="Arial"/>
                <a:ea typeface="Arial"/>
                <a:cs typeface="Arial"/>
              </a:defRPr>
            </a:lvl8pPr>
            <a:lvl9pPr>
              <a:buNone/>
              <a:defRPr sz="1750" b="0">
                <a:solidFill>
                  <a:srgbClr val="151B23"/>
                </a:solidFill>
                <a:latin typeface="Arial"/>
                <a:ea typeface="Arial"/>
                <a:cs typeface="Arial"/>
              </a:defRPr>
            </a:lvl9pPr>
          </a:lstStyle>
          <a:p>
            <a:pPr>
              <a:buNone/>
              <a:defRPr sz="1750" b="0">
                <a:solidFill>
                  <a:srgbClr val="151B23"/>
                </a:solidFill>
                <a:latin typeface="Arial"/>
                <a:ea typeface="Arial"/>
                <a:cs typeface="Arial"/>
              </a:defRPr>
            </a:pPr>
            <a:r>
              <a:rPr sz="1750" b="0">
                <a:solidFill>
                  <a:srgbClr val="151B23"/>
                </a:solidFill>
                <a:latin typeface="Arial"/>
                <a:ea typeface="Arial"/>
                <a:cs typeface="Arial"/>
              </a:rPr>
              <a:t>Nội dung video bám theo các thao tác vừa trình bày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4479436" name="JMETER / KẾT QUẢ"/>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JMETER / KẾT QUẢ</a:t>
            </a:r>
            <a:endParaRPr/>
          </a:p>
        </p:txBody>
      </p:sp>
      <p:sp>
        <p:nvSpPr>
          <p:cNvPr id="1138302752" name="JMeter: kết quả actions của một lần chạy"/>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JMeter: kết quả actions của một lần chạy</a:t>
            </a:r>
            <a:endParaRPr/>
          </a:p>
        </p:txBody>
      </p:sp>
      <p:sp>
        <p:nvSpPr>
          <p:cNvPr id="360486184"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922828399" name="29"/>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54</a:t>
            </a:r>
            <a:endParaRPr/>
          </a:p>
        </p:txBody>
      </p:sp>
      <p:graphicFrame>
        <p:nvGraphicFramePr>
          <p:cNvPr id="1847645804"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864870">
                <a:tc>
                  <a:txBody>
                    <a:bodyPr/>
                    <a:p>
                      <a:pPr>
                        <a:buNone/>
                        <a:defRPr/>
                      </a:pPr>
                      <a:r>
                        <a:rPr sz="1800" b="1">
                          <a:solidFill>
                            <a:srgbClr val="153E75"/>
                          </a:solidFill>
                          <a:latin typeface="Arial"/>
                          <a:ea typeface="Arial"/>
                          <a:cs typeface="Arial"/>
                        </a:rPr>
                        <a:t>Metric</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Giá trị</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Phạm vi</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Action samples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5.140</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Không gồm 50 Login</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p50 / p95 / p99</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2 / 16 / 21 ms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Elapsed milliseconds</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Sample failures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0%</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Có xét assertions</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RPS / khoảng quan sát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17,321 / 296,748 giây</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Không cùng mẫu số k6</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59553772" name="ĐỐI CHIẾU"/>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ĐỐI CHIẾU</a:t>
            </a:r>
            <a:endParaRPr/>
          </a:p>
        </p:txBody>
      </p:sp>
      <p:sp>
        <p:nvSpPr>
          <p:cNvPr id="1292610967" name="Điều kiện đối chiếu k6 và JMeter"/>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Điều kiện đối chiếu k6 và JMeter</a:t>
            </a:r>
            <a:endParaRPr/>
          </a:p>
        </p:txBody>
      </p:sp>
      <p:sp>
        <p:nvSpPr>
          <p:cNvPr id="1348368615"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452509705" name="30"/>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55</a:t>
            </a:r>
            <a:endParaRPr/>
          </a:p>
        </p:txBody>
      </p:sp>
      <p:graphicFrame>
        <p:nvGraphicFramePr>
          <p:cNvPr id="1100484253"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864870">
                <a:tc>
                  <a:txBody>
                    <a:bodyPr/>
                    <a:p>
                      <a:pPr>
                        <a:buNone/>
                        <a:defRPr/>
                      </a:pPr>
                      <a:r>
                        <a:rPr sz="1800" b="1">
                          <a:solidFill>
                            <a:srgbClr val="153E75"/>
                          </a:solidFill>
                          <a:latin typeface="Arial"/>
                          <a:ea typeface="Arial"/>
                          <a:cs typeface="Arial"/>
                        </a:rPr>
                        <a:t>Yếu tố</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k6 tham chiếu</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JMeter tham chiếu</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Action mix</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55/25/14/6, có Cart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55/25/20</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Login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Lazy login, cache token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Một lần/thread</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Cửa sổ</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300s steady sau ramp</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Action span 296,748s</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Môi trường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Linux, 22/10</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Windows, 21/10</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890261373" name="BÀI TẬP CỦA HỮU THẮ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BÀI TẬP CỦA HỮU THẮNG</a:t>
            </a:r>
            <a:endParaRPr/>
          </a:p>
        </p:txBody>
      </p:sp>
      <p:sp>
        <p:nvSpPr>
          <p:cNvPr id="168445706" name="Bài tập áp dụng 2"/>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Bài tập áp dụng 2</a:t>
            </a:r>
            <a:endParaRPr/>
          </a:p>
        </p:txBody>
      </p:sp>
      <p:sp>
        <p:nvSpPr>
          <p:cNvPr id="102224453"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760780920" name="31"/>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56</a:t>
            </a:r>
            <a:endParaRPr/>
          </a:p>
        </p:txBody>
      </p:sp>
      <p:sp>
        <p:nvSpPr>
          <p:cNvPr id="1027324053"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70865617" name="Võ Hữu Thắng bổ sung đề bài."/>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Võ Hữu Thắng bổ sung đề bài.</a:t>
            </a:r>
            <a:endParaRPr/>
          </a:p>
        </p:txBody>
      </p:sp>
      <p:sp>
        <p:nvSpPr>
          <p:cNvPr id="1108243730"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404085015" name="Bổ sung test plan hoặc dữ liệu cho người học."/>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Bổ sung test plan hoặc dữ liệu cho người học.</a:t>
            </a:r>
            <a:endParaRPr/>
          </a:p>
        </p:txBody>
      </p:sp>
      <p:sp>
        <p:nvSpPr>
          <p:cNvPr id="2004587987"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84214393" name="Bổ sung gợi ý và cách kiểm tra kết quả."/>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Bổ sung gợi ý và cách kiểm tra kết quả.</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232563274" name="WEB AUDIT / MINH THẮ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MINH THẮNG</a:t>
            </a:r>
            <a:endParaRPr/>
          </a:p>
        </p:txBody>
      </p:sp>
      <p:sp>
        <p:nvSpPr>
          <p:cNvPr id="373917935" name="HAR và dữ liệu nhạy cảm"/>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HAR và dữ liệu nhạy cảm</a:t>
            </a:r>
            <a:endParaRPr/>
          </a:p>
        </p:txBody>
      </p:sp>
      <p:sp>
        <p:nvSpPr>
          <p:cNvPr id="53398947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710159861" name="32"/>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57</a:t>
            </a:r>
            <a:endParaRPr/>
          </a:p>
        </p:txBody>
      </p:sp>
      <p:sp>
        <p:nvSpPr>
          <p:cNvPr id="1886386108"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1405197862" name="HAR ghi traffic HTTP của một phiên thao tác."/>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HAR (HTTP Archive) là file JSON ghi các giao dịch HTTP của một phiên trình duyệt.</a:t>
            </a:r>
            <a:endParaRPr/>
          </a:p>
        </p:txBody>
      </p:sp>
      <p:sp>
        <p:nvSpPr>
          <p:cNvPr id="2034769614"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341395065" name="Phân biệt API nghiệp vụ với assets, OPTIONS và cache."/>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Một lần bấm có thể sinh nhiều request. HAR chứa cả API, assets và preflight OPTIONS.</a:t>
            </a:r>
            <a:endParaRPr/>
          </a:p>
        </p:txBody>
      </p:sp>
      <p:sp>
        <p:nvSpPr>
          <p:cNvPr id="1991881433"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839507593" name="Che password, token, cookie và thông tin cá nhân."/>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Che password, token, cookie và dữ liệu cá nhân trong URL, headers lẫn body.</a:t>
            </a:r>
            <a:endParaRPr/>
          </a:p>
        </p:txBody>
      </p:sp>
      <p:sp>
        <p:nvSpPr>
          <p:cNvPr id="1691249930"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796770060" name="Giữ contract làm chuẩn khi HAR chỉ có một nhánh hoặc thiếu dữ liệ"/>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Dùng HAR để hiểu traffic đã ghi, rồi đối chiếu contract và lấy token mới khi chạy test.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63434294" name="HAR / CẤU TRÚC"/>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HAR / CẤU TRÚC</a:t>
            </a:r>
            <a:endParaRPr/>
          </a:p>
        </p:txBody>
      </p:sp>
      <p:sp>
        <p:nvSpPr>
          <p:cNvPr id="1850895537" name="Cấu trúc HAR cơ bản: đối tượng lo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Cấu trúc HAR cơ bản: đối tượng log</a:t>
            </a:r>
            <a:endParaRPr/>
          </a:p>
        </p:txBody>
      </p:sp>
      <p:sp>
        <p:nvSpPr>
          <p:cNvPr id="310437689"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196682106"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58</a:t>
            </a:r>
            <a:endParaRPr/>
          </a:p>
        </p:txBody>
      </p:sp>
      <p:graphicFrame>
        <p:nvGraphicFramePr>
          <p:cNvPr id="340701018"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857500"/>
                <a:gridCol w="4095750"/>
                <a:gridCol w="4019550"/>
              </a:tblGrid>
              <a:tr h="864870">
                <a:tc>
                  <a:txBody>
                    <a:bodyPr/>
                    <a:p>
                      <a:pPr>
                        <a:buNone/>
                        <a:defRPr/>
                      </a:pPr>
                      <a:r>
                        <a:rPr sz="1800" b="1">
                          <a:solidFill>
                            <a:srgbClr val="153E75"/>
                          </a:solidFill>
                          <a:latin typeface="Arial"/>
                          <a:ea typeface="Arial"/>
                          <a:cs typeface="Arial"/>
                        </a:rPr>
                        <a:t>Đường dẫn</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Chứa gì?</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Điểm cần nhớ</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log.version / creator</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Phiên bản HAR và công cụ xuất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Metadata của file</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log.pages[]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Trang đã ghi, id và pageTimings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Có thể vắng hoặc rỗng</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log.entries[]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Danh sách giao dịch HTTP</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Nơi đọc request API</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entries[i].pageref</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Liên kết entry với pages[].id</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Tùy chọn, không phải URL</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883146324" name="HAR / ENTRY"/>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HAR / ENTRY</a:t>
            </a:r>
            <a:endParaRPr/>
          </a:p>
        </p:txBody>
      </p:sp>
      <p:sp>
        <p:nvSpPr>
          <p:cNvPr id="1849086706" name="Một entry HAR mô tả một giao dịch HTTP"/>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Một entry HAR mô tả một giao dịch HTTP</a:t>
            </a:r>
            <a:endParaRPr/>
          </a:p>
        </p:txBody>
      </p:sp>
      <p:sp>
        <p:nvSpPr>
          <p:cNvPr id="33627622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922446452"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59</a:t>
            </a:r>
            <a:endParaRPr/>
          </a:p>
        </p:txBody>
      </p:sp>
      <p:graphicFrame>
        <p:nvGraphicFramePr>
          <p:cNvPr id="50389263"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143250"/>
                <a:gridCol w="4095750"/>
                <a:gridCol w="3733800"/>
              </a:tblGrid>
              <a:tr h="864870">
                <a:tc>
                  <a:txBody>
                    <a:bodyPr/>
                    <a:p>
                      <a:pPr>
                        <a:buNone/>
                        <a:defRPr/>
                      </a:pPr>
                      <a:r>
                        <a:rPr sz="1800" b="1">
                          <a:solidFill>
                            <a:srgbClr val="153E75"/>
                          </a:solidFill>
                          <a:latin typeface="Arial"/>
                          <a:ea typeface="Arial"/>
                          <a:cs typeface="Arial"/>
                        </a:rPr>
                        <a:t>Trường trong entries[i]</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Nội dung</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Ứng dụng khi audit</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startedDateTime / time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Thời điểm bắt đầu / thời gian ms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Sắp thứ tự và đọc độ dài request</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request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Method, URL, headers và payload</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Dựng lại lời gọi API</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response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headers và content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Tìm dữ liệu trả về để kiểm tra</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timings / cache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Các pha thời gian / thông tin cache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Giải thích số đo và cache hit</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60949056" name="HAR / REQUEST"/>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HAR / REQUEST</a:t>
            </a:r>
            <a:endParaRPr/>
          </a:p>
        </p:txBody>
      </p:sp>
      <p:sp>
        <p:nvSpPr>
          <p:cNvPr id="466790911" name="HAR request: dữ liệu gửi đến server"/>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HAR request: dữ liệu gửi đến server</a:t>
            </a:r>
            <a:endParaRPr/>
          </a:p>
        </p:txBody>
      </p:sp>
      <p:sp>
        <p:nvSpPr>
          <p:cNvPr id="101213634"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768683813"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60</a:t>
            </a:r>
            <a:endParaRPr/>
          </a:p>
        </p:txBody>
      </p:sp>
      <p:graphicFrame>
        <p:nvGraphicFramePr>
          <p:cNvPr id="1990173362"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667000"/>
                <a:gridCol w="4095750"/>
                <a:gridCol w="4210050"/>
              </a:tblGrid>
              <a:tr h="864870">
                <a:tc>
                  <a:txBody>
                    <a:bodyPr/>
                    <a:p>
                      <a:pPr>
                        <a:buNone/>
                        <a:defRPr/>
                      </a:pPr>
                      <a:r>
                        <a:rPr sz="1800" b="1">
                          <a:solidFill>
                            <a:srgbClr val="153E75"/>
                          </a:solidFill>
                          <a:latin typeface="Arial"/>
                          <a:ea typeface="Arial"/>
                          <a:cs typeface="Arial"/>
                        </a:rPr>
                        <a:t>Trường</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Cách đọc</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Ví dụ EShop</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method / url</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Hành động HTTP và địa chỉ tuyệt đối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POST http://localhost:3000/api/login</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headers[] / cookies[]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Các cặp tên–giá trị và cookie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Content-Type: application/json</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queryString[]</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Tham số query ở URL</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search = iPhone</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postData</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Kiểu body và text hoặc params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JSON có email, password</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41450488" name="HAR / RESPONSE"/>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HAR / RESPONSE</a:t>
            </a:r>
            <a:endParaRPr/>
          </a:p>
        </p:txBody>
      </p:sp>
      <p:sp>
        <p:nvSpPr>
          <p:cNvPr id="1595003431" name="HAR response: kết quả server trả về"/>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HAR response: kết quả server trả về</a:t>
            </a:r>
            <a:endParaRPr/>
          </a:p>
        </p:txBody>
      </p:sp>
      <p:sp>
        <p:nvSpPr>
          <p:cNvPr id="1981153830"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760397977"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61</a:t>
            </a:r>
            <a:endParaRPr/>
          </a:p>
        </p:txBody>
      </p:sp>
      <p:graphicFrame>
        <p:nvGraphicFramePr>
          <p:cNvPr id="1466796606"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143250"/>
                <a:gridCol w="3810000"/>
                <a:gridCol w="4019550"/>
              </a:tblGrid>
              <a:tr h="864870">
                <a:tc>
                  <a:txBody>
                    <a:bodyPr/>
                    <a:p>
                      <a:pPr>
                        <a:buNone/>
                        <a:defRPr/>
                      </a:pPr>
                      <a:r>
                        <a:rPr sz="1800" b="1">
                          <a:solidFill>
                            <a:srgbClr val="153E75"/>
                          </a:solidFill>
                          <a:latin typeface="Arial"/>
                          <a:ea typeface="Arial"/>
                          <a:cs typeface="Arial"/>
                        </a:rPr>
                        <a:t>Trường</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Ý nghĩa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Cách dùng cho script</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status / statusText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Mã HTTP và mô tả</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Đặt check theo contract</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headers[] / cookies[]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Header và cookie phản hồi</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Đọc Content-Type, quản lý phiên</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content.mimeType / text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Loại dữ liệu và body nếu có</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Parse JSON, tìm token/orderId</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content.encoding / size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Mã hóa nếu có / kích thước byte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Giải mã base64 khi cần</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754045010" name="HAR / TIMI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HAR / TIMING</a:t>
            </a:r>
            <a:endParaRPr/>
          </a:p>
        </p:txBody>
      </p:sp>
      <p:sp>
        <p:nvSpPr>
          <p:cNvPr id="1806964504" name="HAR timings: thời gian nằm ở đâu?"/>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HAR timings: thời gian nằm ở đâu?</a:t>
            </a:r>
            <a:endParaRPr/>
          </a:p>
        </p:txBody>
      </p:sp>
      <p:sp>
        <p:nvSpPr>
          <p:cNvPr id="211444192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726923612"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62</a:t>
            </a:r>
            <a:endParaRPr/>
          </a:p>
        </p:txBody>
      </p:sp>
      <p:graphicFrame>
        <p:nvGraphicFramePr>
          <p:cNvPr id="873787060"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2667000"/>
                <a:gridCol w="4095750"/>
                <a:gridCol w="4210050"/>
              </a:tblGrid>
              <a:tr h="864870">
                <a:tc>
                  <a:txBody>
                    <a:bodyPr/>
                    <a:p>
                      <a:pPr>
                        <a:buNone/>
                        <a:defRPr/>
                      </a:pPr>
                      <a:r>
                        <a:rPr sz="1800" b="1">
                          <a:solidFill>
                            <a:srgbClr val="153E75"/>
                          </a:solidFill>
                          <a:latin typeface="Arial"/>
                          <a:ea typeface="Arial"/>
                          <a:cs typeface="Arial"/>
                        </a:rPr>
                        <a:t>Pha</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Ý nghĩa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Lưu ý</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blocked / dns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Chờ kết nối / phân giải tên miền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Có thể -1 nếu không áp dụng</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connect / ssl</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Kết nối TCP / bắt tay TLS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ssl nằm trong connect, tránh cộng hai lần</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send / wait / receive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Gửi request / chờ / nhận response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wait chịu ảnh hưởng mạng và server</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entry.time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Tổng các pha áp dụng của request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Khác thời gian tải cả trang</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94144432" name="HAR / VÍ DỤ RÚT GỌN"/>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HAR / VÍ DỤ RÚT GỌN</a:t>
            </a:r>
            <a:endParaRPr/>
          </a:p>
        </p:txBody>
      </p:sp>
      <p:sp>
        <p:nvSpPr>
          <p:cNvPr id="288564422" name="HAR mẫu: đọc một request Search"/>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HAR mẫu: đọc một request Search</a:t>
            </a:r>
            <a:endParaRPr/>
          </a:p>
        </p:txBody>
      </p:sp>
      <p:sp>
        <p:nvSpPr>
          <p:cNvPr id="132790016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836613918"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63</a:t>
            </a:r>
            <a:endParaRPr/>
          </a:p>
        </p:txBody>
      </p:sp>
      <p:sp>
        <p:nvSpPr>
          <p:cNvPr id="1664944666" name="{   &quot;request&quot;: {     &quot;method&quot;: &quot;GET&quot;,     &quot;url&quot;: &quot;http://localhos"/>
          <p:cNvSpPr>
            <a:spLocks noGrp="1"/>
          </p:cNvSpPr>
          <p:nvPr/>
        </p:nvSpPr>
        <p:spPr bwMode="auto">
          <a:xfrm>
            <a:off x="609600" y="1752599"/>
            <a:ext cx="10972800" cy="3714750"/>
          </a:xfrm>
          <a:prstGeom prst="rect">
            <a:avLst/>
          </a:prstGeom>
          <a:noFill/>
          <a:ln w="0">
            <a:noFill/>
          </a:ln>
        </p:spPr>
        <p:txBody>
          <a:bodyPr wrap="square" lIns="0" tIns="0" rIns="0" bIns="0">
            <a:noAutofit/>
          </a:bodyPr>
          <a:lstStyle>
            <a:defPPr>
              <a:defRPr sz="1800" b="0">
                <a:solidFill>
                  <a:srgbClr val="151B23"/>
                </a:solidFill>
                <a:latin typeface="Arial"/>
                <a:ea typeface="Arial"/>
                <a:cs typeface="Arial"/>
              </a:defRPr>
            </a:defPPr>
            <a:lvl1pPr>
              <a:buNone/>
              <a:defRPr sz="1800" b="0">
                <a:solidFill>
                  <a:srgbClr val="151B23"/>
                </a:solidFill>
                <a:latin typeface="Arial"/>
                <a:ea typeface="Arial"/>
                <a:cs typeface="Arial"/>
              </a:defRPr>
            </a:lvl1pPr>
            <a:lvl2pPr>
              <a:buNone/>
              <a:defRPr sz="1800" b="0">
                <a:solidFill>
                  <a:srgbClr val="151B23"/>
                </a:solidFill>
                <a:latin typeface="Arial"/>
                <a:ea typeface="Arial"/>
                <a:cs typeface="Arial"/>
              </a:defRPr>
            </a:lvl2pPr>
            <a:lvl3pPr>
              <a:buNone/>
              <a:defRPr sz="1800" b="0">
                <a:solidFill>
                  <a:srgbClr val="151B23"/>
                </a:solidFill>
                <a:latin typeface="Arial"/>
                <a:ea typeface="Arial"/>
                <a:cs typeface="Arial"/>
              </a:defRPr>
            </a:lvl3pPr>
            <a:lvl4pPr>
              <a:buNone/>
              <a:defRPr sz="1800" b="0">
                <a:solidFill>
                  <a:srgbClr val="151B23"/>
                </a:solidFill>
                <a:latin typeface="Arial"/>
                <a:ea typeface="Arial"/>
                <a:cs typeface="Arial"/>
              </a:defRPr>
            </a:lvl4pPr>
            <a:lvl5pPr>
              <a:buNone/>
              <a:defRPr sz="1800" b="0">
                <a:solidFill>
                  <a:srgbClr val="151B23"/>
                </a:solidFill>
                <a:latin typeface="Arial"/>
                <a:ea typeface="Arial"/>
                <a:cs typeface="Arial"/>
              </a:defRPr>
            </a:lvl5pPr>
            <a:lvl6pPr>
              <a:buNone/>
              <a:defRPr sz="1800" b="0">
                <a:solidFill>
                  <a:srgbClr val="151B23"/>
                </a:solidFill>
                <a:latin typeface="Arial"/>
                <a:ea typeface="Arial"/>
                <a:cs typeface="Arial"/>
              </a:defRPr>
            </a:lvl6pPr>
            <a:lvl7pPr>
              <a:buNone/>
              <a:defRPr sz="1800" b="0">
                <a:solidFill>
                  <a:srgbClr val="151B23"/>
                </a:solidFill>
                <a:latin typeface="Arial"/>
                <a:ea typeface="Arial"/>
                <a:cs typeface="Arial"/>
              </a:defRPr>
            </a:lvl7pPr>
            <a:lvl8pPr>
              <a:buNone/>
              <a:defRPr sz="1800" b="0">
                <a:solidFill>
                  <a:srgbClr val="151B23"/>
                </a:solidFill>
                <a:latin typeface="Arial"/>
                <a:ea typeface="Arial"/>
                <a:cs typeface="Arial"/>
              </a:defRPr>
            </a:lvl8pPr>
            <a:lvl9pPr>
              <a:buNone/>
              <a:defRPr sz="1800" b="0">
                <a:solidFill>
                  <a:srgbClr val="151B23"/>
                </a:solidFill>
                <a:latin typeface="Arial"/>
                <a:ea typeface="Arial"/>
                <a:cs typeface="Arial"/>
              </a:defRPr>
            </a:lvl9pPr>
          </a:lstStyle>
          <a:p>
            <a:pPr>
              <a:buNone/>
              <a:defRPr sz="1800" b="0">
                <a:solidFill>
                  <a:srgbClr val="151B23"/>
                </a:solidFill>
                <a:latin typeface="Arial"/>
                <a:ea typeface="Arial"/>
                <a:cs typeface="Arial"/>
              </a:defRPr>
            </a:pPr>
            <a:r>
              <a:rPr sz="1800" b="0">
                <a:solidFill>
                  <a:srgbClr val="151B23"/>
                </a:solidFill>
                <a:latin typeface="Arial"/>
                <a:ea typeface="Arial"/>
                <a:cs typeface="Arial"/>
              </a:rPr>
              <a:t>{</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"request": {</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"method": "GET",</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"url": "http://localhost:3000/api/products?search=iPhone",</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"queryString": [{"name":"search", "value":"iPhone"}]</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"response": {</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"status": 200,</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"content": {"mimeType":"application/json"}</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"time": 42,</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  "timings": {"send":1, "wait":39, "receive":2}</a:t>
            </a:r>
            <a:endParaRPr/>
          </a:p>
          <a:p>
            <a:pPr>
              <a:buNone/>
              <a:defRPr sz="1800" b="0">
                <a:solidFill>
                  <a:srgbClr val="151B23"/>
                </a:solidFill>
                <a:latin typeface="Arial"/>
                <a:ea typeface="Arial"/>
                <a:cs typeface="Arial"/>
              </a:defRPr>
            </a:pPr>
            <a:r>
              <a:rPr sz="1800" b="0">
                <a:solidFill>
                  <a:srgbClr val="151B23"/>
                </a:solidFill>
                <a:latin typeface="Arial"/>
                <a:ea typeface="Arial"/>
                <a:cs typeface="Arial"/>
              </a:rPr>
              <a:t>}</a:t>
            </a:r>
            <a:endParaRPr/>
          </a:p>
        </p:txBody>
      </p:sp>
      <p:sp>
        <p:nvSpPr>
          <p:cNvPr id="720576601" name="Fragment minh họa đã lược trường. time = 1 + 39 + 2 = 42 ms khi k"/>
          <p:cNvSpPr>
            <a:spLocks noGrp="1"/>
          </p:cNvSpPr>
          <p:nvPr/>
        </p:nvSpPr>
        <p:spPr bwMode="auto">
          <a:xfrm>
            <a:off x="609600" y="5686425"/>
            <a:ext cx="10972800" cy="523875"/>
          </a:xfrm>
          <a:prstGeom prst="rect">
            <a:avLst/>
          </a:prstGeom>
          <a:noFill/>
          <a:ln w="0">
            <a:noFill/>
          </a:ln>
        </p:spPr>
        <p:txBody>
          <a:bodyPr wrap="square" lIns="0" tIns="0" rIns="0" bIns="0">
            <a:noAutofit/>
          </a:bodyPr>
          <a:lstStyle>
            <a:defPPr>
              <a:defRPr sz="1800" b="0">
                <a:solidFill>
                  <a:srgbClr val="2456A6"/>
                </a:solidFill>
                <a:latin typeface="Arial"/>
                <a:ea typeface="Arial"/>
                <a:cs typeface="Arial"/>
              </a:defRPr>
            </a:defPPr>
            <a:lvl1pPr>
              <a:buNone/>
              <a:defRPr sz="1800" b="0">
                <a:solidFill>
                  <a:srgbClr val="2456A6"/>
                </a:solidFill>
                <a:latin typeface="Arial"/>
                <a:ea typeface="Arial"/>
                <a:cs typeface="Arial"/>
              </a:defRPr>
            </a:lvl1pPr>
            <a:lvl2pPr>
              <a:buNone/>
              <a:defRPr sz="1800" b="0">
                <a:solidFill>
                  <a:srgbClr val="2456A6"/>
                </a:solidFill>
                <a:latin typeface="Arial"/>
                <a:ea typeface="Arial"/>
                <a:cs typeface="Arial"/>
              </a:defRPr>
            </a:lvl2pPr>
            <a:lvl3pPr>
              <a:buNone/>
              <a:defRPr sz="1800" b="0">
                <a:solidFill>
                  <a:srgbClr val="2456A6"/>
                </a:solidFill>
                <a:latin typeface="Arial"/>
                <a:ea typeface="Arial"/>
                <a:cs typeface="Arial"/>
              </a:defRPr>
            </a:lvl3pPr>
            <a:lvl4pPr>
              <a:buNone/>
              <a:defRPr sz="1800" b="0">
                <a:solidFill>
                  <a:srgbClr val="2456A6"/>
                </a:solidFill>
                <a:latin typeface="Arial"/>
                <a:ea typeface="Arial"/>
                <a:cs typeface="Arial"/>
              </a:defRPr>
            </a:lvl4pPr>
            <a:lvl5pPr>
              <a:buNone/>
              <a:defRPr sz="1800" b="0">
                <a:solidFill>
                  <a:srgbClr val="2456A6"/>
                </a:solidFill>
                <a:latin typeface="Arial"/>
                <a:ea typeface="Arial"/>
                <a:cs typeface="Arial"/>
              </a:defRPr>
            </a:lvl5pPr>
            <a:lvl6pPr>
              <a:buNone/>
              <a:defRPr sz="1800" b="0">
                <a:solidFill>
                  <a:srgbClr val="2456A6"/>
                </a:solidFill>
                <a:latin typeface="Arial"/>
                <a:ea typeface="Arial"/>
                <a:cs typeface="Arial"/>
              </a:defRPr>
            </a:lvl6pPr>
            <a:lvl7pPr>
              <a:buNone/>
              <a:defRPr sz="1800" b="0">
                <a:solidFill>
                  <a:srgbClr val="2456A6"/>
                </a:solidFill>
                <a:latin typeface="Arial"/>
                <a:ea typeface="Arial"/>
                <a:cs typeface="Arial"/>
              </a:defRPr>
            </a:lvl7pPr>
            <a:lvl8pPr>
              <a:buNone/>
              <a:defRPr sz="1800" b="0">
                <a:solidFill>
                  <a:srgbClr val="2456A6"/>
                </a:solidFill>
                <a:latin typeface="Arial"/>
                <a:ea typeface="Arial"/>
                <a:cs typeface="Arial"/>
              </a:defRPr>
            </a:lvl8pPr>
            <a:lvl9pPr>
              <a:buNone/>
              <a:defRPr sz="1800" b="0">
                <a:solidFill>
                  <a:srgbClr val="2456A6"/>
                </a:solidFill>
                <a:latin typeface="Arial"/>
                <a:ea typeface="Arial"/>
                <a:cs typeface="Arial"/>
              </a:defRPr>
            </a:lvl9pPr>
          </a:lstStyle>
          <a:p>
            <a:pPr>
              <a:buNone/>
              <a:defRPr sz="1800" b="0">
                <a:solidFill>
                  <a:srgbClr val="2456A6"/>
                </a:solidFill>
                <a:latin typeface="Arial"/>
                <a:ea typeface="Arial"/>
                <a:cs typeface="Arial"/>
              </a:defRPr>
            </a:pPr>
            <a:r>
              <a:rPr sz="1800" b="0">
                <a:solidFill>
                  <a:srgbClr val="2456A6"/>
                </a:solidFill>
                <a:latin typeface="Arial"/>
                <a:ea typeface="Arial"/>
                <a:cs typeface="Arial"/>
              </a:rPr>
              <a:t>Fragment minh họa đã lược trường. time = 1 + 39 + 2 = 42 ms khi không có pha bổ sung.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59502809" name="HAR / VẬN DỤ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HAR / VẬN DỤNG</a:t>
            </a:r>
            <a:endParaRPr/>
          </a:p>
        </p:txBody>
      </p:sp>
      <p:sp>
        <p:nvSpPr>
          <p:cNvPr id="1861051203" name="Từ HAR đến script k6 có thể chạy lại"/>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Từ HAR đến script k6 có thể chạy lại</a:t>
            </a:r>
            <a:endParaRPr/>
          </a:p>
        </p:txBody>
      </p:sp>
      <p:sp>
        <p:nvSpPr>
          <p:cNvPr id="4720696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313904087" name="PAGE_NUMBER"/>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64</a:t>
            </a:r>
            <a:endParaRPr/>
          </a:p>
        </p:txBody>
      </p:sp>
      <p:sp>
        <p:nvSpPr>
          <p:cNvPr id="725815727" name="1. Chọn đúng request"/>
          <p:cNvSpPr>
            <a:spLocks noGrp="1"/>
          </p:cNvSpPr>
          <p:nvPr/>
        </p:nvSpPr>
        <p:spPr bwMode="auto">
          <a:xfrm>
            <a:off x="609600" y="1752599"/>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1. Chọn đúng request</a:t>
            </a:r>
            <a:endParaRPr/>
          </a:p>
        </p:txBody>
      </p:sp>
      <p:sp>
        <p:nvSpPr>
          <p:cNvPr id="470587446" name="Giữ API nghiệp vụ cần test. Tách assets và OPTIONS khỏi workload "/>
          <p:cNvSpPr>
            <a:spLocks noGrp="1"/>
          </p:cNvSpPr>
          <p:nvPr/>
        </p:nvSpPr>
        <p:spPr bwMode="auto">
          <a:xfrm>
            <a:off x="609600" y="21431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Giữ API nghiệp vụ cần test. Tách assets và OPTIONS khỏi workload nếu không thuộc phạm vi.</a:t>
            </a:r>
            <a:endParaRPr/>
          </a:p>
        </p:txBody>
      </p:sp>
      <p:sp>
        <p:nvSpPr>
          <p:cNvPr id="1323043369" name="2. Dựng lời gọi"/>
          <p:cNvSpPr>
            <a:spLocks noGrp="1"/>
          </p:cNvSpPr>
          <p:nvPr/>
        </p:nvSpPr>
        <p:spPr bwMode="auto">
          <a:xfrm>
            <a:off x="609600" y="28003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2. Dựng lời gọi</a:t>
            </a:r>
            <a:endParaRPr/>
          </a:p>
        </p:txBody>
      </p:sp>
      <p:sp>
        <p:nvSpPr>
          <p:cNvPr id="264445959" name="GET/POST, path, query, headers và body trở thành http.get hoặc ht"/>
          <p:cNvSpPr>
            <a:spLocks noGrp="1"/>
          </p:cNvSpPr>
          <p:nvPr/>
        </p:nvSpPr>
        <p:spPr bwMode="auto">
          <a:xfrm>
            <a:off x="609600" y="31908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GET/POST, path, query, headers và body trở thành http.get hoặc http.post trong k6.</a:t>
            </a:r>
            <a:endParaRPr/>
          </a:p>
        </p:txBody>
      </p:sp>
      <p:sp>
        <p:nvSpPr>
          <p:cNvPr id="1419446269" name="3. Thay dữ liệu tĩnh"/>
          <p:cNvSpPr>
            <a:spLocks noGrp="1"/>
          </p:cNvSpPr>
          <p:nvPr/>
        </p:nvSpPr>
        <p:spPr bwMode="auto">
          <a:xfrm>
            <a:off x="609600" y="384810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3. Thay dữ liệu tĩnh</a:t>
            </a:r>
            <a:endParaRPr/>
          </a:p>
        </p:txBody>
      </p:sp>
      <p:sp>
        <p:nvSpPr>
          <p:cNvPr id="1107695951" name="Dùng BASE_URL, tài khoản test và keyword. Lấy token mới từ respon"/>
          <p:cNvSpPr>
            <a:spLocks noGrp="1"/>
          </p:cNvSpPr>
          <p:nvPr/>
        </p:nvSpPr>
        <p:spPr bwMode="auto">
          <a:xfrm>
            <a:off x="609600" y="423862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Dùng BASE_URL, tài khoản test và keyword. Lấy token mới từ response login ở mỗi phiên.</a:t>
            </a:r>
            <a:endParaRPr/>
          </a:p>
        </p:txBody>
      </p:sp>
      <p:sp>
        <p:nvSpPr>
          <p:cNvPr id="228328963" name="4. Bổ sung thiết kế test"/>
          <p:cNvSpPr>
            <a:spLocks noGrp="1"/>
          </p:cNvSpPr>
          <p:nvPr/>
        </p:nvSpPr>
        <p:spPr bwMode="auto">
          <a:xfrm>
            <a:off x="609600" y="4895850"/>
            <a:ext cx="10972800" cy="333375"/>
          </a:xfrm>
          <a:prstGeom prst="rect">
            <a:avLst/>
          </a:prstGeom>
          <a:noFill/>
          <a:ln w="0">
            <a:noFill/>
          </a:ln>
        </p:spPr>
        <p:txBody>
          <a:bodyPr wrap="square" lIns="0" tIns="0" rIns="0" bIns="0">
            <a:noAutofit/>
          </a:bodyPr>
          <a:lstStyle>
            <a:defPPr>
              <a:defRPr sz="2050" b="1">
                <a:solidFill>
                  <a:srgbClr val="2456A6"/>
                </a:solidFill>
                <a:latin typeface="Arial"/>
                <a:ea typeface="Arial"/>
                <a:cs typeface="Arial"/>
              </a:defRPr>
            </a:defPPr>
            <a:lvl1pPr>
              <a:buNone/>
              <a:defRPr sz="2050" b="1">
                <a:solidFill>
                  <a:srgbClr val="2456A6"/>
                </a:solidFill>
                <a:latin typeface="Arial"/>
                <a:ea typeface="Arial"/>
                <a:cs typeface="Arial"/>
              </a:defRPr>
            </a:lvl1pPr>
            <a:lvl2pPr>
              <a:buNone/>
              <a:defRPr sz="2050" b="1">
                <a:solidFill>
                  <a:srgbClr val="2456A6"/>
                </a:solidFill>
                <a:latin typeface="Arial"/>
                <a:ea typeface="Arial"/>
                <a:cs typeface="Arial"/>
              </a:defRPr>
            </a:lvl2pPr>
            <a:lvl3pPr>
              <a:buNone/>
              <a:defRPr sz="2050" b="1">
                <a:solidFill>
                  <a:srgbClr val="2456A6"/>
                </a:solidFill>
                <a:latin typeface="Arial"/>
                <a:ea typeface="Arial"/>
                <a:cs typeface="Arial"/>
              </a:defRPr>
            </a:lvl3pPr>
            <a:lvl4pPr>
              <a:buNone/>
              <a:defRPr sz="2050" b="1">
                <a:solidFill>
                  <a:srgbClr val="2456A6"/>
                </a:solidFill>
                <a:latin typeface="Arial"/>
                <a:ea typeface="Arial"/>
                <a:cs typeface="Arial"/>
              </a:defRPr>
            </a:lvl4pPr>
            <a:lvl5pPr>
              <a:buNone/>
              <a:defRPr sz="2050" b="1">
                <a:solidFill>
                  <a:srgbClr val="2456A6"/>
                </a:solidFill>
                <a:latin typeface="Arial"/>
                <a:ea typeface="Arial"/>
                <a:cs typeface="Arial"/>
              </a:defRPr>
            </a:lvl5pPr>
            <a:lvl6pPr>
              <a:buNone/>
              <a:defRPr sz="2050" b="1">
                <a:solidFill>
                  <a:srgbClr val="2456A6"/>
                </a:solidFill>
                <a:latin typeface="Arial"/>
                <a:ea typeface="Arial"/>
                <a:cs typeface="Arial"/>
              </a:defRPr>
            </a:lvl6pPr>
            <a:lvl7pPr>
              <a:buNone/>
              <a:defRPr sz="2050" b="1">
                <a:solidFill>
                  <a:srgbClr val="2456A6"/>
                </a:solidFill>
                <a:latin typeface="Arial"/>
                <a:ea typeface="Arial"/>
                <a:cs typeface="Arial"/>
              </a:defRPr>
            </a:lvl7pPr>
            <a:lvl8pPr>
              <a:buNone/>
              <a:defRPr sz="2050" b="1">
                <a:solidFill>
                  <a:srgbClr val="2456A6"/>
                </a:solidFill>
                <a:latin typeface="Arial"/>
                <a:ea typeface="Arial"/>
                <a:cs typeface="Arial"/>
              </a:defRPr>
            </a:lvl8pPr>
            <a:lvl9pPr>
              <a:buNone/>
              <a:defRPr sz="2050" b="1">
                <a:solidFill>
                  <a:srgbClr val="2456A6"/>
                </a:solidFill>
                <a:latin typeface="Arial"/>
                <a:ea typeface="Arial"/>
                <a:cs typeface="Arial"/>
              </a:defRPr>
            </a:lvl9pPr>
          </a:lstStyle>
          <a:p>
            <a:pPr>
              <a:buNone/>
              <a:defRPr sz="2050" b="1">
                <a:solidFill>
                  <a:srgbClr val="2456A6"/>
                </a:solidFill>
                <a:latin typeface="Arial"/>
                <a:ea typeface="Arial"/>
                <a:cs typeface="Arial"/>
              </a:defRPr>
            </a:pPr>
            <a:r>
              <a:rPr sz="2050" b="1">
                <a:solidFill>
                  <a:srgbClr val="2456A6"/>
                </a:solidFill>
                <a:latin typeface="Arial"/>
                <a:ea typeface="Arial"/>
                <a:cs typeface="Arial"/>
              </a:rPr>
              <a:t>4. Bổ sung thiết kế test</a:t>
            </a:r>
            <a:endParaRPr/>
          </a:p>
        </p:txBody>
      </p:sp>
      <p:sp>
        <p:nvSpPr>
          <p:cNvPr id="1972707976" name="Thêm workload, think-time, checks và thresholds. HAR không tự cun"/>
          <p:cNvSpPr>
            <a:spLocks noGrp="1"/>
          </p:cNvSpPr>
          <p:nvPr/>
        </p:nvSpPr>
        <p:spPr bwMode="auto">
          <a:xfrm>
            <a:off x="609600" y="5286375"/>
            <a:ext cx="10972800" cy="628650"/>
          </a:xfrm>
          <a:prstGeom prst="rect">
            <a:avLst/>
          </a:prstGeom>
          <a:noFill/>
          <a:ln w="0">
            <a:noFill/>
          </a:ln>
        </p:spPr>
        <p:txBody>
          <a:bodyPr wrap="square" lIns="0" tIns="0" rIns="0" bIns="0">
            <a:noAutofit/>
          </a:bodyPr>
          <a:lstStyle>
            <a:defPPr>
              <a:defRPr sz="2100" b="0">
                <a:solidFill>
                  <a:srgbClr val="151B23"/>
                </a:solidFill>
                <a:latin typeface="Arial"/>
                <a:ea typeface="Arial"/>
                <a:cs typeface="Arial"/>
              </a:defRPr>
            </a:defPPr>
            <a:lvl1pPr>
              <a:buNone/>
              <a:defRPr sz="2100" b="0">
                <a:solidFill>
                  <a:srgbClr val="151B23"/>
                </a:solidFill>
                <a:latin typeface="Arial"/>
                <a:ea typeface="Arial"/>
                <a:cs typeface="Arial"/>
              </a:defRPr>
            </a:lvl1pPr>
            <a:lvl2pPr>
              <a:buNone/>
              <a:defRPr sz="2100" b="0">
                <a:solidFill>
                  <a:srgbClr val="151B23"/>
                </a:solidFill>
                <a:latin typeface="Arial"/>
                <a:ea typeface="Arial"/>
                <a:cs typeface="Arial"/>
              </a:defRPr>
            </a:lvl2pPr>
            <a:lvl3pPr>
              <a:buNone/>
              <a:defRPr sz="2100" b="0">
                <a:solidFill>
                  <a:srgbClr val="151B23"/>
                </a:solidFill>
                <a:latin typeface="Arial"/>
                <a:ea typeface="Arial"/>
                <a:cs typeface="Arial"/>
              </a:defRPr>
            </a:lvl3pPr>
            <a:lvl4pPr>
              <a:buNone/>
              <a:defRPr sz="2100" b="0">
                <a:solidFill>
                  <a:srgbClr val="151B23"/>
                </a:solidFill>
                <a:latin typeface="Arial"/>
                <a:ea typeface="Arial"/>
                <a:cs typeface="Arial"/>
              </a:defRPr>
            </a:lvl4pPr>
            <a:lvl5pPr>
              <a:buNone/>
              <a:defRPr sz="2100" b="0">
                <a:solidFill>
                  <a:srgbClr val="151B23"/>
                </a:solidFill>
                <a:latin typeface="Arial"/>
                <a:ea typeface="Arial"/>
                <a:cs typeface="Arial"/>
              </a:defRPr>
            </a:lvl5pPr>
            <a:lvl6pPr>
              <a:buNone/>
              <a:defRPr sz="2100" b="0">
                <a:solidFill>
                  <a:srgbClr val="151B23"/>
                </a:solidFill>
                <a:latin typeface="Arial"/>
                <a:ea typeface="Arial"/>
                <a:cs typeface="Arial"/>
              </a:defRPr>
            </a:lvl6pPr>
            <a:lvl7pPr>
              <a:buNone/>
              <a:defRPr sz="2100" b="0">
                <a:solidFill>
                  <a:srgbClr val="151B23"/>
                </a:solidFill>
                <a:latin typeface="Arial"/>
                <a:ea typeface="Arial"/>
                <a:cs typeface="Arial"/>
              </a:defRPr>
            </a:lvl7pPr>
            <a:lvl8pPr>
              <a:buNone/>
              <a:defRPr sz="2100" b="0">
                <a:solidFill>
                  <a:srgbClr val="151B23"/>
                </a:solidFill>
                <a:latin typeface="Arial"/>
                <a:ea typeface="Arial"/>
                <a:cs typeface="Arial"/>
              </a:defRPr>
            </a:lvl8pPr>
            <a:lvl9pPr>
              <a:buNone/>
              <a:defRPr sz="2100" b="0">
                <a:solidFill>
                  <a:srgbClr val="151B23"/>
                </a:solidFill>
                <a:latin typeface="Arial"/>
                <a:ea typeface="Arial"/>
                <a:cs typeface="Arial"/>
              </a:defRPr>
            </a:lvl9pPr>
          </a:lstStyle>
          <a:p>
            <a:pPr>
              <a:buNone/>
              <a:defRPr sz="2100" b="0">
                <a:solidFill>
                  <a:srgbClr val="151B23"/>
                </a:solidFill>
                <a:latin typeface="Arial"/>
                <a:ea typeface="Arial"/>
                <a:cs typeface="Arial"/>
              </a:defRPr>
            </a:pPr>
            <a:r>
              <a:rPr sz="2100" b="0">
                <a:solidFill>
                  <a:srgbClr val="151B23"/>
                </a:solidFill>
                <a:latin typeface="Arial"/>
                <a:ea typeface="Arial"/>
                <a:cs typeface="Arial"/>
              </a:rPr>
              <a:t>Thêm workload, think-time, checks và thresholds. HAR không tự cung cấp các mục tiêu này.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98276890" name="WEB AUDIT / AI SINH CODE"/>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AI SINH CODE</a:t>
            </a:r>
            <a:endParaRPr/>
          </a:p>
        </p:txBody>
      </p:sp>
      <p:sp>
        <p:nvSpPr>
          <p:cNvPr id="132515700" name="Sinh hai script từ cùng HAR và prompt"/>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Sinh hai script từ cùng HAR và prompt</a:t>
            </a:r>
            <a:endParaRPr/>
          </a:p>
        </p:txBody>
      </p:sp>
      <p:sp>
        <p:nvSpPr>
          <p:cNvPr id="1948609333"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421986275" name="33"/>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65</a:t>
            </a:r>
            <a:endParaRPr/>
          </a:p>
        </p:txBody>
      </p:sp>
      <p:sp>
        <p:nvSpPr>
          <p:cNvPr id="1701608136"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553538367" name="Cung cấp cùng contract và yêu cầu workload cho hai LLM."/>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Cung cấp cùng contract và yêu cầu workload cho hai LLM.</a:t>
            </a:r>
            <a:endParaRPr/>
          </a:p>
        </p:txBody>
      </p:sp>
      <p:sp>
        <p:nvSpPr>
          <p:cNvPr id="1356347197"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647163347" name="Giữ source Gemini và Claude nguyên bản để audit."/>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Giữ source Gemini và Claude nguyên bản để audit.</a:t>
            </a:r>
            <a:endParaRPr/>
          </a:p>
        </p:txBody>
      </p:sp>
      <p:sp>
        <p:nvSpPr>
          <p:cNvPr id="1357446652"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984946156" name="Yêu cầu token runtime, JSON POST và guard khi login lỗi."/>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Yêu cầu token runtime, JSON POST và guard khi login lỗi.</a:t>
            </a:r>
            <a:endParaRPr/>
          </a:p>
        </p:txBody>
      </p:sp>
      <p:sp>
        <p:nvSpPr>
          <p:cNvPr id="283060659"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1601222184" name="So sánh bằng cùng rubric, không dựa tên nhà cung cấp."/>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So sánh bằng cùng rubric, không dựa tên nhà cung cấp.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83494410" name="WEB AUDIT / CÀI ĐẶT"/>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CÀI ĐẶT</a:t>
            </a:r>
            <a:endParaRPr/>
          </a:p>
        </p:txBody>
      </p:sp>
      <p:sp>
        <p:nvSpPr>
          <p:cNvPr id="1647025004" name="Web audit: cách cài và chạy"/>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Web audit: cách cài và chạy</a:t>
            </a:r>
            <a:endParaRPr/>
          </a:p>
        </p:txBody>
      </p:sp>
      <p:sp>
        <p:nvSpPr>
          <p:cNvPr id="206538301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675844684" name="34"/>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66</a:t>
            </a:r>
            <a:endParaRPr/>
          </a:p>
        </p:txBody>
      </p:sp>
      <p:sp>
        <p:nvSpPr>
          <p:cNvPr id="2003122111"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46742956" name="Cài Node.js/npm cùng k6 CLI."/>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Cài Node.js/npm cùng k6 CLI.</a:t>
            </a:r>
            <a:endParaRPr/>
          </a:p>
        </p:txBody>
      </p:sp>
      <p:sp>
        <p:nvSpPr>
          <p:cNvPr id="561563485"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038144870" name="Chạy SUT API ở cổng 3000 trước."/>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Chạy SUT API ở cổng 3000 trước.</a:t>
            </a:r>
            <a:endParaRPr/>
          </a:p>
        </p:txBody>
      </p:sp>
      <p:sp>
        <p:nvSpPr>
          <p:cNvPr id="1576546637"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421977090" name="Trong test-web-performance: npm run install:all."/>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Trong test-web-performance: npm run install:all.</a:t>
            </a:r>
            <a:endParaRPr/>
          </a:p>
        </p:txBody>
      </p:sp>
      <p:sp>
        <p:nvSpPr>
          <p:cNvPr id="1899904332"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1434931078" name="Chạy dev:server và dev:frontend ở hai cửa sổ."/>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Chạy dev:server và dev:frontend ở hai cửa sổ.</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311198979" name="WEB AUDIT / NGUYÊN LÝ"/>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NGUYÊN LÝ</a:t>
            </a:r>
            <a:endParaRPr/>
          </a:p>
        </p:txBody>
      </p:sp>
      <p:sp>
        <p:nvSpPr>
          <p:cNvPr id="910340595" name="Bộ chấm kết hợp source và runtime"/>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Bộ chấm kết hợp source và runtime</a:t>
            </a:r>
            <a:endParaRPr/>
          </a:p>
        </p:txBody>
      </p:sp>
      <p:sp>
        <p:nvSpPr>
          <p:cNvPr id="161801684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443977414" name="35"/>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67</a:t>
            </a:r>
            <a:endParaRPr/>
          </a:p>
        </p:txBody>
      </p:sp>
      <p:graphicFrame>
        <p:nvGraphicFramePr>
          <p:cNvPr id="338922097"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864870">
                <a:tc>
                  <a:txBody>
                    <a:bodyPr/>
                    <a:p>
                      <a:pPr>
                        <a:buNone/>
                        <a:defRPr/>
                      </a:pPr>
                      <a:r>
                        <a:rPr sz="1800" b="1">
                          <a:solidFill>
                            <a:srgbClr val="153E75"/>
                          </a:solidFill>
                          <a:latin typeface="Arial"/>
                          <a:ea typeface="Arial"/>
                          <a:cs typeface="Arial"/>
                        </a:rPr>
                        <a:t>Lớp kiểm tra</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Cơ chế</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Phạm vi evidence</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Source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Acorn parse AST và theo dấu mẫu code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Method, body, token, workload</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Runtime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k6 smoke 1 VU, 1 iteration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Nhánh thực tế đã chạy</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Người chấm</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Đọc evidence, duyệt/chỉnh điểm</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Quyết định có lý do</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AI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Nhận xét và đề xuất theo yêu cầu</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Không tự ghi đè điểm</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72195714" name="WEB AUDIT / RUBRIC"/>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RUBRIC</a:t>
            </a:r>
            <a:endParaRPr/>
          </a:p>
        </p:txBody>
      </p:sp>
      <p:sp>
        <p:nvSpPr>
          <p:cNvPr id="438552512" name="Rubric: tiêu chí 1–5"/>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Rubric: tiêu chí 1–5</a:t>
            </a:r>
            <a:endParaRPr/>
          </a:p>
        </p:txBody>
      </p:sp>
      <p:sp>
        <p:nvSpPr>
          <p:cNvPr id="1409258596"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13270323" name="36"/>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68</a:t>
            </a:r>
            <a:endParaRPr/>
          </a:p>
        </p:txBody>
      </p:sp>
      <p:graphicFrame>
        <p:nvGraphicFramePr>
          <p:cNvPr id="747140595"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666750"/>
                <a:gridCol w="3524250"/>
                <a:gridCol w="6781800"/>
              </a:tblGrid>
              <a:tr h="720725">
                <a:tc>
                  <a:txBody>
                    <a:bodyPr/>
                    <a:p>
                      <a:pPr>
                        <a:buNone/>
                        <a:defRPr/>
                      </a:pPr>
                      <a:r>
                        <a:rPr sz="1800" b="1">
                          <a:solidFill>
                            <a:srgbClr val="153E75"/>
                          </a:solidFill>
                          <a:latin typeface="Arial"/>
                          <a:ea typeface="Arial"/>
                          <a:cs typeface="Arial"/>
                        </a:rPr>
                        <a:t>#</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Tiêu chí</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Evidence cần kiểm tra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720725">
                <a:tc>
                  <a:txBody>
                    <a:bodyPr/>
                    <a:p>
                      <a:pPr>
                        <a:buNone/>
                        <a:defRPr/>
                      </a:pPr>
                      <a:r>
                        <a:rPr sz="1800">
                          <a:solidFill>
                            <a:srgbClr val="151B23"/>
                          </a:solidFill>
                          <a:latin typeface="Arial"/>
                          <a:ea typeface="Arial"/>
                          <a:cs typeface="Arial"/>
                        </a:rPr>
                        <a:t>1</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Endpoint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Đúng contract thật</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2</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Method và body</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GET/POST, JSON và Content-Type</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3</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Flow và guard</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Chặn khi login/token không hợp lệ</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4</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Correlation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Token login được dùng trong Bearer</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5</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Think-time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Khoảng nghỉ random theo action</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511840243" name="WEB AUDIT / RUBRIC"/>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RUBRIC</a:t>
            </a:r>
            <a:endParaRPr/>
          </a:p>
        </p:txBody>
      </p:sp>
      <p:sp>
        <p:nvSpPr>
          <p:cNvPr id="667818988" name="Rubric: tiêu chí 6–10"/>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Rubric: tiêu chí 6–10</a:t>
            </a:r>
            <a:endParaRPr/>
          </a:p>
        </p:txBody>
      </p:sp>
      <p:sp>
        <p:nvSpPr>
          <p:cNvPr id="1551234390"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321104494" name="37"/>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69</a:t>
            </a:r>
            <a:endParaRPr/>
          </a:p>
        </p:txBody>
      </p:sp>
      <p:graphicFrame>
        <p:nvGraphicFramePr>
          <p:cNvPr id="481954697"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666750"/>
                <a:gridCol w="3524250"/>
                <a:gridCol w="6781800"/>
              </a:tblGrid>
              <a:tr h="720725">
                <a:tc>
                  <a:txBody>
                    <a:bodyPr/>
                    <a:p>
                      <a:pPr>
                        <a:buNone/>
                        <a:defRPr/>
                      </a:pPr>
                      <a:r>
                        <a:rPr sz="1800" b="1">
                          <a:solidFill>
                            <a:srgbClr val="153E75"/>
                          </a:solidFill>
                          <a:latin typeface="Arial"/>
                          <a:ea typeface="Arial"/>
                          <a:cs typeface="Arial"/>
                        </a:rPr>
                        <a:t>#</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Tiêu chí</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Evidence cần kiểm tra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720725">
                <a:tc>
                  <a:txBody>
                    <a:bodyPr/>
                    <a:p>
                      <a:pPr>
                        <a:buNone/>
                        <a:defRPr/>
                      </a:pPr>
                      <a:r>
                        <a:rPr sz="1800">
                          <a:solidFill>
                            <a:srgbClr val="151B23"/>
                          </a:solidFill>
                          <a:latin typeface="Arial"/>
                          <a:ea typeface="Arial"/>
                          <a:cs typeface="Arial"/>
                        </a:rPr>
                        <a:t>6</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Workload</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Xác suất action 55/25/20</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7</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Parameterization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Keyword và product ID biến thiên</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8</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Checkpoints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token và orderId</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9</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Thresholds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p95 và checks theo rubric</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10</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Runtime smoke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Có request/check, đủ metric, không lỗi</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49255094" name="WEB AUDIT / AI"/>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AI</a:t>
            </a:r>
            <a:endParaRPr/>
          </a:p>
        </p:txBody>
      </p:sp>
      <p:sp>
        <p:nvSpPr>
          <p:cNvPr id="211349955" name="Luna: nhận xét và gợi ý hiệu nă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Luna: nhận xét và gợi ý hiệu năng</a:t>
            </a:r>
            <a:endParaRPr/>
          </a:p>
        </p:txBody>
      </p:sp>
      <p:sp>
        <p:nvSpPr>
          <p:cNvPr id="99326198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211247792" name="38"/>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70</a:t>
            </a:r>
            <a:endParaRPr/>
          </a:p>
        </p:txBody>
      </p:sp>
      <p:graphicFrame>
        <p:nvGraphicFramePr>
          <p:cNvPr id="718642811"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864870">
                <a:tc>
                  <a:txBody>
                    <a:bodyPr/>
                    <a:p>
                      <a:pPr>
                        <a:buNone/>
                        <a:defRPr/>
                      </a:pPr>
                      <a:r>
                        <a:rPr sz="1800" b="1">
                          <a:solidFill>
                            <a:srgbClr val="153E75"/>
                          </a:solidFill>
                          <a:latin typeface="Arial"/>
                          <a:ea typeface="Arial"/>
                          <a:cs typeface="Arial"/>
                        </a:rPr>
                        <a:t>Chức năng</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Đầu vào</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Đầu ra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Nhận xét script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Source, rubric, k6 evidence</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Markdown có rủi ro và cách sửa</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Threshold</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Metric, số mẫu và mục tiêu</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Ngưỡng gợi ý, lý do, kiểm chứng</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Correlation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Dữ liệu động trong flow</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Nguồn lấy và nơi sử dụng</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Kiểm soát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Schema và phiên được cấp quyền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Người dùng review nội dung</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39529044" name="WEB AUDIT / THỰC HÀNH"/>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THỰC HÀNH</a:t>
            </a:r>
            <a:endParaRPr/>
          </a:p>
        </p:txBody>
      </p:sp>
      <p:sp>
        <p:nvSpPr>
          <p:cNvPr id="169615445" name="Web audit: các thao tác người dù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Web audit: các thao tác người dùng</a:t>
            </a:r>
            <a:endParaRPr/>
          </a:p>
        </p:txBody>
      </p:sp>
      <p:sp>
        <p:nvSpPr>
          <p:cNvPr id="167781815"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226294886" name="39"/>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71</a:t>
            </a:r>
            <a:endParaRPr/>
          </a:p>
        </p:txBody>
      </p:sp>
      <p:pic>
        <p:nvPicPr>
          <p:cNvPr id="425684267" name=""/>
          <p:cNvPicPr>
            <a:picLocks noChangeAspect="1"/>
          </p:cNvPicPr>
          <p:nvPr/>
        </p:nvPicPr>
        <p:blipFill rotWithShape="1">
          <a:blip r:embed="rId3"/>
          <a:stretch/>
        </p:blipFill>
        <p:spPr bwMode="auto">
          <a:xfrm>
            <a:off x="2208951" y="1676400"/>
            <a:ext cx="7774099" cy="4095750"/>
          </a:xfrm>
          <a:prstGeom prst="rect">
            <a:avLst/>
          </a:prstGeom>
        </p:spPr>
      </p:pic>
      <p:sp>
        <p:nvSpPr>
          <p:cNvPr id="479641510" name="HAR đã redacted và hai source gốc làm đầu vào"/>
          <p:cNvSpPr>
            <a:spLocks noGrp="1"/>
          </p:cNvSpPr>
          <p:nvPr/>
        </p:nvSpPr>
        <p:spPr bwMode="auto">
          <a:xfrm>
            <a:off x="609600" y="5905500"/>
            <a:ext cx="10972800" cy="419100"/>
          </a:xfrm>
          <a:prstGeom prst="rect">
            <a:avLst/>
          </a:prstGeom>
          <a:noFill/>
          <a:ln w="0">
            <a:noFill/>
          </a:ln>
        </p:spPr>
        <p:txBody>
          <a:bodyPr wrap="square" lIns="0" tIns="0" rIns="0" bIns="0">
            <a:noAutofit/>
          </a:bodyPr>
          <a:lstStyle>
            <a:defPPr>
              <a:defRPr sz="1650" b="0">
                <a:solidFill>
                  <a:srgbClr val="151B23"/>
                </a:solidFill>
                <a:latin typeface="Arial"/>
                <a:ea typeface="Arial"/>
                <a:cs typeface="Arial"/>
              </a:defRPr>
            </a:defPPr>
            <a:lvl1pPr>
              <a:buNone/>
              <a:defRPr sz="1650" b="0">
                <a:solidFill>
                  <a:srgbClr val="151B23"/>
                </a:solidFill>
                <a:latin typeface="Arial"/>
                <a:ea typeface="Arial"/>
                <a:cs typeface="Arial"/>
              </a:defRPr>
            </a:lvl1pPr>
            <a:lvl2pPr>
              <a:buNone/>
              <a:defRPr sz="1650" b="0">
                <a:solidFill>
                  <a:srgbClr val="151B23"/>
                </a:solidFill>
                <a:latin typeface="Arial"/>
                <a:ea typeface="Arial"/>
                <a:cs typeface="Arial"/>
              </a:defRPr>
            </a:lvl2pPr>
            <a:lvl3pPr>
              <a:buNone/>
              <a:defRPr sz="1650" b="0">
                <a:solidFill>
                  <a:srgbClr val="151B23"/>
                </a:solidFill>
                <a:latin typeface="Arial"/>
                <a:ea typeface="Arial"/>
                <a:cs typeface="Arial"/>
              </a:defRPr>
            </a:lvl3pPr>
            <a:lvl4pPr>
              <a:buNone/>
              <a:defRPr sz="1650" b="0">
                <a:solidFill>
                  <a:srgbClr val="151B23"/>
                </a:solidFill>
                <a:latin typeface="Arial"/>
                <a:ea typeface="Arial"/>
                <a:cs typeface="Arial"/>
              </a:defRPr>
            </a:lvl4pPr>
            <a:lvl5pPr>
              <a:buNone/>
              <a:defRPr sz="1650" b="0">
                <a:solidFill>
                  <a:srgbClr val="151B23"/>
                </a:solidFill>
                <a:latin typeface="Arial"/>
                <a:ea typeface="Arial"/>
                <a:cs typeface="Arial"/>
              </a:defRPr>
            </a:lvl5pPr>
            <a:lvl6pPr>
              <a:buNone/>
              <a:defRPr sz="1650" b="0">
                <a:solidFill>
                  <a:srgbClr val="151B23"/>
                </a:solidFill>
                <a:latin typeface="Arial"/>
                <a:ea typeface="Arial"/>
                <a:cs typeface="Arial"/>
              </a:defRPr>
            </a:lvl6pPr>
            <a:lvl7pPr>
              <a:buNone/>
              <a:defRPr sz="1650" b="0">
                <a:solidFill>
                  <a:srgbClr val="151B23"/>
                </a:solidFill>
                <a:latin typeface="Arial"/>
                <a:ea typeface="Arial"/>
                <a:cs typeface="Arial"/>
              </a:defRPr>
            </a:lvl7pPr>
            <a:lvl8pPr>
              <a:buNone/>
              <a:defRPr sz="1650" b="0">
                <a:solidFill>
                  <a:srgbClr val="151B23"/>
                </a:solidFill>
                <a:latin typeface="Arial"/>
                <a:ea typeface="Arial"/>
                <a:cs typeface="Arial"/>
              </a:defRPr>
            </a:lvl8pPr>
            <a:lvl9pPr>
              <a:buNone/>
              <a:defRPr sz="1650" b="0">
                <a:solidFill>
                  <a:srgbClr val="151B23"/>
                </a:solidFill>
                <a:latin typeface="Arial"/>
                <a:ea typeface="Arial"/>
                <a:cs typeface="Arial"/>
              </a:defRPr>
            </a:lvl9pPr>
          </a:lstStyle>
          <a:p>
            <a:pPr>
              <a:buNone/>
              <a:defRPr sz="1650" b="0">
                <a:solidFill>
                  <a:srgbClr val="151B23"/>
                </a:solidFill>
                <a:latin typeface="Arial"/>
                <a:ea typeface="Arial"/>
                <a:cs typeface="Arial"/>
              </a:defRPr>
            </a:pPr>
            <a:r>
              <a:rPr sz="1650" b="0">
                <a:solidFill>
                  <a:srgbClr val="151B23"/>
                </a:solidFill>
                <a:latin typeface="Arial"/>
                <a:ea typeface="Arial"/>
                <a:cs typeface="Arial"/>
              </a:rPr>
              <a:t>HAR đã redacted và hai source gốc làm đầu vào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06754419" name="DEMO CỦA TRỊNH HỒ MINH THẮ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DEMO CỦA TRỊNH HỒ MINH THẮNG</a:t>
            </a:r>
            <a:endParaRPr/>
          </a:p>
        </p:txBody>
      </p:sp>
      <p:sp>
        <p:nvSpPr>
          <p:cNvPr id="788902138" name="Video demo 3: web audit và Luna"/>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Video demo 3: web audit và Luna</a:t>
            </a:r>
            <a:endParaRPr/>
          </a:p>
        </p:txBody>
      </p:sp>
      <p:sp>
        <p:nvSpPr>
          <p:cNvPr id="648819043"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97767082" name="40"/>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72</a:t>
            </a:r>
            <a:endParaRPr/>
          </a:p>
        </p:txBody>
      </p:sp>
      <p:sp>
        <p:nvSpPr>
          <p:cNvPr id="190458450" name="Trịnh Hồ Minh Thắng"/>
          <p:cNvSpPr>
            <a:spLocks noGrp="1"/>
          </p:cNvSpPr>
          <p:nvPr/>
        </p:nvSpPr>
        <p:spPr bwMode="auto">
          <a:xfrm>
            <a:off x="609600" y="1752599"/>
            <a:ext cx="10972800" cy="400050"/>
          </a:xfrm>
          <a:prstGeom prst="rect">
            <a:avLst/>
          </a:prstGeom>
          <a:noFill/>
          <a:ln w="0">
            <a:noFill/>
          </a:ln>
        </p:spPr>
        <p:txBody>
          <a:bodyPr wrap="square" lIns="0" tIns="0" rIns="0" bIns="0">
            <a:noAutofit/>
          </a:bodyPr>
          <a:lstStyle>
            <a:defPPr>
              <a:defRPr sz="2250" b="1">
                <a:solidFill>
                  <a:srgbClr val="2456A6"/>
                </a:solidFill>
                <a:latin typeface="Arial"/>
                <a:ea typeface="Arial"/>
                <a:cs typeface="Arial"/>
              </a:defRPr>
            </a:defPPr>
            <a:lvl1pPr>
              <a:buNone/>
              <a:defRPr sz="2250" b="1">
                <a:solidFill>
                  <a:srgbClr val="2456A6"/>
                </a:solidFill>
                <a:latin typeface="Arial"/>
                <a:ea typeface="Arial"/>
                <a:cs typeface="Arial"/>
              </a:defRPr>
            </a:lvl1pPr>
            <a:lvl2pPr>
              <a:buNone/>
              <a:defRPr sz="2250" b="1">
                <a:solidFill>
                  <a:srgbClr val="2456A6"/>
                </a:solidFill>
                <a:latin typeface="Arial"/>
                <a:ea typeface="Arial"/>
                <a:cs typeface="Arial"/>
              </a:defRPr>
            </a:lvl2pPr>
            <a:lvl3pPr>
              <a:buNone/>
              <a:defRPr sz="2250" b="1">
                <a:solidFill>
                  <a:srgbClr val="2456A6"/>
                </a:solidFill>
                <a:latin typeface="Arial"/>
                <a:ea typeface="Arial"/>
                <a:cs typeface="Arial"/>
              </a:defRPr>
            </a:lvl3pPr>
            <a:lvl4pPr>
              <a:buNone/>
              <a:defRPr sz="2250" b="1">
                <a:solidFill>
                  <a:srgbClr val="2456A6"/>
                </a:solidFill>
                <a:latin typeface="Arial"/>
                <a:ea typeface="Arial"/>
                <a:cs typeface="Arial"/>
              </a:defRPr>
            </a:lvl4pPr>
            <a:lvl5pPr>
              <a:buNone/>
              <a:defRPr sz="2250" b="1">
                <a:solidFill>
                  <a:srgbClr val="2456A6"/>
                </a:solidFill>
                <a:latin typeface="Arial"/>
                <a:ea typeface="Arial"/>
                <a:cs typeface="Arial"/>
              </a:defRPr>
            </a:lvl5pPr>
            <a:lvl6pPr>
              <a:buNone/>
              <a:defRPr sz="2250" b="1">
                <a:solidFill>
                  <a:srgbClr val="2456A6"/>
                </a:solidFill>
                <a:latin typeface="Arial"/>
                <a:ea typeface="Arial"/>
                <a:cs typeface="Arial"/>
              </a:defRPr>
            </a:lvl6pPr>
            <a:lvl7pPr>
              <a:buNone/>
              <a:defRPr sz="2250" b="1">
                <a:solidFill>
                  <a:srgbClr val="2456A6"/>
                </a:solidFill>
                <a:latin typeface="Arial"/>
                <a:ea typeface="Arial"/>
                <a:cs typeface="Arial"/>
              </a:defRPr>
            </a:lvl7pPr>
            <a:lvl8pPr>
              <a:buNone/>
              <a:defRPr sz="2250" b="1">
                <a:solidFill>
                  <a:srgbClr val="2456A6"/>
                </a:solidFill>
                <a:latin typeface="Arial"/>
                <a:ea typeface="Arial"/>
                <a:cs typeface="Arial"/>
              </a:defRPr>
            </a:lvl8pPr>
            <a:lvl9pPr>
              <a:buNone/>
              <a:defRPr sz="2250" b="1">
                <a:solidFill>
                  <a:srgbClr val="2456A6"/>
                </a:solidFill>
                <a:latin typeface="Arial"/>
                <a:ea typeface="Arial"/>
                <a:cs typeface="Arial"/>
              </a:defRPr>
            </a:lvl9pPr>
          </a:lstStyle>
          <a:p>
            <a:pPr>
              <a:buNone/>
              <a:defRPr sz="2250" b="1">
                <a:solidFill>
                  <a:srgbClr val="2456A6"/>
                </a:solidFill>
                <a:latin typeface="Arial"/>
                <a:ea typeface="Arial"/>
                <a:cs typeface="Arial"/>
              </a:defRPr>
            </a:pPr>
            <a:r>
              <a:rPr sz="2250" b="1">
                <a:solidFill>
                  <a:srgbClr val="2456A6"/>
                </a:solidFill>
                <a:latin typeface="Arial"/>
                <a:ea typeface="Arial"/>
                <a:cs typeface="Arial"/>
              </a:rPr>
              <a:t>Trịnh Hồ Minh Thắng</a:t>
            </a:r>
            <a:endParaRPr/>
          </a:p>
        </p:txBody>
      </p:sp>
      <p:sp>
        <p:nvSpPr>
          <p:cNvPr id="1086208401" name="1. Khởi động SUT, server audit và React."/>
          <p:cNvSpPr>
            <a:spLocks noGrp="1"/>
          </p:cNvSpPr>
          <p:nvPr/>
        </p:nvSpPr>
        <p:spPr bwMode="auto">
          <a:xfrm>
            <a:off x="609600" y="2438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1. Khởi động SUT, server audit và React.</a:t>
            </a:r>
            <a:endParaRPr/>
          </a:p>
        </p:txBody>
      </p:sp>
      <p:sp>
        <p:nvSpPr>
          <p:cNvPr id="1128485541" name="2. Nộp HAR/hai script, đọc rubric và log smoke."/>
          <p:cNvSpPr>
            <a:spLocks noGrp="1"/>
          </p:cNvSpPr>
          <p:nvPr/>
        </p:nvSpPr>
        <p:spPr bwMode="auto">
          <a:xfrm>
            <a:off x="609600" y="3200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2. Nộp HAR/hai script, đọc rubric và log smoke.</a:t>
            </a:r>
            <a:endParaRPr/>
          </a:p>
        </p:txBody>
      </p:sp>
      <p:sp>
        <p:nvSpPr>
          <p:cNvPr id="478894159" name="3. Đăng nhập AI, nhận xét, tạo đề xuất và tải scorecard."/>
          <p:cNvSpPr>
            <a:spLocks noGrp="1"/>
          </p:cNvSpPr>
          <p:nvPr/>
        </p:nvSpPr>
        <p:spPr bwMode="auto">
          <a:xfrm>
            <a:off x="609600" y="3962400"/>
            <a:ext cx="10972800" cy="6667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3. Đăng nhập AI, nhận xét, tạo đề xuất và tải scorecard.</a:t>
            </a:r>
            <a:endParaRPr/>
          </a:p>
        </p:txBody>
      </p:sp>
      <p:sp>
        <p:nvSpPr>
          <p:cNvPr id="244810150" name="LINK_VIDEO_3"/>
          <p:cNvSpPr>
            <a:spLocks noGrp="1"/>
          </p:cNvSpPr>
          <p:nvPr/>
        </p:nvSpPr>
        <p:spPr bwMode="auto">
          <a:xfrm>
            <a:off x="609600" y="5181600"/>
            <a:ext cx="10972800" cy="495300"/>
          </a:xfrm>
          <a:prstGeom prst="rect">
            <a:avLst/>
          </a:prstGeom>
          <a:noFill/>
          <a:ln w="0">
            <a:noFill/>
          </a:ln>
        </p:spPr>
        <p:txBody>
          <a:bodyPr wrap="square" lIns="0" tIns="0" rIns="0" bIns="0">
            <a:noAutofit/>
          </a:bodyPr>
          <a:lstStyle>
            <a:defPPr>
              <a:defRPr sz="2100" b="1">
                <a:solidFill>
                  <a:srgbClr val="2456A6"/>
                </a:solidFill>
                <a:latin typeface="Arial"/>
                <a:ea typeface="Arial"/>
                <a:cs typeface="Arial"/>
              </a:defRPr>
            </a:defPPr>
            <a:lvl1pPr>
              <a:buNone/>
              <a:defRPr sz="2100" b="1">
                <a:solidFill>
                  <a:srgbClr val="2456A6"/>
                </a:solidFill>
                <a:latin typeface="Arial"/>
                <a:ea typeface="Arial"/>
                <a:cs typeface="Arial"/>
              </a:defRPr>
            </a:lvl1pPr>
            <a:lvl2pPr>
              <a:buNone/>
              <a:defRPr sz="2100" b="1">
                <a:solidFill>
                  <a:srgbClr val="2456A6"/>
                </a:solidFill>
                <a:latin typeface="Arial"/>
                <a:ea typeface="Arial"/>
                <a:cs typeface="Arial"/>
              </a:defRPr>
            </a:lvl2pPr>
            <a:lvl3pPr>
              <a:buNone/>
              <a:defRPr sz="2100" b="1">
                <a:solidFill>
                  <a:srgbClr val="2456A6"/>
                </a:solidFill>
                <a:latin typeface="Arial"/>
                <a:ea typeface="Arial"/>
                <a:cs typeface="Arial"/>
              </a:defRPr>
            </a:lvl3pPr>
            <a:lvl4pPr>
              <a:buNone/>
              <a:defRPr sz="2100" b="1">
                <a:solidFill>
                  <a:srgbClr val="2456A6"/>
                </a:solidFill>
                <a:latin typeface="Arial"/>
                <a:ea typeface="Arial"/>
                <a:cs typeface="Arial"/>
              </a:defRPr>
            </a:lvl4pPr>
            <a:lvl5pPr>
              <a:buNone/>
              <a:defRPr sz="2100" b="1">
                <a:solidFill>
                  <a:srgbClr val="2456A6"/>
                </a:solidFill>
                <a:latin typeface="Arial"/>
                <a:ea typeface="Arial"/>
                <a:cs typeface="Arial"/>
              </a:defRPr>
            </a:lvl5pPr>
            <a:lvl6pPr>
              <a:buNone/>
              <a:defRPr sz="2100" b="1">
                <a:solidFill>
                  <a:srgbClr val="2456A6"/>
                </a:solidFill>
                <a:latin typeface="Arial"/>
                <a:ea typeface="Arial"/>
                <a:cs typeface="Arial"/>
              </a:defRPr>
            </a:lvl6pPr>
            <a:lvl7pPr>
              <a:buNone/>
              <a:defRPr sz="2100" b="1">
                <a:solidFill>
                  <a:srgbClr val="2456A6"/>
                </a:solidFill>
                <a:latin typeface="Arial"/>
                <a:ea typeface="Arial"/>
                <a:cs typeface="Arial"/>
              </a:defRPr>
            </a:lvl7pPr>
            <a:lvl8pPr>
              <a:buNone/>
              <a:defRPr sz="2100" b="1">
                <a:solidFill>
                  <a:srgbClr val="2456A6"/>
                </a:solidFill>
                <a:latin typeface="Arial"/>
                <a:ea typeface="Arial"/>
                <a:cs typeface="Arial"/>
              </a:defRPr>
            </a:lvl8pPr>
            <a:lvl9pPr>
              <a:buNone/>
              <a:defRPr sz="2100" b="1">
                <a:solidFill>
                  <a:srgbClr val="2456A6"/>
                </a:solidFill>
                <a:latin typeface="Arial"/>
                <a:ea typeface="Arial"/>
                <a:cs typeface="Arial"/>
              </a:defRPr>
            </a:lvl9pPr>
          </a:lstStyle>
          <a:p>
            <a:pPr>
              <a:buNone/>
              <a:defRPr sz="2100" b="1">
                <a:solidFill>
                  <a:srgbClr val="2456A6"/>
                </a:solidFill>
                <a:latin typeface="Arial"/>
                <a:ea typeface="Arial"/>
                <a:cs typeface="Arial"/>
              </a:defRPr>
            </a:pPr>
            <a:r>
              <a:rPr sz="2100" b="1">
                <a:solidFill>
                  <a:srgbClr val="2456A6"/>
                </a:solidFill>
                <a:latin typeface="Arial"/>
                <a:ea typeface="Arial"/>
                <a:cs typeface="Arial"/>
              </a:rPr>
              <a:t>Link YouTube: [Thêm link video 3 tại đây]</a:t>
            </a:r>
            <a:endParaRPr/>
          </a:p>
        </p:txBody>
      </p:sp>
      <p:sp>
        <p:nvSpPr>
          <p:cNvPr id="1194117943" name="Nội dung video bám theo các thao tác vừa trình bày"/>
          <p:cNvSpPr>
            <a:spLocks noGrp="1"/>
          </p:cNvSpPr>
          <p:nvPr/>
        </p:nvSpPr>
        <p:spPr bwMode="auto">
          <a:xfrm>
            <a:off x="609600" y="5857875"/>
            <a:ext cx="10972800" cy="342900"/>
          </a:xfrm>
          <a:prstGeom prst="rect">
            <a:avLst/>
          </a:prstGeom>
          <a:noFill/>
          <a:ln w="0">
            <a:noFill/>
          </a:ln>
        </p:spPr>
        <p:txBody>
          <a:bodyPr wrap="square" lIns="0" tIns="0" rIns="0" bIns="0">
            <a:noAutofit/>
          </a:bodyPr>
          <a:lstStyle>
            <a:defPPr>
              <a:defRPr sz="1750" b="0">
                <a:solidFill>
                  <a:srgbClr val="151B23"/>
                </a:solidFill>
                <a:latin typeface="Arial"/>
                <a:ea typeface="Arial"/>
                <a:cs typeface="Arial"/>
              </a:defRPr>
            </a:defPPr>
            <a:lvl1pPr>
              <a:buNone/>
              <a:defRPr sz="1750" b="0">
                <a:solidFill>
                  <a:srgbClr val="151B23"/>
                </a:solidFill>
                <a:latin typeface="Arial"/>
                <a:ea typeface="Arial"/>
                <a:cs typeface="Arial"/>
              </a:defRPr>
            </a:lvl1pPr>
            <a:lvl2pPr>
              <a:buNone/>
              <a:defRPr sz="1750" b="0">
                <a:solidFill>
                  <a:srgbClr val="151B23"/>
                </a:solidFill>
                <a:latin typeface="Arial"/>
                <a:ea typeface="Arial"/>
                <a:cs typeface="Arial"/>
              </a:defRPr>
            </a:lvl2pPr>
            <a:lvl3pPr>
              <a:buNone/>
              <a:defRPr sz="1750" b="0">
                <a:solidFill>
                  <a:srgbClr val="151B23"/>
                </a:solidFill>
                <a:latin typeface="Arial"/>
                <a:ea typeface="Arial"/>
                <a:cs typeface="Arial"/>
              </a:defRPr>
            </a:lvl3pPr>
            <a:lvl4pPr>
              <a:buNone/>
              <a:defRPr sz="1750" b="0">
                <a:solidFill>
                  <a:srgbClr val="151B23"/>
                </a:solidFill>
                <a:latin typeface="Arial"/>
                <a:ea typeface="Arial"/>
                <a:cs typeface="Arial"/>
              </a:defRPr>
            </a:lvl4pPr>
            <a:lvl5pPr>
              <a:buNone/>
              <a:defRPr sz="1750" b="0">
                <a:solidFill>
                  <a:srgbClr val="151B23"/>
                </a:solidFill>
                <a:latin typeface="Arial"/>
                <a:ea typeface="Arial"/>
                <a:cs typeface="Arial"/>
              </a:defRPr>
            </a:lvl5pPr>
            <a:lvl6pPr>
              <a:buNone/>
              <a:defRPr sz="1750" b="0">
                <a:solidFill>
                  <a:srgbClr val="151B23"/>
                </a:solidFill>
                <a:latin typeface="Arial"/>
                <a:ea typeface="Arial"/>
                <a:cs typeface="Arial"/>
              </a:defRPr>
            </a:lvl6pPr>
            <a:lvl7pPr>
              <a:buNone/>
              <a:defRPr sz="1750" b="0">
                <a:solidFill>
                  <a:srgbClr val="151B23"/>
                </a:solidFill>
                <a:latin typeface="Arial"/>
                <a:ea typeface="Arial"/>
                <a:cs typeface="Arial"/>
              </a:defRPr>
            </a:lvl7pPr>
            <a:lvl8pPr>
              <a:buNone/>
              <a:defRPr sz="1750" b="0">
                <a:solidFill>
                  <a:srgbClr val="151B23"/>
                </a:solidFill>
                <a:latin typeface="Arial"/>
                <a:ea typeface="Arial"/>
                <a:cs typeface="Arial"/>
              </a:defRPr>
            </a:lvl8pPr>
            <a:lvl9pPr>
              <a:buNone/>
              <a:defRPr sz="1750" b="0">
                <a:solidFill>
                  <a:srgbClr val="151B23"/>
                </a:solidFill>
                <a:latin typeface="Arial"/>
                <a:ea typeface="Arial"/>
                <a:cs typeface="Arial"/>
              </a:defRPr>
            </a:lvl9pPr>
          </a:lstStyle>
          <a:p>
            <a:pPr>
              <a:buNone/>
              <a:defRPr sz="1750" b="0">
                <a:solidFill>
                  <a:srgbClr val="151B23"/>
                </a:solidFill>
                <a:latin typeface="Arial"/>
                <a:ea typeface="Arial"/>
                <a:cs typeface="Arial"/>
              </a:defRPr>
            </a:pPr>
            <a:r>
              <a:rPr sz="1750" b="0">
                <a:solidFill>
                  <a:srgbClr val="151B23"/>
                </a:solidFill>
                <a:latin typeface="Arial"/>
                <a:ea typeface="Arial"/>
                <a:cs typeface="Arial"/>
              </a:rPr>
              <a:t>Nội dung video bám theo các thao tác vừa trình bày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173636211" name="WEB AUDIT / KẾT QUẢ"/>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KẾT QUẢ</a:t>
            </a:r>
            <a:endParaRPr/>
          </a:p>
        </p:txBody>
      </p:sp>
      <p:sp>
        <p:nvSpPr>
          <p:cNvPr id="2042279482" name="Hai script thật: smoke của audit E85CDC"/>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Hai script thật: smoke của audit E85CDC</a:t>
            </a:r>
            <a:endParaRPr/>
          </a:p>
        </p:txBody>
      </p:sp>
      <p:sp>
        <p:nvSpPr>
          <p:cNvPr id="1545089397"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488930915" name="41"/>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73</a:t>
            </a:r>
            <a:endParaRPr/>
          </a:p>
        </p:txBody>
      </p:sp>
      <p:graphicFrame>
        <p:nvGraphicFramePr>
          <p:cNvPr id="1297136548"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720725">
                <a:tc>
                  <a:txBody>
                    <a:bodyPr/>
                    <a:p>
                      <a:pPr>
                        <a:buNone/>
                        <a:defRPr/>
                      </a:pPr>
                      <a:r>
                        <a:rPr sz="1800" b="1">
                          <a:solidFill>
                            <a:srgbClr val="153E75"/>
                          </a:solidFill>
                          <a:latin typeface="Arial"/>
                          <a:ea typeface="Arial"/>
                          <a:cs typeface="Arial"/>
                        </a:rPr>
                        <a:t>Chỉ số</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Script 1: Gemini</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Script 2: Claude</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720725">
                <a:tc>
                  <a:txBody>
                    <a:bodyPr/>
                    <a:p>
                      <a:pPr>
                        <a:buNone/>
                        <a:defRPr/>
                      </a:pPr>
                      <a:r>
                        <a:rPr sz="1800">
                          <a:solidFill>
                            <a:srgbClr val="151B23"/>
                          </a:solidFill>
                          <a:latin typeface="Arial"/>
                          <a:ea typeface="Arial"/>
                          <a:cs typeface="Arial"/>
                        </a:rPr>
                        <a:t>Điểm rubric</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10/10</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10/10</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HTTP requests</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2</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2</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Checks đạt</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3/3</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4/4</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HTTP lỗi / p95</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0% / 33,62 ms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0% / 3,92 ms</a:t>
                      </a:r>
                      <a:endParaRPr/>
                    </a:p>
                  </a:txBody>
                  <a:tcPr marL="114300" marR="95250" marT="76200" marB="57150">
                    <a:lnR w="9525" algn="ctr">
                      <a:solidFill>
                        <a:srgbClr val="D7DDE4"/>
                      </a:solidFill>
                    </a:lnR>
                    <a:lnB w="9525" algn="ctr">
                      <a:solidFill>
                        <a:srgbClr val="D7DDE4"/>
                      </a:solidFill>
                    </a:lnB>
                    <a:solidFill>
                      <a:srgbClr val="FFFFFF"/>
                    </a:solidFill>
                  </a:tcPr>
                </a:tc>
              </a:tr>
              <a:tr h="720725">
                <a:tc>
                  <a:txBody>
                    <a:bodyPr/>
                    <a:p>
                      <a:pPr>
                        <a:buNone/>
                        <a:defRPr/>
                      </a:pPr>
                      <a:r>
                        <a:rPr sz="1800">
                          <a:solidFill>
                            <a:srgbClr val="151B23"/>
                          </a:solidFill>
                          <a:latin typeface="Arial"/>
                          <a:ea typeface="Arial"/>
                          <a:cs typeface="Arial"/>
                        </a:rPr>
                        <a:t>Nhánh đã chạy</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Login và Search</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Login và Detail</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25436119" name="WEB AUDIT / EVIDENCE"/>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EVIDENCE</a:t>
            </a:r>
            <a:endParaRPr/>
          </a:p>
        </p:txBody>
      </p:sp>
      <p:sp>
        <p:nvSpPr>
          <p:cNvPr id="1926559602" name="Nhận xét AI trên giao diện"/>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Nhận xét AI trên giao diện</a:t>
            </a:r>
            <a:endParaRPr/>
          </a:p>
        </p:txBody>
      </p:sp>
      <p:sp>
        <p:nvSpPr>
          <p:cNvPr id="207998789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420633116" name="42"/>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74</a:t>
            </a:r>
            <a:endParaRPr/>
          </a:p>
        </p:txBody>
      </p:sp>
      <p:pic>
        <p:nvPicPr>
          <p:cNvPr id="1369037215" name=""/>
          <p:cNvPicPr>
            <a:picLocks noChangeAspect="1"/>
          </p:cNvPicPr>
          <p:nvPr/>
        </p:nvPicPr>
        <p:blipFill rotWithShape="1">
          <a:blip r:embed="rId3"/>
          <a:stretch/>
        </p:blipFill>
        <p:spPr bwMode="auto">
          <a:xfrm>
            <a:off x="2179626" y="1676400"/>
            <a:ext cx="7832748" cy="4095750"/>
          </a:xfrm>
          <a:prstGeom prst="rect">
            <a:avLst/>
          </a:prstGeom>
        </p:spPr>
      </p:pic>
      <p:sp>
        <p:nvSpPr>
          <p:cNvPr id="680481175" name="Luna nêu chất lượng source, rủi ro và evidence chưa chứng minh"/>
          <p:cNvSpPr>
            <a:spLocks noGrp="1"/>
          </p:cNvSpPr>
          <p:nvPr/>
        </p:nvSpPr>
        <p:spPr bwMode="auto">
          <a:xfrm>
            <a:off x="609600" y="5905500"/>
            <a:ext cx="10972800" cy="419100"/>
          </a:xfrm>
          <a:prstGeom prst="rect">
            <a:avLst/>
          </a:prstGeom>
          <a:noFill/>
          <a:ln w="0">
            <a:noFill/>
          </a:ln>
        </p:spPr>
        <p:txBody>
          <a:bodyPr wrap="square" lIns="0" tIns="0" rIns="0" bIns="0">
            <a:noAutofit/>
          </a:bodyPr>
          <a:lstStyle>
            <a:defPPr>
              <a:defRPr sz="1650" b="0">
                <a:solidFill>
                  <a:srgbClr val="151B23"/>
                </a:solidFill>
                <a:latin typeface="Arial"/>
                <a:ea typeface="Arial"/>
                <a:cs typeface="Arial"/>
              </a:defRPr>
            </a:defPPr>
            <a:lvl1pPr>
              <a:buNone/>
              <a:defRPr sz="1650" b="0">
                <a:solidFill>
                  <a:srgbClr val="151B23"/>
                </a:solidFill>
                <a:latin typeface="Arial"/>
                <a:ea typeface="Arial"/>
                <a:cs typeface="Arial"/>
              </a:defRPr>
            </a:lvl1pPr>
            <a:lvl2pPr>
              <a:buNone/>
              <a:defRPr sz="1650" b="0">
                <a:solidFill>
                  <a:srgbClr val="151B23"/>
                </a:solidFill>
                <a:latin typeface="Arial"/>
                <a:ea typeface="Arial"/>
                <a:cs typeface="Arial"/>
              </a:defRPr>
            </a:lvl2pPr>
            <a:lvl3pPr>
              <a:buNone/>
              <a:defRPr sz="1650" b="0">
                <a:solidFill>
                  <a:srgbClr val="151B23"/>
                </a:solidFill>
                <a:latin typeface="Arial"/>
                <a:ea typeface="Arial"/>
                <a:cs typeface="Arial"/>
              </a:defRPr>
            </a:lvl3pPr>
            <a:lvl4pPr>
              <a:buNone/>
              <a:defRPr sz="1650" b="0">
                <a:solidFill>
                  <a:srgbClr val="151B23"/>
                </a:solidFill>
                <a:latin typeface="Arial"/>
                <a:ea typeface="Arial"/>
                <a:cs typeface="Arial"/>
              </a:defRPr>
            </a:lvl4pPr>
            <a:lvl5pPr>
              <a:buNone/>
              <a:defRPr sz="1650" b="0">
                <a:solidFill>
                  <a:srgbClr val="151B23"/>
                </a:solidFill>
                <a:latin typeface="Arial"/>
                <a:ea typeface="Arial"/>
                <a:cs typeface="Arial"/>
              </a:defRPr>
            </a:lvl5pPr>
            <a:lvl6pPr>
              <a:buNone/>
              <a:defRPr sz="1650" b="0">
                <a:solidFill>
                  <a:srgbClr val="151B23"/>
                </a:solidFill>
                <a:latin typeface="Arial"/>
                <a:ea typeface="Arial"/>
                <a:cs typeface="Arial"/>
              </a:defRPr>
            </a:lvl6pPr>
            <a:lvl7pPr>
              <a:buNone/>
              <a:defRPr sz="1650" b="0">
                <a:solidFill>
                  <a:srgbClr val="151B23"/>
                </a:solidFill>
                <a:latin typeface="Arial"/>
                <a:ea typeface="Arial"/>
                <a:cs typeface="Arial"/>
              </a:defRPr>
            </a:lvl7pPr>
            <a:lvl8pPr>
              <a:buNone/>
              <a:defRPr sz="1650" b="0">
                <a:solidFill>
                  <a:srgbClr val="151B23"/>
                </a:solidFill>
                <a:latin typeface="Arial"/>
                <a:ea typeface="Arial"/>
                <a:cs typeface="Arial"/>
              </a:defRPr>
            </a:lvl8pPr>
            <a:lvl9pPr>
              <a:buNone/>
              <a:defRPr sz="1650" b="0">
                <a:solidFill>
                  <a:srgbClr val="151B23"/>
                </a:solidFill>
                <a:latin typeface="Arial"/>
                <a:ea typeface="Arial"/>
                <a:cs typeface="Arial"/>
              </a:defRPr>
            </a:lvl9pPr>
          </a:lstStyle>
          <a:p>
            <a:pPr>
              <a:buNone/>
              <a:defRPr sz="1650" b="0">
                <a:solidFill>
                  <a:srgbClr val="151B23"/>
                </a:solidFill>
                <a:latin typeface="Arial"/>
                <a:ea typeface="Arial"/>
                <a:cs typeface="Arial"/>
              </a:defRPr>
            </a:pPr>
            <a:r>
              <a:rPr sz="1650" b="0">
                <a:solidFill>
                  <a:srgbClr val="151B23"/>
                </a:solidFill>
                <a:latin typeface="Arial"/>
                <a:ea typeface="Arial"/>
                <a:cs typeface="Arial"/>
              </a:rPr>
              <a:t>Luna nêu chất lượng source, rủi ro và evidence chưa chứng minh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006642922" name="WEB AUDIT / GỢI Ý"/>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GỢI Ý</a:t>
            </a:r>
            <a:endParaRPr/>
          </a:p>
        </p:txBody>
      </p:sp>
      <p:sp>
        <p:nvSpPr>
          <p:cNvPr id="2110112897" name="Threshold: đề xuất khác với số đo"/>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Threshold: đề xuất khác với số đo</a:t>
            </a:r>
            <a:endParaRPr/>
          </a:p>
        </p:txBody>
      </p:sp>
      <p:sp>
        <p:nvSpPr>
          <p:cNvPr id="63839800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414905526" name="43"/>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75</a:t>
            </a:r>
            <a:endParaRPr/>
          </a:p>
        </p:txBody>
      </p:sp>
      <p:graphicFrame>
        <p:nvGraphicFramePr>
          <p:cNvPr id="97425962"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864870">
                <a:tc>
                  <a:txBody>
                    <a:bodyPr/>
                    <a:p>
                      <a:pPr>
                        <a:buNone/>
                        <a:defRPr/>
                      </a:pPr>
                      <a:r>
                        <a:rPr sz="1800" b="1">
                          <a:solidFill>
                            <a:srgbClr val="153E75"/>
                          </a:solidFill>
                          <a:latin typeface="Arial"/>
                          <a:ea typeface="Arial"/>
                          <a:cs typeface="Arial"/>
                        </a:rPr>
                        <a:t>Script</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Metric</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Đề xuất đã lưu</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864870">
                <a:tc>
                  <a:txBody>
                    <a:bodyPr/>
                    <a:p>
                      <a:pPr>
                        <a:buNone/>
                        <a:defRPr/>
                      </a:pPr>
                      <a:r>
                        <a:rPr sz="1800">
                          <a:solidFill>
                            <a:srgbClr val="151B23"/>
                          </a:solidFill>
                          <a:latin typeface="Arial"/>
                          <a:ea typeface="Arial"/>
                          <a:cs typeface="Arial"/>
                        </a:rPr>
                        <a:t>Gemini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http_req_duration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p(95)&lt;400</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Claude</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http_req_duration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p(95)&lt;300</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Cả hai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checks</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rate&gt;=0.99</a:t>
                      </a:r>
                      <a:endParaRPr/>
                    </a:p>
                  </a:txBody>
                  <a:tcPr marL="114300" marR="95250" marT="76200" marB="57150">
                    <a:lnR w="9525" algn="ctr">
                      <a:solidFill>
                        <a:srgbClr val="D7DDE4"/>
                      </a:solidFill>
                    </a:lnR>
                    <a:lnB w="9525" algn="ctr">
                      <a:solidFill>
                        <a:srgbClr val="D7DDE4"/>
                      </a:solidFill>
                    </a:lnB>
                    <a:solidFill>
                      <a:srgbClr val="FFFFFF"/>
                    </a:solidFill>
                  </a:tcPr>
                </a:tc>
              </a:tr>
              <a:tr h="864870">
                <a:tc>
                  <a:txBody>
                    <a:bodyPr/>
                    <a:p>
                      <a:pPr>
                        <a:buNone/>
                        <a:defRPr/>
                      </a:pPr>
                      <a:r>
                        <a:rPr sz="1800">
                          <a:solidFill>
                            <a:srgbClr val="151B23"/>
                          </a:solidFill>
                          <a:latin typeface="Arial"/>
                          <a:ea typeface="Arial"/>
                          <a:cs typeface="Arial"/>
                        </a:rPr>
                        <a:t>Cả hai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http_req_failed</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rate&lt;0.01</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940651072" name="WEB AUDIT / CORRELATION"/>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CORRELATION</a:t>
            </a:r>
            <a:endParaRPr/>
          </a:p>
        </p:txBody>
      </p:sp>
      <p:sp>
        <p:nvSpPr>
          <p:cNvPr id="477572861" name="Correlation: token và orderId"/>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Correlation: token và orderId</a:t>
            </a:r>
            <a:endParaRPr/>
          </a:p>
        </p:txBody>
      </p:sp>
      <p:sp>
        <p:nvSpPr>
          <p:cNvPr id="2057150779"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772578863" name="44"/>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76</a:t>
            </a:r>
            <a:endParaRPr/>
          </a:p>
        </p:txBody>
      </p:sp>
      <p:graphicFrame>
        <p:nvGraphicFramePr>
          <p:cNvPr id="338165643"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1081088">
                <a:tc>
                  <a:txBody>
                    <a:bodyPr/>
                    <a:p>
                      <a:pPr>
                        <a:buNone/>
                        <a:defRPr/>
                      </a:pPr>
                      <a:r>
                        <a:rPr sz="1800" b="1">
                          <a:solidFill>
                            <a:srgbClr val="153E75"/>
                          </a:solidFill>
                          <a:latin typeface="Arial"/>
                          <a:ea typeface="Arial"/>
                          <a:cs typeface="Arial"/>
                        </a:rPr>
                        <a:t>Dữ liệu</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Nguồn</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Nơi dùng</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1081088">
                <a:tc>
                  <a:txBody>
                    <a:bodyPr/>
                    <a:p>
                      <a:pPr>
                        <a:buNone/>
                        <a:defRPr/>
                      </a:pPr>
                      <a:r>
                        <a:rPr sz="1800">
                          <a:solidFill>
                            <a:srgbClr val="151B23"/>
                          </a:solidFill>
                          <a:latin typeface="Arial"/>
                          <a:ea typeface="Arial"/>
                          <a:cs typeface="Arial"/>
                        </a:rPr>
                        <a:t>token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JSON response POST /api/login</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Bearer header khi checkout</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Guard</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Status, JSON và token hợp lệ</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Chặn request cần quyền khi lỗi</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orderId</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JSON response checkout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Check kết quả bước cuối</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506254628" name="WEB AUDIT / ĐỘ TIN CẬY"/>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WEB AUDIT / ĐỘ TIN CẬY</a:t>
            </a:r>
            <a:endParaRPr/>
          </a:p>
        </p:txBody>
      </p:sp>
      <p:sp>
        <p:nvSpPr>
          <p:cNvPr id="661867894" name="Kiểm thử hồi quy bộ đánh giá"/>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Kiểm thử hồi quy bộ đánh giá</a:t>
            </a:r>
            <a:endParaRPr/>
          </a:p>
        </p:txBody>
      </p:sp>
      <p:sp>
        <p:nvSpPr>
          <p:cNvPr id="2254196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655201390" name="45"/>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77</a:t>
            </a:r>
            <a:endParaRPr/>
          </a:p>
        </p:txBody>
      </p:sp>
      <p:pic>
        <p:nvPicPr>
          <p:cNvPr id="30831211" name=""/>
          <p:cNvPicPr>
            <a:picLocks noChangeAspect="1"/>
          </p:cNvPicPr>
          <p:nvPr/>
        </p:nvPicPr>
        <p:blipFill rotWithShape="1">
          <a:blip r:embed="rId3"/>
          <a:stretch/>
        </p:blipFill>
        <p:spPr bwMode="auto">
          <a:xfrm>
            <a:off x="609600" y="2099582"/>
            <a:ext cx="10972800" cy="3249386"/>
          </a:xfrm>
          <a:prstGeom prst="rect">
            <a:avLst/>
          </a:prstGeom>
        </p:spPr>
      </p:pic>
      <p:sp>
        <p:nvSpPr>
          <p:cNvPr id="1498213152" name="15 test đạt cho evaluator, parser và xử lý phiên"/>
          <p:cNvSpPr>
            <a:spLocks noGrp="1"/>
          </p:cNvSpPr>
          <p:nvPr/>
        </p:nvSpPr>
        <p:spPr bwMode="auto">
          <a:xfrm>
            <a:off x="609600" y="5905500"/>
            <a:ext cx="10972800" cy="419100"/>
          </a:xfrm>
          <a:prstGeom prst="rect">
            <a:avLst/>
          </a:prstGeom>
          <a:noFill/>
          <a:ln w="0">
            <a:noFill/>
          </a:ln>
        </p:spPr>
        <p:txBody>
          <a:bodyPr wrap="square" lIns="0" tIns="0" rIns="0" bIns="0">
            <a:noAutofit/>
          </a:bodyPr>
          <a:lstStyle>
            <a:defPPr>
              <a:defRPr sz="1650" b="0">
                <a:solidFill>
                  <a:srgbClr val="151B23"/>
                </a:solidFill>
                <a:latin typeface="Arial"/>
                <a:ea typeface="Arial"/>
                <a:cs typeface="Arial"/>
              </a:defRPr>
            </a:defPPr>
            <a:lvl1pPr>
              <a:buNone/>
              <a:defRPr sz="1650" b="0">
                <a:solidFill>
                  <a:srgbClr val="151B23"/>
                </a:solidFill>
                <a:latin typeface="Arial"/>
                <a:ea typeface="Arial"/>
                <a:cs typeface="Arial"/>
              </a:defRPr>
            </a:lvl1pPr>
            <a:lvl2pPr>
              <a:buNone/>
              <a:defRPr sz="1650" b="0">
                <a:solidFill>
                  <a:srgbClr val="151B23"/>
                </a:solidFill>
                <a:latin typeface="Arial"/>
                <a:ea typeface="Arial"/>
                <a:cs typeface="Arial"/>
              </a:defRPr>
            </a:lvl2pPr>
            <a:lvl3pPr>
              <a:buNone/>
              <a:defRPr sz="1650" b="0">
                <a:solidFill>
                  <a:srgbClr val="151B23"/>
                </a:solidFill>
                <a:latin typeface="Arial"/>
                <a:ea typeface="Arial"/>
                <a:cs typeface="Arial"/>
              </a:defRPr>
            </a:lvl3pPr>
            <a:lvl4pPr>
              <a:buNone/>
              <a:defRPr sz="1650" b="0">
                <a:solidFill>
                  <a:srgbClr val="151B23"/>
                </a:solidFill>
                <a:latin typeface="Arial"/>
                <a:ea typeface="Arial"/>
                <a:cs typeface="Arial"/>
              </a:defRPr>
            </a:lvl4pPr>
            <a:lvl5pPr>
              <a:buNone/>
              <a:defRPr sz="1650" b="0">
                <a:solidFill>
                  <a:srgbClr val="151B23"/>
                </a:solidFill>
                <a:latin typeface="Arial"/>
                <a:ea typeface="Arial"/>
                <a:cs typeface="Arial"/>
              </a:defRPr>
            </a:lvl5pPr>
            <a:lvl6pPr>
              <a:buNone/>
              <a:defRPr sz="1650" b="0">
                <a:solidFill>
                  <a:srgbClr val="151B23"/>
                </a:solidFill>
                <a:latin typeface="Arial"/>
                <a:ea typeface="Arial"/>
                <a:cs typeface="Arial"/>
              </a:defRPr>
            </a:lvl6pPr>
            <a:lvl7pPr>
              <a:buNone/>
              <a:defRPr sz="1650" b="0">
                <a:solidFill>
                  <a:srgbClr val="151B23"/>
                </a:solidFill>
                <a:latin typeface="Arial"/>
                <a:ea typeface="Arial"/>
                <a:cs typeface="Arial"/>
              </a:defRPr>
            </a:lvl7pPr>
            <a:lvl8pPr>
              <a:buNone/>
              <a:defRPr sz="1650" b="0">
                <a:solidFill>
                  <a:srgbClr val="151B23"/>
                </a:solidFill>
                <a:latin typeface="Arial"/>
                <a:ea typeface="Arial"/>
                <a:cs typeface="Arial"/>
              </a:defRPr>
            </a:lvl8pPr>
            <a:lvl9pPr>
              <a:buNone/>
              <a:defRPr sz="1650" b="0">
                <a:solidFill>
                  <a:srgbClr val="151B23"/>
                </a:solidFill>
                <a:latin typeface="Arial"/>
                <a:ea typeface="Arial"/>
                <a:cs typeface="Arial"/>
              </a:defRPr>
            </a:lvl9pPr>
          </a:lstStyle>
          <a:p>
            <a:pPr>
              <a:buNone/>
              <a:defRPr sz="1650" b="0">
                <a:solidFill>
                  <a:srgbClr val="151B23"/>
                </a:solidFill>
                <a:latin typeface="Arial"/>
                <a:ea typeface="Arial"/>
                <a:cs typeface="Arial"/>
              </a:defRPr>
            </a:pPr>
            <a:r>
              <a:rPr sz="1650" b="0">
                <a:solidFill>
                  <a:srgbClr val="151B23"/>
                </a:solidFill>
                <a:latin typeface="Arial"/>
                <a:ea typeface="Arial"/>
                <a:cs typeface="Arial"/>
              </a:rPr>
              <a:t>15 test đạt cho evaluator, parser và xử lý phiên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581385473" name="BÀI TẬP CỦA MINH THẮ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BÀI TẬP CỦA MINH THẮNG</a:t>
            </a:r>
            <a:endParaRPr/>
          </a:p>
        </p:txBody>
      </p:sp>
      <p:sp>
        <p:nvSpPr>
          <p:cNvPr id="141417504" name="Bài tập 3: audit hai script k6"/>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Bài tập 3: audit hai script k6</a:t>
            </a:r>
            <a:endParaRPr/>
          </a:p>
        </p:txBody>
      </p:sp>
      <p:sp>
        <p:nvSpPr>
          <p:cNvPr id="156344401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066789315" name="46"/>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78</a:t>
            </a:r>
            <a:endParaRPr/>
          </a:p>
        </p:txBody>
      </p:sp>
      <p:sp>
        <p:nvSpPr>
          <p:cNvPr id="878470531"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1385007771" name="Chạy web với HAR đã redacted và hai script thật."/>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Chạy web với HAR đã redacted và hai script thật.</a:t>
            </a:r>
            <a:endParaRPr/>
          </a:p>
        </p:txBody>
      </p:sp>
      <p:sp>
        <p:nvSpPr>
          <p:cNvPr id="2027809495"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594500350" name="Ghi điểm, smoke, số mẫu và nhánh thực thi của từng script."/>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Ghi điểm, smoke, số mẫu và nhánh thực thi của từng script.</a:t>
            </a:r>
            <a:endParaRPr/>
          </a:p>
        </p:txBody>
      </p:sp>
      <p:sp>
        <p:nvSpPr>
          <p:cNvPr id="1695710516"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4954763" name="Đánh giá một threshold và đường đi token từ output Luna."/>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Đánh giá một threshold và đường đi token từ output Luna.</a:t>
            </a:r>
            <a:endParaRPr/>
          </a:p>
        </p:txBody>
      </p:sp>
      <p:sp>
        <p:nvSpPr>
          <p:cNvPr id="229721680"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1168440519" name="Nộp scorecard, ảnh/log và kết luận có giới hạn."/>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Nộp scorecard, ảnh/log và kết luận có giới hạn.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627338009" name="TỔNG KẾT KỸ THUẬT"/>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TỔNG KẾT KỸ THUẬT</a:t>
            </a:r>
            <a:endParaRPr/>
          </a:p>
        </p:txBody>
      </p:sp>
      <p:sp>
        <p:nvSpPr>
          <p:cNvPr id="357293592" name="Giới hạn và khả năng tái sử dụng"/>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Giới hạn và khả năng tái sử dụng</a:t>
            </a:r>
            <a:endParaRPr/>
          </a:p>
        </p:txBody>
      </p:sp>
      <p:sp>
        <p:nvSpPr>
          <p:cNvPr id="174442502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5624381" name="47"/>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79</a:t>
            </a:r>
            <a:endParaRPr/>
          </a:p>
        </p:txBody>
      </p:sp>
      <p:sp>
        <p:nvSpPr>
          <p:cNvPr id="1559516313"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88518446" name="Smoke nhỏ chỉ xác nhận đường đi thực tế đã chạy."/>
          <p:cNvSpPr>
            <a:spLocks noGrp="1"/>
          </p:cNvSpPr>
          <p:nvPr/>
        </p:nvSpPr>
        <p:spPr bwMode="auto">
          <a:xfrm>
            <a:off x="1257300" y="178117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Smoke nhỏ chỉ xác nhận đường đi thực tế đã chạy.</a:t>
            </a:r>
            <a:endParaRPr/>
          </a:p>
        </p:txBody>
      </p:sp>
      <p:sp>
        <p:nvSpPr>
          <p:cNvPr id="339532745" name="02"/>
          <p:cNvSpPr>
            <a:spLocks noGrp="1"/>
          </p:cNvSpPr>
          <p:nvPr/>
        </p:nvSpPr>
        <p:spPr bwMode="auto">
          <a:xfrm>
            <a:off x="628650" y="2647949"/>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173140148" name="Rubric hiện gắn với API contract và workload EShop."/>
          <p:cNvSpPr>
            <a:spLocks noGrp="1"/>
          </p:cNvSpPr>
          <p:nvPr/>
        </p:nvSpPr>
        <p:spPr bwMode="auto">
          <a:xfrm>
            <a:off x="1257300" y="2628900"/>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Rubric hiện gắn với API contract và workload EShop.</a:t>
            </a:r>
            <a:endParaRPr/>
          </a:p>
        </p:txBody>
      </p:sp>
      <p:sp>
        <p:nvSpPr>
          <p:cNvPr id="1864235868" name="03"/>
          <p:cNvSpPr>
            <a:spLocks noGrp="1"/>
          </p:cNvSpPr>
          <p:nvPr/>
        </p:nvSpPr>
        <p:spPr bwMode="auto">
          <a:xfrm>
            <a:off x="628650" y="349567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608588856" name="AST hỗ trợ mẫu phổ biến, cần người chấm khi code quá động."/>
          <p:cNvSpPr>
            <a:spLocks noGrp="1"/>
          </p:cNvSpPr>
          <p:nvPr/>
        </p:nvSpPr>
        <p:spPr bwMode="auto">
          <a:xfrm>
            <a:off x="1257300" y="347662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AST hỗ trợ mẫu phổ biến, cần người chấm khi code quá động.</a:t>
            </a:r>
            <a:endParaRPr/>
          </a:p>
        </p:txBody>
      </p:sp>
      <p:sp>
        <p:nvSpPr>
          <p:cNvPr id="1394657148" name="04"/>
          <p:cNvSpPr>
            <a:spLocks noGrp="1"/>
          </p:cNvSpPr>
          <p:nvPr/>
        </p:nvSpPr>
        <p:spPr bwMode="auto">
          <a:xfrm>
            <a:off x="628650" y="4343400"/>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1516942212" name="Chạy script upload có rủi ro, bộ lọc chưa là sandbox công cộng."/>
          <p:cNvSpPr>
            <a:spLocks noGrp="1"/>
          </p:cNvSpPr>
          <p:nvPr/>
        </p:nvSpPr>
        <p:spPr bwMode="auto">
          <a:xfrm>
            <a:off x="1257300" y="4324350"/>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Chạy script upload có rủi ro, bộ lọc chưa là sandbox công cộng.</a:t>
            </a:r>
            <a:endParaRPr/>
          </a:p>
        </p:txBody>
      </p:sp>
      <p:sp>
        <p:nvSpPr>
          <p:cNvPr id="2044616676" name="05"/>
          <p:cNvSpPr>
            <a:spLocks noGrp="1"/>
          </p:cNvSpPr>
          <p:nvPr/>
        </p:nvSpPr>
        <p:spPr bwMode="auto">
          <a:xfrm>
            <a:off x="628650" y="51911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05</a:t>
            </a:r>
            <a:endParaRPr/>
          </a:p>
        </p:txBody>
      </p:sp>
      <p:sp>
        <p:nvSpPr>
          <p:cNvPr id="726422687" name="Ứng dụng SUT khác cần thay contract, rubric và cấu hình địa chỉ."/>
          <p:cNvSpPr>
            <a:spLocks noGrp="1"/>
          </p:cNvSpPr>
          <p:nvPr/>
        </p:nvSpPr>
        <p:spPr bwMode="auto">
          <a:xfrm>
            <a:off x="1257300" y="517207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Ứng dụng SUT khác cần thay contract, rubric và cấu hình địa chỉ.</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2126471803" name="PHÂN CÔNG"/>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PHÂN CÔNG</a:t>
            </a:r>
            <a:endParaRPr/>
          </a:p>
        </p:txBody>
      </p:sp>
      <p:sp>
        <p:nvSpPr>
          <p:cNvPr id="710352018" name="Đóng góp phần C theo ba tuần"/>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Đóng góp phần C theo ba tuần</a:t>
            </a:r>
            <a:endParaRPr/>
          </a:p>
        </p:txBody>
      </p:sp>
      <p:sp>
        <p:nvSpPr>
          <p:cNvPr id="245945602"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457832299" name="48"/>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80</a:t>
            </a:r>
            <a:endParaRPr/>
          </a:p>
        </p:txBody>
      </p:sp>
      <p:graphicFrame>
        <p:nvGraphicFramePr>
          <p:cNvPr id="33653405" name=""/>
          <p:cNvGraphicFramePr>
            <a:graphicFrameLocks xmlns:a="http://schemas.openxmlformats.org/drawingml/2006/main"/>
          </p:cNvGraphicFramePr>
          <p:nvPr/>
        </p:nvGraphicFramePr>
        <p:xfrm rot="0">
          <a:off x="609600" y="1724025"/>
          <a:ext cx="10972800" cy="4324350"/>
        </p:xfrm>
        <a:graphic>
          <a:graphicData uri="http://schemas.openxmlformats.org/drawingml/2006/table">
            <a:tbl>
              <a:tblPr firstRow="0" firstCol="0" lastRow="0" lastCol="0" bandRow="0" bandCol="0"/>
              <a:tblGrid>
                <a:gridCol w="3657600"/>
                <a:gridCol w="3657600"/>
                <a:gridCol w="3657600"/>
              </a:tblGrid>
              <a:tr h="1081088">
                <a:tc>
                  <a:txBody>
                    <a:bodyPr/>
                    <a:p>
                      <a:pPr>
                        <a:buNone/>
                        <a:defRPr/>
                      </a:pPr>
                      <a:r>
                        <a:rPr sz="1800" b="1">
                          <a:solidFill>
                            <a:srgbClr val="153E75"/>
                          </a:solidFill>
                          <a:latin typeface="Arial"/>
                          <a:ea typeface="Arial"/>
                          <a:cs typeface="Arial"/>
                        </a:rPr>
                        <a:t>Tuần</a:t>
                      </a:r>
                      <a:endParaRPr/>
                    </a:p>
                  </a:txBody>
                  <a:tcPr marL="114300" marR="95250" marT="76200" marB="57150">
                    <a:lnL w="9525" algn="ctr">
                      <a:solidFill>
                        <a:srgbClr val="D7DDE4"/>
                      </a:solidFill>
                    </a:lnL>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Hạng mục</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c>
                  <a:txBody>
                    <a:bodyPr/>
                    <a:p>
                      <a:pPr>
                        <a:buNone/>
                        <a:defRPr/>
                      </a:pPr>
                      <a:r>
                        <a:rPr sz="1800" b="1">
                          <a:solidFill>
                            <a:srgbClr val="153E75"/>
                          </a:solidFill>
                          <a:latin typeface="Arial"/>
                          <a:ea typeface="Arial"/>
                          <a:cs typeface="Arial"/>
                        </a:rPr>
                        <a:t>Đầu ra</a:t>
                      </a:r>
                      <a:endParaRPr/>
                    </a:p>
                  </a:txBody>
                  <a:tcPr marL="114300" marR="95250" marT="76200" marB="57150">
                    <a:lnR w="9525" algn="ctr">
                      <a:solidFill>
                        <a:srgbClr val="D7DDE4"/>
                      </a:solidFill>
                    </a:lnR>
                    <a:lnT w="9525" algn="ctr">
                      <a:solidFill>
                        <a:srgbClr val="D7DDE4"/>
                      </a:solidFill>
                    </a:lnT>
                    <a:lnB w="9525" algn="ctr">
                      <a:solidFill>
                        <a:srgbClr val="D7DDE4"/>
                      </a:solidFill>
                    </a:lnB>
                    <a:solidFill>
                      <a:srgbClr val="EAF0F9"/>
                    </a:solidFill>
                  </a:tcPr>
                </a:tc>
              </a:tr>
              <a:tr h="1081088">
                <a:tc>
                  <a:txBody>
                    <a:bodyPr/>
                    <a:p>
                      <a:pPr>
                        <a:buNone/>
                        <a:defRPr/>
                      </a:pPr>
                      <a:r>
                        <a:rPr sz="1800">
                          <a:solidFill>
                            <a:srgbClr val="151B23"/>
                          </a:solidFill>
                          <a:latin typeface="Arial"/>
                          <a:ea typeface="Arial"/>
                          <a:cs typeface="Arial"/>
                        </a:rPr>
                        <a:t>1: chuẩn bị</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HAR, prompt, rubric, contract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SCRUM-22–25</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2: triển khai</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Hai source và web audit</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SCRUM-33–35</a:t>
                      </a:r>
                      <a:endParaRPr/>
                    </a:p>
                  </a:txBody>
                  <a:tcPr marL="114300" marR="95250" marT="76200" marB="57150">
                    <a:lnR w="9525" algn="ctr">
                      <a:solidFill>
                        <a:srgbClr val="D7DDE4"/>
                      </a:solidFill>
                    </a:lnR>
                    <a:lnB w="9525" algn="ctr">
                      <a:solidFill>
                        <a:srgbClr val="D7DDE4"/>
                      </a:solidFill>
                    </a:lnB>
                    <a:solidFill>
                      <a:srgbClr val="FFFFFF"/>
                    </a:solidFill>
                  </a:tcPr>
                </a:tc>
              </a:tr>
              <a:tr h="1081088">
                <a:tc>
                  <a:txBody>
                    <a:bodyPr/>
                    <a:p>
                      <a:pPr>
                        <a:buNone/>
                        <a:defRPr/>
                      </a:pPr>
                      <a:r>
                        <a:rPr sz="1800">
                          <a:solidFill>
                            <a:srgbClr val="151B23"/>
                          </a:solidFill>
                          <a:latin typeface="Arial"/>
                          <a:ea typeface="Arial"/>
                          <a:cs typeface="Arial"/>
                        </a:rPr>
                        <a:t>3: hoàn thiện</a:t>
                      </a:r>
                      <a:endParaRPr/>
                    </a:p>
                  </a:txBody>
                  <a:tcPr marL="114300" marR="95250" marT="76200" marB="57150">
                    <a:lnL w="9525" algn="ctr">
                      <a:solidFill>
                        <a:srgbClr val="D7DDE4"/>
                      </a:solidFill>
                    </a:lnL>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AST/parser, Luna, test, báo cáo</a:t>
                      </a:r>
                      <a:endParaRPr/>
                    </a:p>
                  </a:txBody>
                  <a:tcPr marL="114300" marR="95250" marT="76200" marB="57150">
                    <a:lnR w="9525" algn="ctr">
                      <a:solidFill>
                        <a:srgbClr val="D7DDE4"/>
                      </a:solidFill>
                    </a:lnR>
                    <a:lnB w="9525" algn="ctr">
                      <a:solidFill>
                        <a:srgbClr val="D7DDE4"/>
                      </a:solidFill>
                    </a:lnB>
                    <a:solidFill>
                      <a:srgbClr val="FFFFFF"/>
                    </a:solidFill>
                  </a:tcPr>
                </a:tc>
                <a:tc>
                  <a:txBody>
                    <a:bodyPr/>
                    <a:p>
                      <a:pPr>
                        <a:buNone/>
                        <a:defRPr/>
                      </a:pPr>
                      <a:r>
                        <a:rPr sz="1800">
                          <a:solidFill>
                            <a:srgbClr val="151B23"/>
                          </a:solidFill>
                          <a:latin typeface="Arial"/>
                          <a:ea typeface="Arial"/>
                          <a:cs typeface="Arial"/>
                        </a:rPr>
                        <a:t>SCRUM-42–45</a:t>
                      </a:r>
                      <a:endParaRPr/>
                    </a:p>
                  </a:txBody>
                  <a:tcPr marL="114300" marR="95250" marT="76200" marB="57150">
                    <a:lnR w="9525" algn="ctr">
                      <a:solidFill>
                        <a:srgbClr val="D7DDE4"/>
                      </a:solidFill>
                    </a:lnR>
                    <a:lnB w="9525" algn="ctr">
                      <a:solidFill>
                        <a:srgbClr val="D7DDE4"/>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19507199" name="QUẢN LÝ NHÓ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QUẢN LÝ NHÓM</a:t>
            </a:r>
            <a:endParaRPr/>
          </a:p>
        </p:txBody>
      </p:sp>
      <p:sp>
        <p:nvSpPr>
          <p:cNvPr id="798768116" name="Jira: phân công tuần 1"/>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Jira: phân công tuần 1</a:t>
            </a:r>
            <a:endParaRPr/>
          </a:p>
        </p:txBody>
      </p:sp>
      <p:sp>
        <p:nvSpPr>
          <p:cNvPr id="1862333094"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407377384" name="49"/>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81</a:t>
            </a:r>
            <a:endParaRPr/>
          </a:p>
        </p:txBody>
      </p:sp>
      <p:pic>
        <p:nvPicPr>
          <p:cNvPr id="2074483760" name=""/>
          <p:cNvPicPr>
            <a:picLocks noChangeAspect="1"/>
          </p:cNvPicPr>
          <p:nvPr/>
        </p:nvPicPr>
        <p:blipFill rotWithShape="1">
          <a:blip r:embed="rId3"/>
          <a:stretch/>
        </p:blipFill>
        <p:spPr bwMode="auto">
          <a:xfrm>
            <a:off x="1655687" y="1676400"/>
            <a:ext cx="8880626" cy="4095750"/>
          </a:xfrm>
          <a:prstGeom prst="rect">
            <a:avLst/>
          </a:prstGeom>
        </p:spPr>
      </p:pic>
      <p:sp>
        <p:nvSpPr>
          <p:cNvPr id="1258734697" name="11 task, 22 điểm. Chuẩn bị công cụ, dữ liệu và chuẩn đánh giá"/>
          <p:cNvSpPr>
            <a:spLocks noGrp="1"/>
          </p:cNvSpPr>
          <p:nvPr/>
        </p:nvSpPr>
        <p:spPr bwMode="auto">
          <a:xfrm>
            <a:off x="609600" y="5905500"/>
            <a:ext cx="10972800" cy="419100"/>
          </a:xfrm>
          <a:prstGeom prst="rect">
            <a:avLst/>
          </a:prstGeom>
          <a:noFill/>
          <a:ln w="0">
            <a:noFill/>
          </a:ln>
        </p:spPr>
        <p:txBody>
          <a:bodyPr wrap="square" lIns="0" tIns="0" rIns="0" bIns="0">
            <a:noAutofit/>
          </a:bodyPr>
          <a:lstStyle>
            <a:defPPr>
              <a:defRPr sz="1650" b="0">
                <a:solidFill>
                  <a:srgbClr val="151B23"/>
                </a:solidFill>
                <a:latin typeface="Arial"/>
                <a:ea typeface="Arial"/>
                <a:cs typeface="Arial"/>
              </a:defRPr>
            </a:defPPr>
            <a:lvl1pPr>
              <a:buNone/>
              <a:defRPr sz="1650" b="0">
                <a:solidFill>
                  <a:srgbClr val="151B23"/>
                </a:solidFill>
                <a:latin typeface="Arial"/>
                <a:ea typeface="Arial"/>
                <a:cs typeface="Arial"/>
              </a:defRPr>
            </a:lvl1pPr>
            <a:lvl2pPr>
              <a:buNone/>
              <a:defRPr sz="1650" b="0">
                <a:solidFill>
                  <a:srgbClr val="151B23"/>
                </a:solidFill>
                <a:latin typeface="Arial"/>
                <a:ea typeface="Arial"/>
                <a:cs typeface="Arial"/>
              </a:defRPr>
            </a:lvl2pPr>
            <a:lvl3pPr>
              <a:buNone/>
              <a:defRPr sz="1650" b="0">
                <a:solidFill>
                  <a:srgbClr val="151B23"/>
                </a:solidFill>
                <a:latin typeface="Arial"/>
                <a:ea typeface="Arial"/>
                <a:cs typeface="Arial"/>
              </a:defRPr>
            </a:lvl3pPr>
            <a:lvl4pPr>
              <a:buNone/>
              <a:defRPr sz="1650" b="0">
                <a:solidFill>
                  <a:srgbClr val="151B23"/>
                </a:solidFill>
                <a:latin typeface="Arial"/>
                <a:ea typeface="Arial"/>
                <a:cs typeface="Arial"/>
              </a:defRPr>
            </a:lvl4pPr>
            <a:lvl5pPr>
              <a:buNone/>
              <a:defRPr sz="1650" b="0">
                <a:solidFill>
                  <a:srgbClr val="151B23"/>
                </a:solidFill>
                <a:latin typeface="Arial"/>
                <a:ea typeface="Arial"/>
                <a:cs typeface="Arial"/>
              </a:defRPr>
            </a:lvl5pPr>
            <a:lvl6pPr>
              <a:buNone/>
              <a:defRPr sz="1650" b="0">
                <a:solidFill>
                  <a:srgbClr val="151B23"/>
                </a:solidFill>
                <a:latin typeface="Arial"/>
                <a:ea typeface="Arial"/>
                <a:cs typeface="Arial"/>
              </a:defRPr>
            </a:lvl6pPr>
            <a:lvl7pPr>
              <a:buNone/>
              <a:defRPr sz="1650" b="0">
                <a:solidFill>
                  <a:srgbClr val="151B23"/>
                </a:solidFill>
                <a:latin typeface="Arial"/>
                <a:ea typeface="Arial"/>
                <a:cs typeface="Arial"/>
              </a:defRPr>
            </a:lvl7pPr>
            <a:lvl8pPr>
              <a:buNone/>
              <a:defRPr sz="1650" b="0">
                <a:solidFill>
                  <a:srgbClr val="151B23"/>
                </a:solidFill>
                <a:latin typeface="Arial"/>
                <a:ea typeface="Arial"/>
                <a:cs typeface="Arial"/>
              </a:defRPr>
            </a:lvl8pPr>
            <a:lvl9pPr>
              <a:buNone/>
              <a:defRPr sz="1650" b="0">
                <a:solidFill>
                  <a:srgbClr val="151B23"/>
                </a:solidFill>
                <a:latin typeface="Arial"/>
                <a:ea typeface="Arial"/>
                <a:cs typeface="Arial"/>
              </a:defRPr>
            </a:lvl9pPr>
          </a:lstStyle>
          <a:p>
            <a:pPr>
              <a:buNone/>
              <a:defRPr sz="1650" b="0">
                <a:solidFill>
                  <a:srgbClr val="151B23"/>
                </a:solidFill>
                <a:latin typeface="Arial"/>
                <a:ea typeface="Arial"/>
                <a:cs typeface="Arial"/>
              </a:defRPr>
            </a:pPr>
            <a:r>
              <a:rPr sz="1650" b="0">
                <a:solidFill>
                  <a:srgbClr val="151B23"/>
                </a:solidFill>
                <a:latin typeface="Arial"/>
                <a:ea typeface="Arial"/>
                <a:cs typeface="Arial"/>
              </a:rPr>
              <a:t>11 task, 22 điểm. Chuẩn bị công cụ, dữ liệu và chuẩn đánh giá</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800622539" name="QUẢN LÝ NHÓ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QUẢN LÝ NHÓM</a:t>
            </a:r>
            <a:endParaRPr/>
          </a:p>
        </p:txBody>
      </p:sp>
      <p:sp>
        <p:nvSpPr>
          <p:cNvPr id="1230594428" name="Jira: phân công tuần 2"/>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Jira: phân công tuần 2</a:t>
            </a:r>
            <a:endParaRPr/>
          </a:p>
        </p:txBody>
      </p:sp>
      <p:sp>
        <p:nvSpPr>
          <p:cNvPr id="195268591"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41182057" name="50"/>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82</a:t>
            </a:r>
            <a:endParaRPr/>
          </a:p>
        </p:txBody>
      </p:sp>
      <p:pic>
        <p:nvPicPr>
          <p:cNvPr id="1494419376" name=""/>
          <p:cNvPicPr>
            <a:picLocks noChangeAspect="1"/>
          </p:cNvPicPr>
          <p:nvPr/>
        </p:nvPicPr>
        <p:blipFill rotWithShape="1">
          <a:blip r:embed="rId3"/>
          <a:stretch/>
        </p:blipFill>
        <p:spPr bwMode="auto">
          <a:xfrm>
            <a:off x="1419963" y="1676400"/>
            <a:ext cx="9352075" cy="4095750"/>
          </a:xfrm>
          <a:prstGeom prst="rect">
            <a:avLst/>
          </a:prstGeom>
        </p:spPr>
      </p:pic>
      <p:sp>
        <p:nvSpPr>
          <p:cNvPr id="1327571611" name="10 task, 20 điểm. k6, JMeter và web audit"/>
          <p:cNvSpPr>
            <a:spLocks noGrp="1"/>
          </p:cNvSpPr>
          <p:nvPr/>
        </p:nvSpPr>
        <p:spPr bwMode="auto">
          <a:xfrm>
            <a:off x="609600" y="5905500"/>
            <a:ext cx="10972800" cy="419100"/>
          </a:xfrm>
          <a:prstGeom prst="rect">
            <a:avLst/>
          </a:prstGeom>
          <a:noFill/>
          <a:ln w="0">
            <a:noFill/>
          </a:ln>
        </p:spPr>
        <p:txBody>
          <a:bodyPr wrap="square" lIns="0" tIns="0" rIns="0" bIns="0">
            <a:noAutofit/>
          </a:bodyPr>
          <a:lstStyle>
            <a:defPPr>
              <a:defRPr sz="1650" b="0">
                <a:solidFill>
                  <a:srgbClr val="151B23"/>
                </a:solidFill>
                <a:latin typeface="Arial"/>
                <a:ea typeface="Arial"/>
                <a:cs typeface="Arial"/>
              </a:defRPr>
            </a:defPPr>
            <a:lvl1pPr>
              <a:buNone/>
              <a:defRPr sz="1650" b="0">
                <a:solidFill>
                  <a:srgbClr val="151B23"/>
                </a:solidFill>
                <a:latin typeface="Arial"/>
                <a:ea typeface="Arial"/>
                <a:cs typeface="Arial"/>
              </a:defRPr>
            </a:lvl1pPr>
            <a:lvl2pPr>
              <a:buNone/>
              <a:defRPr sz="1650" b="0">
                <a:solidFill>
                  <a:srgbClr val="151B23"/>
                </a:solidFill>
                <a:latin typeface="Arial"/>
                <a:ea typeface="Arial"/>
                <a:cs typeface="Arial"/>
              </a:defRPr>
            </a:lvl2pPr>
            <a:lvl3pPr>
              <a:buNone/>
              <a:defRPr sz="1650" b="0">
                <a:solidFill>
                  <a:srgbClr val="151B23"/>
                </a:solidFill>
                <a:latin typeface="Arial"/>
                <a:ea typeface="Arial"/>
                <a:cs typeface="Arial"/>
              </a:defRPr>
            </a:lvl3pPr>
            <a:lvl4pPr>
              <a:buNone/>
              <a:defRPr sz="1650" b="0">
                <a:solidFill>
                  <a:srgbClr val="151B23"/>
                </a:solidFill>
                <a:latin typeface="Arial"/>
                <a:ea typeface="Arial"/>
                <a:cs typeface="Arial"/>
              </a:defRPr>
            </a:lvl4pPr>
            <a:lvl5pPr>
              <a:buNone/>
              <a:defRPr sz="1650" b="0">
                <a:solidFill>
                  <a:srgbClr val="151B23"/>
                </a:solidFill>
                <a:latin typeface="Arial"/>
                <a:ea typeface="Arial"/>
                <a:cs typeface="Arial"/>
              </a:defRPr>
            </a:lvl5pPr>
            <a:lvl6pPr>
              <a:buNone/>
              <a:defRPr sz="1650" b="0">
                <a:solidFill>
                  <a:srgbClr val="151B23"/>
                </a:solidFill>
                <a:latin typeface="Arial"/>
                <a:ea typeface="Arial"/>
                <a:cs typeface="Arial"/>
              </a:defRPr>
            </a:lvl6pPr>
            <a:lvl7pPr>
              <a:buNone/>
              <a:defRPr sz="1650" b="0">
                <a:solidFill>
                  <a:srgbClr val="151B23"/>
                </a:solidFill>
                <a:latin typeface="Arial"/>
                <a:ea typeface="Arial"/>
                <a:cs typeface="Arial"/>
              </a:defRPr>
            </a:lvl7pPr>
            <a:lvl8pPr>
              <a:buNone/>
              <a:defRPr sz="1650" b="0">
                <a:solidFill>
                  <a:srgbClr val="151B23"/>
                </a:solidFill>
                <a:latin typeface="Arial"/>
                <a:ea typeface="Arial"/>
                <a:cs typeface="Arial"/>
              </a:defRPr>
            </a:lvl8pPr>
            <a:lvl9pPr>
              <a:buNone/>
              <a:defRPr sz="1650" b="0">
                <a:solidFill>
                  <a:srgbClr val="151B23"/>
                </a:solidFill>
                <a:latin typeface="Arial"/>
                <a:ea typeface="Arial"/>
                <a:cs typeface="Arial"/>
              </a:defRPr>
            </a:lvl9pPr>
          </a:lstStyle>
          <a:p>
            <a:pPr>
              <a:buNone/>
              <a:defRPr sz="1650" b="0">
                <a:solidFill>
                  <a:srgbClr val="151B23"/>
                </a:solidFill>
                <a:latin typeface="Arial"/>
                <a:ea typeface="Arial"/>
                <a:cs typeface="Arial"/>
              </a:defRPr>
            </a:pPr>
            <a:r>
              <a:rPr sz="1650" b="0">
                <a:solidFill>
                  <a:srgbClr val="151B23"/>
                </a:solidFill>
                <a:latin typeface="Arial"/>
                <a:ea typeface="Arial"/>
                <a:cs typeface="Arial"/>
              </a:rPr>
              <a:t>10 task, 20 điểm. k6, JMeter và web audit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531961982" name="QUẢN LÝ NHÓM"/>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QUẢN LÝ NHÓM</a:t>
            </a:r>
            <a:endParaRPr/>
          </a:p>
        </p:txBody>
      </p:sp>
      <p:sp>
        <p:nvSpPr>
          <p:cNvPr id="801315511" name="Jira: phân công tuần 3"/>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Jira: phân công tuần 3</a:t>
            </a:r>
            <a:endParaRPr/>
          </a:p>
        </p:txBody>
      </p:sp>
      <p:sp>
        <p:nvSpPr>
          <p:cNvPr id="474062249"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419923411" name="51"/>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83</a:t>
            </a:r>
            <a:endParaRPr/>
          </a:p>
        </p:txBody>
      </p:sp>
      <p:pic>
        <p:nvPicPr>
          <p:cNvPr id="265396320" name=""/>
          <p:cNvPicPr>
            <a:picLocks noChangeAspect="1"/>
          </p:cNvPicPr>
          <p:nvPr/>
        </p:nvPicPr>
        <p:blipFill rotWithShape="1">
          <a:blip r:embed="rId3"/>
          <a:stretch/>
        </p:blipFill>
        <p:spPr bwMode="auto">
          <a:xfrm>
            <a:off x="1447324" y="1676400"/>
            <a:ext cx="9297353" cy="4095750"/>
          </a:xfrm>
          <a:prstGeom prst="rect">
            <a:avLst/>
          </a:prstGeom>
        </p:spPr>
      </p:pic>
      <p:sp>
        <p:nvSpPr>
          <p:cNvPr id="749374371" name="10 task, 20 điểm. Tuning, AI, kiểm thử và báo cáo"/>
          <p:cNvSpPr>
            <a:spLocks noGrp="1"/>
          </p:cNvSpPr>
          <p:nvPr/>
        </p:nvSpPr>
        <p:spPr bwMode="auto">
          <a:xfrm>
            <a:off x="609600" y="5905500"/>
            <a:ext cx="10972800" cy="419100"/>
          </a:xfrm>
          <a:prstGeom prst="rect">
            <a:avLst/>
          </a:prstGeom>
          <a:noFill/>
          <a:ln w="0">
            <a:noFill/>
          </a:ln>
        </p:spPr>
        <p:txBody>
          <a:bodyPr wrap="square" lIns="0" tIns="0" rIns="0" bIns="0">
            <a:noAutofit/>
          </a:bodyPr>
          <a:lstStyle>
            <a:defPPr>
              <a:defRPr sz="1650" b="0">
                <a:solidFill>
                  <a:srgbClr val="151B23"/>
                </a:solidFill>
                <a:latin typeface="Arial"/>
                <a:ea typeface="Arial"/>
                <a:cs typeface="Arial"/>
              </a:defRPr>
            </a:defPPr>
            <a:lvl1pPr>
              <a:buNone/>
              <a:defRPr sz="1650" b="0">
                <a:solidFill>
                  <a:srgbClr val="151B23"/>
                </a:solidFill>
                <a:latin typeface="Arial"/>
                <a:ea typeface="Arial"/>
                <a:cs typeface="Arial"/>
              </a:defRPr>
            </a:lvl1pPr>
            <a:lvl2pPr>
              <a:buNone/>
              <a:defRPr sz="1650" b="0">
                <a:solidFill>
                  <a:srgbClr val="151B23"/>
                </a:solidFill>
                <a:latin typeface="Arial"/>
                <a:ea typeface="Arial"/>
                <a:cs typeface="Arial"/>
              </a:defRPr>
            </a:lvl2pPr>
            <a:lvl3pPr>
              <a:buNone/>
              <a:defRPr sz="1650" b="0">
                <a:solidFill>
                  <a:srgbClr val="151B23"/>
                </a:solidFill>
                <a:latin typeface="Arial"/>
                <a:ea typeface="Arial"/>
                <a:cs typeface="Arial"/>
              </a:defRPr>
            </a:lvl3pPr>
            <a:lvl4pPr>
              <a:buNone/>
              <a:defRPr sz="1650" b="0">
                <a:solidFill>
                  <a:srgbClr val="151B23"/>
                </a:solidFill>
                <a:latin typeface="Arial"/>
                <a:ea typeface="Arial"/>
                <a:cs typeface="Arial"/>
              </a:defRPr>
            </a:lvl4pPr>
            <a:lvl5pPr>
              <a:buNone/>
              <a:defRPr sz="1650" b="0">
                <a:solidFill>
                  <a:srgbClr val="151B23"/>
                </a:solidFill>
                <a:latin typeface="Arial"/>
                <a:ea typeface="Arial"/>
                <a:cs typeface="Arial"/>
              </a:defRPr>
            </a:lvl5pPr>
            <a:lvl6pPr>
              <a:buNone/>
              <a:defRPr sz="1650" b="0">
                <a:solidFill>
                  <a:srgbClr val="151B23"/>
                </a:solidFill>
                <a:latin typeface="Arial"/>
                <a:ea typeface="Arial"/>
                <a:cs typeface="Arial"/>
              </a:defRPr>
            </a:lvl6pPr>
            <a:lvl7pPr>
              <a:buNone/>
              <a:defRPr sz="1650" b="0">
                <a:solidFill>
                  <a:srgbClr val="151B23"/>
                </a:solidFill>
                <a:latin typeface="Arial"/>
                <a:ea typeface="Arial"/>
                <a:cs typeface="Arial"/>
              </a:defRPr>
            </a:lvl7pPr>
            <a:lvl8pPr>
              <a:buNone/>
              <a:defRPr sz="1650" b="0">
                <a:solidFill>
                  <a:srgbClr val="151B23"/>
                </a:solidFill>
                <a:latin typeface="Arial"/>
                <a:ea typeface="Arial"/>
                <a:cs typeface="Arial"/>
              </a:defRPr>
            </a:lvl8pPr>
            <a:lvl9pPr>
              <a:buNone/>
              <a:defRPr sz="1650" b="0">
                <a:solidFill>
                  <a:srgbClr val="151B23"/>
                </a:solidFill>
                <a:latin typeface="Arial"/>
                <a:ea typeface="Arial"/>
                <a:cs typeface="Arial"/>
              </a:defRPr>
            </a:lvl9pPr>
          </a:lstStyle>
          <a:p>
            <a:pPr>
              <a:buNone/>
              <a:defRPr sz="1650" b="0">
                <a:solidFill>
                  <a:srgbClr val="151B23"/>
                </a:solidFill>
                <a:latin typeface="Arial"/>
                <a:ea typeface="Arial"/>
                <a:cs typeface="Arial"/>
              </a:defRPr>
            </a:pPr>
            <a:r>
              <a:rPr sz="1650" b="0">
                <a:solidFill>
                  <a:srgbClr val="151B23"/>
                </a:solidFill>
                <a:latin typeface="Arial"/>
                <a:ea typeface="Arial"/>
                <a:cs typeface="Arial"/>
              </a:rPr>
              <a:t>10 task, 20 điểm. Tuning, AI, kiểm thử và báo cáo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1751961859" name="KẾT LUẬN"/>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KẾT LUẬN</a:t>
            </a:r>
            <a:endParaRPr/>
          </a:p>
        </p:txBody>
      </p:sp>
      <p:sp>
        <p:nvSpPr>
          <p:cNvPr id="1534896060" name="Kết luận"/>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Kết luận</a:t>
            </a:r>
            <a:endParaRPr/>
          </a:p>
        </p:txBody>
      </p:sp>
      <p:sp>
        <p:nvSpPr>
          <p:cNvPr id="80251021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1614982405" name="52"/>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84</a:t>
            </a:r>
            <a:endParaRPr/>
          </a:p>
        </p:txBody>
      </p:sp>
      <p:sp>
        <p:nvSpPr>
          <p:cNvPr id="375463822"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1912373146" name="Script cần đúng contract trước khi dùng để tạo tải."/>
          <p:cNvSpPr>
            <a:spLocks noGrp="1"/>
          </p:cNvSpPr>
          <p:nvPr/>
        </p:nvSpPr>
        <p:spPr bwMode="auto">
          <a:xfrm>
            <a:off x="1257300" y="178117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Script cần đúng contract trước khi dùng để tạo tải.</a:t>
            </a:r>
            <a:endParaRPr/>
          </a:p>
        </p:txBody>
      </p:sp>
      <p:sp>
        <p:nvSpPr>
          <p:cNvPr id="1270804332" name="02"/>
          <p:cNvSpPr>
            <a:spLocks noGrp="1"/>
          </p:cNvSpPr>
          <p:nvPr/>
        </p:nvSpPr>
        <p:spPr bwMode="auto">
          <a:xfrm>
            <a:off x="628650" y="2647949"/>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173418803" name="Metric cần workload, cửa sổ đo và số mẫu đi kèm."/>
          <p:cNvSpPr>
            <a:spLocks noGrp="1"/>
          </p:cNvSpPr>
          <p:nvPr/>
        </p:nvSpPr>
        <p:spPr bwMode="auto">
          <a:xfrm>
            <a:off x="1257300" y="2628900"/>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Metric cần workload, cửa sổ đo và số mẫu đi kèm.</a:t>
            </a:r>
            <a:endParaRPr/>
          </a:p>
        </p:txBody>
      </p:sp>
      <p:sp>
        <p:nvSpPr>
          <p:cNvPr id="1633780293" name="03"/>
          <p:cNvSpPr>
            <a:spLocks noGrp="1"/>
          </p:cNvSpPr>
          <p:nvPr/>
        </p:nvSpPr>
        <p:spPr bwMode="auto">
          <a:xfrm>
            <a:off x="628650" y="349567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936467181" name="k6 và JMeter cung cấp góc nhìn cần đối chiếu có điều kiện."/>
          <p:cNvSpPr>
            <a:spLocks noGrp="1"/>
          </p:cNvSpPr>
          <p:nvPr/>
        </p:nvSpPr>
        <p:spPr bwMode="auto">
          <a:xfrm>
            <a:off x="1257300" y="347662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k6 và JMeter cung cấp góc nhìn cần đối chiếu có điều kiện.</a:t>
            </a:r>
            <a:endParaRPr/>
          </a:p>
        </p:txBody>
      </p:sp>
      <p:sp>
        <p:nvSpPr>
          <p:cNvPr id="1655222583" name="04"/>
          <p:cNvSpPr>
            <a:spLocks noGrp="1"/>
          </p:cNvSpPr>
          <p:nvPr/>
        </p:nvSpPr>
        <p:spPr bwMode="auto">
          <a:xfrm>
            <a:off x="628650" y="4343400"/>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142142772" name="Web audit gom source và runtime evidence để người chấm review."/>
          <p:cNvSpPr>
            <a:spLocks noGrp="1"/>
          </p:cNvSpPr>
          <p:nvPr/>
        </p:nvSpPr>
        <p:spPr bwMode="auto">
          <a:xfrm>
            <a:off x="1257300" y="4324350"/>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Web audit gom source và runtime evidence để người chấm review.</a:t>
            </a:r>
            <a:endParaRPr/>
          </a:p>
        </p:txBody>
      </p:sp>
      <p:sp>
        <p:nvSpPr>
          <p:cNvPr id="1380622947" name="05"/>
          <p:cNvSpPr>
            <a:spLocks noGrp="1"/>
          </p:cNvSpPr>
          <p:nvPr/>
        </p:nvSpPr>
        <p:spPr bwMode="auto">
          <a:xfrm>
            <a:off x="628650" y="51911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05</a:t>
            </a:r>
            <a:endParaRPr/>
          </a:p>
        </p:txBody>
      </p:sp>
      <p:sp>
        <p:nvSpPr>
          <p:cNvPr id="442684481" name="AI hỗ trợ sinh code và phân tích, nhóm chịu trách nhiệm kết luận."/>
          <p:cNvSpPr>
            <a:spLocks noGrp="1"/>
          </p:cNvSpPr>
          <p:nvPr/>
        </p:nvSpPr>
        <p:spPr bwMode="auto">
          <a:xfrm>
            <a:off x="1257300" y="517207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AI hỗ trợ sinh code và phân tích, nhóm chịu trách nhiệm kết luận.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67588955" name="THAM KHẢO"/>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THAM KHẢO</a:t>
            </a:r>
            <a:endParaRPr/>
          </a:p>
        </p:txBody>
      </p:sp>
      <p:sp>
        <p:nvSpPr>
          <p:cNvPr id="1318580307" name="Tài liệu và mã nguồn"/>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Tài liệu và mã nguồn</a:t>
            </a:r>
            <a:endParaRPr/>
          </a:p>
        </p:txBody>
      </p:sp>
      <p:sp>
        <p:nvSpPr>
          <p:cNvPr id="1523999528"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410925439" name="53"/>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85</a:t>
            </a:r>
            <a:endParaRPr/>
          </a:p>
        </p:txBody>
      </p:sp>
      <p:sp>
        <p:nvSpPr>
          <p:cNvPr id="54501192"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313944519" name="Repository: github.com/minhthang2k5/eshop-sut"/>
          <p:cNvSpPr>
            <a:spLocks noGrp="1"/>
          </p:cNvSpPr>
          <p:nvPr/>
        </p:nvSpPr>
        <p:spPr bwMode="auto">
          <a:xfrm>
            <a:off x="1257300" y="178117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Repository: github.com/minhthang2k5/eshop-sut</a:t>
            </a:r>
            <a:endParaRPr/>
          </a:p>
        </p:txBody>
      </p:sp>
      <p:sp>
        <p:nvSpPr>
          <p:cNvPr id="456488880" name="02"/>
          <p:cNvSpPr>
            <a:spLocks noGrp="1"/>
          </p:cNvSpPr>
          <p:nvPr/>
        </p:nvSpPr>
        <p:spPr bwMode="auto">
          <a:xfrm>
            <a:off x="628650" y="2647949"/>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1737870254" name="Báo cáo: submission/Bao_cao_seminar_Performance_Testing.md"/>
          <p:cNvSpPr>
            <a:spLocks noGrp="1"/>
          </p:cNvSpPr>
          <p:nvPr/>
        </p:nvSpPr>
        <p:spPr bwMode="auto">
          <a:xfrm>
            <a:off x="1257300" y="2628900"/>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Báo cáo: submission/Bao_cao_seminar_Performance_Testing.md</a:t>
            </a:r>
            <a:endParaRPr/>
          </a:p>
        </p:txBody>
      </p:sp>
      <p:sp>
        <p:nvSpPr>
          <p:cNvPr id="16806393" name="03"/>
          <p:cNvSpPr>
            <a:spLocks noGrp="1"/>
          </p:cNvSpPr>
          <p:nvPr/>
        </p:nvSpPr>
        <p:spPr bwMode="auto">
          <a:xfrm>
            <a:off x="628650" y="349567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880620310" name="k6: performance/k6 và các report theo run"/>
          <p:cNvSpPr>
            <a:spLocks noGrp="1"/>
          </p:cNvSpPr>
          <p:nvPr/>
        </p:nvSpPr>
        <p:spPr bwMode="auto">
          <a:xfrm>
            <a:off x="1257300" y="347662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k6: performance/k6 và các report theo run</a:t>
            </a:r>
            <a:endParaRPr/>
          </a:p>
        </p:txBody>
      </p:sp>
      <p:sp>
        <p:nvSpPr>
          <p:cNvPr id="562767638" name="04"/>
          <p:cNvSpPr>
            <a:spLocks noGrp="1"/>
          </p:cNvSpPr>
          <p:nvPr/>
        </p:nvSpPr>
        <p:spPr bwMode="auto">
          <a:xfrm>
            <a:off x="628650" y="4343400"/>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2091062120" name="JMeter: performance/jmeter và comparison_d2_vs_d3.md"/>
          <p:cNvSpPr>
            <a:spLocks noGrp="1"/>
          </p:cNvSpPr>
          <p:nvPr/>
        </p:nvSpPr>
        <p:spPr bwMode="auto">
          <a:xfrm>
            <a:off x="1257300" y="4324350"/>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JMeter: performance/jmeter và comparison_d2_vs_d3.md</a:t>
            </a:r>
            <a:endParaRPr/>
          </a:p>
        </p:txBody>
      </p:sp>
      <p:sp>
        <p:nvSpPr>
          <p:cNvPr id="191187895" name="05"/>
          <p:cNvSpPr>
            <a:spLocks noGrp="1"/>
          </p:cNvSpPr>
          <p:nvPr/>
        </p:nvSpPr>
        <p:spPr bwMode="auto">
          <a:xfrm>
            <a:off x="628650" y="51911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05</a:t>
            </a:r>
            <a:endParaRPr/>
          </a:p>
        </p:txBody>
      </p:sp>
      <p:sp>
        <p:nvSpPr>
          <p:cNvPr id="1110752178" name="Web audit: test-web-performance và submission/evidence"/>
          <p:cNvSpPr>
            <a:spLocks noGrp="1"/>
          </p:cNvSpPr>
          <p:nvPr/>
        </p:nvSpPr>
        <p:spPr bwMode="auto">
          <a:xfrm>
            <a:off x="1257300" y="5172075"/>
            <a:ext cx="10267950" cy="752475"/>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Web audit: test-web-performance và submission/evidence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FFFFF"/>
        </a:solidFill>
      </p:bgPr>
    </p:bg>
    <p:spTree>
      <p:nvGrpSpPr>
        <p:cNvPr id="1" name=""/>
        <p:cNvGrpSpPr/>
        <p:nvPr/>
      </p:nvGrpSpPr>
      <p:grpSpPr bwMode="auto">
        <a:xfrm>
          <a:off x="0" y="0"/>
          <a:ext cx="0" cy="0"/>
          <a:chOff x="0" y="0"/>
          <a:chExt cx="0" cy="0"/>
        </a:xfrm>
      </p:grpSpPr>
      <p:sp>
        <p:nvSpPr>
          <p:cNvPr id="477363511" name="THAM KHẢO"/>
          <p:cNvSpPr>
            <a:spLocks noGrp="1"/>
          </p:cNvSpPr>
          <p:nvPr/>
        </p:nvSpPr>
        <p:spPr bwMode="auto">
          <a:xfrm>
            <a:off x="609600" y="323850"/>
            <a:ext cx="10572750" cy="238125"/>
          </a:xfrm>
          <a:prstGeom prst="rect">
            <a:avLst/>
          </a:prstGeom>
          <a:noFill/>
          <a:ln w="0">
            <a:noFill/>
          </a:ln>
        </p:spPr>
        <p:txBody>
          <a:bodyPr wrap="square" lIns="0" tIns="0" rIns="0" bIns="0">
            <a:noAutofit/>
          </a:bodyPr>
          <a:lstStyle>
            <a:defPPr>
              <a:defRPr sz="1300" b="1">
                <a:solidFill>
                  <a:srgbClr val="2456A6"/>
                </a:solidFill>
                <a:latin typeface="Arial"/>
                <a:ea typeface="Arial"/>
                <a:cs typeface="Arial"/>
              </a:defRPr>
            </a:defPPr>
            <a:lvl1pPr>
              <a:buNone/>
              <a:defRPr sz="1300" b="1">
                <a:solidFill>
                  <a:srgbClr val="2456A6"/>
                </a:solidFill>
                <a:latin typeface="Arial"/>
                <a:ea typeface="Arial"/>
                <a:cs typeface="Arial"/>
              </a:defRPr>
            </a:lvl1pPr>
            <a:lvl2pPr>
              <a:buNone/>
              <a:defRPr sz="1300" b="1">
                <a:solidFill>
                  <a:srgbClr val="2456A6"/>
                </a:solidFill>
                <a:latin typeface="Arial"/>
                <a:ea typeface="Arial"/>
                <a:cs typeface="Arial"/>
              </a:defRPr>
            </a:lvl2pPr>
            <a:lvl3pPr>
              <a:buNone/>
              <a:defRPr sz="1300" b="1">
                <a:solidFill>
                  <a:srgbClr val="2456A6"/>
                </a:solidFill>
                <a:latin typeface="Arial"/>
                <a:ea typeface="Arial"/>
                <a:cs typeface="Arial"/>
              </a:defRPr>
            </a:lvl3pPr>
            <a:lvl4pPr>
              <a:buNone/>
              <a:defRPr sz="1300" b="1">
                <a:solidFill>
                  <a:srgbClr val="2456A6"/>
                </a:solidFill>
                <a:latin typeface="Arial"/>
                <a:ea typeface="Arial"/>
                <a:cs typeface="Arial"/>
              </a:defRPr>
            </a:lvl4pPr>
            <a:lvl5pPr>
              <a:buNone/>
              <a:defRPr sz="1300" b="1">
                <a:solidFill>
                  <a:srgbClr val="2456A6"/>
                </a:solidFill>
                <a:latin typeface="Arial"/>
                <a:ea typeface="Arial"/>
                <a:cs typeface="Arial"/>
              </a:defRPr>
            </a:lvl5pPr>
            <a:lvl6pPr>
              <a:buNone/>
              <a:defRPr sz="1300" b="1">
                <a:solidFill>
                  <a:srgbClr val="2456A6"/>
                </a:solidFill>
                <a:latin typeface="Arial"/>
                <a:ea typeface="Arial"/>
                <a:cs typeface="Arial"/>
              </a:defRPr>
            </a:lvl6pPr>
            <a:lvl7pPr>
              <a:buNone/>
              <a:defRPr sz="1300" b="1">
                <a:solidFill>
                  <a:srgbClr val="2456A6"/>
                </a:solidFill>
                <a:latin typeface="Arial"/>
                <a:ea typeface="Arial"/>
                <a:cs typeface="Arial"/>
              </a:defRPr>
            </a:lvl7pPr>
            <a:lvl8pPr>
              <a:buNone/>
              <a:defRPr sz="1300" b="1">
                <a:solidFill>
                  <a:srgbClr val="2456A6"/>
                </a:solidFill>
                <a:latin typeface="Arial"/>
                <a:ea typeface="Arial"/>
                <a:cs typeface="Arial"/>
              </a:defRPr>
            </a:lvl8pPr>
            <a:lvl9pPr>
              <a:buNone/>
              <a:defRPr sz="1300" b="1">
                <a:solidFill>
                  <a:srgbClr val="2456A6"/>
                </a:solidFill>
                <a:latin typeface="Arial"/>
                <a:ea typeface="Arial"/>
                <a:cs typeface="Arial"/>
              </a:defRPr>
            </a:lvl9pPr>
          </a:lstStyle>
          <a:p>
            <a:pPr>
              <a:buNone/>
              <a:defRPr sz="1300" b="1">
                <a:solidFill>
                  <a:srgbClr val="2456A6"/>
                </a:solidFill>
                <a:latin typeface="Arial"/>
                <a:ea typeface="Arial"/>
                <a:cs typeface="Arial"/>
              </a:defRPr>
            </a:pPr>
            <a:r>
              <a:rPr sz="1300" b="1">
                <a:solidFill>
                  <a:srgbClr val="2456A6"/>
                </a:solidFill>
                <a:latin typeface="Arial"/>
                <a:ea typeface="Arial"/>
                <a:cs typeface="Arial"/>
              </a:rPr>
              <a:t>THAM KHẢO</a:t>
            </a:r>
            <a:endParaRPr/>
          </a:p>
        </p:txBody>
      </p:sp>
      <p:sp>
        <p:nvSpPr>
          <p:cNvPr id="218163303" name="Nguồn kỹ thuật chính thức"/>
          <p:cNvSpPr>
            <a:spLocks noGrp="1"/>
          </p:cNvSpPr>
          <p:nvPr/>
        </p:nvSpPr>
        <p:spPr bwMode="auto">
          <a:xfrm>
            <a:off x="609600" y="742950"/>
            <a:ext cx="10972800" cy="914400"/>
          </a:xfrm>
          <a:prstGeom prst="rect">
            <a:avLst/>
          </a:prstGeom>
          <a:noFill/>
          <a:ln w="0">
            <a:noFill/>
          </a:ln>
        </p:spPr>
        <p:txBody>
          <a:bodyPr wrap="square" lIns="0" tIns="0" rIns="0" bIns="0">
            <a:noAutofit/>
          </a:bodyPr>
          <a:lstStyle>
            <a:defPPr>
              <a:defRPr sz="3250" b="1">
                <a:solidFill>
                  <a:srgbClr val="151B23"/>
                </a:solidFill>
                <a:latin typeface="Arial"/>
                <a:ea typeface="Arial"/>
                <a:cs typeface="Arial"/>
              </a:defRPr>
            </a:defPPr>
            <a:lvl1pPr>
              <a:buNone/>
              <a:defRPr sz="3250" b="1">
                <a:solidFill>
                  <a:srgbClr val="151B23"/>
                </a:solidFill>
                <a:latin typeface="Arial"/>
                <a:ea typeface="Arial"/>
                <a:cs typeface="Arial"/>
              </a:defRPr>
            </a:lvl1pPr>
            <a:lvl2pPr>
              <a:buNone/>
              <a:defRPr sz="3250" b="1">
                <a:solidFill>
                  <a:srgbClr val="151B23"/>
                </a:solidFill>
                <a:latin typeface="Arial"/>
                <a:ea typeface="Arial"/>
                <a:cs typeface="Arial"/>
              </a:defRPr>
            </a:lvl2pPr>
            <a:lvl3pPr>
              <a:buNone/>
              <a:defRPr sz="3250" b="1">
                <a:solidFill>
                  <a:srgbClr val="151B23"/>
                </a:solidFill>
                <a:latin typeface="Arial"/>
                <a:ea typeface="Arial"/>
                <a:cs typeface="Arial"/>
              </a:defRPr>
            </a:lvl3pPr>
            <a:lvl4pPr>
              <a:buNone/>
              <a:defRPr sz="3250" b="1">
                <a:solidFill>
                  <a:srgbClr val="151B23"/>
                </a:solidFill>
                <a:latin typeface="Arial"/>
                <a:ea typeface="Arial"/>
                <a:cs typeface="Arial"/>
              </a:defRPr>
            </a:lvl4pPr>
            <a:lvl5pPr>
              <a:buNone/>
              <a:defRPr sz="3250" b="1">
                <a:solidFill>
                  <a:srgbClr val="151B23"/>
                </a:solidFill>
                <a:latin typeface="Arial"/>
                <a:ea typeface="Arial"/>
                <a:cs typeface="Arial"/>
              </a:defRPr>
            </a:lvl5pPr>
            <a:lvl6pPr>
              <a:buNone/>
              <a:defRPr sz="3250" b="1">
                <a:solidFill>
                  <a:srgbClr val="151B23"/>
                </a:solidFill>
                <a:latin typeface="Arial"/>
                <a:ea typeface="Arial"/>
                <a:cs typeface="Arial"/>
              </a:defRPr>
            </a:lvl6pPr>
            <a:lvl7pPr>
              <a:buNone/>
              <a:defRPr sz="3250" b="1">
                <a:solidFill>
                  <a:srgbClr val="151B23"/>
                </a:solidFill>
                <a:latin typeface="Arial"/>
                <a:ea typeface="Arial"/>
                <a:cs typeface="Arial"/>
              </a:defRPr>
            </a:lvl7pPr>
            <a:lvl8pPr>
              <a:buNone/>
              <a:defRPr sz="3250" b="1">
                <a:solidFill>
                  <a:srgbClr val="151B23"/>
                </a:solidFill>
                <a:latin typeface="Arial"/>
                <a:ea typeface="Arial"/>
                <a:cs typeface="Arial"/>
              </a:defRPr>
            </a:lvl8pPr>
            <a:lvl9pPr>
              <a:buNone/>
              <a:defRPr sz="3250" b="1">
                <a:solidFill>
                  <a:srgbClr val="151B23"/>
                </a:solidFill>
                <a:latin typeface="Arial"/>
                <a:ea typeface="Arial"/>
                <a:cs typeface="Arial"/>
              </a:defRPr>
            </a:lvl9pPr>
          </a:lstStyle>
          <a:p>
            <a:pPr>
              <a:buNone/>
              <a:defRPr sz="3250" b="1">
                <a:solidFill>
                  <a:srgbClr val="151B23"/>
                </a:solidFill>
                <a:latin typeface="Arial"/>
                <a:ea typeface="Arial"/>
                <a:cs typeface="Arial"/>
              </a:defRPr>
            </a:pPr>
            <a:r>
              <a:rPr sz="3250" b="1">
                <a:solidFill>
                  <a:srgbClr val="151B23"/>
                </a:solidFill>
                <a:latin typeface="Arial"/>
                <a:ea typeface="Arial"/>
                <a:cs typeface="Arial"/>
              </a:rPr>
              <a:t>Nguồn kỹ thuật chính thức</a:t>
            </a:r>
            <a:endParaRPr/>
          </a:p>
        </p:txBody>
      </p:sp>
      <p:sp>
        <p:nvSpPr>
          <p:cNvPr id="74898259" name="Performance Testing trên EShop"/>
          <p:cNvSpPr>
            <a:spLocks noGrp="1"/>
          </p:cNvSpPr>
          <p:nvPr/>
        </p:nvSpPr>
        <p:spPr bwMode="auto">
          <a:xfrm>
            <a:off x="609600" y="6419850"/>
            <a:ext cx="95250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Performance Testing trên EShop</a:t>
            </a:r>
            <a:endParaRPr/>
          </a:p>
        </p:txBody>
      </p:sp>
      <p:sp>
        <p:nvSpPr>
          <p:cNvPr id="276909073" name="54"/>
          <p:cNvSpPr>
            <a:spLocks noGrp="1"/>
          </p:cNvSpPr>
          <p:nvPr/>
        </p:nvSpPr>
        <p:spPr bwMode="auto">
          <a:xfrm>
            <a:off x="11049000" y="6419850"/>
            <a:ext cx="533400" cy="209550"/>
          </a:xfrm>
          <a:prstGeom prst="rect">
            <a:avLst/>
          </a:prstGeom>
          <a:noFill/>
          <a:ln w="0">
            <a:noFill/>
          </a:ln>
        </p:spPr>
        <p:txBody>
          <a:bodyPr wrap="square" lIns="0" tIns="0" rIns="0" bIns="0">
            <a:noAutofit/>
          </a:bodyPr>
          <a:lstStyle>
            <a:defPPr>
              <a:defRPr sz="1200" b="0">
                <a:solidFill>
                  <a:srgbClr val="596471"/>
                </a:solidFill>
                <a:latin typeface="Arial"/>
                <a:ea typeface="Arial"/>
                <a:cs typeface="Arial"/>
              </a:defRPr>
            </a:defPPr>
            <a:lvl1pPr>
              <a:buNone/>
              <a:defRPr sz="1200" b="0">
                <a:solidFill>
                  <a:srgbClr val="596471"/>
                </a:solidFill>
                <a:latin typeface="Arial"/>
                <a:ea typeface="Arial"/>
                <a:cs typeface="Arial"/>
              </a:defRPr>
            </a:lvl1pPr>
            <a:lvl2pPr>
              <a:buNone/>
              <a:defRPr sz="1200" b="0">
                <a:solidFill>
                  <a:srgbClr val="596471"/>
                </a:solidFill>
                <a:latin typeface="Arial"/>
                <a:ea typeface="Arial"/>
                <a:cs typeface="Arial"/>
              </a:defRPr>
            </a:lvl2pPr>
            <a:lvl3pPr>
              <a:buNone/>
              <a:defRPr sz="1200" b="0">
                <a:solidFill>
                  <a:srgbClr val="596471"/>
                </a:solidFill>
                <a:latin typeface="Arial"/>
                <a:ea typeface="Arial"/>
                <a:cs typeface="Arial"/>
              </a:defRPr>
            </a:lvl3pPr>
            <a:lvl4pPr>
              <a:buNone/>
              <a:defRPr sz="1200" b="0">
                <a:solidFill>
                  <a:srgbClr val="596471"/>
                </a:solidFill>
                <a:latin typeface="Arial"/>
                <a:ea typeface="Arial"/>
                <a:cs typeface="Arial"/>
              </a:defRPr>
            </a:lvl4pPr>
            <a:lvl5pPr>
              <a:buNone/>
              <a:defRPr sz="1200" b="0">
                <a:solidFill>
                  <a:srgbClr val="596471"/>
                </a:solidFill>
                <a:latin typeface="Arial"/>
                <a:ea typeface="Arial"/>
                <a:cs typeface="Arial"/>
              </a:defRPr>
            </a:lvl5pPr>
            <a:lvl6pPr>
              <a:buNone/>
              <a:defRPr sz="1200" b="0">
                <a:solidFill>
                  <a:srgbClr val="596471"/>
                </a:solidFill>
                <a:latin typeface="Arial"/>
                <a:ea typeface="Arial"/>
                <a:cs typeface="Arial"/>
              </a:defRPr>
            </a:lvl6pPr>
            <a:lvl7pPr>
              <a:buNone/>
              <a:defRPr sz="1200" b="0">
                <a:solidFill>
                  <a:srgbClr val="596471"/>
                </a:solidFill>
                <a:latin typeface="Arial"/>
                <a:ea typeface="Arial"/>
                <a:cs typeface="Arial"/>
              </a:defRPr>
            </a:lvl7pPr>
            <a:lvl8pPr>
              <a:buNone/>
              <a:defRPr sz="1200" b="0">
                <a:solidFill>
                  <a:srgbClr val="596471"/>
                </a:solidFill>
                <a:latin typeface="Arial"/>
                <a:ea typeface="Arial"/>
                <a:cs typeface="Arial"/>
              </a:defRPr>
            </a:lvl8pPr>
            <a:lvl9pPr>
              <a:buNone/>
              <a:defRPr sz="1200" b="0">
                <a:solidFill>
                  <a:srgbClr val="596471"/>
                </a:solidFill>
                <a:latin typeface="Arial"/>
                <a:ea typeface="Arial"/>
                <a:cs typeface="Arial"/>
              </a:defRPr>
            </a:lvl9pPr>
          </a:lstStyle>
          <a:p>
            <a:pPr>
              <a:buNone/>
              <a:defRPr sz="1200" b="0">
                <a:solidFill>
                  <a:srgbClr val="596471"/>
                </a:solidFill>
                <a:latin typeface="Arial"/>
                <a:ea typeface="Arial"/>
                <a:cs typeface="Arial"/>
              </a:defRPr>
            </a:pPr>
            <a:r>
              <a:rPr sz="1200" b="0">
                <a:solidFill>
                  <a:srgbClr val="596471"/>
                </a:solidFill>
                <a:latin typeface="Arial"/>
                <a:ea typeface="Arial"/>
                <a:cs typeface="Arial"/>
              </a:rPr>
              <a:t>86</a:t>
            </a:r>
            <a:endParaRPr/>
          </a:p>
        </p:txBody>
      </p:sp>
      <p:sp>
        <p:nvSpPr>
          <p:cNvPr id="499440598" name="01"/>
          <p:cNvSpPr>
            <a:spLocks noGrp="1"/>
          </p:cNvSpPr>
          <p:nvPr/>
        </p:nvSpPr>
        <p:spPr bwMode="auto">
          <a:xfrm>
            <a:off x="628650" y="1800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01</a:t>
            </a:r>
            <a:endParaRPr/>
          </a:p>
        </p:txBody>
      </p:sp>
      <p:sp>
        <p:nvSpPr>
          <p:cNvPr id="314536855" name="Grafana k6: metrics, checks, thresholds và test lifecycle."/>
          <p:cNvSpPr>
            <a:spLocks noGrp="1"/>
          </p:cNvSpPr>
          <p:nvPr/>
        </p:nvSpPr>
        <p:spPr bwMode="auto">
          <a:xfrm>
            <a:off x="1257300" y="1781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Grafana k6: metrics, checks, thresholds và test lifecycle.</a:t>
            </a:r>
            <a:endParaRPr/>
          </a:p>
        </p:txBody>
      </p:sp>
      <p:sp>
        <p:nvSpPr>
          <p:cNvPr id="144524144" name="02"/>
          <p:cNvSpPr>
            <a:spLocks noGrp="1"/>
          </p:cNvSpPr>
          <p:nvPr/>
        </p:nvSpPr>
        <p:spPr bwMode="auto">
          <a:xfrm>
            <a:off x="628650" y="2752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02</a:t>
            </a:r>
            <a:endParaRPr/>
          </a:p>
        </p:txBody>
      </p:sp>
      <p:sp>
        <p:nvSpPr>
          <p:cNvPr id="2078516659" name="Apache JMeter: User Manual và test plan."/>
          <p:cNvSpPr>
            <a:spLocks noGrp="1"/>
          </p:cNvSpPr>
          <p:nvPr/>
        </p:nvSpPr>
        <p:spPr bwMode="auto">
          <a:xfrm>
            <a:off x="1257300" y="2733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Apache JMeter: User Manual và test plan.</a:t>
            </a:r>
            <a:endParaRPr/>
          </a:p>
        </p:txBody>
      </p:sp>
      <p:sp>
        <p:nvSpPr>
          <p:cNvPr id="2106558481" name="03"/>
          <p:cNvSpPr>
            <a:spLocks noGrp="1"/>
          </p:cNvSpPr>
          <p:nvPr/>
        </p:nvSpPr>
        <p:spPr bwMode="auto">
          <a:xfrm>
            <a:off x="628650" y="37052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03</a:t>
            </a:r>
            <a:endParaRPr/>
          </a:p>
        </p:txBody>
      </p:sp>
      <p:sp>
        <p:nvSpPr>
          <p:cNvPr id="1698841345" name="Chrome DevTools: Network reference và HAR."/>
          <p:cNvSpPr>
            <a:spLocks noGrp="1"/>
          </p:cNvSpPr>
          <p:nvPr/>
        </p:nvSpPr>
        <p:spPr bwMode="auto">
          <a:xfrm>
            <a:off x="1257300" y="36861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Chrome DevTools: Network reference và HAR.</a:t>
            </a:r>
            <a:endParaRPr/>
          </a:p>
        </p:txBody>
      </p:sp>
      <p:sp>
        <p:nvSpPr>
          <p:cNvPr id="129422800" name="04"/>
          <p:cNvSpPr>
            <a:spLocks noGrp="1"/>
          </p:cNvSpPr>
          <p:nvPr/>
        </p:nvSpPr>
        <p:spPr bwMode="auto">
          <a:xfrm>
            <a:off x="628650" y="4657725"/>
            <a:ext cx="457200" cy="381000"/>
          </a:xfrm>
          <a:prstGeom prst="rect">
            <a:avLst/>
          </a:prstGeom>
          <a:noFill/>
          <a:ln w="0">
            <a:noFill/>
          </a:ln>
        </p:spPr>
        <p:txBody>
          <a:bodyPr wrap="square" lIns="0" tIns="0" rIns="0" bIns="0">
            <a:noAutofit/>
          </a:bodyPr>
          <a:lstStyle>
            <a:defPPr>
              <a:defRPr sz="1800" b="1">
                <a:solidFill>
                  <a:srgbClr val="2456A6"/>
                </a:solidFill>
                <a:latin typeface="Arial"/>
                <a:ea typeface="Arial"/>
                <a:cs typeface="Arial"/>
              </a:defRPr>
            </a:defPPr>
            <a:lvl1pPr>
              <a:buNone/>
              <a:defRPr sz="1800" b="1">
                <a:solidFill>
                  <a:srgbClr val="2456A6"/>
                </a:solidFill>
                <a:latin typeface="Arial"/>
                <a:ea typeface="Arial"/>
                <a:cs typeface="Arial"/>
              </a:defRPr>
            </a:lvl1pPr>
            <a:lvl2pPr>
              <a:buNone/>
              <a:defRPr sz="1800" b="1">
                <a:solidFill>
                  <a:srgbClr val="2456A6"/>
                </a:solidFill>
                <a:latin typeface="Arial"/>
                <a:ea typeface="Arial"/>
                <a:cs typeface="Arial"/>
              </a:defRPr>
            </a:lvl2pPr>
            <a:lvl3pPr>
              <a:buNone/>
              <a:defRPr sz="1800" b="1">
                <a:solidFill>
                  <a:srgbClr val="2456A6"/>
                </a:solidFill>
                <a:latin typeface="Arial"/>
                <a:ea typeface="Arial"/>
                <a:cs typeface="Arial"/>
              </a:defRPr>
            </a:lvl3pPr>
            <a:lvl4pPr>
              <a:buNone/>
              <a:defRPr sz="1800" b="1">
                <a:solidFill>
                  <a:srgbClr val="2456A6"/>
                </a:solidFill>
                <a:latin typeface="Arial"/>
                <a:ea typeface="Arial"/>
                <a:cs typeface="Arial"/>
              </a:defRPr>
            </a:lvl4pPr>
            <a:lvl5pPr>
              <a:buNone/>
              <a:defRPr sz="1800" b="1">
                <a:solidFill>
                  <a:srgbClr val="2456A6"/>
                </a:solidFill>
                <a:latin typeface="Arial"/>
                <a:ea typeface="Arial"/>
                <a:cs typeface="Arial"/>
              </a:defRPr>
            </a:lvl5pPr>
            <a:lvl6pPr>
              <a:buNone/>
              <a:defRPr sz="1800" b="1">
                <a:solidFill>
                  <a:srgbClr val="2456A6"/>
                </a:solidFill>
                <a:latin typeface="Arial"/>
                <a:ea typeface="Arial"/>
                <a:cs typeface="Arial"/>
              </a:defRPr>
            </a:lvl6pPr>
            <a:lvl7pPr>
              <a:buNone/>
              <a:defRPr sz="1800" b="1">
                <a:solidFill>
                  <a:srgbClr val="2456A6"/>
                </a:solidFill>
                <a:latin typeface="Arial"/>
                <a:ea typeface="Arial"/>
                <a:cs typeface="Arial"/>
              </a:defRPr>
            </a:lvl7pPr>
            <a:lvl8pPr>
              <a:buNone/>
              <a:defRPr sz="1800" b="1">
                <a:solidFill>
                  <a:srgbClr val="2456A6"/>
                </a:solidFill>
                <a:latin typeface="Arial"/>
                <a:ea typeface="Arial"/>
                <a:cs typeface="Arial"/>
              </a:defRPr>
            </a:lvl8pPr>
            <a:lvl9pPr>
              <a:buNone/>
              <a:defRPr sz="1800" b="1">
                <a:solidFill>
                  <a:srgbClr val="2456A6"/>
                </a:solidFill>
                <a:latin typeface="Arial"/>
                <a:ea typeface="Arial"/>
                <a:cs typeface="Arial"/>
              </a:defRPr>
            </a:lvl9pPr>
          </a:lstStyle>
          <a:p>
            <a:pPr>
              <a:buNone/>
              <a:defRPr sz="1800" b="1">
                <a:solidFill>
                  <a:srgbClr val="2456A6"/>
                </a:solidFill>
                <a:latin typeface="Arial"/>
                <a:ea typeface="Arial"/>
                <a:cs typeface="Arial"/>
              </a:defRPr>
            </a:pPr>
            <a:r>
              <a:rPr sz="1800" b="1">
                <a:solidFill>
                  <a:srgbClr val="2456A6"/>
                </a:solidFill>
                <a:latin typeface="Arial"/>
                <a:ea typeface="Arial"/>
                <a:cs typeface="Arial"/>
              </a:rPr>
              <a:t>04</a:t>
            </a:r>
            <a:endParaRPr/>
          </a:p>
        </p:txBody>
      </p:sp>
      <p:sp>
        <p:nvSpPr>
          <p:cNvPr id="108765615" name="Acorn: parser JavaScript và AST."/>
          <p:cNvSpPr>
            <a:spLocks noGrp="1"/>
          </p:cNvSpPr>
          <p:nvPr/>
        </p:nvSpPr>
        <p:spPr bwMode="auto">
          <a:xfrm>
            <a:off x="1257300" y="4638675"/>
            <a:ext cx="10267950" cy="857250"/>
          </a:xfrm>
          <a:prstGeom prst="rect">
            <a:avLst/>
          </a:prstGeom>
          <a:noFill/>
          <a:ln w="0">
            <a:noFill/>
          </a:ln>
        </p:spPr>
        <p:txBody>
          <a:bodyPr wrap="square" lIns="0" tIns="0" rIns="0" bIns="0">
            <a:noAutofit/>
          </a:bodyPr>
          <a:lstStyle>
            <a:defPPr>
              <a:defRPr sz="2200" b="0">
                <a:solidFill>
                  <a:srgbClr val="151B23"/>
                </a:solidFill>
                <a:latin typeface="Arial"/>
                <a:ea typeface="Arial"/>
                <a:cs typeface="Arial"/>
              </a:defRPr>
            </a:defPPr>
            <a:lvl1pPr>
              <a:buNone/>
              <a:defRPr sz="2200" b="0">
                <a:solidFill>
                  <a:srgbClr val="151B23"/>
                </a:solidFill>
                <a:latin typeface="Arial"/>
                <a:ea typeface="Arial"/>
                <a:cs typeface="Arial"/>
              </a:defRPr>
            </a:lvl1pPr>
            <a:lvl2pPr>
              <a:buNone/>
              <a:defRPr sz="2200" b="0">
                <a:solidFill>
                  <a:srgbClr val="151B23"/>
                </a:solidFill>
                <a:latin typeface="Arial"/>
                <a:ea typeface="Arial"/>
                <a:cs typeface="Arial"/>
              </a:defRPr>
            </a:lvl2pPr>
            <a:lvl3pPr>
              <a:buNone/>
              <a:defRPr sz="2200" b="0">
                <a:solidFill>
                  <a:srgbClr val="151B23"/>
                </a:solidFill>
                <a:latin typeface="Arial"/>
                <a:ea typeface="Arial"/>
                <a:cs typeface="Arial"/>
              </a:defRPr>
            </a:lvl3pPr>
            <a:lvl4pPr>
              <a:buNone/>
              <a:defRPr sz="2200" b="0">
                <a:solidFill>
                  <a:srgbClr val="151B23"/>
                </a:solidFill>
                <a:latin typeface="Arial"/>
                <a:ea typeface="Arial"/>
                <a:cs typeface="Arial"/>
              </a:defRPr>
            </a:lvl4pPr>
            <a:lvl5pPr>
              <a:buNone/>
              <a:defRPr sz="2200" b="0">
                <a:solidFill>
                  <a:srgbClr val="151B23"/>
                </a:solidFill>
                <a:latin typeface="Arial"/>
                <a:ea typeface="Arial"/>
                <a:cs typeface="Arial"/>
              </a:defRPr>
            </a:lvl5pPr>
            <a:lvl6pPr>
              <a:buNone/>
              <a:defRPr sz="2200" b="0">
                <a:solidFill>
                  <a:srgbClr val="151B23"/>
                </a:solidFill>
                <a:latin typeface="Arial"/>
                <a:ea typeface="Arial"/>
                <a:cs typeface="Arial"/>
              </a:defRPr>
            </a:lvl6pPr>
            <a:lvl7pPr>
              <a:buNone/>
              <a:defRPr sz="2200" b="0">
                <a:solidFill>
                  <a:srgbClr val="151B23"/>
                </a:solidFill>
                <a:latin typeface="Arial"/>
                <a:ea typeface="Arial"/>
                <a:cs typeface="Arial"/>
              </a:defRPr>
            </a:lvl7pPr>
            <a:lvl8pPr>
              <a:buNone/>
              <a:defRPr sz="2200" b="0">
                <a:solidFill>
                  <a:srgbClr val="151B23"/>
                </a:solidFill>
                <a:latin typeface="Arial"/>
                <a:ea typeface="Arial"/>
                <a:cs typeface="Arial"/>
              </a:defRPr>
            </a:lvl8pPr>
            <a:lvl9pPr>
              <a:buNone/>
              <a:defRPr sz="2200" b="0">
                <a:solidFill>
                  <a:srgbClr val="151B23"/>
                </a:solidFill>
                <a:latin typeface="Arial"/>
                <a:ea typeface="Arial"/>
                <a:cs typeface="Arial"/>
              </a:defRPr>
            </a:lvl9pPr>
          </a:lstStyle>
          <a:p>
            <a:pPr>
              <a:buNone/>
              <a:defRPr sz="2200" b="0">
                <a:solidFill>
                  <a:srgbClr val="151B23"/>
                </a:solidFill>
                <a:latin typeface="Arial"/>
                <a:ea typeface="Arial"/>
                <a:cs typeface="Arial"/>
              </a:defRPr>
            </a:pPr>
            <a:r>
              <a:rPr sz="2200" b="0">
                <a:solidFill>
                  <a:srgbClr val="151B23"/>
                </a:solidFill>
                <a:latin typeface="Arial"/>
                <a:ea typeface="Arial"/>
                <a:cs typeface="Arial"/>
              </a:rPr>
              <a:t>Acorn: parser JavaScript và AST.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ONLYOFFICE/10.0.0.169</Application>
  <DocSecurity>0</DocSecurity>
  <PresentationFormat>On-screen Show (4:3)</PresentationFormat>
  <Paragraphs>0</Paragraphs>
  <Slides>86</Slides>
  <Notes>86</Notes>
  <HiddenSlides>0</HiddenSlides>
  <MMClips>2</MMClips>
  <ScaleCrop>0</ScaleCrop>
  <HeadingPairs>
    <vt:vector size="4" baseType="variant">
      <vt:variant>
        <vt:lpstr>Theme</vt:lpstr>
      </vt:variant>
      <vt:variant>
        <vt:i4>1</vt:i4>
      </vt:variant>
      <vt:variant>
        <vt:lpstr>Slide Titles</vt:lpstr>
      </vt:variant>
      <vt:variant>
        <vt:i4>86</vt:i4>
      </vt:variant>
    </vt:vector>
  </HeadingPairs>
  <TitlesOfParts>
    <vt:vector size="8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
  <cp:revision>3</cp:revision>
  <dcterms:created xsi:type="dcterms:W3CDTF">2026-10-23T11:07:27Z</dcterms:created>
  <dcterms:modified xsi:type="dcterms:W3CDTF">2026-10-23T12:29:15Z</dcterms:modified>
</cp:coreProperties>
</file>