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35ed01383a14f0c" /><Relationship Type="http://schemas.openxmlformats.org/officeDocument/2006/relationships/extended-properties" Target="/docProps/app.xml" Id="R960059b5c82245e0" /><Relationship Type="http://schemas.openxmlformats.org/officeDocument/2006/relationships/officeDocument" Target="/ppt/presentation.xml" Id="R28be367223c14522" /></Relationships>
</file>

<file path=ppt/presentation.xml><?xml version="1.0" encoding="utf-8"?>
<p:presentation xmlns:p="http://schemas.openxmlformats.org/presentationml/2006/main">
  <p:sldMasterIdLst>
    <p:sldMasterId xmlns:r="http://schemas.openxmlformats.org/officeDocument/2006/relationships" id="2147483648" r:id="Rb1cb00633e26487a"/>
  </p:sldMasterIdLst>
  <p:notesMasterIdLst>
    <p:notesMasterId xmlns:r="http://schemas.openxmlformats.org/officeDocument/2006/relationships" r:id="R87b91828ab654f0e"/>
  </p:notesMasterIdLst>
  <p:sldIdLst>
    <p:sldId xmlns:r="http://schemas.openxmlformats.org/officeDocument/2006/relationships" id="256" r:id="R49bfe7e02abd401c"/>
    <p:sldId xmlns:r="http://schemas.openxmlformats.org/officeDocument/2006/relationships" id="257" r:id="R749fdb176ef0451d"/>
    <p:sldId xmlns:r="http://schemas.openxmlformats.org/officeDocument/2006/relationships" id="258" r:id="R4e5900374c0744db"/>
    <p:sldId xmlns:r="http://schemas.openxmlformats.org/officeDocument/2006/relationships" id="259" r:id="R7b06b71347714f1d"/>
    <p:sldId xmlns:r="http://schemas.openxmlformats.org/officeDocument/2006/relationships" id="260" r:id="Re4d2382e738041c4"/>
    <p:sldId xmlns:r="http://schemas.openxmlformats.org/officeDocument/2006/relationships" id="261" r:id="Rb58d1d6851824181"/>
    <p:sldId xmlns:r="http://schemas.openxmlformats.org/officeDocument/2006/relationships" id="262" r:id="Rd5523167b33148cc"/>
    <p:sldId xmlns:r="http://schemas.openxmlformats.org/officeDocument/2006/relationships" id="263" r:id="R948d17784f7c4736"/>
    <p:sldId xmlns:r="http://schemas.openxmlformats.org/officeDocument/2006/relationships" id="264" r:id="R6c35112da2d04262"/>
    <p:sldId xmlns:r="http://schemas.openxmlformats.org/officeDocument/2006/relationships" id="265" r:id="Rd37cb92a0d374b6e"/>
    <p:sldId xmlns:r="http://schemas.openxmlformats.org/officeDocument/2006/relationships" id="266" r:id="R4b52207ff5234b02"/>
    <p:sldId xmlns:r="http://schemas.openxmlformats.org/officeDocument/2006/relationships" id="267" r:id="R149615f8d2a544e6"/>
    <p:sldId xmlns:r="http://schemas.openxmlformats.org/officeDocument/2006/relationships" id="268" r:id="Ra8b3e7ca59b64ed1"/>
    <p:sldId xmlns:r="http://schemas.openxmlformats.org/officeDocument/2006/relationships" id="269" r:id="R47fe2f7564934e9a"/>
    <p:sldId xmlns:r="http://schemas.openxmlformats.org/officeDocument/2006/relationships" id="270" r:id="R8b54c1baa40f4b4c"/>
    <p:sldId xmlns:r="http://schemas.openxmlformats.org/officeDocument/2006/relationships" id="271" r:id="Rc34580eead3a4182"/>
    <p:sldId xmlns:r="http://schemas.openxmlformats.org/officeDocument/2006/relationships" id="272" r:id="Rdef0445a936b4b7a"/>
    <p:sldId xmlns:r="http://schemas.openxmlformats.org/officeDocument/2006/relationships" id="273" r:id="R0a49c3617174444b"/>
    <p:sldId xmlns:r="http://schemas.openxmlformats.org/officeDocument/2006/relationships" id="274" r:id="R74dc493580894806"/>
    <p:sldId xmlns:r="http://schemas.openxmlformats.org/officeDocument/2006/relationships" id="275" r:id="R816e1ab163ce4d32"/>
    <p:sldId xmlns:r="http://schemas.openxmlformats.org/officeDocument/2006/relationships" id="276" r:id="R8a2343e65c354206"/>
    <p:sldId xmlns:r="http://schemas.openxmlformats.org/officeDocument/2006/relationships" id="277" r:id="Rec40a2b8fdad4c93"/>
    <p:sldId xmlns:r="http://schemas.openxmlformats.org/officeDocument/2006/relationships" id="278" r:id="R7390f3cc94064d52"/>
    <p:sldId xmlns:r="http://schemas.openxmlformats.org/officeDocument/2006/relationships" id="279" r:id="R80f3f337b74e488a"/>
    <p:sldId xmlns:r="http://schemas.openxmlformats.org/officeDocument/2006/relationships" id="280" r:id="Re79e9348369744d9"/>
    <p:sldId xmlns:r="http://schemas.openxmlformats.org/officeDocument/2006/relationships" id="281" r:id="R3600cd48cf084194"/>
    <p:sldId xmlns:r="http://schemas.openxmlformats.org/officeDocument/2006/relationships" id="282" r:id="R198e3ecdf52d424b"/>
    <p:sldId xmlns:r="http://schemas.openxmlformats.org/officeDocument/2006/relationships" id="283" r:id="Rf42a4f7ce75e4cf5"/>
    <p:sldId xmlns:r="http://schemas.openxmlformats.org/officeDocument/2006/relationships" id="284" r:id="Rdb11aa8a4db741a3"/>
    <p:sldId xmlns:r="http://schemas.openxmlformats.org/officeDocument/2006/relationships" id="285" r:id="R5fe51453b90143fe"/>
    <p:sldId xmlns:r="http://schemas.openxmlformats.org/officeDocument/2006/relationships" id="286" r:id="R7fd1ba2a4146447c"/>
    <p:sldId xmlns:r="http://schemas.openxmlformats.org/officeDocument/2006/relationships" id="287" r:id="Rff03674ddaf9458a"/>
    <p:sldId xmlns:r="http://schemas.openxmlformats.org/officeDocument/2006/relationships" id="288" r:id="R33b63a2f59714484"/>
    <p:sldId xmlns:r="http://schemas.openxmlformats.org/officeDocument/2006/relationships" id="289" r:id="R7575b49109ba4125"/>
    <p:sldId xmlns:r="http://schemas.openxmlformats.org/officeDocument/2006/relationships" id="290" r:id="Rc505b6c035d84c83"/>
    <p:sldId xmlns:r="http://schemas.openxmlformats.org/officeDocument/2006/relationships" id="291" r:id="Re25a33802c1546f9"/>
    <p:sldId xmlns:r="http://schemas.openxmlformats.org/officeDocument/2006/relationships" id="292" r:id="R2f77998f90ca4b40"/>
    <p:sldId xmlns:r="http://schemas.openxmlformats.org/officeDocument/2006/relationships" id="293" r:id="R990b9597f2e9486f"/>
    <p:sldId xmlns:r="http://schemas.openxmlformats.org/officeDocument/2006/relationships" id="294" r:id="R74cb2ae9a855440d"/>
    <p:sldId xmlns:r="http://schemas.openxmlformats.org/officeDocument/2006/relationships" id="295" r:id="Ra01cd670e3834f88"/>
    <p:sldId xmlns:r="http://schemas.openxmlformats.org/officeDocument/2006/relationships" id="296" r:id="R9e0d87db1e654655"/>
    <p:sldId xmlns:r="http://schemas.openxmlformats.org/officeDocument/2006/relationships" id="297" r:id="R64d7250793234cad"/>
    <p:sldId xmlns:r="http://schemas.openxmlformats.org/officeDocument/2006/relationships" id="298" r:id="R2a5092f4b8254f35"/>
    <p:sldId xmlns:r="http://schemas.openxmlformats.org/officeDocument/2006/relationships" id="299" r:id="R0c9db167155f4792"/>
    <p:sldId xmlns:r="http://schemas.openxmlformats.org/officeDocument/2006/relationships" id="300" r:id="Ra0f5d473cdb54c23"/>
    <p:sldId xmlns:r="http://schemas.openxmlformats.org/officeDocument/2006/relationships" id="301" r:id="Rcfeca2a5a0cf4ad5"/>
    <p:sldId xmlns:r="http://schemas.openxmlformats.org/officeDocument/2006/relationships" id="302" r:id="Rbcbf8d154cb745de"/>
    <p:sldId xmlns:r="http://schemas.openxmlformats.org/officeDocument/2006/relationships" id="303" r:id="Rcb88017f7b7b4d78"/>
    <p:sldId xmlns:r="http://schemas.openxmlformats.org/officeDocument/2006/relationships" id="304" r:id="Rb6b2a30866174539"/>
    <p:sldId xmlns:r="http://schemas.openxmlformats.org/officeDocument/2006/relationships" id="305" r:id="R06529598f41a4761"/>
    <p:sldId xmlns:r="http://schemas.openxmlformats.org/officeDocument/2006/relationships" id="306" r:id="R00ead6f148254c1b"/>
    <p:sldId xmlns:r="http://schemas.openxmlformats.org/officeDocument/2006/relationships" id="307" r:id="R474cdabcbf454a00"/>
    <p:sldId xmlns:r="http://schemas.openxmlformats.org/officeDocument/2006/relationships" id="308" r:id="Re71c2a032f044c45"/>
    <p:sldId xmlns:r="http://schemas.openxmlformats.org/officeDocument/2006/relationships" id="309" r:id="R8f2a0d80f4c64576"/>
    <p:sldId xmlns:r="http://schemas.openxmlformats.org/officeDocument/2006/relationships" id="310" r:id="Rd4b778d503d04c78"/>
    <p:sldId xmlns:r="http://schemas.openxmlformats.org/officeDocument/2006/relationships" id="311" r:id="Rab98c62686b74507"/>
    <p:sldId xmlns:r="http://schemas.openxmlformats.org/officeDocument/2006/relationships" id="312" r:id="R61e5037055f64c4b"/>
    <p:sldId xmlns:r="http://schemas.openxmlformats.org/officeDocument/2006/relationships" id="313" r:id="Rdee4e8d2d549480c"/>
    <p:sldId xmlns:r="http://schemas.openxmlformats.org/officeDocument/2006/relationships" id="314" r:id="R3fbb79cdeb494253"/>
    <p:sldId xmlns:r="http://schemas.openxmlformats.org/officeDocument/2006/relationships" id="315" r:id="R1d7cba84646e4c43"/>
    <p:sldId xmlns:r="http://schemas.openxmlformats.org/officeDocument/2006/relationships" id="316" r:id="R9c409b7ffdab4d3b"/>
    <p:sldId xmlns:r="http://schemas.openxmlformats.org/officeDocument/2006/relationships" id="317" r:id="Rb09a70f6151a45b6"/>
    <p:sldId xmlns:r="http://schemas.openxmlformats.org/officeDocument/2006/relationships" id="318" r:id="R90778e43ce2b4c29"/>
    <p:sldId xmlns:r="http://schemas.openxmlformats.org/officeDocument/2006/relationships" id="319" r:id="Rc805e806bb9b4c9a"/>
    <p:sldId xmlns:r="http://schemas.openxmlformats.org/officeDocument/2006/relationships" id="320" r:id="Rcd6fc579475b4bde"/>
    <p:sldId xmlns:r="http://schemas.openxmlformats.org/officeDocument/2006/relationships" id="321" r:id="Rce306bd047614708"/>
    <p:sldId xmlns:r="http://schemas.openxmlformats.org/officeDocument/2006/relationships" id="322" r:id="Rc87e460b98c64749"/>
    <p:sldId xmlns:r="http://schemas.openxmlformats.org/officeDocument/2006/relationships" id="323" r:id="Rf10e6a1c09134448"/>
    <p:sldId xmlns:r="http://schemas.openxmlformats.org/officeDocument/2006/relationships" id="324" r:id="R28d5123f2f4e41a5"/>
    <p:sldId xmlns:r="http://schemas.openxmlformats.org/officeDocument/2006/relationships" id="325" r:id="R3fbd6a2df2f94e18"/>
    <p:sldId xmlns:r="http://schemas.openxmlformats.org/officeDocument/2006/relationships" id="326" r:id="R7b2d53f8c2b4423b"/>
    <p:sldId xmlns:r="http://schemas.openxmlformats.org/officeDocument/2006/relationships" id="327" r:id="R0b9ff2a017c045a0"/>
    <p:sldId xmlns:r="http://schemas.openxmlformats.org/officeDocument/2006/relationships" id="328" r:id="Rc4957fc17f6e4556"/>
    <p:sldId xmlns:r="http://schemas.openxmlformats.org/officeDocument/2006/relationships" id="329" r:id="R0b48286e057a481d"/>
    <p:sldId xmlns:r="http://schemas.openxmlformats.org/officeDocument/2006/relationships" id="330" r:id="R3e68e6175d6c411f"/>
    <p:sldId xmlns:r="http://schemas.openxmlformats.org/officeDocument/2006/relationships" id="331" r:id="R9eecbbb2ed6547dc"/>
    <p:sldId xmlns:r="http://schemas.openxmlformats.org/officeDocument/2006/relationships" id="332" r:id="R8ecae34f304f4ec4"/>
    <p:sldId xmlns:r="http://schemas.openxmlformats.org/officeDocument/2006/relationships" id="333" r:id="R8b533e86f05e4bb1"/>
    <p:sldId xmlns:r="http://schemas.openxmlformats.org/officeDocument/2006/relationships" id="334" r:id="Rde00e587e774457e"/>
    <p:sldId xmlns:r="http://schemas.openxmlformats.org/officeDocument/2006/relationships" id="335" r:id="R4d26437e1596404e"/>
    <p:sldId xmlns:r="http://schemas.openxmlformats.org/officeDocument/2006/relationships" id="336" r:id="Rc6fe353351ec42c1"/>
    <p:sldId xmlns:r="http://schemas.openxmlformats.org/officeDocument/2006/relationships" id="337" r:id="R72ae588bff47469e"/>
    <p:sldId xmlns:r="http://schemas.openxmlformats.org/officeDocument/2006/relationships" id="338" r:id="Rb15dadeb7fdd4f0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13cb21d21944738" /><Relationship Type="http://schemas.openxmlformats.org/officeDocument/2006/relationships/slideMaster" Target="/ppt/slideMasters/slideMaster1.xml" Id="Rb1cb00633e26487a" /><Relationship Type="http://schemas.openxmlformats.org/officeDocument/2006/relationships/notesMaster" Target="/ppt/notesMasters/notesMaster1.xml" Id="R87b91828ab654f0e" /><Relationship Type="http://schemas.openxmlformats.org/officeDocument/2006/relationships/presProps" Target="/ppt/presProps.xml" Id="R8f1b5f267034471e" /><Relationship Type="http://schemas.openxmlformats.org/officeDocument/2006/relationships/tableStyles" Target="/ppt/tableStyles.xml" Id="R15a1ab754ea94666" /><Relationship Type="http://schemas.openxmlformats.org/officeDocument/2006/relationships/slide" Target="/ppt/slides/slide1.xml" Id="R49bfe7e02abd401c" /><Relationship Type="http://schemas.openxmlformats.org/officeDocument/2006/relationships/slide" Target="/ppt/slides/slide2.xml" Id="R749fdb176ef0451d" /><Relationship Type="http://schemas.openxmlformats.org/officeDocument/2006/relationships/slide" Target="/ppt/slides/slide3.xml" Id="R4e5900374c0744db" /><Relationship Type="http://schemas.openxmlformats.org/officeDocument/2006/relationships/slide" Target="/ppt/slides/slide4.xml" Id="R7b06b71347714f1d" /><Relationship Type="http://schemas.openxmlformats.org/officeDocument/2006/relationships/slide" Target="/ppt/slides/slide5.xml" Id="Re4d2382e738041c4" /><Relationship Type="http://schemas.openxmlformats.org/officeDocument/2006/relationships/slide" Target="/ppt/slides/slide6.xml" Id="Rb58d1d6851824181" /><Relationship Type="http://schemas.openxmlformats.org/officeDocument/2006/relationships/slide" Target="/ppt/slides/slide7.xml" Id="Rd5523167b33148cc" /><Relationship Type="http://schemas.openxmlformats.org/officeDocument/2006/relationships/slide" Target="/ppt/slides/slide8.xml" Id="R948d17784f7c4736" /><Relationship Type="http://schemas.openxmlformats.org/officeDocument/2006/relationships/slide" Target="/ppt/slides/slide9.xml" Id="R6c35112da2d04262" /><Relationship Type="http://schemas.openxmlformats.org/officeDocument/2006/relationships/slide" Target="/ppt/slides/slide10.xml" Id="Rd37cb92a0d374b6e" /><Relationship Type="http://schemas.openxmlformats.org/officeDocument/2006/relationships/slide" Target="/ppt/slides/slide11.xml" Id="R4b52207ff5234b02" /><Relationship Type="http://schemas.openxmlformats.org/officeDocument/2006/relationships/slide" Target="/ppt/slides/slide12.xml" Id="R149615f8d2a544e6" /><Relationship Type="http://schemas.openxmlformats.org/officeDocument/2006/relationships/slide" Target="/ppt/slides/slide13.xml" Id="Ra8b3e7ca59b64ed1" /><Relationship Type="http://schemas.openxmlformats.org/officeDocument/2006/relationships/slide" Target="/ppt/slides/slide14.xml" Id="R47fe2f7564934e9a" /><Relationship Type="http://schemas.openxmlformats.org/officeDocument/2006/relationships/slide" Target="/ppt/slides/slide15.xml" Id="R8b54c1baa40f4b4c" /><Relationship Type="http://schemas.openxmlformats.org/officeDocument/2006/relationships/slide" Target="/ppt/slides/slide16.xml" Id="Rc34580eead3a4182" /><Relationship Type="http://schemas.openxmlformats.org/officeDocument/2006/relationships/slide" Target="/ppt/slides/slide17.xml" Id="Rdef0445a936b4b7a" /><Relationship Type="http://schemas.openxmlformats.org/officeDocument/2006/relationships/slide" Target="/ppt/slides/slide18.xml" Id="R0a49c3617174444b" /><Relationship Type="http://schemas.openxmlformats.org/officeDocument/2006/relationships/slide" Target="/ppt/slides/slide19.xml" Id="R74dc493580894806" /><Relationship Type="http://schemas.openxmlformats.org/officeDocument/2006/relationships/slide" Target="/ppt/slides/slide20.xml" Id="R816e1ab163ce4d32" /><Relationship Type="http://schemas.openxmlformats.org/officeDocument/2006/relationships/slide" Target="/ppt/slides/slide21.xml" Id="R8a2343e65c354206" /><Relationship Type="http://schemas.openxmlformats.org/officeDocument/2006/relationships/slide" Target="/ppt/slides/slide22.xml" Id="Rec40a2b8fdad4c93" /><Relationship Type="http://schemas.openxmlformats.org/officeDocument/2006/relationships/slide" Target="/ppt/slides/slide23.xml" Id="R7390f3cc94064d52" /><Relationship Type="http://schemas.openxmlformats.org/officeDocument/2006/relationships/slide" Target="/ppt/slides/slide24.xml" Id="R80f3f337b74e488a" /><Relationship Type="http://schemas.openxmlformats.org/officeDocument/2006/relationships/slide" Target="/ppt/slides/slide25.xml" Id="Re79e9348369744d9" /><Relationship Type="http://schemas.openxmlformats.org/officeDocument/2006/relationships/slide" Target="/ppt/slides/slide26.xml" Id="R3600cd48cf084194" /><Relationship Type="http://schemas.openxmlformats.org/officeDocument/2006/relationships/slide" Target="/ppt/slides/slide27.xml" Id="R198e3ecdf52d424b" /><Relationship Type="http://schemas.openxmlformats.org/officeDocument/2006/relationships/slide" Target="/ppt/slides/slide28.xml" Id="Rf42a4f7ce75e4cf5" /><Relationship Type="http://schemas.openxmlformats.org/officeDocument/2006/relationships/slide" Target="/ppt/slides/slide29.xml" Id="Rdb11aa8a4db741a3" /><Relationship Type="http://schemas.openxmlformats.org/officeDocument/2006/relationships/slide" Target="/ppt/slides/slide30.xml" Id="R5fe51453b90143fe" /><Relationship Type="http://schemas.openxmlformats.org/officeDocument/2006/relationships/slide" Target="/ppt/slides/slide31.xml" Id="R7fd1ba2a4146447c" /><Relationship Type="http://schemas.openxmlformats.org/officeDocument/2006/relationships/slide" Target="/ppt/slides/slide32.xml" Id="Rff03674ddaf9458a" /><Relationship Type="http://schemas.openxmlformats.org/officeDocument/2006/relationships/slide" Target="/ppt/slides/slide33.xml" Id="R33b63a2f59714484" /><Relationship Type="http://schemas.openxmlformats.org/officeDocument/2006/relationships/slide" Target="/ppt/slides/slide34.xml" Id="R7575b49109ba4125" /><Relationship Type="http://schemas.openxmlformats.org/officeDocument/2006/relationships/slide" Target="/ppt/slides/slide35.xml" Id="Rc505b6c035d84c83" /><Relationship Type="http://schemas.openxmlformats.org/officeDocument/2006/relationships/slide" Target="/ppt/slides/slide36.xml" Id="Re25a33802c1546f9" /><Relationship Type="http://schemas.openxmlformats.org/officeDocument/2006/relationships/slide" Target="/ppt/slides/slide37.xml" Id="R2f77998f90ca4b40" /><Relationship Type="http://schemas.openxmlformats.org/officeDocument/2006/relationships/slide" Target="/ppt/slides/slide38.xml" Id="R990b9597f2e9486f" /><Relationship Type="http://schemas.openxmlformats.org/officeDocument/2006/relationships/slide" Target="/ppt/slides/slide39.xml" Id="R74cb2ae9a855440d" /><Relationship Type="http://schemas.openxmlformats.org/officeDocument/2006/relationships/slide" Target="/ppt/slides/slide40.xml" Id="Ra01cd670e3834f88" /><Relationship Type="http://schemas.openxmlformats.org/officeDocument/2006/relationships/slide" Target="/ppt/slides/slide41.xml" Id="R9e0d87db1e654655" /><Relationship Type="http://schemas.openxmlformats.org/officeDocument/2006/relationships/slide" Target="/ppt/slides/slide42.xml" Id="R64d7250793234cad" /><Relationship Type="http://schemas.openxmlformats.org/officeDocument/2006/relationships/slide" Target="/ppt/slides/slide43.xml" Id="R2a5092f4b8254f35" /><Relationship Type="http://schemas.openxmlformats.org/officeDocument/2006/relationships/slide" Target="/ppt/slides/slide44.xml" Id="R0c9db167155f4792" /><Relationship Type="http://schemas.openxmlformats.org/officeDocument/2006/relationships/slide" Target="/ppt/slides/slide45.xml" Id="Ra0f5d473cdb54c23" /><Relationship Type="http://schemas.openxmlformats.org/officeDocument/2006/relationships/slide" Target="/ppt/slides/slide46.xml" Id="Rcfeca2a5a0cf4ad5" /><Relationship Type="http://schemas.openxmlformats.org/officeDocument/2006/relationships/slide" Target="/ppt/slides/slide47.xml" Id="Rbcbf8d154cb745de" /><Relationship Type="http://schemas.openxmlformats.org/officeDocument/2006/relationships/slide" Target="/ppt/slides/slide48.xml" Id="Rcb88017f7b7b4d78" /><Relationship Type="http://schemas.openxmlformats.org/officeDocument/2006/relationships/slide" Target="/ppt/slides/slide49.xml" Id="Rb6b2a30866174539" /><Relationship Type="http://schemas.openxmlformats.org/officeDocument/2006/relationships/slide" Target="/ppt/slides/slide50.xml" Id="R06529598f41a4761" /><Relationship Type="http://schemas.openxmlformats.org/officeDocument/2006/relationships/slide" Target="/ppt/slides/slide51.xml" Id="R00ead6f148254c1b" /><Relationship Type="http://schemas.openxmlformats.org/officeDocument/2006/relationships/slide" Target="/ppt/slides/slide52.xml" Id="R474cdabcbf454a00" /><Relationship Type="http://schemas.openxmlformats.org/officeDocument/2006/relationships/slide" Target="/ppt/slides/slide53.xml" Id="Re71c2a032f044c45" /><Relationship Type="http://schemas.openxmlformats.org/officeDocument/2006/relationships/slide" Target="/ppt/slides/slide54.xml" Id="R8f2a0d80f4c64576" /><Relationship Type="http://schemas.openxmlformats.org/officeDocument/2006/relationships/slide" Target="/ppt/slides/slide55.xml" Id="Rd4b778d503d04c78" /><Relationship Type="http://schemas.openxmlformats.org/officeDocument/2006/relationships/slide" Target="/ppt/slides/slide56.xml" Id="Rab98c62686b74507" /><Relationship Type="http://schemas.openxmlformats.org/officeDocument/2006/relationships/slide" Target="/ppt/slides/slide57.xml" Id="R61e5037055f64c4b" /><Relationship Type="http://schemas.openxmlformats.org/officeDocument/2006/relationships/slide" Target="/ppt/slides/slide58.xml" Id="Rdee4e8d2d549480c" /><Relationship Type="http://schemas.openxmlformats.org/officeDocument/2006/relationships/slide" Target="/ppt/slides/slide59.xml" Id="R3fbb79cdeb494253" /><Relationship Type="http://schemas.openxmlformats.org/officeDocument/2006/relationships/slide" Target="/ppt/slides/slide60.xml" Id="R1d7cba84646e4c43" /><Relationship Type="http://schemas.openxmlformats.org/officeDocument/2006/relationships/slide" Target="/ppt/slides/slide61.xml" Id="R9c409b7ffdab4d3b" /><Relationship Type="http://schemas.openxmlformats.org/officeDocument/2006/relationships/slide" Target="/ppt/slides/slide62.xml" Id="Rb09a70f6151a45b6" /><Relationship Type="http://schemas.openxmlformats.org/officeDocument/2006/relationships/slide" Target="/ppt/slides/slide63.xml" Id="R90778e43ce2b4c29" /><Relationship Type="http://schemas.openxmlformats.org/officeDocument/2006/relationships/slide" Target="/ppt/slides/slide64.xml" Id="Rc805e806bb9b4c9a" /><Relationship Type="http://schemas.openxmlformats.org/officeDocument/2006/relationships/slide" Target="/ppt/slides/slide65.xml" Id="Rcd6fc579475b4bde" /><Relationship Type="http://schemas.openxmlformats.org/officeDocument/2006/relationships/slide" Target="/ppt/slides/slide66.xml" Id="Rce306bd047614708" /><Relationship Type="http://schemas.openxmlformats.org/officeDocument/2006/relationships/slide" Target="/ppt/slides/slide67.xml" Id="Rc87e460b98c64749" /><Relationship Type="http://schemas.openxmlformats.org/officeDocument/2006/relationships/slide" Target="/ppt/slides/slide68.xml" Id="Rf10e6a1c09134448" /><Relationship Type="http://schemas.openxmlformats.org/officeDocument/2006/relationships/slide" Target="/ppt/slides/slide69.xml" Id="R28d5123f2f4e41a5" /><Relationship Type="http://schemas.openxmlformats.org/officeDocument/2006/relationships/slide" Target="/ppt/slides/slide70.xml" Id="R3fbd6a2df2f94e18" /><Relationship Type="http://schemas.openxmlformats.org/officeDocument/2006/relationships/slide" Target="/ppt/slides/slide71.xml" Id="R7b2d53f8c2b4423b" /><Relationship Type="http://schemas.openxmlformats.org/officeDocument/2006/relationships/slide" Target="/ppt/slides/slide72.xml" Id="R0b9ff2a017c045a0" /><Relationship Type="http://schemas.openxmlformats.org/officeDocument/2006/relationships/slide" Target="/ppt/slides/slide73.xml" Id="Rc4957fc17f6e4556" /><Relationship Type="http://schemas.openxmlformats.org/officeDocument/2006/relationships/slide" Target="/ppt/slides/slide74.xml" Id="R0b48286e057a481d" /><Relationship Type="http://schemas.openxmlformats.org/officeDocument/2006/relationships/slide" Target="/ppt/slides/slide75.xml" Id="R3e68e6175d6c411f" /><Relationship Type="http://schemas.openxmlformats.org/officeDocument/2006/relationships/slide" Target="/ppt/slides/slide76.xml" Id="R9eecbbb2ed6547dc" /><Relationship Type="http://schemas.openxmlformats.org/officeDocument/2006/relationships/slide" Target="/ppt/slides/slide77.xml" Id="R8ecae34f304f4ec4" /><Relationship Type="http://schemas.openxmlformats.org/officeDocument/2006/relationships/slide" Target="/ppt/slides/slide78.xml" Id="R8b533e86f05e4bb1" /><Relationship Type="http://schemas.openxmlformats.org/officeDocument/2006/relationships/slide" Target="/ppt/slides/slide79.xml" Id="Rde00e587e774457e" /><Relationship Type="http://schemas.openxmlformats.org/officeDocument/2006/relationships/slide" Target="/ppt/slides/slide80.xml" Id="R4d26437e1596404e" /><Relationship Type="http://schemas.openxmlformats.org/officeDocument/2006/relationships/slide" Target="/ppt/slides/slide81.xml" Id="Rc6fe353351ec42c1" /><Relationship Type="http://schemas.openxmlformats.org/officeDocument/2006/relationships/slide" Target="/ppt/slides/slide82.xml" Id="R72ae588bff47469e" /><Relationship Type="http://schemas.openxmlformats.org/officeDocument/2006/relationships/slide" Target="/ppt/slides/slide83.xml" Id="Rb15dadeb7fdd4f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a35d47c6a0646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9b2ef662cf84701" /><Relationship Type="http://schemas.openxmlformats.org/officeDocument/2006/relationships/notesMaster" Target="/ppt/notesMasters/notesMaster1.xml" Id="R3f6bc8e3c68b45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c4b3c568314b9d" /><Relationship Type="http://schemas.openxmlformats.org/officeDocument/2006/relationships/notesMaster" Target="/ppt/notesMasters/notesMaster1.xml" Id="R05516e45ab3f49d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9f69fa95827458c" /><Relationship Type="http://schemas.openxmlformats.org/officeDocument/2006/relationships/notesMaster" Target="/ppt/notesMasters/notesMaster1.xml" Id="R3a53a73f98574acd" /></Relationships>
</file>

<file path=ppt/notesSlides/_rels/notesSlide4.xml.rels>&#65279;<?xml version="1.0" encoding="utf-8"?><Relationships xmlns="http://schemas.openxmlformats.org/package/2006/relationships"><Relationship Type="http://schemas.openxmlformats.org/officeDocument/2006/relationships/slide" Target="/ppt/slides/slide4.xml" Id="R544e219320884588" /><Relationship Type="http://schemas.openxmlformats.org/officeDocument/2006/relationships/notesMaster" Target="/ppt/notesMasters/notesMaster1.xml" Id="Rb7e99f77662f4966"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be9733bd854e59" /><Relationship Type="http://schemas.openxmlformats.org/officeDocument/2006/relationships/notesMaster" Target="/ppt/notesMasters/notesMaster1.xml" Id="R17110ab29c464b75" /></Relationships>
</file>

<file path=ppt/notesSlides/_rels/notesSlide6.xml.rels>&#65279;<?xml version="1.0" encoding="utf-8"?><Relationships xmlns="http://schemas.openxmlformats.org/package/2006/relationships"><Relationship Type="http://schemas.openxmlformats.org/officeDocument/2006/relationships/slide" Target="/ppt/slides/slide6.xml" Id="R4b8b5decc501454a" /><Relationship Type="http://schemas.openxmlformats.org/officeDocument/2006/relationships/notesMaster" Target="/ppt/notesMasters/notesMaster1.xml" Id="R800c09313f8a4d80" /></Relationships>
</file>

<file path=ppt/notesSlides/_rels/notesSlide7.xml.rels>&#65279;<?xml version="1.0" encoding="utf-8"?><Relationships xmlns="http://schemas.openxmlformats.org/package/2006/relationships"><Relationship Type="http://schemas.openxmlformats.org/officeDocument/2006/relationships/slide" Target="/ppt/slides/slide7.xml" Id="Rbd85b3661fb245a3" /><Relationship Type="http://schemas.openxmlformats.org/officeDocument/2006/relationships/notesMaster" Target="/ppt/notesMasters/notesMaster1.xml" Id="R0673ae7a73fc4b72" /></Relationships>
</file>

<file path=ppt/notesSlides/_rels/notesSlide8.xml.rels>&#65279;<?xml version="1.0" encoding="utf-8"?><Relationships xmlns="http://schemas.openxmlformats.org/package/2006/relationships"><Relationship Type="http://schemas.openxmlformats.org/officeDocument/2006/relationships/slide" Target="/ppt/slides/slide8.xml" Id="R24dc59c913c746d2" /><Relationship Type="http://schemas.openxmlformats.org/officeDocument/2006/relationships/notesMaster" Target="/ppt/notesMasters/notesMaster1.xml" Id="R07a2abe96cad4842" /></Relationships>
</file>

<file path=ppt/notesSlides/_rels/notesSlide9.xml.rels>&#65279;<?xml version="1.0" encoding="utf-8"?><Relationships xmlns="http://schemas.openxmlformats.org/package/2006/relationships"><Relationship Type="http://schemas.openxmlformats.org/officeDocument/2006/relationships/slide" Target="/ppt/slides/slide9.xml" Id="Rc2f5e41f8a62491a" /><Relationship Type="http://schemas.openxmlformats.org/officeDocument/2006/relationships/notesMaster" Target="/ppt/notesMasters/notesMaster1.xml" Id="R37fc603ac9984c3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5a61e7558a24458" /><Relationship Type="http://schemas.openxmlformats.org/officeDocument/2006/relationships/notesMaster" Target="/ppt/notesMasters/notesMaster1.xml" Id="Rfa731e71a9914ba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cb9d9c1982542bc" /><Relationship Type="http://schemas.openxmlformats.org/officeDocument/2006/relationships/notesMaster" Target="/ppt/notesMasters/notesMaster1.xml" Id="R163a7634c2a543f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b48841fac0c48d7" /><Relationship Type="http://schemas.openxmlformats.org/officeDocument/2006/relationships/notesMaster" Target="/ppt/notesMasters/notesMaster1.xml" Id="R7c4486b4e7ca437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91e5ad8bd224b1b" /><Relationship Type="http://schemas.openxmlformats.org/officeDocument/2006/relationships/notesMaster" Target="/ppt/notesMasters/notesMaster1.xml" Id="R152b03dec80d4b1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74edd2e66bf4d84" /><Relationship Type="http://schemas.openxmlformats.org/officeDocument/2006/relationships/notesMaster" Target="/ppt/notesMasters/notesMaster1.xml" Id="R4d71c25f05f349f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4e75000f7ae45b6" /><Relationship Type="http://schemas.openxmlformats.org/officeDocument/2006/relationships/notesMaster" Target="/ppt/notesMasters/notesMaster1.xml" Id="R5519161ce56943b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45cec4e977f46ea" /><Relationship Type="http://schemas.openxmlformats.org/officeDocument/2006/relationships/notesMaster" Target="/ppt/notesMasters/notesMaster1.xml" Id="R0bc96f9a1ed04ba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b275f976ed54021" /><Relationship Type="http://schemas.openxmlformats.org/officeDocument/2006/relationships/notesMaster" Target="/ppt/notesMasters/notesMaster1.xml" Id="R357f4ea460e14e1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5647b044d5f4201" /><Relationship Type="http://schemas.openxmlformats.org/officeDocument/2006/relationships/notesMaster" Target="/ppt/notesMasters/notesMaster1.xml" Id="Rfad8ee945349467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caa12f74db542df" /><Relationship Type="http://schemas.openxmlformats.org/officeDocument/2006/relationships/notesMaster" Target="/ppt/notesMasters/notesMaster1.xml" Id="R699e9b9f77514b9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5afb1d9f450421f" /><Relationship Type="http://schemas.openxmlformats.org/officeDocument/2006/relationships/notesMaster" Target="/ppt/notesMasters/notesMaster1.xml" Id="R47f85b3b5e6f49e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d15a8d6e1df4f57" /><Relationship Type="http://schemas.openxmlformats.org/officeDocument/2006/relationships/notesMaster" Target="/ppt/notesMasters/notesMaster1.xml" Id="R51ad534ae242422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097f461157c421d" /><Relationship Type="http://schemas.openxmlformats.org/officeDocument/2006/relationships/notesMaster" Target="/ppt/notesMasters/notesMaster1.xml" Id="R57548ad9652b4f7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f14599fc2904216" /><Relationship Type="http://schemas.openxmlformats.org/officeDocument/2006/relationships/notesMaster" Target="/ppt/notesMasters/notesMaster1.xml" Id="R612b41ca8db1435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f8c90a58d3945af" /><Relationship Type="http://schemas.openxmlformats.org/officeDocument/2006/relationships/notesMaster" Target="/ppt/notesMasters/notesMaster1.xml" Id="Rea17d6598c664d5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b73a798432c43b9" /><Relationship Type="http://schemas.openxmlformats.org/officeDocument/2006/relationships/notesMaster" Target="/ppt/notesMasters/notesMaster1.xml" Id="R31e83bac1a7842f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803f1e961734669" /><Relationship Type="http://schemas.openxmlformats.org/officeDocument/2006/relationships/notesMaster" Target="/ppt/notesMasters/notesMaster1.xml" Id="Rb5bd4e037d814ea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ba78c3bba734e2f" /><Relationship Type="http://schemas.openxmlformats.org/officeDocument/2006/relationships/notesMaster" Target="/ppt/notesMasters/notesMaster1.xml" Id="R43a500c7227d445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86657cae5574042" /><Relationship Type="http://schemas.openxmlformats.org/officeDocument/2006/relationships/notesMaster" Target="/ppt/notesMasters/notesMaster1.xml" Id="R90f780b09467401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b95783e946a427b" /><Relationship Type="http://schemas.openxmlformats.org/officeDocument/2006/relationships/notesMaster" Target="/ppt/notesMasters/notesMaster1.xml" Id="R0fdf61ee73bf47b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b37525e2e344716" /><Relationship Type="http://schemas.openxmlformats.org/officeDocument/2006/relationships/notesMaster" Target="/ppt/notesMasters/notesMaster1.xml" Id="Re0ec1361945b401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4d7022856684ca4" /><Relationship Type="http://schemas.openxmlformats.org/officeDocument/2006/relationships/notesMaster" Target="/ppt/notesMasters/notesMaster1.xml" Id="R54208bbc004d440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daf40447b254981" /><Relationship Type="http://schemas.openxmlformats.org/officeDocument/2006/relationships/notesMaster" Target="/ppt/notesMasters/notesMaster1.xml" Id="R1d7d55987e1d484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c4e97d3397d4371" /><Relationship Type="http://schemas.openxmlformats.org/officeDocument/2006/relationships/notesMaster" Target="/ppt/notesMasters/notesMaster1.xml" Id="R30f0cd0215dd4ef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c130f16cc9c491d" /><Relationship Type="http://schemas.openxmlformats.org/officeDocument/2006/relationships/notesMaster" Target="/ppt/notesMasters/notesMaster1.xml" Id="R57035ecf9aac4ad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fdfa36e907b4e38" /><Relationship Type="http://schemas.openxmlformats.org/officeDocument/2006/relationships/notesMaster" Target="/ppt/notesMasters/notesMaster1.xml" Id="R470b4c9641d6466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1029091f3c34b6c" /><Relationship Type="http://schemas.openxmlformats.org/officeDocument/2006/relationships/notesMaster" Target="/ppt/notesMasters/notesMaster1.xml" Id="Rea196514fef045c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42e8287c2074163" /><Relationship Type="http://schemas.openxmlformats.org/officeDocument/2006/relationships/notesMaster" Target="/ppt/notesMasters/notesMaster1.xml" Id="Rd52db483edd3450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68519acab2b4e03" /><Relationship Type="http://schemas.openxmlformats.org/officeDocument/2006/relationships/notesMaster" Target="/ppt/notesMasters/notesMaster1.xml" Id="R8aa765a317aa4bb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3f0db89e127a472a" /><Relationship Type="http://schemas.openxmlformats.org/officeDocument/2006/relationships/notesMaster" Target="/ppt/notesMasters/notesMaster1.xml" Id="Rb63f7e209a31459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8bb399511e649fe" /><Relationship Type="http://schemas.openxmlformats.org/officeDocument/2006/relationships/notesMaster" Target="/ppt/notesMasters/notesMaster1.xml" Id="R7fdc66cbb6064074"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55853327ece4446" /><Relationship Type="http://schemas.openxmlformats.org/officeDocument/2006/relationships/notesMaster" Target="/ppt/notesMasters/notesMaster1.xml" Id="R1f9b1986b5e443ef"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1c2afb154cf4dc9" /><Relationship Type="http://schemas.openxmlformats.org/officeDocument/2006/relationships/notesMaster" Target="/ppt/notesMasters/notesMaster1.xml" Id="R80f394c1fe6846e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b27d447d61bf496a" /><Relationship Type="http://schemas.openxmlformats.org/officeDocument/2006/relationships/notesMaster" Target="/ppt/notesMasters/notesMaster1.xml" Id="R760d5bf6983c4244"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c2e5cb0ac99d4d9b" /><Relationship Type="http://schemas.openxmlformats.org/officeDocument/2006/relationships/notesMaster" Target="/ppt/notesMasters/notesMaster1.xml" Id="Rf8bde05aab324fa7"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11f5cf8ad4fb4a29" /><Relationship Type="http://schemas.openxmlformats.org/officeDocument/2006/relationships/notesMaster" Target="/ppt/notesMasters/notesMaster1.xml" Id="R5d37e401e1ab4fc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dbec70d16ee5422d" /><Relationship Type="http://schemas.openxmlformats.org/officeDocument/2006/relationships/notesMaster" Target="/ppt/notesMasters/notesMaster1.xml" Id="R5b3170b73ca24512"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a8ea041ebfb04567" /><Relationship Type="http://schemas.openxmlformats.org/officeDocument/2006/relationships/notesMaster" Target="/ppt/notesMasters/notesMaster1.xml" Id="R61cb977278d54c1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4cc3fa2874b44a5d" /><Relationship Type="http://schemas.openxmlformats.org/officeDocument/2006/relationships/notesMaster" Target="/ppt/notesMasters/notesMaster1.xml" Id="R1e6352a2afe4455f"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0f062d4c5f974107" /><Relationship Type="http://schemas.openxmlformats.org/officeDocument/2006/relationships/notesMaster" Target="/ppt/notesMasters/notesMaster1.xml" Id="R5534f61e0fb34618"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6ab2eadf42d34668" /><Relationship Type="http://schemas.openxmlformats.org/officeDocument/2006/relationships/notesMaster" Target="/ppt/notesMasters/notesMaster1.xml" Id="R4c0e0401d54f4046"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3a2f52a59ee14204" /><Relationship Type="http://schemas.openxmlformats.org/officeDocument/2006/relationships/notesMaster" Target="/ppt/notesMasters/notesMaster1.xml" Id="R517f665214b745d5"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d8df674fcd074129" /><Relationship Type="http://schemas.openxmlformats.org/officeDocument/2006/relationships/notesMaster" Target="/ppt/notesMasters/notesMaster1.xml" Id="R59e862fa9b0844f6"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2c351fa5c8cf4c77" /><Relationship Type="http://schemas.openxmlformats.org/officeDocument/2006/relationships/notesMaster" Target="/ppt/notesMasters/notesMaster1.xml" Id="R9af102976ed74843"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520c1816d1264a04" /><Relationship Type="http://schemas.openxmlformats.org/officeDocument/2006/relationships/notesMaster" Target="/ppt/notesMasters/notesMaster1.xml" Id="R67ece102b8754477"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e11ebc4ce4ec46fc" /><Relationship Type="http://schemas.openxmlformats.org/officeDocument/2006/relationships/notesMaster" Target="/ppt/notesMasters/notesMaster1.xml" Id="R78434d1abcf945c4"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e18e97d21170428b" /><Relationship Type="http://schemas.openxmlformats.org/officeDocument/2006/relationships/notesMaster" Target="/ppt/notesMasters/notesMaster1.xml" Id="Rbe8d68a37e0b4618"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19fadbec35064733" /><Relationship Type="http://schemas.openxmlformats.org/officeDocument/2006/relationships/notesMaster" Target="/ppt/notesMasters/notesMaster1.xml" Id="Rdb6d8b4e99ae4f10"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5110ddc4f7a345e0" /><Relationship Type="http://schemas.openxmlformats.org/officeDocument/2006/relationships/notesMaster" Target="/ppt/notesMasters/notesMaster1.xml" Id="R07fd20b18ef14817"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d9dd7eeb6bfb4eb1" /><Relationship Type="http://schemas.openxmlformats.org/officeDocument/2006/relationships/notesMaster" Target="/ppt/notesMasters/notesMaster1.xml" Id="Rb791a4002730449e"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cef62e23b6e04d2d" /><Relationship Type="http://schemas.openxmlformats.org/officeDocument/2006/relationships/notesMaster" Target="/ppt/notesMasters/notesMaster1.xml" Id="Rc1e64f12a06c4c78"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513cef541c7b4594" /><Relationship Type="http://schemas.openxmlformats.org/officeDocument/2006/relationships/notesMaster" Target="/ppt/notesMasters/notesMaster1.xml" Id="R7630a0de7d6a40ae"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901058df49a743a7" /><Relationship Type="http://schemas.openxmlformats.org/officeDocument/2006/relationships/notesMaster" Target="/ppt/notesMasters/notesMaster1.xml" Id="Rb183e5de7f4a4685"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778d2c6ed5004381" /><Relationship Type="http://schemas.openxmlformats.org/officeDocument/2006/relationships/notesMaster" Target="/ppt/notesMasters/notesMaster1.xml" Id="Rf1654182776e43ce"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505b7428e0514cc6" /><Relationship Type="http://schemas.openxmlformats.org/officeDocument/2006/relationships/notesMaster" Target="/ppt/notesMasters/notesMaster1.xml" Id="R9b63f750d2c3438a"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a884b8cf3a184012" /><Relationship Type="http://schemas.openxmlformats.org/officeDocument/2006/relationships/notesMaster" Target="/ppt/notesMasters/notesMaster1.xml" Id="Rcec41571279747d3"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62dc1833a817425a" /><Relationship Type="http://schemas.openxmlformats.org/officeDocument/2006/relationships/notesMaster" Target="/ppt/notesMasters/notesMaster1.xml" Id="R007e488c2f3c4e60"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f47c51403db940fc" /><Relationship Type="http://schemas.openxmlformats.org/officeDocument/2006/relationships/notesMaster" Target="/ppt/notesMasters/notesMaster1.xml" Id="Rb62adb7b2af8460c"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7370325639a44907" /><Relationship Type="http://schemas.openxmlformats.org/officeDocument/2006/relationships/notesMaster" Target="/ppt/notesMasters/notesMaster1.xml" Id="Rf162897813db45da"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69605a4ea0b84a30" /><Relationship Type="http://schemas.openxmlformats.org/officeDocument/2006/relationships/notesMaster" Target="/ppt/notesMasters/notesMaster1.xml" Id="Rc73e6aae50734711"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3ce436dda5774085" /><Relationship Type="http://schemas.openxmlformats.org/officeDocument/2006/relationships/notesMaster" Target="/ppt/notesMasters/notesMaster1.xml" Id="Rb7dfb846b3254aad"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a5168c5797cb41b7" /><Relationship Type="http://schemas.openxmlformats.org/officeDocument/2006/relationships/notesMaster" Target="/ppt/notesMasters/notesMaster1.xml" Id="Red644fb7b29a41d0"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391054bc47e244ae" /><Relationship Type="http://schemas.openxmlformats.org/officeDocument/2006/relationships/notesMaster" Target="/ppt/notesMasters/notesMaster1.xml" Id="R397217f934c147fd"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0f500ea42ac540eb" /><Relationship Type="http://schemas.openxmlformats.org/officeDocument/2006/relationships/notesMaster" Target="/ppt/notesMasters/notesMaster1.xml" Id="R99dd648799124110"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fa40690faa724b1a" /><Relationship Type="http://schemas.openxmlformats.org/officeDocument/2006/relationships/notesMaster" Target="/ppt/notesMasters/notesMaster1.xml" Id="Raae17b594a454729"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e56c9ade5ae14193" /><Relationship Type="http://schemas.openxmlformats.org/officeDocument/2006/relationships/notesMaster" Target="/ppt/notesMasters/notesMaster1.xml" Id="R493f881193644669"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c3581fa8c6d44dbd" /><Relationship Type="http://schemas.openxmlformats.org/officeDocument/2006/relationships/notesMaster" Target="/ppt/notesMasters/notesMaster1.xml" Id="Rff38eb557522405c"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32026345aca84e83" /><Relationship Type="http://schemas.openxmlformats.org/officeDocument/2006/relationships/notesMaster" Target="/ppt/notesMasters/notesMaster1.xml" Id="Rda9ac2b879c64fb1"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dd19e826f53a4382" /><Relationship Type="http://schemas.openxmlformats.org/officeDocument/2006/relationships/notesMaster" Target="/ppt/notesMasters/notesMaster1.xml" Id="Ref96d0edc735481a"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d52a16866fa248ef" /><Relationship Type="http://schemas.openxmlformats.org/officeDocument/2006/relationships/notesMaster" Target="/ppt/notesMasters/notesMaster1.xml" Id="R4cb792d122cb4b98"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2ce04c492fd74992" /><Relationship Type="http://schemas.openxmlformats.org/officeDocument/2006/relationships/notesMaster" Target="/ppt/notesMasters/notesMaster1.xml" Id="Ra74da86b922d42c3"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355b0adcf8774e1e" /><Relationship Type="http://schemas.openxmlformats.org/officeDocument/2006/relationships/notesMaster" Target="/ppt/notesMasters/notesMaster1.xml" Id="R234c57276a9d4650"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fa0ab9fd081b4c35" /><Relationship Type="http://schemas.openxmlformats.org/officeDocument/2006/relationships/notesMaster" Target="/ppt/notesMasters/notesMaster1.xml" Id="R15cf6c5132324c94"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f47022ec26af437a" /><Relationship Type="http://schemas.openxmlformats.org/officeDocument/2006/relationships/notesMaster" Target="/ppt/notesMasters/notesMaster1.xml" Id="Ra98e4ca9a98f483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Giới thiệu case study EShop và ba hướng thực hành của nhóm. Phạm vi chính là API testing, không đánh đồng API response time với tốc độ render giao diện.</a:t>
            </a:r>
          </a:p>
          <a:p xmlns:a="http://schemas.openxmlformats.org/drawingml/2006/main">
            <a:r>
              <a:t/>
            </a:r>
          </a:p>
          <a:p xmlns:a="http://schemas.openxmlformats.org/drawingml/2006/main">
            <a:r>
              <a:t>Nguồn:</a:t>
            </a:r>
          </a:p>
          <a:p xmlns:a="http://schemas.openxmlformats.org/drawingml/2006/main">
            <a:r>
              <a:t>https://github.com/minhthang2k5/eshop-sut/blob/main/docs/requirement.txt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Phân công theo báo cáo và Jira. Các thành viên chịu trách nhiệm rà soát phần chuyên môn của mình.</a:t>
            </a:r>
          </a:p>
          <a:p xmlns:a="http://schemas.openxmlformats.org/drawingml/2006/main">
            <a:r>
              <a:t/>
            </a:r>
          </a:p>
          <a:p xmlns:a="http://schemas.openxmlformats.org/drawingml/2006/main">
            <a:r>
              <a:t>Nguồn:</a:t>
            </a:r>
          </a:p>
          <a:p xmlns:a="http://schemas.openxmlformats.org/drawingml/2006/main">
            <a:r>
              <a:t>https://github.com/minhthang2k5/eshop-sut/blob/main/submission/Bao_cao_seminar_Performance_Testing.md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 video đặt sau khối lý thuyết và hướng dẫn tương ứng, trước phần diễn giải kết quả. Mỗi video có ba chương để đáp ứng yêu cầu cài đặt, cơ bản và luồng phức tạp.</a:t>
            </a:r>
          </a:p>
          <a:p xmlns:a="http://schemas.openxmlformats.org/drawingml/2006/main">
            <a:r>
              <a:t/>
            </a:r>
          </a:p>
          <a:p xmlns:a="http://schemas.openxmlformats.org/drawingml/2006/main">
            <a:r>
              <a:t>Nguồn:</a:t>
            </a:r>
          </a:p>
          <a:p xmlns:a="http://schemas.openxmlformats.org/drawingml/2006/main">
            <a:r>
              <a:t>https://github.com/minhthang2k5/eshop-sut/blob/main/docs/requirement.txt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SUT phải chạy trước smoke. Web audit không tự thay thế backend EShop.</a:t>
            </a:r>
          </a:p>
          <a:p xmlns:a="http://schemas.openxmlformats.org/drawingml/2006/main">
            <a:r>
              <a:t/>
            </a:r>
          </a:p>
          <a:p xmlns:a="http://schemas.openxmlformats.org/drawingml/2006/main">
            <a:r>
              <a:t>Nguồn:</a:t>
            </a:r>
          </a:p>
          <a:p xmlns:a="http://schemas.openxmlformats.org/drawingml/2006/main">
            <a:r>
              <a:t>https://github.com/minhthang2k5/eshop-sut/blob/main/submission/Bao_cao_seminar_Performance_Testing.md</a:t>
            </a:r>
          </a:p>
          <a:p xmlns:a="http://schemas.openxmlformats.org/drawingml/2006/main">
            <a:r>
              <a:t>https://github.com/minhthang2k5/eshop-sut/tree/main/test-web-performance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Web audit/JMeter dùng Login, Search, Detail, Checkout. K6 của A có Cart. Hai phạm vi cần giữ riêng. Token cần nằm trong Authorization: Bearer khi API yêu cầu.</a:t>
            </a:r>
          </a:p>
          <a:p xmlns:a="http://schemas.openxmlformats.org/drawingml/2006/main">
            <a:r>
              <a:t/>
            </a:r>
          </a:p>
          <a:p xmlns:a="http://schemas.openxmlformats.org/drawingml/2006/main">
            <a:r>
              <a:t>Nguồn:</a:t>
            </a:r>
          </a:p>
          <a:p xmlns:a="http://schemas.openxmlformats.org/drawingml/2006/main">
            <a:r>
              <a:t>https://github.com/minhthang2k5/eshop-sut/blob/main/api_specification.md</a:t>
            </a:r>
          </a:p>
          <a:p xmlns:a="http://schemas.openxmlformats.org/drawingml/2006/main">
            <a:r>
              <a:t>https://github.com/minhthang2k5/eshop-sut/blob/main/performance/k6/README.md</a:t>
            </a:r>
          </a:p>
          <a:p xmlns:a="http://schemas.openxmlformats.org/drawingml/2006/main">
            <a:r>
              <a:t>https://github.com/minhthang2k5/eshop-sut/blob/main/performance/jmeter/README.md</a:t>
            </a:r>
          </a:p>
          <a:p xmlns:a="http://schemas.openxmlformats.org/drawingml/2006/main">
            <a:r>
              <a:t>https://jmeter.apache.org/usermanual/index.html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Cần kiểm tra tính đúng trước khi sử dụng số đo hiệu năng. Một response 200 có thể vẫn thiếu dữ liệu bắt buộc.</a:t>
            </a:r>
          </a:p>
          <a:p xmlns:a="http://schemas.openxmlformats.org/drawingml/2006/main">
            <a:r>
              <a:t/>
            </a:r>
          </a:p>
          <a:p xmlns:a="http://schemas.openxmlformats.org/drawingml/2006/main">
            <a:r>
              <a:t>Nguồn:</a:t>
            </a:r>
          </a:p>
          <a:p xmlns:a="http://schemas.openxmlformats.org/drawingml/2006/main">
            <a:r>
              <a:t>https://github.com/minhthang2k5/eshop-sut/blob/main/submission/Bao_cao_seminar_Performance_Testing.md</a:t>
            </a:r>
          </a:p>
          <a:p xmlns:a="http://schemas.openxmlformats.org/drawingml/2006/main">
            <a:r>
              <a:t>https://grafana.com/docs/k6/latest/using-k6/metrics/</a:t>
            </a:r>
          </a:p>
          <a:p xmlns:a="http://schemas.openxmlformats.org/drawingml/2006/main">
            <a:r>
              <a:t>https://grafana.com/docs/k6/latest/using-k6/checks/</a:t>
            </a:r>
          </a:p>
          <a:p xmlns:a="http://schemas.openxmlformats.org/drawingml/2006/main">
            <a:r>
              <a:t>https://grafana.com/docs/k6/latest/using-k6/thresholds/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số trên là ví dụ giảng giải, không phải số đo của nhóm. Performance testing đánh giá tốc độ, khả năng đáp ứng và ổn định khi tải thay đổi. Cần đọc CPU/RAM/I/O, log DB và mức tải thực phát để xác định bottleneck. Việc tăng VU mà RPS không tăng chỉ là dấu hiệu cần điều tra, chưa chứng minh DB là nguyên nhân.</a:t>
            </a:r>
          </a:p>
          <a:p xmlns:a="http://schemas.openxmlformats.org/drawingml/2006/main">
            <a:r>
              <a:t/>
            </a:r>
          </a:p>
          <a:p xmlns:a="http://schemas.openxmlformats.org/drawingml/2006/main">
            <a:r>
              <a:t>Nguồn:</a:t>
            </a:r>
          </a:p>
          <a:p xmlns:a="http://schemas.openxmlformats.org/drawingml/2006/main">
            <a:r>
              <a:t>https://sre.google/sre-book/service-level-objectives/</a:t>
            </a:r>
          </a:p>
          <a:p xmlns:a="http://schemas.openxmlformats.org/drawingml/2006/main">
            <a:r>
              <a:t>https://grafana.com/docs/k6/latest/testing-guides/test-types/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Baseline là số liệu mốc dưới profile xác định, không mặc định một số VU cho mọi hệ thống. Smoke không thay thế stress hoặc soak.</a:t>
            </a:r>
          </a:p>
          <a:p xmlns:a="http://schemas.openxmlformats.org/drawingml/2006/main">
            <a:r>
              <a:t/>
            </a:r>
          </a:p>
          <a:p xmlns:a="http://schemas.openxmlformats.org/drawingml/2006/main">
            <a:r>
              <a:t>Nguồn:</a:t>
            </a:r>
          </a:p>
          <a:p xmlns:a="http://schemas.openxmlformats.org/drawingml/2006/main">
            <a:r>
              <a:t>https://grafana.com/docs/k6/latest/testing-guides/test-types/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Phân loại lỗi là hướng điều tra, không phải kết luận nguyên nhân duy nhất. Lỗi kết nối có thể đến từ host, port, container hoặc môi trường mạng. HTTP lỗi có thể xuất phát từ dữ liệu, quyền hoặc backend. Lỗi JavaScript có thể làm iteration dừng trước nghiệp vụ. Bộ đánh giá cần giữ log để giải thích vì sao fail.</a:t>
            </a:r>
          </a:p>
          <a:p xmlns:a="http://schemas.openxmlformats.org/drawingml/2006/main">
            <a:r>
              <a:t/>
            </a:r>
          </a:p>
          <a:p xmlns:a="http://schemas.openxmlformats.org/drawingml/2006/main">
            <a:r>
              <a:t>Nguồn:</a:t>
            </a:r>
          </a:p>
          <a:p xmlns:a="http://schemas.openxmlformats.org/drawingml/2006/main">
            <a:r>
              <a:t>https://grafana.com/docs/k6/latest/testing-guides/test-types/smoke-testing/</a:t>
            </a:r>
          </a:p>
          <a:p xmlns:a="http://schemas.openxmlformats.org/drawingml/2006/main">
            <a:r>
              <a:t>https://github.com/minhthang2k5/eshop-sut/tree/main/test-web-performance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Ở hai script AI, một iteration thực hiện login rồi chọn một action. Smoke 1 VU, 1 iteration thường chỉ có hai request. VU HTTP không tự mở cửa sổ trình duyệt.</a:t>
            </a:r>
          </a:p>
          <a:p xmlns:a="http://schemas.openxmlformats.org/drawingml/2006/main">
            <a:r>
              <a:t/>
            </a:r>
          </a:p>
          <a:p xmlns:a="http://schemas.openxmlformats.org/drawingml/2006/main">
            <a:r>
              <a:t>Nguồn:</a:t>
            </a:r>
          </a:p>
          <a:p xmlns:a="http://schemas.openxmlformats.org/drawingml/2006/main">
            <a:r>
              <a:t>https://github.com/minhthang2k5/eshop-sut/blob/main/submission/Bao_cao_seminar_Performance_Testing.md</a:t>
            </a:r>
          </a:p>
          <a:p xmlns:a="http://schemas.openxmlformats.org/drawingml/2006/main">
            <a:r>
              <a:t>https://grafana.com/docs/k6/latest/using-k6/metrics/</a:t>
            </a:r>
          </a:p>
          <a:p xmlns:a="http://schemas.openxmlformats.org/drawingml/2006/main">
            <a:r>
              <a:t>https://grafana.com/docs/k6/latest/using-k6/checks/</a:t>
            </a:r>
          </a:p>
          <a:p xmlns:a="http://schemas.openxmlformats.org/drawingml/2006/main">
            <a:r>
              <a:t>https://grafana.com/docs/k6/latest/using-k6/thresholds/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phép tính minh họa closed model, không phải số liệu EShop. 50 VU không có nghĩa 50 request đang gửi cùng lúc. VU có thể đang nghĩ hoặc chờ response. 20 RPS trong ví dụ bằng 10 iteration/s nhân 2 request/iteration. Nếu có login bổ sung, retry, request song song hoặc thời gian biến thiên thì phải tính lại.</a:t>
            </a:r>
          </a:p>
          <a:p xmlns:a="http://schemas.openxmlformats.org/drawingml/2006/main">
            <a:r>
              <a:t/>
            </a:r>
          </a:p>
          <a:p xmlns:a="http://schemas.openxmlformats.org/drawingml/2006/main">
            <a:r>
              <a:t>Nguồn:</a:t>
            </a:r>
          </a:p>
          <a:p xmlns:a="http://schemas.openxmlformats.org/drawingml/2006/main">
            <a:r>
              <a:t>https://grafana.com/docs/k6/latest/using-k6/scenarios/concepts/open-vs-closed/</a:t>
            </a:r>
          </a:p>
          <a:p xmlns:a="http://schemas.openxmlformats.org/drawingml/2006/main">
            <a:r>
              <a:t>https://grafana.com/docs/k6/latest/using-k6/metrics/reference/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Tỷ lệ là xác suất chọn action, không phải tỷ lệ tất cả HTTP request. Login tạo lưu lượng bổ sung. Cần nhiều iteration mới quan sát được phân phối. Không đồng nhất các workload trong phép so sánh.</a:t>
            </a:r>
          </a:p>
          <a:p xmlns:a="http://schemas.openxmlformats.org/drawingml/2006/main">
            <a:r>
              <a:t/>
            </a:r>
          </a:p>
          <a:p xmlns:a="http://schemas.openxmlformats.org/drawingml/2006/main">
            <a:r>
              <a:t>Nguồn:</a:t>
            </a:r>
          </a:p>
          <a:p xmlns:a="http://schemas.openxmlformats.org/drawingml/2006/main">
            <a:r>
              <a:t>https://github.com/minhthang2k5/eshop-sut/blob/main/performance/k6/README.md</a:t>
            </a:r>
          </a:p>
          <a:p xmlns:a="http://schemas.openxmlformats.org/drawingml/2006/main">
            <a:r>
              <a:t>https://github.com/minhthang2k5/eshop-sut/blob/main/performance/jmeter/README.md</a:t>
            </a:r>
          </a:p>
          <a:p xmlns:a="http://schemas.openxmlformats.org/drawingml/2006/main">
            <a:r>
              <a:t>https://jmeter.apache.org/usermanual/index.html</a:t>
            </a:r>
          </a:p>
          <a:p xmlns:a="http://schemas.openxmlformats.org/drawingml/2006/main">
            <a:r>
              <a:t>https://github.com/minhthang2k5/eshop-sut/blob/main/submission/Bao_cao_seminar_Performance_Testing.md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k6, mỗi scenario có executor, exec và cấu hình lịch chạy riêng. Không có thuộc tính weight dùng chung để tự áp tỷ lệ cho mọi executor. Chia 50 VU thành 28/12/10 không bảo đảm 55/25/20 số lượt nghiệp vụ. Có thể dùng random branch để đặt xác suất hoặc lập lịch iteration có chủ đích. Một lần smoke không xác nhận được tỷ lệ. Cấu hình Black Friday chỉ là ví dụ giả thuyết trong tài liệu, không phải run thực tế. Workload của A vẫn có Cart và mix 55/25/14/6 như slide trước.</a:t>
            </a:r>
          </a:p>
          <a:p xmlns:a="http://schemas.openxmlformats.org/drawingml/2006/main">
            <a:r>
              <a:t/>
            </a:r>
          </a:p>
          <a:p xmlns:a="http://schemas.openxmlformats.org/drawingml/2006/main">
            <a:r>
              <a:t>Nguồn nội bộ: docs/Tool_Analysis_and_Theory.md</a:t>
            </a:r>
          </a:p>
          <a:p xmlns:a="http://schemas.openxmlformats.org/drawingml/2006/main">
            <a:r>
              <a:t>Nguồn kiểm chứng:</a:t>
            </a:r>
          </a:p>
          <a:p xmlns:a="http://schemas.openxmlformats.org/drawingml/2006/main">
            <a:r>
              <a:t>https://grafana.com/docs/k6/latest/using-k6/scenarios/</a:t>
            </a:r>
          </a:p>
          <a:p xmlns:a="http://schemas.openxmlformats.org/drawingml/2006/main">
            <a:r>
              <a:t>https://github.com/minhthang2k5/eshop-sut/blob/main/test-web-performance/samples/gemini_script_real.js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Với closed model, response chậm có thể làm tốc độ phát tải giảm. Muốn so sánh phải giữ mô hình tải và think-time phù hợp.</a:t>
            </a:r>
          </a:p>
          <a:p xmlns:a="http://schemas.openxmlformats.org/drawingml/2006/main">
            <a:r>
              <a:t/>
            </a:r>
          </a:p>
          <a:p xmlns:a="http://schemas.openxmlformats.org/drawingml/2006/main">
            <a:r>
              <a:t>Nguồn:</a:t>
            </a:r>
          </a:p>
          <a:p xmlns:a="http://schemas.openxmlformats.org/drawingml/2006/main">
            <a:r>
              <a:t>https://grafana.com/docs/k6/latest/using-k6/scenarios/concepts/open-vs-closed/</a:t>
            </a:r>
          </a:p>
          <a:p xmlns:a="http://schemas.openxmlformats.org/drawingml/2006/main">
            <a:r>
              <a:t>https://github.com/minhthang2k5/eshop-sut/blob/main/submission/Bao_cao_seminar_Performance_Testing.md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khoảng nghỉ có trong hai source thật ở samples. Đây là giả định mô hình, không phải số liệu đo hành vi người dùng. Sleep trong source diễn ra sau request của nhánh. Không có think-time có thể hợp lý cho bài đo công suất hoặc arrival-rate, nhưng cần nêu rõ mục tiêu. Không được kết luận mọi test không sleep đều sai. Với closed model, giảm sleep có thể làm tăng đáng kể tốc độ phát request ở cùng số VU.</a:t>
            </a:r>
          </a:p>
          <a:p xmlns:a="http://schemas.openxmlformats.org/drawingml/2006/main">
            <a:r>
              <a:t/>
            </a:r>
          </a:p>
          <a:p xmlns:a="http://schemas.openxmlformats.org/drawingml/2006/main">
            <a:r>
              <a:t>Nguồn nội bộ: docs/Tool_Analysis_and_Theory.md</a:t>
            </a:r>
          </a:p>
          <a:p xmlns:a="http://schemas.openxmlformats.org/drawingml/2006/main">
            <a:r>
              <a:t>Nguồn kiểm chứng:</a:t>
            </a:r>
          </a:p>
          <a:p xmlns:a="http://schemas.openxmlformats.org/drawingml/2006/main">
            <a:r>
              <a:t>https://github.com/minhthang2k5/eshop-sut/blob/main/test-web-performance/samples/gemini_script_real.js</a:t>
            </a:r>
          </a:p>
          <a:p xmlns:a="http://schemas.openxmlformats.org/drawingml/2006/main">
            <a:r>
              <a:t>https://github.com/minhthang2k5/eshop-sut/blob/main/test-web-performance/samples/claude_scipt_real.js</a:t>
            </a:r>
          </a:p>
          <a:p xmlns:a="http://schemas.openxmlformats.org/drawingml/2006/main">
            <a:r>
              <a:t>https://grafana.com/docs/k6/latest/using-k6/scenarios/concepts/open-vs-closed/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Ramp-up mô tả tải, warm-up mô tả trạng thái hệ thống nên hai khái niệm không đồng nhất. Một cửa sổ giữ VU cố định vẫn có thể chưa ổn định. Khi đối chiếu trước/sau tuning, giữ profile, dữ liệu, máy chạy và phương pháp tổng hợp nhất quán. Nên chạy lặp nhiều lần, ghi rõ điều kiện cache và reset dữ liệu.</a:t>
            </a:r>
          </a:p>
          <a:p xmlns:a="http://schemas.openxmlformats.org/drawingml/2006/main">
            <a:r>
              <a:t/>
            </a:r>
          </a:p>
          <a:p xmlns:a="http://schemas.openxmlformats.org/drawingml/2006/main">
            <a:r>
              <a:t>Nguồn:</a:t>
            </a:r>
          </a:p>
          <a:p xmlns:a="http://schemas.openxmlformats.org/drawingml/2006/main">
            <a:r>
              <a:t>https://grafana.com/docs/k6/latest/using-k6/scenarios/executors/ramping-vus/</a:t>
            </a:r>
          </a:p>
          <a:p xmlns:a="http://schemas.openxmlformats.org/drawingml/2006/main">
            <a:r>
              <a:t>https://github.com/minhthang2k5/eshop-sut/blob/main/performance/k6/reports/02-baseline-test-report.md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Metric tổng có thể trộn các endpoint. Khi cần đánh giá Checkout, lọc theo tag endpoint và phase thay vì chỉ nhìn tổng.</a:t>
            </a:r>
          </a:p>
          <a:p xmlns:a="http://schemas.openxmlformats.org/drawingml/2006/main">
            <a:r>
              <a:t/>
            </a:r>
          </a:p>
          <a:p xmlns:a="http://schemas.openxmlformats.org/drawingml/2006/main">
            <a:r>
              <a:t>Nguồn:</a:t>
            </a:r>
          </a:p>
          <a:p xmlns:a="http://schemas.openxmlformats.org/drawingml/2006/main">
            <a:r>
              <a:t>https://grafana.com/docs/k6/latest/using-k6/metrics/reference/</a:t>
            </a:r>
          </a:p>
          <a:p xmlns:a="http://schemas.openxmlformats.org/drawingml/2006/main">
            <a:r>
              <a:t>https://github.com/minhthang2k5/eshop-sut/blob/main/submission/Bao_cao_seminar_Performance_Testing.md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Transaction ở đây là đơn vị nghiệp vụ do tester định nghĩa, không tự đồng nghĩa transaction của SQLite. Ví dụ 10 TPS và 30 RPS giả định mỗi lượt có đúng 3 request, không thêm retry/login và không có traffic khác. Kết quả thực phải đếm riêng nghiệp vụ thành công. Trong JMeter có thể dùng Transaction Controller với phạm vi phù hợp. Không lấy toàn bộ sample rate rồi gọi là TPS mua hàng.</a:t>
            </a:r>
          </a:p>
          <a:p xmlns:a="http://schemas.openxmlformats.org/drawingml/2006/main">
            <a:r>
              <a:t/>
            </a:r>
          </a:p>
          <a:p xmlns:a="http://schemas.openxmlformats.org/drawingml/2006/main">
            <a:r>
              <a:t>Nguồn nội bộ: docs/Tool_Analysis_and_Theory.md</a:t>
            </a:r>
          </a:p>
          <a:p xmlns:a="http://schemas.openxmlformats.org/drawingml/2006/main">
            <a:r>
              <a:t>Nguồn kiểm chứng:</a:t>
            </a:r>
          </a:p>
          <a:p xmlns:a="http://schemas.openxmlformats.org/drawingml/2006/main">
            <a:r>
              <a:t>https://jmeter.apache.org/usermanual/component_reference.html#Transaction_Controller</a:t>
            </a:r>
          </a:p>
          <a:p xmlns:a="http://schemas.openxmlformats.org/drawingml/2006/main">
            <a:r>
              <a:t>https://grafana.com/docs/k6/latest/using-k6/metrics/reference/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Resource metrics bổ sung góc nhìn server cho response time phía client. RSS là bộ nhớ cư trú của tiến trình, heap chỉ là một phần bộ nhớ. Event-loop lag cần đo riêng, không suy ra chỉ từ p95. SQLite không tự có pool connection giống mọi DB server. Khi SUT và generator cùng máy, hai tiến trình có thể tranh tài nguyên. Soak có thể phát hiện xu hướng bộ nhớ hoặc latency tăng, nhưng cần quan sát đủ lâu, xét GC và chạy lặp trước khi kết luận memory leak.</a:t>
            </a:r>
          </a:p>
          <a:p xmlns:a="http://schemas.openxmlformats.org/drawingml/2006/main">
            <a:r>
              <a:t/>
            </a:r>
          </a:p>
          <a:p xmlns:a="http://schemas.openxmlformats.org/drawingml/2006/main">
            <a:r>
              <a:t>Nguồn nội bộ: docs/Tool_Analysis_and_Theory.md</a:t>
            </a:r>
          </a:p>
          <a:p xmlns:a="http://schemas.openxmlformats.org/drawingml/2006/main">
            <a:r>
              <a:t>Nguồn kiểm chứng:</a:t>
            </a:r>
          </a:p>
          <a:p xmlns:a="http://schemas.openxmlformats.org/drawingml/2006/main">
            <a:r>
              <a:t>https://nodejs.org/learn/asynchronous-work/dont-block-the-event-loop</a:t>
            </a:r>
          </a:p>
          <a:p xmlns:a="http://schemas.openxmlformats.org/drawingml/2006/main">
            <a:r>
              <a:t>https://sqlite.org/wal.html</a:t>
            </a:r>
          </a:p>
          <a:p xmlns:a="http://schemas.openxmlformats.org/drawingml/2006/main">
            <a:r>
              <a:t>https://grafana.com/docs/k6/latest/testing-guides/running-large-tests/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Thuật ngữ latency có thể có phạm vi khác nhau giữa công cụ. Khi đọc báo cáo phải nêu tên metric, điểm đo và đơn vị. http_req_waiting không tách riêng được thời gian CPU của backend. http_req_duration không tương đương tổng thời gian người dùng nhìn thấy trang. Các số trong ví dụ do nhóm đặt để giải thích phép cộng.</a:t>
            </a:r>
          </a:p>
          <a:p xmlns:a="http://schemas.openxmlformats.org/drawingml/2006/main">
            <a:r>
              <a:t/>
            </a:r>
          </a:p>
          <a:p xmlns:a="http://schemas.openxmlformats.org/drawingml/2006/main">
            <a:r>
              <a:t>Nguồn:</a:t>
            </a:r>
          </a:p>
          <a:p xmlns:a="http://schemas.openxmlformats.org/drawingml/2006/main">
            <a:r>
              <a:t>https://grafana.com/docs/k6/latest/using-k6/metrics/reference/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Phân vị phụ thuộc cách công cụ tính. p95 không phải độ chính xác 95%. Response lỗi nhanh có thể kéo thời gian xuống mà không phản ánh hiệu năng nghiệp vụ tốt.</a:t>
            </a:r>
          </a:p>
          <a:p xmlns:a="http://schemas.openxmlformats.org/drawingml/2006/main">
            <a:r>
              <a:t/>
            </a:r>
          </a:p>
          <a:p xmlns:a="http://schemas.openxmlformats.org/drawingml/2006/main">
            <a:r>
              <a:t>Nguồn:</a:t>
            </a:r>
          </a:p>
          <a:p xmlns:a="http://schemas.openxmlformats.org/drawingml/2006/main">
            <a:r>
              <a:t>https://github.com/minhthang2k5/eshop-sut/blob/main/submission/Bao_cao_seminar_Performance_Testing.md</a:t>
            </a:r>
          </a:p>
          <a:p xmlns:a="http://schemas.openxmlformats.org/drawingml/2006/main">
            <a:r>
              <a:t>https://grafana.com/docs/k6/latest/using-k6/metrics/</a:t>
            </a:r>
          </a:p>
          <a:p xmlns:a="http://schemas.openxmlformats.org/drawingml/2006/main">
            <a:r>
              <a:t>https://grafana.com/docs/k6/latest/using-k6/checks/</a:t>
            </a:r>
          </a:p>
          <a:p xmlns:a="http://schemas.openxmlformats.org/drawingml/2006/main">
            <a:r>
              <a:t>https://grafana.com/docs/k6/latest/using-k6/thresholds/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Nearest-rank dùng để minh họa vị trí phân vị. Công cụ có thể nội suy nên kết quả không nhất thiết đúng bằng mẫu thứ 95. Với 100 mẫu gồm 99 mẫu 100 ms và 1 mẫu 5.000 ms, trung bình là 149 ms nhưng vẫn có một request rất chậm. Cần xem cả phân vị cao, max, tỷ lệ lỗi và cỡ mẫu. Các số là ví dụ học tập.</a:t>
            </a:r>
          </a:p>
          <a:p xmlns:a="http://schemas.openxmlformats.org/drawingml/2006/main">
            <a:r>
              <a:t/>
            </a:r>
          </a:p>
          <a:p xmlns:a="http://schemas.openxmlformats.org/drawingml/2006/main">
            <a:r>
              <a:t>Nguồn:</a:t>
            </a:r>
          </a:p>
          <a:p xmlns:a="http://schemas.openxmlformats.org/drawingml/2006/main">
            <a:r>
              <a:t>https://grafana.com/docs/k6/latest/using-k6/metrics/reference/</a:t>
            </a:r>
          </a:p>
          <a:p xmlns:a="http://schemas.openxmlformats.org/drawingml/2006/main">
            <a:r>
              <a:t>https://github.com/minhthang2k5/eshop-sut/blob/main/performance/jmeter/comparison_d2_vs_d3.md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Check fail không tự làm k6 exit failed. Threshold mới tạo điều kiện pass/fail của test. Web kiểm tra thêm summary và lỗi runtime, không chỉ dựa vào exit code.</a:t>
            </a:r>
          </a:p>
          <a:p xmlns:a="http://schemas.openxmlformats.org/drawingml/2006/main">
            <a:r>
              <a:t/>
            </a:r>
          </a:p>
          <a:p xmlns:a="http://schemas.openxmlformats.org/drawingml/2006/main">
            <a:r>
              <a:t>Nguồn:</a:t>
            </a:r>
          </a:p>
          <a:p xmlns:a="http://schemas.openxmlformats.org/drawingml/2006/main">
            <a:r>
              <a:t>https://github.com/minhthang2k5/eshop-sut/blob/main/submission/Bao_cao_seminar_Performance_Testing.md</a:t>
            </a:r>
          </a:p>
          <a:p xmlns:a="http://schemas.openxmlformats.org/drawingml/2006/main">
            <a:r>
              <a:t>https://grafana.com/docs/k6/latest/using-k6/metrics/</a:t>
            </a:r>
          </a:p>
          <a:p xmlns:a="http://schemas.openxmlformats.org/drawingml/2006/main">
            <a:r>
              <a:t>https://grafana.com/docs/k6/latest/using-k6/checks/</a:t>
            </a:r>
          </a:p>
          <a:p xmlns:a="http://schemas.openxmlformats.org/drawingml/2006/main">
            <a:r>
              <a:t>https://grafana.com/docs/k6/latest/using-k6/thresholds/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Ví dụ HTTP và check là hai phép tính minh họa độc lập, không suy ra trực tiếp số check từ số request. k6 phân loại http_req_failed theo expected response callback, mặc định HTTP 200–399 là expected. Một lỗi nội dung nghiệp vụ không tự động làm http_req_failed tăng. Guard dừng sớm có thể khiến check phía sau không chạy, nên check rate 100% vẫn cần kiểm tra coverage.</a:t>
            </a:r>
          </a:p>
          <a:p xmlns:a="http://schemas.openxmlformats.org/drawingml/2006/main">
            <a:r>
              <a:t/>
            </a:r>
          </a:p>
          <a:p xmlns:a="http://schemas.openxmlformats.org/drawingml/2006/main">
            <a:r>
              <a:t>Nguồn:</a:t>
            </a:r>
          </a:p>
          <a:p xmlns:a="http://schemas.openxmlformats.org/drawingml/2006/main">
            <a:r>
              <a:t>https://grafana.com/docs/k6/latest/using-k6/metrics/reference/</a:t>
            </a:r>
          </a:p>
          <a:p xmlns:a="http://schemas.openxmlformats.org/drawingml/2006/main">
            <a:r>
              <a:t>https://grafana.com/docs/k6/latest/using-k6/checks/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Ví dụ SLO và threshold chỉ để học, không khẳng định nhóm có SLA thật. SLO cần phạm vi endpoint, loại request, tải, cửa sổ đo và quy tắc tính rõ ràng. Threshold mã hóa một điều kiện cho lần test. Đề xuất của Luna là đầu vào để review và kiểm chứng, chưa tự trở thành SLO đã được chấp thuận.</a:t>
            </a:r>
          </a:p>
          <a:p xmlns:a="http://schemas.openxmlformats.org/drawingml/2006/main">
            <a:r>
              <a:t/>
            </a:r>
          </a:p>
          <a:p xmlns:a="http://schemas.openxmlformats.org/drawingml/2006/main">
            <a:r>
              <a:t>Nguồn:</a:t>
            </a:r>
          </a:p>
          <a:p xmlns:a="http://schemas.openxmlformats.org/drawingml/2006/main">
            <a:r>
              <a:t>https://sre.google/sre-book/service-level-objectives/</a:t>
            </a:r>
          </a:p>
          <a:p xmlns:a="http://schemas.openxmlformats.org/drawingml/2006/main">
            <a:r>
              <a:t>https://grafana.com/docs/k6/latest/using-k6/thresholds/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Chọn threshold theo SLO, endpoint, môi trường và tải kỳ vọng, không theo một giá trị đẹp trong smoke. Không có ngưỡng 500 ms phù hợp mọi sản phẩm. k6 có exit code 99 khi threshold thất bại, nhưng còn các mã lỗi khác. Ví dụ gắn tag endpoint=checkout rồi đặt threshold cho http_req_duration{endpoint:checkout}, miễn source phát đúng tag. Checks rate và HTTP error rate có mẫu số khác nhau. Chênh lệch công cụ 10–15% không tự được coi là chấp nhận được nếu chưa thống nhất phương pháp đo.</a:t>
            </a:r>
          </a:p>
          <a:p xmlns:a="http://schemas.openxmlformats.org/drawingml/2006/main">
            <a:r>
              <a:t/>
            </a:r>
          </a:p>
          <a:p xmlns:a="http://schemas.openxmlformats.org/drawingml/2006/main">
            <a:r>
              <a:t>Nguồn nội bộ: docs/Tool_Analysis_and_Theory.md</a:t>
            </a:r>
          </a:p>
          <a:p xmlns:a="http://schemas.openxmlformats.org/drawingml/2006/main">
            <a:r>
              <a:t>Nguồn kiểm chứng:</a:t>
            </a:r>
          </a:p>
          <a:p xmlns:a="http://schemas.openxmlformats.org/drawingml/2006/main">
            <a:r>
              <a:t>https://grafana.com/docs/k6/latest/using-k6/thresholds/</a:t>
            </a:r>
          </a:p>
          <a:p xmlns:a="http://schemas.openxmlformats.org/drawingml/2006/main">
            <a:r>
              <a:t>https://grafana.com/docs/k6/latest/using-k6/tags-and-groups/</a:t>
            </a:r>
          </a:p>
          <a:p xmlns:a="http://schemas.openxmlformats.org/drawingml/2006/main">
            <a:r>
              <a:t>https://github.com/minhthang2k5/eshop-sut/blob/main/performance/jmeter/comparison_d2_vs_d3.md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Nhóm chọn k6, JMeter và web audit làm ba cụm thực hành. DevTools phục vụ ghi traffic. AI là lớp hỗ trợ, không thay thế công cụ đo tải.</a:t>
            </a:r>
          </a:p>
          <a:p xmlns:a="http://schemas.openxmlformats.org/drawingml/2006/main">
            <a:r>
              <a:t/>
            </a:r>
          </a:p>
          <a:p xmlns:a="http://schemas.openxmlformats.org/drawingml/2006/main">
            <a:r>
              <a:t>Nguồn:</a:t>
            </a:r>
          </a:p>
          <a:p xmlns:a="http://schemas.openxmlformats.org/drawingml/2006/main">
            <a:r>
              <a:t>https://github.com/minhthang2k5/eshop-sut/blob/main/submission/Bao_cao_seminar_Performance_Testing.md</a:t>
            </a:r>
          </a:p>
          <a:p xmlns:a="http://schemas.openxmlformats.org/drawingml/2006/main">
            <a:r>
              <a:t>https://jmeter.apache.org/usermanual/index.html</a:t>
            </a:r>
          </a:p>
          <a:p xmlns:a="http://schemas.openxmlformats.org/drawingml/2006/main">
            <a:r>
              <a:t>https://grafana.com/docs/k6/latest/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khảo sát tính năng, không phải benchmark của nhóm. Cả bốn có phiên bản nguồn mở cho chạy local. Sản phẩm cloud, Enterprise và tính năng bổ sung có điều kiện riêng. Ngôn ngữ và giao diện khác nhau ảnh hưởng cách học và bảo trì, không tự chứng minh công cụ nào nhanh hơn. k6 không phải Node.js đầy đủ. Gatling có cả JavaScript/TypeScript, không chỉ Scala/Java. Node.js dùng để khởi chạy SDK JS/TS của Gatling, engine vẫn trên JVM.</a:t>
            </a:r>
          </a:p>
          <a:p xmlns:a="http://schemas.openxmlformats.org/drawingml/2006/main">
            <a:r>
              <a:t/>
            </a:r>
          </a:p>
          <a:p xmlns:a="http://schemas.openxmlformats.org/drawingml/2006/main">
            <a:r>
              <a:t>Nguồn nội bộ: docs/Tool_Analysis_and_Theory.md</a:t>
            </a:r>
          </a:p>
          <a:p xmlns:a="http://schemas.openxmlformats.org/drawingml/2006/main">
            <a:r>
              <a:t>Nguồn kiểm chứng:</a:t>
            </a:r>
          </a:p>
          <a:p xmlns:a="http://schemas.openxmlformats.org/drawingml/2006/main">
            <a:r>
              <a:t>https://grafana.com/docs/k6/latest/using-k6/javascript-typescript-compatibility-mode/</a:t>
            </a:r>
          </a:p>
          <a:p xmlns:a="http://schemas.openxmlformats.org/drawingml/2006/main">
            <a:r>
              <a:t>https://jmeter.apache.org/usermanual/get-started.html</a:t>
            </a:r>
          </a:p>
          <a:p xmlns:a="http://schemas.openxmlformats.org/drawingml/2006/main">
            <a:r>
              <a:t>https://docs.locust.io/en/stable/writing-a-locustfile.html</a:t>
            </a:r>
          </a:p>
          <a:p xmlns:a="http://schemas.openxmlformats.org/drawingml/2006/main">
            <a:r>
              <a:t>https://docs.gatling.io/reference/deploy/install-local/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Recorder HTTP(S) của JMeter ghi traffic qua proxy, không đồng nghĩa một nút import HAR mặc định. k6 Studio hỗ trợ ghi trình duyệt và sinh test từ HAR. Các script demo nhóm hiện dựa vào HAR và source đã review, không tuyên bố đã dùng mọi recorder trong bảng. Dữ liệu động của mỗi phiên phải extract rồi inject đúng request. Mọi source do recorder hoặc AI tạo cần kiểm tra credential, token, workload và checkpoints.</a:t>
            </a:r>
          </a:p>
          <a:p xmlns:a="http://schemas.openxmlformats.org/drawingml/2006/main">
            <a:r>
              <a:t/>
            </a:r>
          </a:p>
          <a:p xmlns:a="http://schemas.openxmlformats.org/drawingml/2006/main">
            <a:r>
              <a:t>Nguồn nội bộ: docs/Tool_Analysis_and_Theory.md</a:t>
            </a:r>
          </a:p>
          <a:p xmlns:a="http://schemas.openxmlformats.org/drawingml/2006/main">
            <a:r>
              <a:t>Nguồn kiểm chứng:</a:t>
            </a:r>
          </a:p>
          <a:p xmlns:a="http://schemas.openxmlformats.org/drawingml/2006/main">
            <a:r>
              <a:t>https://grafana.com/docs/k6/latest/k6-studio/components/recorder/</a:t>
            </a:r>
          </a:p>
          <a:p xmlns:a="http://schemas.openxmlformats.org/drawingml/2006/main">
            <a:r>
              <a:t>https://jmeter.apache.org/usermanual/jmeter_proxy_step_by_step.html</a:t>
            </a:r>
          </a:p>
          <a:p xmlns:a="http://schemas.openxmlformats.org/drawingml/2006/main">
            <a:r>
              <a:t>https://docs.locust.io/en/stable/writing-a-locustfile.html</a:t>
            </a:r>
          </a:p>
          <a:p xmlns:a="http://schemas.openxmlformats.org/drawingml/2006/main">
            <a:r>
              <a:t>https://docs.gatling.io/reference/script/http/recorder/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Locust hỗ trợ --html, không bắt buộc plugin để xuất HTML report. JMeter có Duration Assertion tích hợp để giới hạn thời gian từng sample, khác điều kiện p95 tổng hợp. Muốn chặn CI theo p95/error rate cần bước đánh giá phù hợp, không nói mọi assertion đều cần plugin. Locust có events.quitting và process_exit_code cho policy tổng hợp. Gatling có assertions. Không có benchmark chung để xếp hạng tốc độ hoặc RAM/VU trong bài này.</a:t>
            </a:r>
          </a:p>
          <a:p xmlns:a="http://schemas.openxmlformats.org/drawingml/2006/main">
            <a:r>
              <a:t/>
            </a:r>
          </a:p>
          <a:p xmlns:a="http://schemas.openxmlformats.org/drawingml/2006/main">
            <a:r>
              <a:t>Nguồn nội bộ: docs/Tool_Analysis_and_Theory.md</a:t>
            </a:r>
          </a:p>
          <a:p xmlns:a="http://schemas.openxmlformats.org/drawingml/2006/main">
            <a:r>
              <a:t>Nguồn kiểm chứng:</a:t>
            </a:r>
          </a:p>
          <a:p xmlns:a="http://schemas.openxmlformats.org/drawingml/2006/main">
            <a:r>
              <a:t>https://grafana.com/docs/k6/latest/results-output/web-dashboard/</a:t>
            </a:r>
          </a:p>
          <a:p xmlns:a="http://schemas.openxmlformats.org/drawingml/2006/main">
            <a:r>
              <a:t>https://jmeter.apache.org/usermanual/generating-dashboard.html</a:t>
            </a:r>
          </a:p>
          <a:p xmlns:a="http://schemas.openxmlformats.org/drawingml/2006/main">
            <a:r>
              <a:t>https://jmeter.apache.org/usermanual/component_reference.html#Duration_Assertion</a:t>
            </a:r>
          </a:p>
          <a:p xmlns:a="http://schemas.openxmlformats.org/drawingml/2006/main">
            <a:r>
              <a:t>https://docs.locust.io/en/stable/configuration.html</a:t>
            </a:r>
          </a:p>
          <a:p xmlns:a="http://schemas.openxmlformats.org/drawingml/2006/main">
            <a:r>
              <a:t>https://docs.locust.io/en/stable/running-without-web-ui.html</a:t>
            </a:r>
          </a:p>
          <a:p xmlns:a="http://schemas.openxmlformats.org/drawingml/2006/main">
            <a:r>
              <a:t>https://github.com/gatling/gatling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Mức độ phù hợp là quyết định cho nguồn lực và sản phẩm bài seminar, không phải kết luận Locust/Gatling kém. Cộng đồng và tài liệu là tiêu chí hỗ trợ nhưng không xếp hạng bằng cảm nhận. Đường học phụ thuộc kỹ năng sẵn có. LLM có thể hỗ trợ cả code và XML, không bảo đảm output đúng cho bất kỳ công cụ nào. Nhóm kết hợp source audit và runtime evidence thay vì chấm theo tên nhà cung cấp. Mọi công cụ bổ sung đều cần thời gian chuẩn hóa workload và dữ liệu.</a:t>
            </a:r>
          </a:p>
          <a:p xmlns:a="http://schemas.openxmlformats.org/drawingml/2006/main">
            <a:r>
              <a:t/>
            </a:r>
          </a:p>
          <a:p xmlns:a="http://schemas.openxmlformats.org/drawingml/2006/main">
            <a:r>
              <a:t>Nguồn nội bộ: docs/Tool_Analysis_and_Theory.md</a:t>
            </a:r>
          </a:p>
          <a:p xmlns:a="http://schemas.openxmlformats.org/drawingml/2006/main">
            <a:r>
              <a:t>Nguồn kiểm chứng:</a:t>
            </a:r>
          </a:p>
          <a:p xmlns:a="http://schemas.openxmlformats.org/drawingml/2006/main">
            <a:r>
              <a:t>https://github.com/minhthang2k5/eshop-sut/blob/main/submission/Bao_cao_seminar_Performance_Testing.md</a:t>
            </a:r>
          </a:p>
          <a:p xmlns:a="http://schemas.openxmlformats.org/drawingml/2006/main">
            <a:r>
              <a:t>https://docs.locust.io/en/stable/what-is-locust.html</a:t>
            </a:r>
          </a:p>
          <a:p xmlns:a="http://schemas.openxmlformats.org/drawingml/2006/main">
            <a:r>
              <a:t>https://github.com/gatling/gatling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 phí hạ tầng và thời gian bảo trì vẫn tồn tại khi công cụ có bản nguồn mở. Kiểm tra giấy phép của đúng thành phần và điều kiện của dịch vụ đi kèm. Không suy ra chất lượng công cụ từ số sao hoặc một đánh giá độ khó chung. Những tiêu chí này bổ sung cho tính năng kỹ thuật và điều kiện thực nghiệm, không thay thế benchmark công bằng.</a:t>
            </a:r>
          </a:p>
          <a:p xmlns:a="http://schemas.openxmlformats.org/drawingml/2006/main">
            <a:r>
              <a:t/>
            </a:r>
          </a:p>
          <a:p xmlns:a="http://schemas.openxmlformats.org/drawingml/2006/main">
            <a:r>
              <a:t>Nguồn nội bộ: docs/Tool_Analysis_and_Theory.md</a:t>
            </a:r>
          </a:p>
          <a:p xmlns:a="http://schemas.openxmlformats.org/drawingml/2006/main">
            <a:r>
              <a:t>Nguồn kiểm chứng:</a:t>
            </a:r>
          </a:p>
          <a:p xmlns:a="http://schemas.openxmlformats.org/drawingml/2006/main">
            <a:r>
              <a:t>https://github.com/grafana/k6</a:t>
            </a:r>
          </a:p>
          <a:p xmlns:a="http://schemas.openxmlformats.org/drawingml/2006/main">
            <a:r>
              <a:t>https://jmeter.apache.org/</a:t>
            </a:r>
          </a:p>
          <a:p xmlns:a="http://schemas.openxmlformats.org/drawingml/2006/main">
            <a:r>
              <a:t>https://github.com/locustio/locust</a:t>
            </a:r>
          </a:p>
          <a:p xmlns:a="http://schemas.openxmlformats.org/drawingml/2006/main">
            <a:r>
              <a:t>https://github.com/gatling/gatling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k6 là runtime thực thi script, không phải Node.js đầy đủ. Không đặt HTTP request trong init. Script của A sử dụng SharedArray và token riêng cho từng VU.</a:t>
            </a:r>
          </a:p>
          <a:p xmlns:a="http://schemas.openxmlformats.org/drawingml/2006/main">
            <a:r>
              <a:t/>
            </a:r>
          </a:p>
          <a:p xmlns:a="http://schemas.openxmlformats.org/drawingml/2006/main">
            <a:r>
              <a:t>Nguồn:</a:t>
            </a:r>
          </a:p>
          <a:p xmlns:a="http://schemas.openxmlformats.org/drawingml/2006/main">
            <a:r>
              <a:t>https://grafana.com/docs/k6/latest/using-k6/test-lifecycle/</a:t>
            </a:r>
          </a:p>
          <a:p xmlns:a="http://schemas.openxmlformats.org/drawingml/2006/main">
            <a:r>
              <a:t>https://github.com/minhthang2k5/eshop-sut/blob/main/performance/k6/README.md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K6 chạy trên local SUT. Việc reset DB thay đổi dữ liệu nên chỉ dùng môi trường test. Runner bash trong repo phù hợp shell tương ứng.</a:t>
            </a:r>
          </a:p>
          <a:p xmlns:a="http://schemas.openxmlformats.org/drawingml/2006/main">
            <a:r>
              <a:t>Tham khảo: bash performance/k6/run-smoke.sh. Đối chiếu đường dẫn đúng từ thư mục gốc thực tế.</a:t>
            </a:r>
          </a:p>
          <a:p xmlns:a="http://schemas.openxmlformats.org/drawingml/2006/main">
            <a:r>
              <a:t/>
            </a:r>
          </a:p>
          <a:p xmlns:a="http://schemas.openxmlformats.org/drawingml/2006/main">
            <a:r>
              <a:t>Nguồn:</a:t>
            </a:r>
          </a:p>
          <a:p xmlns:a="http://schemas.openxmlformats.org/drawingml/2006/main">
            <a:r>
              <a:t>https://github.com/minhthang2k5/eshop-sut/blob/main/performance/k6/README.md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Record/playback ở phần API là tái thực hiện nghiệp vụ qua source, không mô tả k6 tự có recorder GUI. Không dùng credential production.</a:t>
            </a:r>
          </a:p>
          <a:p xmlns:a="http://schemas.openxmlformats.org/drawingml/2006/main">
            <a:r>
              <a:t/>
            </a:r>
          </a:p>
          <a:p xmlns:a="http://schemas.openxmlformats.org/drawingml/2006/main">
            <a:r>
              <a:t>Nguồn:</a:t>
            </a:r>
          </a:p>
          <a:p xmlns:a="http://schemas.openxmlformats.org/drawingml/2006/main">
            <a:r>
              <a:t>https://github.com/minhthang2k5/eshop-sut/blob/main/performance/k6/README.md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driven có thể dùng file, bảng hoặc tập giá trị để chạy nhiều dữ liệu đầu vào. Parameterization là cơ chế đưa dữ liệu vào, không bắt buộc ngẫu nhiên. Correlation cần extraction rồi dùng đúng phiên của VU, tránh token ghi cứng từ HAR. Nếu không có request sau dùng orderId thì orderId là checkpoint, chưa phải correlation giữa hai request.</a:t>
            </a:r>
          </a:p>
          <a:p xmlns:a="http://schemas.openxmlformats.org/drawingml/2006/main">
            <a:r>
              <a:t/>
            </a:r>
          </a:p>
          <a:p xmlns:a="http://schemas.openxmlformats.org/drawingml/2006/main">
            <a:r>
              <a:t>Nguồn:</a:t>
            </a:r>
          </a:p>
          <a:p xmlns:a="http://schemas.openxmlformats.org/drawingml/2006/main">
            <a:r>
              <a:t>https://github.com/minhthang2k5/eshop-sut/blob/main/performance/k6/README.md</a:t>
            </a:r>
          </a:p>
          <a:p xmlns:a="http://schemas.openxmlformats.org/drawingml/2006/main">
            <a:r>
              <a:t>https://github.com/minhthang2k5/eshop-sut/blob/main/performance/jmeter/README.md</a:t>
            </a:r>
          </a:p>
          <a:p xmlns:a="http://schemas.openxmlformats.org/drawingml/2006/main">
            <a:r>
              <a:t>https://grafana.com/docs/k6/latest/examples/correlation-and-dynamic-data/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con số ở đây là profile report thực tế, khác kế hoạch ban đầu 50–400/500 VU. Giữ đúng run ID khi trình bày.</a:t>
            </a:r>
          </a:p>
          <a:p xmlns:a="http://schemas.openxmlformats.org/drawingml/2006/main">
            <a:r>
              <a:t/>
            </a:r>
          </a:p>
          <a:p xmlns:a="http://schemas.openxmlformats.org/drawingml/2006/main">
            <a:r>
              <a:t>Nguồn:</a:t>
            </a:r>
          </a:p>
          <a:p xmlns:a="http://schemas.openxmlformats.org/drawingml/2006/main">
            <a:r>
              <a:t>https://github.com/minhthang2k5/eshop-sut/blob/main/performance/k6/README.md</a:t>
            </a:r>
          </a:p>
          <a:p xmlns:a="http://schemas.openxmlformats.org/drawingml/2006/main">
            <a:r>
              <a:t>https://github.com/minhthang2k5/eshop-sut/blob/main/performance/k6/reports/03-stress-test-report.md</a:t>
            </a:r>
          </a:p>
          <a:p xmlns:a="http://schemas.openxmlformats.org/drawingml/2006/main">
            <a:r>
              <a:t>https://github.com/minhthang2k5/eshop-sut/blob/main/performance/k6/reports/04-spike-test-report.md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backend/server.js có name LIKE với wildcard đầu và cuối, còn Checkout INSERT orders. Đây là hướng kiểm tra, chưa chứng minh đó là nút thắt trong mọi run. Node.js có Event Loop cho JavaScript và có Worker Pool cho một số công việc, không nên mô tả toàn tiến trình luôn chỉ có một thread. SQLite async callback không tự chứng minh event loop đang bị block. Không dùng các mốc dự đoán 100/200/300/500 VU làm kết quả thực nghiệm. Tải gãy phải xác định từ metric của run và telemetry cùng thời gian.</a:t>
            </a:r>
          </a:p>
          <a:p xmlns:a="http://schemas.openxmlformats.org/drawingml/2006/main">
            <a:r>
              <a:t/>
            </a:r>
          </a:p>
          <a:p xmlns:a="http://schemas.openxmlformats.org/drawingml/2006/main">
            <a:r>
              <a:t>Nguồn nội bộ: docs/Tool_Analysis_and_Theory.md</a:t>
            </a:r>
          </a:p>
          <a:p xmlns:a="http://schemas.openxmlformats.org/drawingml/2006/main">
            <a:r>
              <a:t>Nguồn kiểm chứng:</a:t>
            </a:r>
          </a:p>
          <a:p xmlns:a="http://schemas.openxmlformats.org/drawingml/2006/main">
            <a:r>
              <a:t>https://github.com/minhthang2k5/eshop-sut/blob/main/backend/server.js</a:t>
            </a:r>
          </a:p>
          <a:p xmlns:a="http://schemas.openxmlformats.org/drawingml/2006/main">
            <a:r>
              <a:t>https://nodejs.org/learn/asynchronous-work/dont-block-the-event-loop</a:t>
            </a:r>
          </a:p>
          <a:p xmlns:a="http://schemas.openxmlformats.org/drawingml/2006/main">
            <a:r>
              <a:t>https://sqlite.org/wal.html</a:t>
            </a:r>
          </a:p>
          <a:p xmlns:a="http://schemas.openxmlformats.org/drawingml/2006/main">
            <a:r>
              <a:t>https://sqlite.org/optoverview.html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WAL, reader nhìn snapshot nhất quán trong khi writer append log. Checkpoint chuyển nội dung WAL vào DB chính, không có nghĩa mọi reader luôn bị block. Long-running reader có thể cản tiến độ checkpoint. SQL PRAGMA journal_mode=WAL bật WAL và cần kiểm tra kết quả trả về. PRAGMA wal_checkpoint không phải lệnh luôn force toàn bộ WAL xuống DB bất kể reader. WAL không đảm bảo mọi workload nhanh hơn và không xóa giới hạn một writer. Chỉ thay cấu hình trên môi trường test đã được cho phép.</a:t>
            </a:r>
          </a:p>
          <a:p xmlns:a="http://schemas.openxmlformats.org/drawingml/2006/main">
            <a:r>
              <a:t/>
            </a:r>
          </a:p>
          <a:p xmlns:a="http://schemas.openxmlformats.org/drawingml/2006/main">
            <a:r>
              <a:t>Nguồn nội bộ: docs/Tool_Analysis_and_Theory.md</a:t>
            </a:r>
          </a:p>
          <a:p xmlns:a="http://schemas.openxmlformats.org/drawingml/2006/main">
            <a:r>
              <a:t>Nguồn kiểm chứng:</a:t>
            </a:r>
          </a:p>
          <a:p xmlns:a="http://schemas.openxmlformats.org/drawingml/2006/main">
            <a:r>
              <a:t>https://sqlite.org/wal.html</a:t>
            </a:r>
          </a:p>
          <a:p xmlns:a="http://schemas.openxmlformats.org/drawingml/2006/main">
            <a:r>
              <a:t>https://github.com/minhthang2k5/eshop-sut/blob/main/tuned-backend/database.js</a:t>
            </a:r>
          </a:p>
          <a:p xmlns:a="http://schemas.openxmlformats.org/drawingml/2006/main">
            <a:r>
              <a:t>https://sqlite.org/isolation.html</a:t>
            </a:r>
          </a:p>
          <a:p xmlns:a="http://schemas.openxmlformats.org/drawingml/2006/main">
            <a:r>
              <a:t>https://sqlite.org/pragma.html#pragma_wal_checkpoint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Bản tuned tạo idx_products_name trên products(name), nhưng query vẫn có wildcard đầu. Không nên kết luận index chắc chắn tăng tốc tìm substring. EXPLAIN QUERY PLAN cần dùng đúng SQL, tham số và dữ liệu. Một full scan trên 5 sản phẩm chưa chắc là bottleneck. Phân biệt query scan với việc index tồn tại. Khi thay cả WAL và index, một lần baseline trước/sau chưa tách được tác động riêng. So sánh thêm lỗi và correctness, không chỉ p95.</a:t>
            </a:r>
          </a:p>
          <a:p xmlns:a="http://schemas.openxmlformats.org/drawingml/2006/main">
            <a:r>
              <a:t/>
            </a:r>
          </a:p>
          <a:p xmlns:a="http://schemas.openxmlformats.org/drawingml/2006/main">
            <a:r>
              <a:t>Nguồn nội bộ: docs/Tool_Analysis_and_Theory.md</a:t>
            </a:r>
          </a:p>
          <a:p xmlns:a="http://schemas.openxmlformats.org/drawingml/2006/main">
            <a:r>
              <a:t>Nguồn kiểm chứng:</a:t>
            </a:r>
          </a:p>
          <a:p xmlns:a="http://schemas.openxmlformats.org/drawingml/2006/main">
            <a:r>
              <a:t>https://sqlite.org/optoverview.html#the_like_optimization</a:t>
            </a:r>
          </a:p>
          <a:p xmlns:a="http://schemas.openxmlformats.org/drawingml/2006/main">
            <a:r>
              <a:t>https://sqlite.org/eqp.html</a:t>
            </a:r>
          </a:p>
          <a:p xmlns:a="http://schemas.openxmlformats.org/drawingml/2006/main">
            <a:r>
              <a:t>https://github.com/minhthang2k5/eshop-sut/blob/main/tuned-backend/database.js</a:t>
            </a:r>
          </a:p>
          <a:p xmlns:a="http://schemas.openxmlformats.org/drawingml/2006/main">
            <a:r>
              <a:t>https://github.com/minhthang2k5/eshop-sut/blob/main/tuned-backend/server.js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do thành viên tự thực hiện. Chia clip thành các chương cài đặt, chức năng cơ bản và luồng phức tạp. Sau khi có link YouTube, sửa ô LINK_VIDEO_1 và gắn hyperlink. Không có video nhúng trong bản này.</a:t>
            </a:r>
          </a:p>
          <a:p xmlns:a="http://schemas.openxmlformats.org/drawingml/2006/main">
            <a:r>
              <a:t>Khi trở lại slide tiếp theo, giải thích kết quả và giới hạn số liệu.</a:t>
            </a:r>
          </a:p>
          <a:p xmlns:a="http://schemas.openxmlformats.org/drawingml/2006/main">
            <a:r>
              <a:t/>
            </a:r>
          </a:p>
          <a:p xmlns:a="http://schemas.openxmlformats.org/drawingml/2006/main">
            <a:r>
              <a:t>Nguồn:</a:t>
            </a:r>
          </a:p>
          <a:p xmlns:a="http://schemas.openxmlformats.org/drawingml/2006/main">
            <a:r>
              <a:t>https://github.com/minhthang2k5/eshop-sut/blob/main/performance/k6/README.md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baseline-20261022-110446-eGLTX1. Cần phân biệt số tổng steady với toàn run và chỉ số từng endpoint. Kết quả một lần đo chưa xác nhận độ lặp lại.</a:t>
            </a:r>
          </a:p>
          <a:p xmlns:a="http://schemas.openxmlformats.org/drawingml/2006/main">
            <a:r>
              <a:t/>
            </a:r>
          </a:p>
          <a:p xmlns:a="http://schemas.openxmlformats.org/drawingml/2006/main">
            <a:r>
              <a:t>Nguồn:</a:t>
            </a:r>
          </a:p>
          <a:p xmlns:a="http://schemas.openxmlformats.org/drawingml/2006/main">
            <a:r>
              <a:t>https://github.com/minhthang2k5/eshop-sut/blob/main/performance/k6/reports/02-baseline-test-report.md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Stress run stress-20261022-181718-lx8F4c. Spike run spike-20261022-190641-UgVeF4. Đây là môi trường generator và SUT chung máy. Không quy kết toàn bộ lỗi cho SQLite nếu thiếu telemetry phân tách.</a:t>
            </a:r>
          </a:p>
          <a:p xmlns:a="http://schemas.openxmlformats.org/drawingml/2006/main">
            <a:r>
              <a:t/>
            </a:r>
          </a:p>
          <a:p xmlns:a="http://schemas.openxmlformats.org/drawingml/2006/main">
            <a:r>
              <a:t>Nguồn:</a:t>
            </a:r>
          </a:p>
          <a:p xmlns:a="http://schemas.openxmlformats.org/drawingml/2006/main">
            <a:r>
              <a:t>https://github.com/minhthang2k5/eshop-sut/blob/main/performance/k6/reports/03-stress-test-report.md</a:t>
            </a:r>
          </a:p>
          <a:p xmlns:a="http://schemas.openxmlformats.org/drawingml/2006/main">
            <a:r>
              <a:t>https://github.com/minhthang2k5/eshop-sut/blob/main/performance/k6/reports/04-spike-test-report.md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sau baseline-20261023-084311-TSxg2P. Report ghi WAL/index theo source và thông tin người thực hiện, chưa có snapshot DB/build để chứng minh quan hệ nhân quả. Cả hai là một lần đo. Không kết luận WAL chắc chắn tạo ra toàn bộ mức chênh.</a:t>
            </a:r>
          </a:p>
          <a:p xmlns:a="http://schemas.openxmlformats.org/drawingml/2006/main">
            <a:r>
              <a:t/>
            </a:r>
          </a:p>
          <a:p xmlns:a="http://schemas.openxmlformats.org/drawingml/2006/main">
            <a:r>
              <a:t>Nguồn:</a:t>
            </a:r>
          </a:p>
          <a:p xmlns:a="http://schemas.openxmlformats.org/drawingml/2006/main">
            <a:r>
              <a:t>https://github.com/minhthang2k5/eshop-sut/blob/main/performance/k6/reports/02-baseline-test-report.md</a:t>
            </a:r>
          </a:p>
          <a:p xmlns:a="http://schemas.openxmlformats.org/drawingml/2006/main">
            <a:r>
              <a:t>https://github.com/minhthang2k5/eshop-sut/blob/main/performance/k6/reports/06-tuned-baseline-test-report.md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Chỗ dành cho thành viên A điền bài tập đúng với phần thực nghiệm của mình. Không nhận nội dung tự sinh làm bài tập đã được thành viên xác nhận.</a:t>
            </a:r>
          </a:p>
          <a:p xmlns:a="http://schemas.openxmlformats.org/drawingml/2006/main">
            <a:r>
              <a:t/>
            </a:r>
          </a:p>
          <a:p xmlns:a="http://schemas.openxmlformats.org/drawingml/2006/main">
            <a:r>
              <a:t>Nguồn:</a:t>
            </a:r>
          </a:p>
          <a:p xmlns:a="http://schemas.openxmlformats.org/drawingml/2006/main">
            <a:r>
              <a:t>https://github.com/minhthang2k5/eshop-sut/blob/main/submission/Bao_cao_seminar_Performance_Testing.md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cây test plan trước khi mở video. Dùng GUI để dựng và kiểm tra, CLI cho lần chạy tạo tải và sinh report.</a:t>
            </a:r>
          </a:p>
          <a:p xmlns:a="http://schemas.openxmlformats.org/drawingml/2006/main">
            <a:r>
              <a:t/>
            </a:r>
          </a:p>
          <a:p xmlns:a="http://schemas.openxmlformats.org/drawingml/2006/main">
            <a:r>
              <a:t>Nguồn:</a:t>
            </a:r>
          </a:p>
          <a:p xmlns:a="http://schemas.openxmlformats.org/drawingml/2006/main">
            <a:r>
              <a:t>https://github.com/minhthang2k5/eshop-sut/blob/main/performance/jmeter/README.md</a:t>
            </a:r>
          </a:p>
          <a:p xmlns:a="http://schemas.openxmlformats.org/drawingml/2006/main">
            <a:r>
              <a:t>https://jmeter.apache.org/usermanual/index.html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Lệnh mẫu: jmeter -n -t performance/jmeter/eshop_workload.jmx -l results.jtl -e -o report. Dùng thư mục report mới, không trộn output các lần chạy. Trên Windows dùng jmeter.bat nếu môi trường yêu cầu.</a:t>
            </a:r>
          </a:p>
          <a:p xmlns:a="http://schemas.openxmlformats.org/drawingml/2006/main">
            <a:r>
              <a:t/>
            </a:r>
          </a:p>
          <a:p xmlns:a="http://schemas.openxmlformats.org/drawingml/2006/main">
            <a:r>
              <a:t>Nguồn:</a:t>
            </a:r>
          </a:p>
          <a:p xmlns:a="http://schemas.openxmlformats.org/drawingml/2006/main">
            <a:r>
              <a:t>https://github.com/minhthang2k5/eshop-sut/blob/main/performance/jmeter/README.md</a:t>
            </a:r>
          </a:p>
          <a:p xmlns:a="http://schemas.openxmlformats.org/drawingml/2006/main">
            <a:r>
              <a:t>https://jmeter.apache.org/usermanual/index.html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tham chiếu có 50 threads, lịch 300 giây gồm ramp 10 giây. Cửa sổ action quan sát là 296,748 giây. Đây là khác biệt quan trọng so với steady của k6.</a:t>
            </a:r>
          </a:p>
          <a:p xmlns:a="http://schemas.openxmlformats.org/drawingml/2006/main">
            <a:r>
              <a:t/>
            </a:r>
          </a:p>
          <a:p xmlns:a="http://schemas.openxmlformats.org/drawingml/2006/main">
            <a:r>
              <a:t>Nguồn:</a:t>
            </a:r>
          </a:p>
          <a:p xmlns:a="http://schemas.openxmlformats.org/drawingml/2006/main">
            <a:r>
              <a:t>https://github.com/minhthang2k5/eshop-sut/blob/main/performance/jmeter/README.md</a:t>
            </a:r>
          </a:p>
          <a:p xmlns:a="http://schemas.openxmlformats.org/drawingml/2006/main">
            <a:r>
              <a:t>https://jmeter.apache.org/usermanual/index.html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 plan hiện tại dùng Regular Expression Extractor theo README. Không khẳng định recorder đã tạo toàn bộ .jmx nếu chưa có evidence ghi hình. Video cần chỉ rõ bước ghi hoặc dựng lại request và phát lại.</a:t>
            </a:r>
          </a:p>
          <a:p xmlns:a="http://schemas.openxmlformats.org/drawingml/2006/main">
            <a:r>
              <a:t/>
            </a:r>
          </a:p>
          <a:p xmlns:a="http://schemas.openxmlformats.org/drawingml/2006/main">
            <a:r>
              <a:t>Nguồn:</a:t>
            </a:r>
          </a:p>
          <a:p xmlns:a="http://schemas.openxmlformats.org/drawingml/2006/main">
            <a:r>
              <a:t>https://github.com/minhthang2k5/eshop-sut/blob/main/performance/jmeter/README.md</a:t>
            </a:r>
          </a:p>
          <a:p xmlns:a="http://schemas.openxmlformats.org/drawingml/2006/main">
            <a:r>
              <a:t>https://jmeter.apache.org/usermanual/index.html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do thành viên tự thực hiện. Chia clip thành các chương cài đặt, chức năng cơ bản và luồng phức tạp. Sau khi có link YouTube, sửa ô LINK_VIDEO_2 và gắn hyperlink. Không có video nhúng trong bản này.</a:t>
            </a:r>
          </a:p>
          <a:p xmlns:a="http://schemas.openxmlformats.org/drawingml/2006/main">
            <a:r>
              <a:t>Khi trở lại slide tiếp theo, giải thích kết quả và giới hạn số liệu.</a:t>
            </a:r>
          </a:p>
          <a:p xmlns:a="http://schemas.openxmlformats.org/drawingml/2006/main">
            <a:r>
              <a:t/>
            </a:r>
          </a:p>
          <a:p xmlns:a="http://schemas.openxmlformats.org/drawingml/2006/main">
            <a:r>
              <a:t>Nguồn:</a:t>
            </a:r>
          </a:p>
          <a:p xmlns:a="http://schemas.openxmlformats.org/drawingml/2006/main">
            <a:r>
              <a:t>https://github.com/minhthang2k5/eshop-sut/blob/main/performance/jmeter/README.md</a:t>
            </a:r>
          </a:p>
          <a:p xmlns:a="http://schemas.openxmlformats.org/drawingml/2006/main">
            <a:r>
              <a:t>https://jmeter.apache.org/usermanual/index.html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baseline-summary.json. Toàn bài có 5.190 samples, p99 23 ms. Không gộp số toàn bài vào bảng action. Percentile theo nearest rank như file summary.</a:t>
            </a:r>
          </a:p>
          <a:p xmlns:a="http://schemas.openxmlformats.org/drawingml/2006/main">
            <a:r>
              <a:t/>
            </a:r>
          </a:p>
          <a:p xmlns:a="http://schemas.openxmlformats.org/drawingml/2006/main">
            <a:r>
              <a:t>Nguồn:</a:t>
            </a:r>
          </a:p>
          <a:p xmlns:a="http://schemas.openxmlformats.org/drawingml/2006/main">
            <a:r>
              <a:t>https://github.com/minhthang2k5/eshop-sut/blob/main/performance/jmeter/results/baseline-summary.json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comparison_d2_vs_d3.md. Hai run chưa đủ tương đương để xếp hạng công cụ. Không quy chênh lệch cho connection pooling nếu chưa kiểm chứng.</a:t>
            </a:r>
          </a:p>
          <a:p xmlns:a="http://schemas.openxmlformats.org/drawingml/2006/main">
            <a:r>
              <a:t/>
            </a:r>
          </a:p>
          <a:p xmlns:a="http://schemas.openxmlformats.org/drawingml/2006/main">
            <a:r>
              <a:t>Nguồn:</a:t>
            </a:r>
          </a:p>
          <a:p xmlns:a="http://schemas.openxmlformats.org/drawingml/2006/main">
            <a:r>
              <a:t>https://github.com/minhthang2k5/eshop-sut/blob/main/performance/jmeter/comparison_d2_vs_d3.md</a:t>
            </a:r>
          </a:p>
          <a:p xmlns:a="http://schemas.openxmlformats.org/drawingml/2006/main">
            <a:r>
              <a:t>HTTP connection reuse và Keep-Alive cần kiểm tra theo cấu hình của cả hai công cụ. JMeter không mặc định buộc tạo kết nối mới cho mọi request. Chênh lệch percentile không có một mức dung sai chung nếu workload, cửa sổ đo và môi trường khác nhau.</a:t>
            </a:r>
          </a:p>
          <a:p xmlns:a="http://schemas.openxmlformats.org/drawingml/2006/main">
            <a:r>
              <a:t>https://jmeter.apache.org/usermanual/component_reference.html#HTTP_Request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Chỗ dành cho thành viên B tự điền nội dung dựa trên trải nghiệm của mình.</a:t>
            </a:r>
          </a:p>
          <a:p xmlns:a="http://schemas.openxmlformats.org/drawingml/2006/main">
            <a:r>
              <a:t/>
            </a:r>
          </a:p>
          <a:p xmlns:a="http://schemas.openxmlformats.org/drawingml/2006/main">
            <a:r>
              <a:t>Nguồn:</a:t>
            </a:r>
          </a:p>
          <a:p xmlns:a="http://schemas.openxmlformats.org/drawingml/2006/main">
            <a:r>
              <a:t>https://github.com/minhthang2k5/eshop-sut/blob/main/submission/Bao_cao_seminar_Performance_Testing.md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Manifest trong evidence có 16 entry API, gồm bốn request nghiệp vụ 200. HAR không tự chứng minh toàn bộ API contract. Không đưa HAR chưa redacted lên dịch vụ AI.</a:t>
            </a:r>
          </a:p>
          <a:p xmlns:a="http://schemas.openxmlformats.org/drawingml/2006/main">
            <a:r>
              <a:t/>
            </a:r>
          </a:p>
          <a:p xmlns:a="http://schemas.openxmlformats.org/drawingml/2006/main">
            <a:r>
              <a:t>Nguồn:</a:t>
            </a:r>
          </a:p>
          <a:p xmlns:a="http://schemas.openxmlformats.org/drawingml/2006/main">
            <a:r>
              <a:t>https://github.com/minhthang2k5/eshop-sut/blob/main/submission/Bao_cao_seminar_Performance_Testing.md</a:t>
            </a:r>
          </a:p>
          <a:p xmlns:a="http://schemas.openxmlformats.org/drawingml/2006/main">
            <a:r>
              <a:t>https://developer.chrome.com/docs/devtools/network/reference/</a:t>
            </a:r>
          </a:p>
          <a:p xmlns:a="http://schemas.openxmlformats.org/drawingml/2006/main">
            <a:r>
              <a:t/>
            </a:r>
          </a:p>
          <a:p xmlns:a="http://schemas.openxmlformats.org/drawingml/2006/main">
            <a:r>
              <a:t>Bổ sung: HAR có thể chứa secret ngay cả khi xuất sanitized vì dữ liệu tùy biến trong payload/query vẫn cần kiểm tra. Giữ một bản gốc an toàn và chia sẻ bản redacted. pages có thể tùy chọn. Nội dung các slide HAR kế tiếp dựa trên schema HAR 1.2 và tài liệu DevTools.</a:t>
            </a:r>
          </a:p>
          <a:p xmlns:a="http://schemas.openxmlformats.org/drawingml/2006/main">
            <a:r>
              <a:t>https://github.com/ahmadnassri/har-schema/blob/master/lib/log.json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 là HTTP Archive, dữ liệu JSON thường dùng cấu trúc HAR 1.2. Root có log. Trong log có version, creator, entries và có thể có browser, pages. Mỗi page có id/title/startedDateTime/pageTimings. pageTimings mô tả sự kiện tải trang, khác timings của request. Một thao tác UI thường sinh nhiều entries. Đọc version và kiểm tra cấu trúc trước khi phân tích. Không gọi HAR là test script có sẵn.</a:t>
            </a:r>
          </a:p>
          <a:p xmlns:a="http://schemas.openxmlformats.org/drawingml/2006/main">
            <a:r>
              <a:t/>
            </a:r>
          </a:p>
          <a:p xmlns:a="http://schemas.openxmlformats.org/drawingml/2006/main">
            <a:r>
              <a:t>Nguồn:</a:t>
            </a:r>
          </a:p>
          <a:p xmlns:a="http://schemas.openxmlformats.org/drawingml/2006/main">
            <a:r>
              <a:t>https://github.com/ahmadnassri/har-schema/blob/master/lib/log.json</a:t>
            </a:r>
          </a:p>
          <a:p xmlns:a="http://schemas.openxmlformats.org/drawingml/2006/main">
            <a:r>
              <a:t>https://github.com/ahmadnassri/har-schema/blob/master/lib/page.json</a:t>
            </a:r>
          </a:p>
          <a:p xmlns:a="http://schemas.openxmlformats.org/drawingml/2006/main">
            <a:r>
              <a:t>https://developer.chrome.com/docs/devtools/network/reference/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 entry còn có thể chứa serverIPAddress, connection và trường mở rộng bắt đầu bằng dấu gạch dưới. Các entry có thể chồng lấn theo thời gian vì trình duyệt gửi song song. Không suy ra một flow tuần tự chỉ từ vị trí trong mảng. time dùng millisecond. Dữ liệu không có có thể dùng -1 ở các trường cho phép, cần phân biệt với thời gian 0 ms.</a:t>
            </a:r>
          </a:p>
          <a:p xmlns:a="http://schemas.openxmlformats.org/drawingml/2006/main">
            <a:r>
              <a:t/>
            </a:r>
          </a:p>
          <a:p xmlns:a="http://schemas.openxmlformats.org/drawingml/2006/main">
            <a:r>
              <a:t>Nguồn:</a:t>
            </a:r>
          </a:p>
          <a:p xmlns:a="http://schemas.openxmlformats.org/drawingml/2006/main">
            <a:r>
              <a:t>https://github.com/ahmadnassri/har-schema/blob/master/lib/entry.json</a:t>
            </a:r>
          </a:p>
          <a:p xmlns:a="http://schemas.openxmlformats.org/drawingml/2006/main">
            <a:r>
              <a:t>https://webperfwg.org/specs/HAR/Overview.html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headers và queryString là mảng object name/value, không phải object ánh xạ trực tiếp. postData là tùy chọn. postData.text thường là chuỗi chứa JSON nên cần parse thêm một lớp, sau khi kiểm tra MIME. postData.params phục vụ dạng form phù hợp. Giữ nguyên tên field theo contract, thay credential bằng biến môi trường hoặc dữ liệu test. Không mang nguyên token/cookie cũ vào script.</a:t>
            </a:r>
          </a:p>
          <a:p xmlns:a="http://schemas.openxmlformats.org/drawingml/2006/main">
            <a:r>
              <a:t/>
            </a:r>
          </a:p>
          <a:p xmlns:a="http://schemas.openxmlformats.org/drawingml/2006/main">
            <a:r>
              <a:t>Nguồn:</a:t>
            </a:r>
          </a:p>
          <a:p xmlns:a="http://schemas.openxmlformats.org/drawingml/2006/main">
            <a:r>
              <a:t>https://github.com/ahmadnassri/har-schema/blob/master/lib/request.json</a:t>
            </a:r>
          </a:p>
          <a:p xmlns:a="http://schemas.openxmlformats.org/drawingml/2006/main">
            <a:r>
              <a:t>https://github.com/ahmadnassri/har-schema/blob/master/lib/postData.json</a:t>
            </a:r>
          </a:p>
          <a:p xmlns:a="http://schemas.openxmlformats.org/drawingml/2006/main">
            <a:r>
              <a:t>https://github.com/minhthang2k5/eshop-sut/blob/main/api_specification.md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content.text là tùy chọn. Thiếu text có thể do cách export hoặc response không được giữ lại, không tự chứng minh server trả body rỗng. Nếu encoding=base64 phải giải mã trước khi parse. content.size, bodySize và headerSize có ý nghĩa khác nhau, đặc biệt khi nén. Token/orderId trong HAR là bản ghi quá khứ, script phải lấy lại giá trị runtime. Trạng thái 200 một mình chưa chứng minh nghiệp vụ đúng.</a:t>
            </a:r>
          </a:p>
          <a:p xmlns:a="http://schemas.openxmlformats.org/drawingml/2006/main">
            <a:r>
              <a:t/>
            </a:r>
          </a:p>
          <a:p xmlns:a="http://schemas.openxmlformats.org/drawingml/2006/main">
            <a:r>
              <a:t>Nguồn:</a:t>
            </a:r>
          </a:p>
          <a:p xmlns:a="http://schemas.openxmlformats.org/drawingml/2006/main">
            <a:r>
              <a:t>https://github.com/ahmadnassri/har-schema/blob/master/lib/response.json</a:t>
            </a:r>
          </a:p>
          <a:p xmlns:a="http://schemas.openxmlformats.org/drawingml/2006/main">
            <a:r>
              <a:t>https://github.com/ahmadnassri/har-schema/blob/master/lib/content.json</a:t>
            </a:r>
          </a:p>
          <a:p xmlns:a="http://schemas.openxmlformats.org/drawingml/2006/main">
            <a:r>
              <a:t>https://developer.chrome.com/docs/devtools/network/reference/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Ví dụ giáo dục: blocked=0, dns=0, connect=10, ssl=4, send=1, wait=39, receive=2 ms thì entry.time=52 ms, không phải 56 ms vì ssl đã nằm trong connect. Bỏ qua giá trị -1 khi cộng, không coi là số âm để trừ. So sánh với k6 phải chú ý http_req_duration chỉ cộng sending/waiting/receiving. HAR time còn có thể chứa pha kết nối. Trình duyệt và k6 chạy ở hai thời điểm, điều kiện khác nhau nên không đòi số đo trùng nhau. Tài liệu HAR lịch sử dùng làm tham khảo cấu trúc, không tuyên bố là chuẩn W3C hiện hành.</a:t>
            </a:r>
          </a:p>
          <a:p xmlns:a="http://schemas.openxmlformats.org/drawingml/2006/main">
            <a:r>
              <a:t/>
            </a:r>
          </a:p>
          <a:p xmlns:a="http://schemas.openxmlformats.org/drawingml/2006/main">
            <a:r>
              <a:t>Nguồn:</a:t>
            </a:r>
          </a:p>
          <a:p xmlns:a="http://schemas.openxmlformats.org/drawingml/2006/main">
            <a:r>
              <a:t>https://github.com/ahmadnassri/har-schema/blob/master/lib/timings.json</a:t>
            </a:r>
          </a:p>
          <a:p xmlns:a="http://schemas.openxmlformats.org/drawingml/2006/main">
            <a:r>
              <a:t>https://webperfwg.org/specs/HAR/Overview.html</a:t>
            </a:r>
          </a:p>
          <a:p xmlns:a="http://schemas.openxmlformats.org/drawingml/2006/main">
            <a:r>
              <a:t>https://grafana.com/docs/k6/latest/using-k6/metrics/reference/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fragment minh họa, đã lược các trường bắt buộc khác để dễ học, không phải một file HAR đầy đủ hay kết quả đo EShop. Nếu đặt trong file đầy đủ thì fragment là một phần tử của log.entries. Các giá trị 42, 1, 39 và 2 do nhóm đặt, không lấy từ audit thật. Dòng url cần kiểm tra host/port. queryString chỉ rõ tham số search. Response JSON phải đọc thêm body khi muốn check nội dung sản phẩm.</a:t>
            </a:r>
          </a:p>
          <a:p xmlns:a="http://schemas.openxmlformats.org/drawingml/2006/main">
            <a:r>
              <a:t/>
            </a:r>
          </a:p>
          <a:p xmlns:a="http://schemas.openxmlformats.org/drawingml/2006/main">
            <a:r>
              <a:t>Nguồn:</a:t>
            </a:r>
          </a:p>
          <a:p xmlns:a="http://schemas.openxmlformats.org/drawingml/2006/main">
            <a:r>
              <a:t>https://github.com/ahmadnassri/har-schema/blob/master/lib/entry.json</a:t>
            </a:r>
          </a:p>
          <a:p xmlns:a="http://schemas.openxmlformats.org/drawingml/2006/main">
            <a:r>
              <a:t>https://github.com/ahmadnassri/har-schema/blob/master/lib/request.json</a:t>
            </a:r>
          </a:p>
          <a:p xmlns:a="http://schemas.openxmlformats.org/drawingml/2006/main">
            <a:r>
              <a:t>https://github.com/ahmadnassri/har-schema/blob/master/lib/response.json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Request Search mẫu có thể thành http.get(`${BASE_URL}/api/products?search=${encodeURIComponent(keyword)}`). Cần import http từ k6/http và thêm check status/body theo contract. Với Login thì serialize JSON và giữ Content-Type phù hợp. Recorder hoặc LLM chỉ hỗ trợ khung ban đầu. Kiểm tra SUT, dữ liệu và correlation trước khi smoke. HAR ghi traffic của một phiên nên không đủ xác lập tỉ lệ hành vi hoặc SLO cho toàn hệ thống.</a:t>
            </a:r>
          </a:p>
          <a:p xmlns:a="http://schemas.openxmlformats.org/drawingml/2006/main">
            <a:r>
              <a:t/>
            </a:r>
          </a:p>
          <a:p xmlns:a="http://schemas.openxmlformats.org/drawingml/2006/main">
            <a:r>
              <a:t>Nguồn:</a:t>
            </a:r>
          </a:p>
          <a:p xmlns:a="http://schemas.openxmlformats.org/drawingml/2006/main">
            <a:r>
              <a:t>https://github.com/minhthang2k5/eshop-sut/blob/main/test-web-performance/README.md</a:t>
            </a:r>
          </a:p>
          <a:p xmlns:a="http://schemas.openxmlformats.org/drawingml/2006/main">
            <a:r>
              <a:t>https://developer.chrome.com/docs/devtools/network/reference/</a:t>
            </a:r>
          </a:p>
          <a:p xmlns:a="http://schemas.openxmlformats.org/drawingml/2006/main">
            <a:r>
              <a:t>https://grafana.com/docs/k6/latest/using-k6/http-requests/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thực tế gemini_script_real.js và claude_scipt_real.js. Không suy đoán phiên bản model đã sinh source. LLM có thể sinh endpoint/field sai nên cần kiểm chứng độc lập.</a:t>
            </a:r>
          </a:p>
          <a:p xmlns:a="http://schemas.openxmlformats.org/drawingml/2006/main">
            <a:r>
              <a:t/>
            </a:r>
          </a:p>
          <a:p xmlns:a="http://schemas.openxmlformats.org/drawingml/2006/main">
            <a:r>
              <a:t>Nguồn:</a:t>
            </a:r>
          </a:p>
          <a:p xmlns:a="http://schemas.openxmlformats.org/drawingml/2006/main">
            <a:r>
              <a:t>https://github.com/minhthang2k5/eshop-sut/blob/main/submission/Bao_cao_seminar_Performance_Testing.md</a:t>
            </a:r>
          </a:p>
          <a:p xmlns:a="http://schemas.openxmlformats.org/drawingml/2006/main">
            <a:r>
              <a:t>https://github.com/minhthang2k5/eshop-sut/tree/main/test-web-performance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Lệnh: npm run dev:server và npm run dev:frontend. Frontend localhost:5175, Express audit localhost:4000. Phần audit cơ bản không yêu cầu phiên AI. Không reset DB ngoài môi trường test.</a:t>
            </a:r>
          </a:p>
          <a:p xmlns:a="http://schemas.openxmlformats.org/drawingml/2006/main">
            <a:r>
              <a:t/>
            </a:r>
          </a:p>
          <a:p xmlns:a="http://schemas.openxmlformats.org/drawingml/2006/main">
            <a:r>
              <a:t>Nguồn:</a:t>
            </a:r>
          </a:p>
          <a:p xmlns:a="http://schemas.openxmlformats.org/drawingml/2006/main">
            <a:r>
              <a:t>https://github.com/minhthang2k5/eshop-sut/blob/main/submission/Bao_cao_seminar_Performance_Testing.md</a:t>
            </a:r>
          </a:p>
          <a:p xmlns:a="http://schemas.openxmlformats.org/drawingml/2006/main">
            <a:r>
              <a:t>https://github.com/minhthang2k5/eshop-sut/tree/main/test-web-performance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AST nhận diện được các mẫu hỗ trợ, không chứng minh mọi chương trình JavaScript. Comment hoặc tên biến không thay thế evidence của flow.</a:t>
            </a:r>
          </a:p>
          <a:p xmlns:a="http://schemas.openxmlformats.org/drawingml/2006/main">
            <a:r>
              <a:t/>
            </a:r>
          </a:p>
          <a:p xmlns:a="http://schemas.openxmlformats.org/drawingml/2006/main">
            <a:r>
              <a:t>Nguồn:</a:t>
            </a:r>
          </a:p>
          <a:p xmlns:a="http://schemas.openxmlformats.org/drawingml/2006/main">
            <a:r>
              <a:t>https://github.com/minhthang2k5/eshop-sut/blob/main/submission/Bao_cao_seminar_Performance_Testing.md</a:t>
            </a:r>
          </a:p>
          <a:p xmlns:a="http://schemas.openxmlformats.org/drawingml/2006/main">
            <a:r>
              <a:t>https://github.com/minhthang2k5/eshop-sut/tree/main/test-web-performance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tiêu chí 0 hoặc 1 điểm. Source evidence nhận diện logic, không đồng nghĩa mỗi nhánh đều đã chạy.</a:t>
            </a:r>
          </a:p>
          <a:p xmlns:a="http://schemas.openxmlformats.org/drawingml/2006/main">
            <a:r>
              <a:t/>
            </a:r>
          </a:p>
          <a:p xmlns:a="http://schemas.openxmlformats.org/drawingml/2006/main">
            <a:r>
              <a:t>Nguồn:</a:t>
            </a:r>
          </a:p>
          <a:p xmlns:a="http://schemas.openxmlformats.org/drawingml/2006/main">
            <a:r>
              <a:t>https://github.com/minhthang2k5/eshop-sut/blob/main/submission/Bao_cao_seminar_Performance_Testing.md</a:t>
            </a:r>
          </a:p>
          <a:p xmlns:a="http://schemas.openxmlformats.org/drawingml/2006/main">
            <a:r>
              <a:t>https://github.com/minhthang2k5/eshop-sut/blob/main/docs/rubric_audit.md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Exit 0 chưa đủ nếu summary thiếu, check fail hoặc HTTP request fail. Runtime chỉ xác nhận nhánh đã chạy.</a:t>
            </a:r>
          </a:p>
          <a:p xmlns:a="http://schemas.openxmlformats.org/drawingml/2006/main">
            <a:r>
              <a:t/>
            </a:r>
          </a:p>
          <a:p xmlns:a="http://schemas.openxmlformats.org/drawingml/2006/main">
            <a:r>
              <a:t>Nguồn:</a:t>
            </a:r>
          </a:p>
          <a:p xmlns:a="http://schemas.openxmlformats.org/drawingml/2006/main">
            <a:r>
              <a:t>https://github.com/minhthang2k5/eshop-sut/blob/main/submission/Bao_cao_seminar_Performance_Testing.md</a:t>
            </a:r>
          </a:p>
          <a:p xmlns:a="http://schemas.openxmlformats.org/drawingml/2006/main">
            <a:r>
              <a:t>https://github.com/minhthang2k5/eshop-sut/blob/main/docs/rubric_audit.md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cấu hình gpt-5.6-luna, reasoning medium theo triển khai. Structured output đúng schema chưa chứng minh nội dung đúng. Token login là correlation, orderId ở bước cuối là checkpoint.</a:t>
            </a:r>
          </a:p>
          <a:p xmlns:a="http://schemas.openxmlformats.org/drawingml/2006/main">
            <a:r>
              <a:t/>
            </a:r>
          </a:p>
          <a:p xmlns:a="http://schemas.openxmlformats.org/drawingml/2006/main">
            <a:r>
              <a:t>Nguồn:</a:t>
            </a:r>
          </a:p>
          <a:p xmlns:a="http://schemas.openxmlformats.org/drawingml/2006/main">
            <a:r>
              <a:t>https://github.com/minhthang2k5/eshop-sut/blob/main/submission/Bao_cao_seminar_Performance_Testing.md</a:t>
            </a:r>
          </a:p>
          <a:p xmlns:a="http://schemas.openxmlformats.org/drawingml/2006/main">
            <a:r>
              <a:t>https://github.com/minhthang2k5/eshop-sut/tree/main/test-web-performance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Sau upload: chạy audit, đọc bảng điểm/log, yêu cầu AI nếu cần, duyệt rồi tải scorecard. Ba kịch bản: cài đặt, audit cơ bản và luồng kết hợp AI/duyệt điểm.</a:t>
            </a:r>
          </a:p>
          <a:p xmlns:a="http://schemas.openxmlformats.org/drawingml/2006/main">
            <a:r>
              <a:t>Ảnh gốc: submission/evidence/01-upload.png</a:t>
            </a:r>
          </a:p>
          <a:p xmlns:a="http://schemas.openxmlformats.org/drawingml/2006/main">
            <a:r>
              <a:t/>
            </a:r>
          </a:p>
          <a:p xmlns:a="http://schemas.openxmlformats.org/drawingml/2006/main">
            <a:r>
              <a:t>Nguồn:</a:t>
            </a:r>
          </a:p>
          <a:p xmlns:a="http://schemas.openxmlformats.org/drawingml/2006/main">
            <a:r>
              <a:t>https://github.com/minhthang2k5/eshop-sut/blob/main/submission/Bao_cao_seminar_Performance_Testing.md</a:t>
            </a:r>
          </a:p>
          <a:p xmlns:a="http://schemas.openxmlformats.org/drawingml/2006/main">
            <a:r>
              <a:t>https://github.com/minhthang2k5/eshop-sut/blob/main/submission/evidence/01-upload.png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do thành viên tự thực hiện. Chia clip thành các chương cài đặt, chức năng cơ bản và luồng phức tạp. Sau khi có link YouTube, sửa ô LINK_VIDEO_3 và gắn hyperlink. Không có video nhúng trong bản này.</a:t>
            </a:r>
          </a:p>
          <a:p xmlns:a="http://schemas.openxmlformats.org/drawingml/2006/main">
            <a:r>
              <a:t>Khi trở lại slide tiếp theo, giải thích kết quả và giới hạn số liệu.</a:t>
            </a:r>
          </a:p>
          <a:p xmlns:a="http://schemas.openxmlformats.org/drawingml/2006/main">
            <a:r>
              <a:t/>
            </a:r>
          </a:p>
          <a:p xmlns:a="http://schemas.openxmlformats.org/drawingml/2006/main">
            <a:r>
              <a:t>Nguồn:</a:t>
            </a:r>
          </a:p>
          <a:p xmlns:a="http://schemas.openxmlformats.org/drawingml/2006/main">
            <a:r>
              <a:t>https://github.com/minhthang2k5/eshop-sut/blob/main/submission/Bao_cao_seminar_Performance_Testing.md</a:t>
            </a:r>
          </a:p>
          <a:p xmlns:a="http://schemas.openxmlformats.org/drawingml/2006/main">
            <a:r>
              <a:t>https://github.com/minhthang2k5/eshop-sut/tree/main/test-web-performance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Audit AUD-20261023-E85CDC, 09:50:07 ngày 23/10/2026, UTC+7. Mỗi script 1 VU, 1 iteration. Nhánh khác và chỉ hai request nên không kết luận Claude nhanh hơn Gemini. Checkout chưa chạy trong audit này.</a:t>
            </a:r>
          </a:p>
          <a:p xmlns:a="http://schemas.openxmlformats.org/drawingml/2006/main">
            <a:r>
              <a:t/>
            </a:r>
          </a:p>
          <a:p xmlns:a="http://schemas.openxmlformats.org/drawingml/2006/main">
            <a:r>
              <a:t>Nguồn:</a:t>
            </a:r>
          </a:p>
          <a:p xmlns:a="http://schemas.openxmlformats.org/drawingml/2006/main">
            <a:r>
              <a:t>https://github.com/minhthang2k5/eshop-sut/blob/main/submission/evidence/audit-results.json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do người thực hiện cung cấp. Nội dung ảnh nêu p95 khoảng 86,7 ms và nhánh Detail. Không gán bộ ảnh này cho audit E85CDC hoặc CD3D6B. Ảnh không chứa audit ID/thời điểm rõ ràng.</a:t>
            </a:r>
          </a:p>
          <a:p xmlns:a="http://schemas.openxmlformats.org/drawingml/2006/main">
            <a:r>
              <a:t>Ảnh gốc: submission/evidence/09-ai-review-result.png</a:t>
            </a:r>
          </a:p>
          <a:p xmlns:a="http://schemas.openxmlformats.org/drawingml/2006/main">
            <a:r>
              <a:t/>
            </a:r>
          </a:p>
          <a:p xmlns:a="http://schemas.openxmlformats.org/drawingml/2006/main">
            <a:r>
              <a:t>Nguồn:</a:t>
            </a:r>
          </a:p>
          <a:p xmlns:a="http://schemas.openxmlformats.org/drawingml/2006/main">
            <a:r>
              <a:t>https://github.com/minhthang2k5/eshop-sut/blob/main/submission/Bao_cao_seminar_Performance_Testing.md</a:t>
            </a:r>
          </a:p>
          <a:p xmlns:a="http://schemas.openxmlformats.org/drawingml/2006/main">
            <a:r>
              <a:t>https://github.com/minhthang2k5/eshop-sut/blob/main/submission/evidence/09-ai-review-result.png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Chỉ áp dụng bảng cho output Luna AUD-20261023-CD3D6B, lưu 08:57:54 ngày 23/10. p95 evidence tương ứng khoảng 120,35 và 28,01 ms. Đây là ngưỡng khởi điểm cần load test, chưa phải SLO được phê duyệt. Không ghép với bộ ảnh AI mới.</a:t>
            </a:r>
          </a:p>
          <a:p xmlns:a="http://schemas.openxmlformats.org/drawingml/2006/main">
            <a:r>
              <a:t/>
            </a:r>
          </a:p>
          <a:p xmlns:a="http://schemas.openxmlformats.org/drawingml/2006/main">
            <a:r>
              <a:t>Nguồn:</a:t>
            </a:r>
          </a:p>
          <a:p xmlns:a="http://schemas.openxmlformats.org/drawingml/2006/main">
            <a:r>
              <a:t>https://github.com/minhthang2k5/eshop-sut/blob/main/submission/evidence/luna-d7-output.json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Nếu flow kết thúc ở checkout, orderId chỉ là checkpoint. Chỉ tạo extraction/injection mới khi có bước thật sự cần giá trị này. Source có correlation không chứng minh checkout đã chạy thành công trong smoke.</a:t>
            </a:r>
          </a:p>
          <a:p xmlns:a="http://schemas.openxmlformats.org/drawingml/2006/main">
            <a:r>
              <a:t/>
            </a:r>
          </a:p>
          <a:p xmlns:a="http://schemas.openxmlformats.org/drawingml/2006/main">
            <a:r>
              <a:t>Nguồn:</a:t>
            </a:r>
          </a:p>
          <a:p xmlns:a="http://schemas.openxmlformats.org/drawingml/2006/main">
            <a:r>
              <a:t>https://github.com/minhthang2k5/eshop-sut/blob/main/submission/Bao_cao_seminar_Performance_Testing.md</a:t>
            </a:r>
          </a:p>
          <a:p xmlns:a="http://schemas.openxmlformats.org/drawingml/2006/main">
            <a:r>
              <a:t>https://github.com/minhthang2k5/eshop-sut/tree/main/test-web-performance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 bao gồm mẫu đúng/sai, helper/hằng số, summary phẳng/nested, thiếu metric, request/check lỗi và logout trong lúc refresh. Đây là kiểm thử công cụ audit, không phải kết quả chịu tải của SUT.</a:t>
            </a:r>
          </a:p>
          <a:p xmlns:a="http://schemas.openxmlformats.org/drawingml/2006/main">
            <a:r>
              <a:t>Ảnh gốc: submission/evidence/08-regression-tests.png</a:t>
            </a:r>
          </a:p>
          <a:p xmlns:a="http://schemas.openxmlformats.org/drawingml/2006/main">
            <a:r>
              <a:t/>
            </a:r>
          </a:p>
          <a:p xmlns:a="http://schemas.openxmlformats.org/drawingml/2006/main">
            <a:r>
              <a:t>Nguồn:</a:t>
            </a:r>
          </a:p>
          <a:p xmlns:a="http://schemas.openxmlformats.org/drawingml/2006/main">
            <a:r>
              <a:t>https://github.com/minhthang2k5/eshop-sut/blob/main/submission/Bao_cao_seminar_Performance_Testing.md</a:t>
            </a:r>
          </a:p>
          <a:p xmlns:a="http://schemas.openxmlformats.org/drawingml/2006/main">
            <a:r>
              <a:t>https://github.com/minhthang2k5/eshop-sut/blob/main/submission/evidence/08-regression-tests.png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Gợi ý: source đúng chưa chứng minh mọi nhánh runtime. AI cần phiên có quyền. Nếu không có phiên AI, dùng output CD3D6B đã lưu và ghi rõ nguồn. Không trộn metric từ hai audit. Bài tập hoàn thành khi giải thích được kết quả bằng evidence, không bắt buộc cả hai script đạt 10/10.</a:t>
            </a:r>
          </a:p>
          <a:p xmlns:a="http://schemas.openxmlformats.org/drawingml/2006/main">
            <a:r>
              <a:t/>
            </a:r>
          </a:p>
          <a:p xmlns:a="http://schemas.openxmlformats.org/drawingml/2006/main">
            <a:r>
              <a:t>Nguồn:</a:t>
            </a:r>
          </a:p>
          <a:p xmlns:a="http://schemas.openxmlformats.org/drawingml/2006/main">
            <a:r>
              <a:t>https://github.com/minhthang2k5/eshop-sut/blob/main/submission/Bao_cao_seminar_Performance_Testing.md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không tự quyết định điểm. Quy trình có thể tái sử dụng khi giữ cấu trúc evidence và thay cấu hình chuyên biệt. Không phát hành dịch vụ chạy mã không tin cậy lên Internet chỉ với allowlist hiện tại.</a:t>
            </a:r>
          </a:p>
          <a:p xmlns:a="http://schemas.openxmlformats.org/drawingml/2006/main">
            <a:r>
              <a:t/>
            </a:r>
          </a:p>
          <a:p xmlns:a="http://schemas.openxmlformats.org/drawingml/2006/main">
            <a:r>
              <a:t>Nguồn:</a:t>
            </a:r>
          </a:p>
          <a:p xmlns:a="http://schemas.openxmlformats.org/drawingml/2006/main">
            <a:r>
              <a:t>https://github.com/minhthang2k5/eshop-sut/blob/main/submission/Bao_cao_seminar_Performance_Testing.md</a:t>
            </a:r>
          </a:p>
          <a:p xmlns:a="http://schemas.openxmlformats.org/drawingml/2006/main">
            <a:r>
              <a:t>https://github.com/minhthang2k5/eshop-sut/tree/main/test-web-performance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mốc là tuần kế hoạch. Task tuần 2–3 bổ sung trên Jira ngày 23/10. Không dùng lịch sprint để suy ra ngày hoàn thành thực tế. Chi tiết A/B ở các ảnh tiếp theo.</a:t>
            </a:r>
          </a:p>
          <a:p xmlns:a="http://schemas.openxmlformats.org/drawingml/2006/main">
            <a:r>
              <a:t/>
            </a:r>
          </a:p>
          <a:p xmlns:a="http://schemas.openxmlformats.org/drawingml/2006/main">
            <a:r>
              <a:t>Nguồn:</a:t>
            </a:r>
          </a:p>
          <a:p xmlns:a="http://schemas.openxmlformats.org/drawingml/2006/main">
            <a:r>
              <a:t>https://github.com/minhthang2k5/eshop-sut/blob/main/submission/Bao_cao_seminar_Performance_Testing.md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do thành viên cung cấp. Mỗi task 2 điểm. Ảnh chụp trước khi đóng Sprint 1. Các nhãn 5 luồng/5 endpoint giữ nguyên trên Jira, phải đối chiếu phạm vi source thực tế.</a:t>
            </a:r>
          </a:p>
          <a:p xmlns:a="http://schemas.openxmlformats.org/drawingml/2006/main">
            <a:r>
              <a:t>Ảnh gốc: submission/Split_task/sprint_1.png</a:t>
            </a:r>
          </a:p>
          <a:p xmlns:a="http://schemas.openxmlformats.org/drawingml/2006/main">
            <a:r>
              <a:t/>
            </a:r>
          </a:p>
          <a:p xmlns:a="http://schemas.openxmlformats.org/drawingml/2006/main">
            <a:r>
              <a:t>Nguồn:</a:t>
            </a:r>
          </a:p>
          <a:p xmlns:a="http://schemas.openxmlformats.org/drawingml/2006/main">
            <a:r>
              <a:t>https://github.com/minhthang2k5/eshop-sut/blob/main/submission/Bao_cao_seminar_Performance_Testing.md</a:t>
            </a:r>
          </a:p>
          <a:p xmlns:a="http://schemas.openxmlformats.org/drawingml/2006/main">
            <a:r>
              <a:t>https://github.com/minhthang2k5/eshop-sut/blob/main/submission/Split_task/sprint_1.png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chụp trước khi đóng Sprint 2. Jira là evidence quản lý, không thay thế log và kết quả kỹ thuật.</a:t>
            </a:r>
          </a:p>
          <a:p xmlns:a="http://schemas.openxmlformats.org/drawingml/2006/main">
            <a:r>
              <a:t>Ảnh gốc: submission/Split_task/sprint_2.png</a:t>
            </a:r>
          </a:p>
          <a:p xmlns:a="http://schemas.openxmlformats.org/drawingml/2006/main">
            <a:r>
              <a:t/>
            </a:r>
          </a:p>
          <a:p xmlns:a="http://schemas.openxmlformats.org/drawingml/2006/main">
            <a:r>
              <a:t>Nguồn:</a:t>
            </a:r>
          </a:p>
          <a:p xmlns:a="http://schemas.openxmlformats.org/drawingml/2006/main">
            <a:r>
              <a:t>https://github.com/minhthang2k5/eshop-sut/blob/main/submission/Bao_cao_seminar_Performance_Testing.md</a:t>
            </a:r>
          </a:p>
          <a:p xmlns:a="http://schemas.openxmlformats.org/drawingml/2006/main">
            <a:r>
              <a:t>https://github.com/minhthang2k5/eshop-sut/blob/main/submission/Split_task/sprint_2.png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 task cả ba tuần, Quốc Thái 9, Hữu Thắng 11, Minh Thắng 11. Estimate là quy ước lập kế hoạch, không phải xếp hạng đóng góp.</a:t>
            </a:r>
          </a:p>
          <a:p xmlns:a="http://schemas.openxmlformats.org/drawingml/2006/main">
            <a:r>
              <a:t>Ảnh gốc: submission/Split_task/sprint_3.png</a:t>
            </a:r>
          </a:p>
          <a:p xmlns:a="http://schemas.openxmlformats.org/drawingml/2006/main">
            <a:r>
              <a:t/>
            </a:r>
          </a:p>
          <a:p xmlns:a="http://schemas.openxmlformats.org/drawingml/2006/main">
            <a:r>
              <a:t>Nguồn:</a:t>
            </a:r>
          </a:p>
          <a:p xmlns:a="http://schemas.openxmlformats.org/drawingml/2006/main">
            <a:r>
              <a:t>https://github.com/minhthang2k5/eshop-sut/blob/main/submission/Bao_cao_seminar_Performance_Testing.md</a:t>
            </a:r>
          </a:p>
          <a:p xmlns:a="http://schemas.openxmlformats.org/drawingml/2006/main">
            <a:r>
              <a:t>https://github.com/minhthang2k5/eshop-sut/blob/main/submission/Split_task/sprint_3.png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Mời người học đặt câu hỏi về workload, metric hoặc giới hạn evidence. Trước buổi seminar, mỗi thành viên đối chiếu clip của mình với slide và số liệu đúng run.</a:t>
            </a:r>
          </a:p>
          <a:p xmlns:a="http://schemas.openxmlformats.org/drawingml/2006/main">
            <a:r>
              <a:t/>
            </a:r>
          </a:p>
          <a:p xmlns:a="http://schemas.openxmlformats.org/drawingml/2006/main">
            <a:r>
              <a:t>Nguồn:</a:t>
            </a:r>
          </a:p>
          <a:p xmlns:a="http://schemas.openxmlformats.org/drawingml/2006/main">
            <a:r>
              <a:t>https://github.com/minhthang2k5/eshop-sut/blob/main/submission/Bao_cao_seminar_Performance_Testing.md</a:t>
            </a:r>
          </a:p>
          <a:p xmlns:a="http://schemas.openxmlformats.org/drawingml/2006/main">
            <a:r>
              <a:t>https://github.com/minhthang2k5/eshop-sut/blob/main/docs/requirement.txt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đường dẫn đầy đủ nằm trong speaker notes từng slide. Mở repository để xem source, log và ảnh gốc. File PowerPoint cho phép sửa trực tiếp ba ô link video và các vị trí bài tập A/B.</a:t>
            </a:r>
          </a:p>
          <a:p xmlns:a="http://schemas.openxmlformats.org/drawingml/2006/main">
            <a:r>
              <a:t/>
            </a:r>
          </a:p>
          <a:p xmlns:a="http://schemas.openxmlformats.org/drawingml/2006/main">
            <a:r>
              <a:t>Nguồn:</a:t>
            </a:r>
          </a:p>
          <a:p xmlns:a="http://schemas.openxmlformats.org/drawingml/2006/main">
            <a:r>
              <a:t>https://github.com/minhthang2k5/eshop-sut</a:t>
            </a:r>
          </a:p>
          <a:p xmlns:a="http://schemas.openxmlformats.org/drawingml/2006/main">
            <a:r>
              <a:t>https://github.com/minhthang2k5/eshop-sut/blob/main/submission/Bao_cao_seminar_Performance_Testing.md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https://grafana.com/docs/k6/latest/</a:t>
            </a:r>
          </a:p>
          <a:p xmlns:a="http://schemas.openxmlformats.org/drawingml/2006/main">
            <a:r>
              <a:t>https://jmeter.apache.org/usermanual/index.html</a:t>
            </a:r>
          </a:p>
          <a:p xmlns:a="http://schemas.openxmlformats.org/drawingml/2006/main">
            <a:r>
              <a:t>https://developer.chrome.com/docs/devtools/network/reference/</a:t>
            </a:r>
          </a:p>
          <a:p xmlns:a="http://schemas.openxmlformats.org/drawingml/2006/main">
            <a:r>
              <a:t>https://github.com/acornjs/acorn</a:t>
            </a:r>
          </a:p>
          <a:p xmlns:a="http://schemas.openxmlformats.org/drawingml/2006/main">
            <a:r>
              <a:t>Nguồn mô tả khái niệm. Số liệu thực nghiệm lấy từ artifact của nhóm, không dùng benchmark trên Internet.</a:t>
            </a:r>
          </a:p>
          <a:p xmlns:a="http://schemas.openxmlformats.org/drawingml/2006/main">
            <a:r>
              <a:t/>
            </a:r>
          </a:p>
          <a:p xmlns:a="http://schemas.openxmlformats.org/drawingml/2006/main">
            <a:r>
              <a:t>Nguồn:</a:t>
            </a:r>
          </a:p>
          <a:p xmlns:a="http://schemas.openxmlformats.org/drawingml/2006/main">
            <a:r>
              <a:t>https://grafana.com/docs/k6/latest/</a:t>
            </a:r>
          </a:p>
          <a:p xmlns:a="http://schemas.openxmlformats.org/drawingml/2006/main">
            <a:r>
              <a:t>https://jmeter.apache.org/usermanual/index.html</a:t>
            </a:r>
          </a:p>
          <a:p xmlns:a="http://schemas.openxmlformats.org/drawingml/2006/main">
            <a:r>
              <a:t>https://developer.chrome.com/docs/devtools/network/reference/</a:t>
            </a:r>
          </a:p>
          <a:p xmlns:a="http://schemas.openxmlformats.org/drawingml/2006/main">
            <a:r>
              <a:t>https://github.com/acornjs/acorn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93920deec7480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091709356f2432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b7441178e8340b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cb64ab95d6f4b7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eb8bdbf8098490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8968e7730c94a0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A7F62B-2BBA-4338-906C-E6CAA608017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99E2B23-EE71-4271-9FE9-D04C95676A6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BAF5D51-7D0C-4A0F-B9D4-6B9D3AC3A5A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51F62D-2518-44E1-87A0-8460CD3D139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DB61F61-3425-47B2-AD89-928B8E0C399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BCD9943-BA51-4B21-A0FF-81912899CCB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F39A9AF-8876-4135-BD25-0EC01B9B57C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7DEBAC4-3658-4807-AD66-6810F4D5617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1505632-9021-4BBB-9C32-9C4D89AB27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7052A03-10AF-4F86-B679-B06C5B1C3E3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9d7f88812147fb" /><Relationship Type="http://schemas.openxmlformats.org/officeDocument/2006/relationships/slideLayout" Target="/ppt/slideLayouts/slideLayout1.xml" Id="R067e0354996a4ffa" /><Relationship Type="http://schemas.openxmlformats.org/officeDocument/2006/relationships/slideLayout" Target="/ppt/slideLayouts/slideLayout2.xml" Id="R786718752a674481" /><Relationship Type="http://schemas.openxmlformats.org/officeDocument/2006/relationships/slideLayout" Target="/ppt/slideLayouts/slideLayout3.xml" Id="R8ed9481de2e84c08" /><Relationship Type="http://schemas.openxmlformats.org/officeDocument/2006/relationships/slideLayout" Target="/ppt/slideLayouts/slideLayout4.xml" Id="R1480bda5fc5e4865" /><Relationship Type="http://schemas.openxmlformats.org/officeDocument/2006/relationships/slideLayout" Target="/ppt/slideLayouts/slideLayout5.xml" Id="R42331d70481145de" /><Relationship Type="http://schemas.openxmlformats.org/officeDocument/2006/relationships/slideLayout" Target="/ppt/slideLayouts/slideLayout6.xml" Id="R7608e4b5b26c448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7e0354996a4ffa"/>
    <p:sldLayoutId xmlns:r="http://schemas.openxmlformats.org/officeDocument/2006/relationships" id="2147483650" r:id="R786718752a674481"/>
    <p:sldLayoutId xmlns:r="http://schemas.openxmlformats.org/officeDocument/2006/relationships" id="2147483651" r:id="R8ed9481de2e84c08"/>
    <p:sldLayoutId xmlns:r="http://schemas.openxmlformats.org/officeDocument/2006/relationships" id="2147483652" r:id="R1480bda5fc5e4865"/>
    <p:sldLayoutId xmlns:r="http://schemas.openxmlformats.org/officeDocument/2006/relationships" id="2147483653" r:id="R42331d70481145de"/>
    <p:sldLayoutId xmlns:r="http://schemas.openxmlformats.org/officeDocument/2006/relationships" id="2147483654" r:id="R7608e4b5b26c448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83f5cc259b24a24" /><Relationship Type="http://schemas.openxmlformats.org/officeDocument/2006/relationships/notesSlide" Target="/ppt/notesSlides/notesSlide1.xml" Id="R49d32e0f3b3b41a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24e1ce1a5664ea1" /><Relationship Type="http://schemas.openxmlformats.org/officeDocument/2006/relationships/notesSlide" Target="/ppt/notesSlides/notesSlide2.xml" Id="R51a74f400254465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09352fb541048a4" /><Relationship Type="http://schemas.openxmlformats.org/officeDocument/2006/relationships/notesSlide" Target="/ppt/notesSlides/notesSlide3.xml" Id="Ra817dbdcbfd7432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437ead1067d4e64" /><Relationship Type="http://schemas.openxmlformats.org/officeDocument/2006/relationships/notesSlide" Target="/ppt/notesSlides/notesSlide4.xml" Id="R1bba8ccb919146e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47bc8403fae47d2" /><Relationship Type="http://schemas.openxmlformats.org/officeDocument/2006/relationships/notesSlide" Target="/ppt/notesSlides/notesSlide5.xml" Id="R7a11f1a14efc457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1068e9f1000475e" /><Relationship Type="http://schemas.openxmlformats.org/officeDocument/2006/relationships/notesSlide" Target="/ppt/notesSlides/notesSlide6.xml" Id="Re25fa2e90338475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0bf4b4b86e14867" /><Relationship Type="http://schemas.openxmlformats.org/officeDocument/2006/relationships/notesSlide" Target="/ppt/notesSlides/notesSlide7.xml" Id="Ree82fba9000347b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dc0a1b40e95462d" /><Relationship Type="http://schemas.openxmlformats.org/officeDocument/2006/relationships/notesSlide" Target="/ppt/notesSlides/notesSlide8.xml" Id="Re1064218568a470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cae2a865df54dd4" /><Relationship Type="http://schemas.openxmlformats.org/officeDocument/2006/relationships/notesSlide" Target="/ppt/notesSlides/notesSlide9.xml" Id="Rc6bba35ecdda4ae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d4136c560214fc1" /><Relationship Type="http://schemas.openxmlformats.org/officeDocument/2006/relationships/notesSlide" Target="/ppt/notesSlides/notesSlide10.xml" Id="R092655081d7740e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3a57cc6e04b44f0" /><Relationship Type="http://schemas.openxmlformats.org/officeDocument/2006/relationships/notesSlide" Target="/ppt/notesSlides/notesSlide11.xml" Id="Re43cc532abb34b0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34e89bdb4674802" /><Relationship Type="http://schemas.openxmlformats.org/officeDocument/2006/relationships/notesSlide" Target="/ppt/notesSlides/notesSlide12.xml" Id="R2acc0842313b4ed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63db1a4695945fc" /><Relationship Type="http://schemas.openxmlformats.org/officeDocument/2006/relationships/notesSlide" Target="/ppt/notesSlides/notesSlide13.xml" Id="Refb79f6dbd524a1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1457d3de12e4124" /><Relationship Type="http://schemas.openxmlformats.org/officeDocument/2006/relationships/notesSlide" Target="/ppt/notesSlides/notesSlide14.xml" Id="R821c53149270490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ac2af875bed4ba1" /><Relationship Type="http://schemas.openxmlformats.org/officeDocument/2006/relationships/notesSlide" Target="/ppt/notesSlides/notesSlide15.xml" Id="Re5d93afd58de46e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d6d9be4fdd4401b" /><Relationship Type="http://schemas.openxmlformats.org/officeDocument/2006/relationships/notesSlide" Target="/ppt/notesSlides/notesSlide16.xml" Id="Re65d4565e3294e1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5edf750e47244e2" /><Relationship Type="http://schemas.openxmlformats.org/officeDocument/2006/relationships/notesSlide" Target="/ppt/notesSlides/notesSlide17.xml" Id="R56bbd38fd2c14fc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532b351b65c4d4a" /><Relationship Type="http://schemas.openxmlformats.org/officeDocument/2006/relationships/notesSlide" Target="/ppt/notesSlides/notesSlide18.xml" Id="R4731e2aebb734d1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c85c7ab08d64a84" /><Relationship Type="http://schemas.openxmlformats.org/officeDocument/2006/relationships/notesSlide" Target="/ppt/notesSlides/notesSlide19.xml" Id="Ra840c4545377454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906a6b99c264226" /><Relationship Type="http://schemas.openxmlformats.org/officeDocument/2006/relationships/notesSlide" Target="/ppt/notesSlides/notesSlide20.xml" Id="R76c7bf5afaae42b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d8972e0cfac4da0" /><Relationship Type="http://schemas.openxmlformats.org/officeDocument/2006/relationships/notesSlide" Target="/ppt/notesSlides/notesSlide21.xml" Id="Rbb99b914a24144c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c549bd523704948" /><Relationship Type="http://schemas.openxmlformats.org/officeDocument/2006/relationships/notesSlide" Target="/ppt/notesSlides/notesSlide22.xml" Id="Re8b0d6b46f134a4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e96abfa35b924144" /><Relationship Type="http://schemas.openxmlformats.org/officeDocument/2006/relationships/notesSlide" Target="/ppt/notesSlides/notesSlide23.xml" Id="R9fa6b87e7737407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3144ab3f88e649b8" /><Relationship Type="http://schemas.openxmlformats.org/officeDocument/2006/relationships/notesSlide" Target="/ppt/notesSlides/notesSlide24.xml" Id="Rcabe2dc70675480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0ef31a7a5b34ec1" /><Relationship Type="http://schemas.openxmlformats.org/officeDocument/2006/relationships/notesSlide" Target="/ppt/notesSlides/notesSlide25.xml" Id="R32701c291f124b3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086a9f74891417e" /><Relationship Type="http://schemas.openxmlformats.org/officeDocument/2006/relationships/notesSlide" Target="/ppt/notesSlides/notesSlide26.xml" Id="R7e490c78b6f640a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8d26445df2514b6c" /><Relationship Type="http://schemas.openxmlformats.org/officeDocument/2006/relationships/notesSlide" Target="/ppt/notesSlides/notesSlide27.xml" Id="R100f27eb3272470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19d3fd9d01ed4b40" /><Relationship Type="http://schemas.openxmlformats.org/officeDocument/2006/relationships/notesSlide" Target="/ppt/notesSlides/notesSlide28.xml" Id="R91c3d9321093444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f826c09fe8494125" /><Relationship Type="http://schemas.openxmlformats.org/officeDocument/2006/relationships/notesSlide" Target="/ppt/notesSlides/notesSlide29.xml" Id="Rd5d044e0fae1444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063b238c211b4a53" /><Relationship Type="http://schemas.openxmlformats.org/officeDocument/2006/relationships/notesSlide" Target="/ppt/notesSlides/notesSlide30.xml" Id="R287fac08ae14416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abd4d92f6bf9432a" /><Relationship Type="http://schemas.openxmlformats.org/officeDocument/2006/relationships/notesSlide" Target="/ppt/notesSlides/notesSlide31.xml" Id="R3622ff20683948d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6639bc2ac372417c" /><Relationship Type="http://schemas.openxmlformats.org/officeDocument/2006/relationships/notesSlide" Target="/ppt/notesSlides/notesSlide32.xml" Id="Rd7e7d38b82ca423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b0daa93081764bab" /><Relationship Type="http://schemas.openxmlformats.org/officeDocument/2006/relationships/notesSlide" Target="/ppt/notesSlides/notesSlide33.xml" Id="R99f10cc6ce914f8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76567965101f4396" /><Relationship Type="http://schemas.openxmlformats.org/officeDocument/2006/relationships/notesSlide" Target="/ppt/notesSlides/notesSlide34.xml" Id="Rc9196cc902e44ee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dfb126ca933044f4" /><Relationship Type="http://schemas.openxmlformats.org/officeDocument/2006/relationships/notesSlide" Target="/ppt/notesSlides/notesSlide35.xml" Id="Rd91193a51fdb43c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c64b19ba359d4433" /><Relationship Type="http://schemas.openxmlformats.org/officeDocument/2006/relationships/notesSlide" Target="/ppt/notesSlides/notesSlide36.xml" Id="Rbd65b505876b434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ea88460315234e7a" /><Relationship Type="http://schemas.openxmlformats.org/officeDocument/2006/relationships/notesSlide" Target="/ppt/notesSlides/notesSlide37.xml" Id="R069981dc802e4ad8"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4bbc59ada97b46d9" /><Relationship Type="http://schemas.openxmlformats.org/officeDocument/2006/relationships/notesSlide" Target="/ppt/notesSlides/notesSlide38.xml" Id="R3535f4bf5fe641b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8e75eee7f35c44bd" /><Relationship Type="http://schemas.openxmlformats.org/officeDocument/2006/relationships/notesSlide" Target="/ppt/notesSlides/notesSlide39.xml" Id="R4af015aac0d7427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e6c14e354d3b4bf1" /><Relationship Type="http://schemas.openxmlformats.org/officeDocument/2006/relationships/notesSlide" Target="/ppt/notesSlides/notesSlide40.xml" Id="R8e218be5b7134749"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7ac2887bbb3e4a8a" /><Relationship Type="http://schemas.openxmlformats.org/officeDocument/2006/relationships/notesSlide" Target="/ppt/notesSlides/notesSlide41.xml" Id="Rc38e9847a1e3493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71438b6d9d3f4626" /><Relationship Type="http://schemas.openxmlformats.org/officeDocument/2006/relationships/notesSlide" Target="/ppt/notesSlides/notesSlide42.xml" Id="R9e45a6a8826d4cc6"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3cee7c9810b54c7f" /><Relationship Type="http://schemas.openxmlformats.org/officeDocument/2006/relationships/notesSlide" Target="/ppt/notesSlides/notesSlide43.xml" Id="Rb21e02ea47404623"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0b6727f54b0a4b1d" /><Relationship Type="http://schemas.openxmlformats.org/officeDocument/2006/relationships/notesSlide" Target="/ppt/notesSlides/notesSlide44.xml" Id="Re4ff3f9a8fe64a58"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daf147d8c6f54e5c" /><Relationship Type="http://schemas.openxmlformats.org/officeDocument/2006/relationships/notesSlide" Target="/ppt/notesSlides/notesSlide45.xml" Id="Ra0a5d99d0b7449d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83fd74df6f3f40a1" /><Relationship Type="http://schemas.openxmlformats.org/officeDocument/2006/relationships/notesSlide" Target="/ppt/notesSlides/notesSlide46.xml" Id="R67b8737f7e71486c"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3d55667a92ee4723" /><Relationship Type="http://schemas.openxmlformats.org/officeDocument/2006/relationships/notesSlide" Target="/ppt/notesSlides/notesSlide47.xml" Id="R6fbce9f5eabc485f"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131f9fb9d8fd4ed7" /><Relationship Type="http://schemas.openxmlformats.org/officeDocument/2006/relationships/notesSlide" Target="/ppt/notesSlides/notesSlide48.xml" Id="R12b43cc6d29d47f9"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bc7523d72dce4634" /><Relationship Type="http://schemas.openxmlformats.org/officeDocument/2006/relationships/notesSlide" Target="/ppt/notesSlides/notesSlide49.xml" Id="R03222a5c817943f8"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ecaf4cba685c47d3" /><Relationship Type="http://schemas.openxmlformats.org/officeDocument/2006/relationships/notesSlide" Target="/ppt/notesSlides/notesSlide50.xml" Id="R42212cf5d2884462"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92e60c2f393f4d4b" /><Relationship Type="http://schemas.openxmlformats.org/officeDocument/2006/relationships/notesSlide" Target="/ppt/notesSlides/notesSlide51.xml" Id="R0a991471434f46bd"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8cbccb6ff4fe412e" /><Relationship Type="http://schemas.openxmlformats.org/officeDocument/2006/relationships/notesSlide" Target="/ppt/notesSlides/notesSlide52.xml" Id="R7923c6746730405e"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71f23bec33d44254" /><Relationship Type="http://schemas.openxmlformats.org/officeDocument/2006/relationships/notesSlide" Target="/ppt/notesSlides/notesSlide53.xml" Id="R311b7a90e5384590"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69b33271bce44a0d" /><Relationship Type="http://schemas.openxmlformats.org/officeDocument/2006/relationships/notesSlide" Target="/ppt/notesSlides/notesSlide54.xml" Id="R0bab9d2c4bd843a4"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96c19cd9804043df" /><Relationship Type="http://schemas.openxmlformats.org/officeDocument/2006/relationships/notesSlide" Target="/ppt/notesSlides/notesSlide55.xml" Id="Raadedc6df87749aa"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b0cf615ff00d4e86" /><Relationship Type="http://schemas.openxmlformats.org/officeDocument/2006/relationships/notesSlide" Target="/ppt/notesSlides/notesSlide56.xml" Id="R05ea16290cc04117"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586a4233b34d4991" /><Relationship Type="http://schemas.openxmlformats.org/officeDocument/2006/relationships/notesSlide" Target="/ppt/notesSlides/notesSlide57.xml" Id="R6a79b60a5f6b4630"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53e5c18a87334def" /><Relationship Type="http://schemas.openxmlformats.org/officeDocument/2006/relationships/notesSlide" Target="/ppt/notesSlides/notesSlide58.xml" Id="R8c16cb9a00234d5f"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1017fc6152d24fac" /><Relationship Type="http://schemas.openxmlformats.org/officeDocument/2006/relationships/notesSlide" Target="/ppt/notesSlides/notesSlide59.xml" Id="R18b58a8fcffa4e3b"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78fd1da4d3864eb4" /><Relationship Type="http://schemas.openxmlformats.org/officeDocument/2006/relationships/notesSlide" Target="/ppt/notesSlides/notesSlide60.xml" Id="R3052ef6218d74f15"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ccf0a95faecb49e0" /><Relationship Type="http://schemas.openxmlformats.org/officeDocument/2006/relationships/notesSlide" Target="/ppt/notesSlides/notesSlide61.xml" Id="R97c00f852a6e4dc6"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2b9f61a2075b41fc" /><Relationship Type="http://schemas.openxmlformats.org/officeDocument/2006/relationships/notesSlide" Target="/ppt/notesSlides/notesSlide62.xml" Id="Rb42b10a7b1c0426c"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2bd11bdd046e4143" /><Relationship Type="http://schemas.openxmlformats.org/officeDocument/2006/relationships/notesSlide" Target="/ppt/notesSlides/notesSlide63.xml" Id="R2695c946f3c44bdf"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68a178f05e4041ad" /><Relationship Type="http://schemas.openxmlformats.org/officeDocument/2006/relationships/notesSlide" Target="/ppt/notesSlides/notesSlide64.xml" Id="Rd4d24320713740e9"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28526ca565dd437b" /><Relationship Type="http://schemas.openxmlformats.org/officeDocument/2006/relationships/notesSlide" Target="/ppt/notesSlides/notesSlide65.xml" Id="R31d0cc6ce5374606"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203beac3ee6740eb" /><Relationship Type="http://schemas.openxmlformats.org/officeDocument/2006/relationships/notesSlide" Target="/ppt/notesSlides/notesSlide66.xml" Id="Re994aea7277e4ad8"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34b9a7a9df9241b1" /><Relationship Type="http://schemas.openxmlformats.org/officeDocument/2006/relationships/notesSlide" Target="/ppt/notesSlides/notesSlide67.xml" Id="Re5eb8633c8df4e9f"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6a63c827c0a644e0" /><Relationship Type="http://schemas.openxmlformats.org/officeDocument/2006/relationships/image" Target="/ppt/media/image.png" Id="R578a6d0d0af8435e" /><Relationship Type="http://schemas.openxmlformats.org/officeDocument/2006/relationships/notesSlide" Target="/ppt/notesSlides/notesSlide68.xml" Id="Rb6dc2e0125494471"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b45a7f14b3db4af1" /><Relationship Type="http://schemas.openxmlformats.org/officeDocument/2006/relationships/notesSlide" Target="/ppt/notesSlides/notesSlide69.xml" Id="Racdbe90e3fa7455e"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5849ffcc0a0a4284" /><Relationship Type="http://schemas.openxmlformats.org/officeDocument/2006/relationships/notesSlide" Target="/ppt/notesSlides/notesSlide70.xml" Id="R3a48f7c6f2dc48c2"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eff0c15d2f884ed3" /><Relationship Type="http://schemas.openxmlformats.org/officeDocument/2006/relationships/image" Target="/ppt/media/image2.png" Id="R371e9076432a4f75" /><Relationship Type="http://schemas.openxmlformats.org/officeDocument/2006/relationships/notesSlide" Target="/ppt/notesSlides/notesSlide71.xml" Id="Rd2846d3614634830"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0983cf6d22884436" /><Relationship Type="http://schemas.openxmlformats.org/officeDocument/2006/relationships/notesSlide" Target="/ppt/notesSlides/notesSlide72.xml" Id="R53aaef5037504156"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fb530a04a1714905" /><Relationship Type="http://schemas.openxmlformats.org/officeDocument/2006/relationships/notesSlide" Target="/ppt/notesSlides/notesSlide73.xml" Id="R55804d00dbe243e8"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e95a545574fc4e17" /><Relationship Type="http://schemas.openxmlformats.org/officeDocument/2006/relationships/image" Target="/ppt/media/image3.png" Id="R245fc1337c704a59" /><Relationship Type="http://schemas.openxmlformats.org/officeDocument/2006/relationships/notesSlide" Target="/ppt/notesSlides/notesSlide74.xml" Id="R0d81ea03deff411a"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4fc22588c5654199" /><Relationship Type="http://schemas.openxmlformats.org/officeDocument/2006/relationships/notesSlide" Target="/ppt/notesSlides/notesSlide75.xml" Id="R6fcae8311618411a"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3c0d62e00595416a" /><Relationship Type="http://schemas.openxmlformats.org/officeDocument/2006/relationships/notesSlide" Target="/ppt/notesSlides/notesSlide76.xml" Id="R030cf183a0784b23"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611c8e3bbd904204" /><Relationship Type="http://schemas.openxmlformats.org/officeDocument/2006/relationships/notesSlide" Target="/ppt/notesSlides/notesSlide77.xml" Id="Rba3edfff331340c0" /></Relationships>
</file>

<file path=ppt/slides/_rels/slide78.xml.rels>&#65279;<?xml version="1.0" encoding="utf-8"?><Relationships xmlns="http://schemas.openxmlformats.org/package/2006/relationships"><Relationship Type="http://schemas.openxmlformats.org/officeDocument/2006/relationships/slideLayout" Target="/ppt/slideLayouts/slideLayout6.xml" Id="Rb6222356e2084b61" /><Relationship Type="http://schemas.openxmlformats.org/officeDocument/2006/relationships/image" Target="/ppt/media/image4.png" Id="R7b6ee200670c4c39" /><Relationship Type="http://schemas.openxmlformats.org/officeDocument/2006/relationships/notesSlide" Target="/ppt/notesSlides/notesSlide78.xml" Id="R5f002d8160544b57" /></Relationships>
</file>

<file path=ppt/slides/_rels/slide79.xml.rels>&#65279;<?xml version="1.0" encoding="utf-8"?><Relationships xmlns="http://schemas.openxmlformats.org/package/2006/relationships"><Relationship Type="http://schemas.openxmlformats.org/officeDocument/2006/relationships/slideLayout" Target="/ppt/slideLayouts/slideLayout6.xml" Id="Rcf0df3d6befa4a2f" /><Relationship Type="http://schemas.openxmlformats.org/officeDocument/2006/relationships/image" Target="/ppt/media/image5.png" Id="R39561bd2f5174f9e" /><Relationship Type="http://schemas.openxmlformats.org/officeDocument/2006/relationships/notesSlide" Target="/ppt/notesSlides/notesSlide79.xml" Id="R347394c19c994d86" /></Relationships>
</file>

<file path=ppt/slides/_rels/slide80.xml.rels>&#65279;<?xml version="1.0" encoding="utf-8"?><Relationships xmlns="http://schemas.openxmlformats.org/package/2006/relationships"><Relationship Type="http://schemas.openxmlformats.org/officeDocument/2006/relationships/slideLayout" Target="/ppt/slideLayouts/slideLayout6.xml" Id="Rbeeb8516f38e43be" /><Relationship Type="http://schemas.openxmlformats.org/officeDocument/2006/relationships/image" Target="/ppt/media/image6.png" Id="R340282f4d43149a2" /><Relationship Type="http://schemas.openxmlformats.org/officeDocument/2006/relationships/notesSlide" Target="/ppt/notesSlides/notesSlide80.xml" Id="Rbbdf93e046a047f3" /></Relationships>
</file>

<file path=ppt/slides/_rels/slide81.xml.rels>&#65279;<?xml version="1.0" encoding="utf-8"?><Relationships xmlns="http://schemas.openxmlformats.org/package/2006/relationships"><Relationship Type="http://schemas.openxmlformats.org/officeDocument/2006/relationships/slideLayout" Target="/ppt/slideLayouts/slideLayout6.xml" Id="R3dde09d84e854d1e" /><Relationship Type="http://schemas.openxmlformats.org/officeDocument/2006/relationships/notesSlide" Target="/ppt/notesSlides/notesSlide81.xml" Id="R802ce1799c464597" /></Relationships>
</file>

<file path=ppt/slides/_rels/slide82.xml.rels>&#65279;<?xml version="1.0" encoding="utf-8"?><Relationships xmlns="http://schemas.openxmlformats.org/package/2006/relationships"><Relationship Type="http://schemas.openxmlformats.org/officeDocument/2006/relationships/slideLayout" Target="/ppt/slideLayouts/slideLayout6.xml" Id="Ra6ee1901b73c4865" /><Relationship Type="http://schemas.openxmlformats.org/officeDocument/2006/relationships/notesSlide" Target="/ppt/notesSlides/notesSlide82.xml" Id="Rbe786ebc09e843be" /></Relationships>
</file>

<file path=ppt/slides/_rels/slide83.xml.rels>&#65279;<?xml version="1.0" encoding="utf-8"?><Relationships xmlns="http://schemas.openxmlformats.org/package/2006/relationships"><Relationship Type="http://schemas.openxmlformats.org/officeDocument/2006/relationships/slideLayout" Target="/ppt/slideLayouts/slideLayout6.xml" Id="R640bbc4282f448df" /><Relationship Type="http://schemas.openxmlformats.org/officeDocument/2006/relationships/notesSlide" Target="/ppt/notesSlides/notesSlide83.xml" Id="Rbf2edb8fa14b4f6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MINAR SOFTWARE TESTING">
            <a:extLst xmlns:a="http://schemas.openxmlformats.org/drawingml/2006/main">
              <a:ext uri="{FF2B5EF4-FFF2-40B4-BE49-F238E27FC236}">
                <a16:creationId xmlns:a16="http://schemas.microsoft.com/office/drawing/2014/main" id="{CA73A496-C2D9-457F-AADF-33180C3A4744}"/>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SEMINAR SOFTWARE TESTING</a:t>
            </a:r>
          </a:p>
        </p:txBody>
      </p:sp>
      <p:sp>
        <p:nvSpPr>
          <p:cNvPr id="3" name="PERFORMANCE TESTING">
            <a:extLst xmlns:a="http://schemas.openxmlformats.org/drawingml/2006/main">
              <a:ext uri="{FF2B5EF4-FFF2-40B4-BE49-F238E27FC236}">
                <a16:creationId xmlns:a16="http://schemas.microsoft.com/office/drawing/2014/main" id="{BBA9036A-AB68-406D-B0E9-D1842F1AC0D0}"/>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PERFORMANCE TESTING</a:t>
            </a:r>
          </a:p>
        </p:txBody>
      </p:sp>
      <p:sp>
        <p:nvSpPr>
          <p:cNvPr id="4" name="Performance Testing trên EShop">
            <a:extLst xmlns:a="http://schemas.openxmlformats.org/drawingml/2006/main">
              <a:ext uri="{FF2B5EF4-FFF2-40B4-BE49-F238E27FC236}">
                <a16:creationId xmlns:a16="http://schemas.microsoft.com/office/drawing/2014/main" id="{6FC1866B-EB61-4DD6-B4B6-104891A5AA8F}"/>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01">
            <a:extLst xmlns:a="http://schemas.openxmlformats.org/drawingml/2006/main">
              <a:ext uri="{FF2B5EF4-FFF2-40B4-BE49-F238E27FC236}">
                <a16:creationId xmlns:a16="http://schemas.microsoft.com/office/drawing/2014/main" id="{C10F7282-0385-47F4-BBDE-2CEB833E7B69}"/>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01</a:t>
            </a:r>
          </a:p>
        </p:txBody>
      </p:sp>
      <p:sp>
        <p:nvSpPr>
          <p:cNvPr id="6" name="Kiểm thử API EShop bằng k6, JMeter&#10;và web audit có AI hỗ trợ">
            <a:extLst xmlns:a="http://schemas.openxmlformats.org/drawingml/2006/main">
              <a:ext uri="{FF2B5EF4-FFF2-40B4-BE49-F238E27FC236}">
                <a16:creationId xmlns:a16="http://schemas.microsoft.com/office/drawing/2014/main" id="{E09F0835-AC98-40F5-AB42-60030B3B649B}"/>
              </a:ext>
            </a:extLst>
          </p:cNvPr>
          <p:cNvSpPr>
            <a:spLocks xmlns:a="http://schemas.openxmlformats.org/drawingml/2006/main" noGrp="1"/>
          </p:cNvSpPr>
          <p:nvPr/>
        </p:nvSpPr>
        <p:spPr>
          <a:xfrm xmlns:a="http://schemas.openxmlformats.org/drawingml/2006/main">
            <a:off x="609600" y="22860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0">
                <a:solidFill>
                  <a:srgbClr val="151B23"/>
                </a:solidFill>
                <a:latin typeface="Arial"/>
                <a:ea typeface="Arial"/>
                <a:cs typeface="Arial"/>
              </a:defRPr>
            </a:defPPr>
            <a:lvl1pPr>
              <a:defRPr sz="3225" b="0">
                <a:solidFill>
                  <a:srgbClr val="151B23"/>
                </a:solidFill>
                <a:latin typeface="Arial"/>
                <a:ea typeface="Arial"/>
                <a:cs typeface="Arial"/>
              </a:defRPr>
            </a:lvl1pPr>
            <a:lvl2pPr>
              <a:defRPr sz="3225" b="0">
                <a:solidFill>
                  <a:srgbClr val="151B23"/>
                </a:solidFill>
                <a:latin typeface="Arial"/>
                <a:ea typeface="Arial"/>
                <a:cs typeface="Arial"/>
              </a:defRPr>
            </a:lvl2pPr>
            <a:lvl3pPr>
              <a:defRPr sz="3225" b="0">
                <a:solidFill>
                  <a:srgbClr val="151B23"/>
                </a:solidFill>
                <a:latin typeface="Arial"/>
                <a:ea typeface="Arial"/>
                <a:cs typeface="Arial"/>
              </a:defRPr>
            </a:lvl3pPr>
            <a:lvl4pPr>
              <a:defRPr sz="3225" b="0">
                <a:solidFill>
                  <a:srgbClr val="151B23"/>
                </a:solidFill>
                <a:latin typeface="Arial"/>
                <a:ea typeface="Arial"/>
                <a:cs typeface="Arial"/>
              </a:defRPr>
            </a:lvl4pPr>
            <a:lvl5pPr>
              <a:defRPr sz="3225" b="0">
                <a:solidFill>
                  <a:srgbClr val="151B23"/>
                </a:solidFill>
                <a:latin typeface="Arial"/>
                <a:ea typeface="Arial"/>
                <a:cs typeface="Arial"/>
              </a:defRPr>
            </a:lvl5pPr>
            <a:lvl6pPr>
              <a:defRPr sz="3225" b="0">
                <a:solidFill>
                  <a:srgbClr val="151B23"/>
                </a:solidFill>
                <a:latin typeface="Arial"/>
                <a:ea typeface="Arial"/>
                <a:cs typeface="Arial"/>
              </a:defRPr>
            </a:lvl6pPr>
            <a:lvl7pPr>
              <a:defRPr sz="3225" b="0">
                <a:solidFill>
                  <a:srgbClr val="151B23"/>
                </a:solidFill>
                <a:latin typeface="Arial"/>
                <a:ea typeface="Arial"/>
                <a:cs typeface="Arial"/>
              </a:defRPr>
            </a:lvl7pPr>
            <a:lvl8pPr>
              <a:defRPr sz="3225" b="0">
                <a:solidFill>
                  <a:srgbClr val="151B23"/>
                </a:solidFill>
                <a:latin typeface="Arial"/>
                <a:ea typeface="Arial"/>
                <a:cs typeface="Arial"/>
              </a:defRPr>
            </a:lvl8pPr>
            <a:lvl9pPr>
              <a:defRPr sz="3225" b="0">
                <a:solidFill>
                  <a:srgbClr val="151B23"/>
                </a:solidFill>
                <a:latin typeface="Arial"/>
                <a:ea typeface="Arial"/>
                <a:cs typeface="Arial"/>
              </a:defRPr>
            </a:lvl9pPr>
          </a:lstStyle>
          <a:p xmlns:a="http://schemas.openxmlformats.org/drawingml/2006/main">
            <a:pPr>
              <a:defRPr sz="3225" b="0">
                <a:solidFill>
                  <a:srgbClr val="151B23"/>
                </a:solidFill>
                <a:latin typeface="Arial"/>
                <a:ea typeface="Arial"/>
                <a:cs typeface="Arial"/>
              </a:defRPr>
            </a:pPr>
            <a:r>
              <a:rPr sz="3225" b="0">
                <a:solidFill>
                  <a:srgbClr val="151B23"/>
                </a:solidFill>
                <a:latin typeface="Arial"/>
                <a:ea typeface="Arial"/>
                <a:cs typeface="Arial"/>
              </a:rPr>
              <a:t>Kiểm thử API EShop bằng k6, JMeter</a:t>
            </a:r>
          </a:p>
          <a:p xmlns:a="http://schemas.openxmlformats.org/drawingml/2006/main">
            <a:pPr>
              <a:defRPr sz="3225" b="0">
                <a:solidFill>
                  <a:srgbClr val="151B23"/>
                </a:solidFill>
                <a:latin typeface="Arial"/>
                <a:ea typeface="Arial"/>
                <a:cs typeface="Arial"/>
              </a:defRPr>
            </a:pPr>
            <a:r>
              <a:rPr sz="3225" b="0">
                <a:solidFill>
                  <a:srgbClr val="151B23"/>
                </a:solidFill>
                <a:latin typeface="Arial"/>
                <a:ea typeface="Arial"/>
                <a:cs typeface="Arial"/>
              </a:rPr>
              <a:t>và web audit có AI hỗ trợ</a:t>
            </a:r>
          </a:p>
        </p:txBody>
      </p:sp>
      <p:sp>
        <p:nvSpPr>
          <p:cNvPr id="7" name="FIT, Trường Đại học Khoa học Tự nhiên, ĐHQG TP.HCM">
            <a:extLst xmlns:a="http://schemas.openxmlformats.org/drawingml/2006/main">
              <a:ext uri="{FF2B5EF4-FFF2-40B4-BE49-F238E27FC236}">
                <a16:creationId xmlns:a16="http://schemas.microsoft.com/office/drawing/2014/main" id="{3025AF41-88A9-4699-AEE7-2F56F31B2E04}"/>
              </a:ext>
            </a:extLst>
          </p:cNvPr>
          <p:cNvSpPr>
            <a:spLocks xmlns:a="http://schemas.openxmlformats.org/drawingml/2006/main" noGrp="1"/>
          </p:cNvSpPr>
          <p:nvPr/>
        </p:nvSpPr>
        <p:spPr>
          <a:xfrm xmlns:a="http://schemas.openxmlformats.org/drawingml/2006/main">
            <a:off x="609600" y="47625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51B23"/>
                </a:solidFill>
                <a:latin typeface="Arial"/>
                <a:ea typeface="Arial"/>
                <a:cs typeface="Arial"/>
              </a:defRPr>
            </a:defPPr>
            <a:lvl1pPr>
              <a:defRPr sz="1950" b="0">
                <a:solidFill>
                  <a:srgbClr val="151B23"/>
                </a:solidFill>
                <a:latin typeface="Arial"/>
                <a:ea typeface="Arial"/>
                <a:cs typeface="Arial"/>
              </a:defRPr>
            </a:lvl1pPr>
            <a:lvl2pPr>
              <a:defRPr sz="1950" b="0">
                <a:solidFill>
                  <a:srgbClr val="151B23"/>
                </a:solidFill>
                <a:latin typeface="Arial"/>
                <a:ea typeface="Arial"/>
                <a:cs typeface="Arial"/>
              </a:defRPr>
            </a:lvl2pPr>
            <a:lvl3pPr>
              <a:defRPr sz="1950" b="0">
                <a:solidFill>
                  <a:srgbClr val="151B23"/>
                </a:solidFill>
                <a:latin typeface="Arial"/>
                <a:ea typeface="Arial"/>
                <a:cs typeface="Arial"/>
              </a:defRPr>
            </a:lvl3pPr>
            <a:lvl4pPr>
              <a:defRPr sz="1950" b="0">
                <a:solidFill>
                  <a:srgbClr val="151B23"/>
                </a:solidFill>
                <a:latin typeface="Arial"/>
                <a:ea typeface="Arial"/>
                <a:cs typeface="Arial"/>
              </a:defRPr>
            </a:lvl4pPr>
            <a:lvl5pPr>
              <a:defRPr sz="1950" b="0">
                <a:solidFill>
                  <a:srgbClr val="151B23"/>
                </a:solidFill>
                <a:latin typeface="Arial"/>
                <a:ea typeface="Arial"/>
                <a:cs typeface="Arial"/>
              </a:defRPr>
            </a:lvl5pPr>
            <a:lvl6pPr>
              <a:defRPr sz="1950" b="0">
                <a:solidFill>
                  <a:srgbClr val="151B23"/>
                </a:solidFill>
                <a:latin typeface="Arial"/>
                <a:ea typeface="Arial"/>
                <a:cs typeface="Arial"/>
              </a:defRPr>
            </a:lvl6pPr>
            <a:lvl7pPr>
              <a:defRPr sz="1950" b="0">
                <a:solidFill>
                  <a:srgbClr val="151B23"/>
                </a:solidFill>
                <a:latin typeface="Arial"/>
                <a:ea typeface="Arial"/>
                <a:cs typeface="Arial"/>
              </a:defRPr>
            </a:lvl7pPr>
            <a:lvl8pPr>
              <a:defRPr sz="1950" b="0">
                <a:solidFill>
                  <a:srgbClr val="151B23"/>
                </a:solidFill>
                <a:latin typeface="Arial"/>
                <a:ea typeface="Arial"/>
                <a:cs typeface="Arial"/>
              </a:defRPr>
            </a:lvl8pPr>
            <a:lvl9pPr>
              <a:defRPr sz="1950" b="0">
                <a:solidFill>
                  <a:srgbClr val="151B23"/>
                </a:solidFill>
                <a:latin typeface="Arial"/>
                <a:ea typeface="Arial"/>
                <a:cs typeface="Arial"/>
              </a:defRPr>
            </a:lvl9pPr>
          </a:lstStyle>
          <a:p xmlns:a="http://schemas.openxmlformats.org/drawingml/2006/main">
            <a:pPr>
              <a:defRPr sz="1950" b="0">
                <a:solidFill>
                  <a:srgbClr val="151B23"/>
                </a:solidFill>
                <a:latin typeface="Arial"/>
                <a:ea typeface="Arial"/>
                <a:cs typeface="Arial"/>
              </a:defRPr>
            </a:pPr>
            <a:r>
              <a:rPr sz="1950" b="0">
                <a:solidFill>
                  <a:srgbClr val="151B23"/>
                </a:solidFill>
                <a:latin typeface="Arial"/>
                <a:ea typeface="Arial"/>
                <a:cs typeface="Arial"/>
              </a:rPr>
              <a:t>FIT, Trường Đại học Khoa học Tự nhiên, ĐHQG TP.HCM</a:t>
            </a:r>
          </a:p>
        </p:txBody>
      </p:sp>
    </p:spTree>
    <p:extLst>
      <p:ext uri="{BB962C8B-B14F-4D97-AF65-F5344CB8AC3E}">
        <p14:creationId xmlns:p14="http://schemas.microsoft.com/office/powerpoint/2010/main" val="16721735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GIỚI THIỆU">
            <a:extLst xmlns:a="http://schemas.openxmlformats.org/drawingml/2006/main">
              <a:ext uri="{FF2B5EF4-FFF2-40B4-BE49-F238E27FC236}">
                <a16:creationId xmlns:a16="http://schemas.microsoft.com/office/drawing/2014/main" id="{BF60DC4A-E26B-4C6B-9E9E-D9CCDA93B4CE}"/>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GIỚI THIỆU</a:t>
            </a:r>
          </a:p>
        </p:txBody>
      </p:sp>
      <p:sp>
        <p:nvSpPr>
          <p:cNvPr id="3" name="Nhóm thực hiện">
            <a:extLst xmlns:a="http://schemas.openxmlformats.org/drawingml/2006/main">
              <a:ext uri="{FF2B5EF4-FFF2-40B4-BE49-F238E27FC236}">
                <a16:creationId xmlns:a16="http://schemas.microsoft.com/office/drawing/2014/main" id="{2C5FD3BD-5AAB-43D9-81A9-7371D1365E04}"/>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Nhóm thực hiện</a:t>
            </a:r>
          </a:p>
        </p:txBody>
      </p:sp>
      <p:sp>
        <p:nvSpPr>
          <p:cNvPr id="4" name="Performance Testing trên EShop">
            <a:extLst xmlns:a="http://schemas.openxmlformats.org/drawingml/2006/main">
              <a:ext uri="{FF2B5EF4-FFF2-40B4-BE49-F238E27FC236}">
                <a16:creationId xmlns:a16="http://schemas.microsoft.com/office/drawing/2014/main" id="{4B24D81A-57A0-4972-9B30-89053FBCA99D}"/>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02">
            <a:extLst xmlns:a="http://schemas.openxmlformats.org/drawingml/2006/main">
              <a:ext uri="{FF2B5EF4-FFF2-40B4-BE49-F238E27FC236}">
                <a16:creationId xmlns:a16="http://schemas.microsoft.com/office/drawing/2014/main" id="{4BA018F4-C325-4611-AB5F-846BDC567F73}"/>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02</a:t>
            </a:r>
          </a:p>
        </p:txBody>
      </p:sp>
      <p:graphicFrame>
        <p:nvGraphicFramePr>
          <p:cNvPr id="6" name="">
            <a:extLst xmlns:a="http://schemas.openxmlformats.org/drawingml/2006/main">
              <a:ext uri="{FF2B5EF4-FFF2-40B4-BE49-F238E27FC236}">
                <a16:creationId xmlns:a16="http://schemas.microsoft.com/office/drawing/2014/main" id="{CC493D20-7AB6-4CB2-885A-593C9FEA32AD}"/>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4381500"/>
                <a:gridCol w="1905000"/>
                <a:gridCol w="4686300"/>
              </a:tblGrid>
              <a:tr h="1081088">
                <a:tc>
                  <a:txBody>
                    <a:bodyPr/>
                    <a:lstStyle/>
                    <a:p>
                      <a:r>
                        <a:rPr sz="1800" b="1">
                          <a:solidFill>
                            <a:srgbClr val="153E75"/>
                          </a:solidFill>
                          <a:latin typeface="Arial"/>
                          <a:ea typeface="Arial"/>
                          <a:cs typeface="Arial"/>
                        </a:rPr>
                        <a:t>Thành viên</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MSSV</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Phần trình bày</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1081088">
                <a:tc>
                  <a:txBody>
                    <a:bodyPr/>
                    <a:lstStyle/>
                    <a:p>
                      <a:r>
                        <a:rPr sz="1800">
                          <a:solidFill>
                            <a:srgbClr val="151B23"/>
                          </a:solidFill>
                          <a:latin typeface="Arial"/>
                          <a:ea typeface="Arial"/>
                          <a:cs typeface="Arial"/>
                        </a:rPr>
                        <a:t>Lê Nguyễn Quốc Thái</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23120352</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k6 và tuning</a:t>
                      </a:r>
                    </a:p>
                  </a:txBody>
                  <a:tcPr marL="114300" marR="95250" marT="76200" marB="57150">
                    <a:lnR w="9525">
                      <a:solidFill>
                        <a:srgbClr val="D7DDE4"/>
                      </a:solidFill>
                      <a:prstDash val="solid"/>
                    </a:lnR>
                    <a:lnB w="9525">
                      <a:solidFill>
                        <a:srgbClr val="D7DDE4"/>
                      </a:solidFill>
                      <a:prstDash val="solid"/>
                    </a:lnB>
                    <a:solidFill>
                      <a:srgbClr val="FFFFFF"/>
                    </a:solidFill>
                  </a:tcPr>
                </a:tc>
              </a:tr>
              <a:tr h="1081088">
                <a:tc>
                  <a:txBody>
                    <a:bodyPr/>
                    <a:lstStyle/>
                    <a:p>
                      <a:r>
                        <a:rPr sz="1800">
                          <a:solidFill>
                            <a:srgbClr val="151B23"/>
                          </a:solidFill>
                          <a:latin typeface="Arial"/>
                          <a:ea typeface="Arial"/>
                          <a:cs typeface="Arial"/>
                        </a:rPr>
                        <a:t>Võ Hữu Thắng</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23120355</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JMeter và đối chiếu</a:t>
                      </a:r>
                    </a:p>
                  </a:txBody>
                  <a:tcPr marL="114300" marR="95250" marT="76200" marB="57150">
                    <a:lnR w="9525">
                      <a:solidFill>
                        <a:srgbClr val="D7DDE4"/>
                      </a:solidFill>
                      <a:prstDash val="solid"/>
                    </a:lnR>
                    <a:lnB w="9525">
                      <a:solidFill>
                        <a:srgbClr val="D7DDE4"/>
                      </a:solidFill>
                      <a:prstDash val="solid"/>
                    </a:lnB>
                    <a:solidFill>
                      <a:srgbClr val="FFFFFF"/>
                    </a:solidFill>
                  </a:tcPr>
                </a:tc>
              </a:tr>
              <a:tr h="1081088">
                <a:tc>
                  <a:txBody>
                    <a:bodyPr/>
                    <a:lstStyle/>
                    <a:p>
                      <a:r>
                        <a:rPr sz="1800">
                          <a:solidFill>
                            <a:srgbClr val="151B23"/>
                          </a:solidFill>
                          <a:latin typeface="Arial"/>
                          <a:ea typeface="Arial"/>
                          <a:cs typeface="Arial"/>
                        </a:rPr>
                        <a:t>Trịnh Hồ Minh Thắng</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23120354</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Web audit và AI</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93141947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LỘ TRÌNH">
            <a:extLst xmlns:a="http://schemas.openxmlformats.org/drawingml/2006/main">
              <a:ext uri="{FF2B5EF4-FFF2-40B4-BE49-F238E27FC236}">
                <a16:creationId xmlns:a16="http://schemas.microsoft.com/office/drawing/2014/main" id="{32458C2C-87D7-4CEA-AB5B-480CBBD8CDD3}"/>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LỘ TRÌNH</a:t>
            </a:r>
          </a:p>
        </p:txBody>
      </p:sp>
      <p:sp>
        <p:nvSpPr>
          <p:cNvPr id="3" name="Mục tiêu và trình tự seminar">
            <a:extLst xmlns:a="http://schemas.openxmlformats.org/drawingml/2006/main">
              <a:ext uri="{FF2B5EF4-FFF2-40B4-BE49-F238E27FC236}">
                <a16:creationId xmlns:a16="http://schemas.microsoft.com/office/drawing/2014/main" id="{1886A557-C336-416A-AA0F-23DEF0E5BBA0}"/>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Mục tiêu và trình tự seminar</a:t>
            </a:r>
          </a:p>
        </p:txBody>
      </p:sp>
      <p:sp>
        <p:nvSpPr>
          <p:cNvPr id="4" name="Performance Testing trên EShop">
            <a:extLst xmlns:a="http://schemas.openxmlformats.org/drawingml/2006/main">
              <a:ext uri="{FF2B5EF4-FFF2-40B4-BE49-F238E27FC236}">
                <a16:creationId xmlns:a16="http://schemas.microsoft.com/office/drawing/2014/main" id="{A9866533-CB5C-4B57-ADBD-29A55B83C10E}"/>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03">
            <a:extLst xmlns:a="http://schemas.openxmlformats.org/drawingml/2006/main">
              <a:ext uri="{FF2B5EF4-FFF2-40B4-BE49-F238E27FC236}">
                <a16:creationId xmlns:a16="http://schemas.microsoft.com/office/drawing/2014/main" id="{E37F69C9-5E92-4301-9856-DCD96265EE17}"/>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03</a:t>
            </a:r>
          </a:p>
        </p:txBody>
      </p:sp>
      <p:sp>
        <p:nvSpPr>
          <p:cNvPr id="6" name="01">
            <a:extLst xmlns:a="http://schemas.openxmlformats.org/drawingml/2006/main">
              <a:ext uri="{FF2B5EF4-FFF2-40B4-BE49-F238E27FC236}">
                <a16:creationId xmlns:a16="http://schemas.microsoft.com/office/drawing/2014/main" id="{84E1D6FD-8E37-488A-947A-7C716AAC5D7B}"/>
              </a:ext>
            </a:extLst>
          </p:cNvPr>
          <p:cNvSpPr>
            <a:spLocks xmlns:a="http://schemas.openxmlformats.org/drawingml/2006/main" noGrp="1"/>
          </p:cNvSpPr>
          <p:nvPr/>
        </p:nvSpPr>
        <p:spPr>
          <a:xfrm xmlns:a="http://schemas.openxmlformats.org/drawingml/2006/main">
            <a:off x="628650" y="18002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01</a:t>
            </a:r>
          </a:p>
        </p:txBody>
      </p:sp>
      <p:sp>
        <p:nvSpPr>
          <p:cNvPr id="7" name="Hiểu workload, metric và điều kiện chấp nhận.">
            <a:extLst xmlns:a="http://schemas.openxmlformats.org/drawingml/2006/main">
              <a:ext uri="{FF2B5EF4-FFF2-40B4-BE49-F238E27FC236}">
                <a16:creationId xmlns:a16="http://schemas.microsoft.com/office/drawing/2014/main" id="{0E38FDB0-E866-462B-B8F2-1900096A47CD}"/>
              </a:ext>
            </a:extLst>
          </p:cNvPr>
          <p:cNvSpPr>
            <a:spLocks xmlns:a="http://schemas.openxmlformats.org/drawingml/2006/main" noGrp="1"/>
          </p:cNvSpPr>
          <p:nvPr/>
        </p:nvSpPr>
        <p:spPr>
          <a:xfrm xmlns:a="http://schemas.openxmlformats.org/drawingml/2006/main">
            <a:off x="1257300" y="1781175"/>
            <a:ext cx="102679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Hiểu workload, metric và điều kiện chấp nhận.</a:t>
            </a:r>
          </a:p>
        </p:txBody>
      </p:sp>
      <p:sp>
        <p:nvSpPr>
          <p:cNvPr id="8" name="02">
            <a:extLst xmlns:a="http://schemas.openxmlformats.org/drawingml/2006/main">
              <a:ext uri="{FF2B5EF4-FFF2-40B4-BE49-F238E27FC236}">
                <a16:creationId xmlns:a16="http://schemas.microsoft.com/office/drawing/2014/main" id="{24DAED09-9979-4169-B24F-1C03381AAD59}"/>
              </a:ext>
            </a:extLst>
          </p:cNvPr>
          <p:cNvSpPr>
            <a:spLocks xmlns:a="http://schemas.openxmlformats.org/drawingml/2006/main" noGrp="1"/>
          </p:cNvSpPr>
          <p:nvPr/>
        </p:nvSpPr>
        <p:spPr>
          <a:xfrm xmlns:a="http://schemas.openxmlformats.org/drawingml/2006/main">
            <a:off x="628650" y="2647950"/>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02</a:t>
            </a:r>
          </a:p>
        </p:txBody>
      </p:sp>
      <p:sp>
        <p:nvSpPr>
          <p:cNvPr id="9" name="Thực hành k6, sau đó xem video demo 1.">
            <a:extLst xmlns:a="http://schemas.openxmlformats.org/drawingml/2006/main">
              <a:ext uri="{FF2B5EF4-FFF2-40B4-BE49-F238E27FC236}">
                <a16:creationId xmlns:a16="http://schemas.microsoft.com/office/drawing/2014/main" id="{33831D0D-04D7-4CCA-B563-E0805BE1DE78}"/>
              </a:ext>
            </a:extLst>
          </p:cNvPr>
          <p:cNvSpPr>
            <a:spLocks xmlns:a="http://schemas.openxmlformats.org/drawingml/2006/main" noGrp="1"/>
          </p:cNvSpPr>
          <p:nvPr/>
        </p:nvSpPr>
        <p:spPr>
          <a:xfrm xmlns:a="http://schemas.openxmlformats.org/drawingml/2006/main">
            <a:off x="1257300" y="2628900"/>
            <a:ext cx="102679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Thực hành k6, sau đó xem video demo 1.</a:t>
            </a:r>
          </a:p>
        </p:txBody>
      </p:sp>
      <p:sp>
        <p:nvSpPr>
          <p:cNvPr id="10" name="03">
            <a:extLst xmlns:a="http://schemas.openxmlformats.org/drawingml/2006/main">
              <a:ext uri="{FF2B5EF4-FFF2-40B4-BE49-F238E27FC236}">
                <a16:creationId xmlns:a16="http://schemas.microsoft.com/office/drawing/2014/main" id="{8070E781-779F-4CA8-BBFA-97DC5877CE97}"/>
              </a:ext>
            </a:extLst>
          </p:cNvPr>
          <p:cNvSpPr>
            <a:spLocks xmlns:a="http://schemas.openxmlformats.org/drawingml/2006/main" noGrp="1"/>
          </p:cNvSpPr>
          <p:nvPr/>
        </p:nvSpPr>
        <p:spPr>
          <a:xfrm xmlns:a="http://schemas.openxmlformats.org/drawingml/2006/main">
            <a:off x="628650" y="349567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03</a:t>
            </a:r>
          </a:p>
        </p:txBody>
      </p:sp>
      <p:sp>
        <p:nvSpPr>
          <p:cNvPr id="11" name="Thực hành JMeter, sau đó xem video demo 2.">
            <a:extLst xmlns:a="http://schemas.openxmlformats.org/drawingml/2006/main">
              <a:ext uri="{FF2B5EF4-FFF2-40B4-BE49-F238E27FC236}">
                <a16:creationId xmlns:a16="http://schemas.microsoft.com/office/drawing/2014/main" id="{CA9AACBF-1627-4182-965B-4654C71906DE}"/>
              </a:ext>
            </a:extLst>
          </p:cNvPr>
          <p:cNvSpPr>
            <a:spLocks xmlns:a="http://schemas.openxmlformats.org/drawingml/2006/main" noGrp="1"/>
          </p:cNvSpPr>
          <p:nvPr/>
        </p:nvSpPr>
        <p:spPr>
          <a:xfrm xmlns:a="http://schemas.openxmlformats.org/drawingml/2006/main">
            <a:off x="1257300" y="3476625"/>
            <a:ext cx="102679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Thực hành JMeter, sau đó xem video demo 2.</a:t>
            </a:r>
          </a:p>
        </p:txBody>
      </p:sp>
      <p:sp>
        <p:nvSpPr>
          <p:cNvPr id="12" name="04">
            <a:extLst xmlns:a="http://schemas.openxmlformats.org/drawingml/2006/main">
              <a:ext uri="{FF2B5EF4-FFF2-40B4-BE49-F238E27FC236}">
                <a16:creationId xmlns:a16="http://schemas.microsoft.com/office/drawing/2014/main" id="{FCB82198-699E-4824-A4D0-D635B30A522F}"/>
              </a:ext>
            </a:extLst>
          </p:cNvPr>
          <p:cNvSpPr>
            <a:spLocks xmlns:a="http://schemas.openxmlformats.org/drawingml/2006/main" noGrp="1"/>
          </p:cNvSpPr>
          <p:nvPr/>
        </p:nvSpPr>
        <p:spPr>
          <a:xfrm xmlns:a="http://schemas.openxmlformats.org/drawingml/2006/main">
            <a:off x="628650" y="4343400"/>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04</a:t>
            </a:r>
          </a:p>
        </p:txBody>
      </p:sp>
      <p:sp>
        <p:nvSpPr>
          <p:cNvPr id="13" name="Thực hành web audit và AI, sau đó xem video demo 3.">
            <a:extLst xmlns:a="http://schemas.openxmlformats.org/drawingml/2006/main">
              <a:ext uri="{FF2B5EF4-FFF2-40B4-BE49-F238E27FC236}">
                <a16:creationId xmlns:a16="http://schemas.microsoft.com/office/drawing/2014/main" id="{8AD66551-2A26-42BD-8A8F-BB2D0C5C67D0}"/>
              </a:ext>
            </a:extLst>
          </p:cNvPr>
          <p:cNvSpPr>
            <a:spLocks xmlns:a="http://schemas.openxmlformats.org/drawingml/2006/main" noGrp="1"/>
          </p:cNvSpPr>
          <p:nvPr/>
        </p:nvSpPr>
        <p:spPr>
          <a:xfrm xmlns:a="http://schemas.openxmlformats.org/drawingml/2006/main">
            <a:off x="1257300" y="4324350"/>
            <a:ext cx="102679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Thực hành web audit và AI, sau đó xem video demo 3.</a:t>
            </a:r>
          </a:p>
        </p:txBody>
      </p:sp>
      <p:sp>
        <p:nvSpPr>
          <p:cNvPr id="14" name="05">
            <a:extLst xmlns:a="http://schemas.openxmlformats.org/drawingml/2006/main">
              <a:ext uri="{FF2B5EF4-FFF2-40B4-BE49-F238E27FC236}">
                <a16:creationId xmlns:a16="http://schemas.microsoft.com/office/drawing/2014/main" id="{07AD19CE-3F27-47B5-9CC9-0A5E52D18C3D}"/>
              </a:ext>
            </a:extLst>
          </p:cNvPr>
          <p:cNvSpPr>
            <a:spLocks xmlns:a="http://schemas.openxmlformats.org/drawingml/2006/main" noGrp="1"/>
          </p:cNvSpPr>
          <p:nvPr/>
        </p:nvSpPr>
        <p:spPr>
          <a:xfrm xmlns:a="http://schemas.openxmlformats.org/drawingml/2006/main">
            <a:off x="628650" y="51911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05</a:t>
            </a:r>
          </a:p>
        </p:txBody>
      </p:sp>
      <p:sp>
        <p:nvSpPr>
          <p:cNvPr id="15" name="Đọc evidence, làm bài tập và đối chiếu kết quả.">
            <a:extLst xmlns:a="http://schemas.openxmlformats.org/drawingml/2006/main">
              <a:ext uri="{FF2B5EF4-FFF2-40B4-BE49-F238E27FC236}">
                <a16:creationId xmlns:a16="http://schemas.microsoft.com/office/drawing/2014/main" id="{6417C49B-707F-49DB-8CDC-32C4AB9520AB}"/>
              </a:ext>
            </a:extLst>
          </p:cNvPr>
          <p:cNvSpPr>
            <a:spLocks xmlns:a="http://schemas.openxmlformats.org/drawingml/2006/main" noGrp="1"/>
          </p:cNvSpPr>
          <p:nvPr/>
        </p:nvSpPr>
        <p:spPr>
          <a:xfrm xmlns:a="http://schemas.openxmlformats.org/drawingml/2006/main">
            <a:off x="1257300" y="5172075"/>
            <a:ext cx="102679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Đọc evidence, làm bài tập và đối chiếu kết quả.</a:t>
            </a:r>
          </a:p>
        </p:txBody>
      </p:sp>
    </p:spTree>
    <p:extLst>
      <p:ext uri="{BB962C8B-B14F-4D97-AF65-F5344CB8AC3E}">
        <p14:creationId xmlns:p14="http://schemas.microsoft.com/office/powerpoint/2010/main" val="9132713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ASE STUDY">
            <a:extLst xmlns:a="http://schemas.openxmlformats.org/drawingml/2006/main">
              <a:ext uri="{FF2B5EF4-FFF2-40B4-BE49-F238E27FC236}">
                <a16:creationId xmlns:a16="http://schemas.microsoft.com/office/drawing/2014/main" id="{F0BD33C2-9662-463B-A53F-854F924DFCCF}"/>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CASE STUDY</a:t>
            </a:r>
          </a:p>
        </p:txBody>
      </p:sp>
      <p:sp>
        <p:nvSpPr>
          <p:cNvPr id="3" name="Hệ thống EShop và công cụ kiểm thử">
            <a:extLst xmlns:a="http://schemas.openxmlformats.org/drawingml/2006/main">
              <a:ext uri="{FF2B5EF4-FFF2-40B4-BE49-F238E27FC236}">
                <a16:creationId xmlns:a16="http://schemas.microsoft.com/office/drawing/2014/main" id="{DEAA4755-5C1C-48DF-9B14-83DC42B06167}"/>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Hệ thống EShop và công cụ kiểm thử</a:t>
            </a:r>
          </a:p>
        </p:txBody>
      </p:sp>
      <p:sp>
        <p:nvSpPr>
          <p:cNvPr id="4" name="Performance Testing trên EShop">
            <a:extLst xmlns:a="http://schemas.openxmlformats.org/drawingml/2006/main">
              <a:ext uri="{FF2B5EF4-FFF2-40B4-BE49-F238E27FC236}">
                <a16:creationId xmlns:a16="http://schemas.microsoft.com/office/drawing/2014/main" id="{39CDCC0C-3BDE-4AE4-A55B-0283E70241DC}"/>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04">
            <a:extLst xmlns:a="http://schemas.openxmlformats.org/drawingml/2006/main">
              <a:ext uri="{FF2B5EF4-FFF2-40B4-BE49-F238E27FC236}">
                <a16:creationId xmlns:a16="http://schemas.microsoft.com/office/drawing/2014/main" id="{61E95D6E-A1E0-453C-B3CE-6E5BE021DC2E}"/>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04</a:t>
            </a:r>
          </a:p>
        </p:txBody>
      </p:sp>
      <p:graphicFrame>
        <p:nvGraphicFramePr>
          <p:cNvPr id="6" name="">
            <a:extLst xmlns:a="http://schemas.openxmlformats.org/drawingml/2006/main">
              <a:ext uri="{FF2B5EF4-FFF2-40B4-BE49-F238E27FC236}">
                <a16:creationId xmlns:a16="http://schemas.microsoft.com/office/drawing/2014/main" id="{E194BB23-D5D4-4642-AEA8-774F5D533EF1}"/>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4000500"/>
                <a:gridCol w="4476750"/>
                <a:gridCol w="2495550"/>
              </a:tblGrid>
              <a:tr h="864870">
                <a:tc>
                  <a:txBody>
                    <a:bodyPr/>
                    <a:lstStyle/>
                    <a:p>
                      <a:r>
                        <a:rPr sz="1800" b="1">
                          <a:solidFill>
                            <a:srgbClr val="153E75"/>
                          </a:solidFill>
                          <a:latin typeface="Arial"/>
                          <a:ea typeface="Arial"/>
                          <a:cs typeface="Arial"/>
                        </a:rPr>
                        <a:t>Thành phần</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Vai trò</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Địa chỉ local</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864870">
                <a:tc>
                  <a:txBody>
                    <a:bodyPr/>
                    <a:lstStyle/>
                    <a:p>
                      <a:r>
                        <a:rPr sz="1800">
                          <a:solidFill>
                            <a:srgbClr val="151B23"/>
                          </a:solidFill>
                          <a:latin typeface="Arial"/>
                          <a:ea typeface="Arial"/>
                          <a:cs typeface="Arial"/>
                        </a:rPr>
                        <a:t>Backend Express + SQLite</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SUT xử lý API</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localhost:3000</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Frontend EShop</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Thao tác và capture HAR</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localhost:5173</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React audit</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Nộp file và xem evidence</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localhost:5175</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Express audit</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Chạy k6 và điều phối AI</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localhost:4000</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148859643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ASE STUDY">
            <a:extLst xmlns:a="http://schemas.openxmlformats.org/drawingml/2006/main">
              <a:ext uri="{FF2B5EF4-FFF2-40B4-BE49-F238E27FC236}">
                <a16:creationId xmlns:a16="http://schemas.microsoft.com/office/drawing/2014/main" id="{EFD4EE78-DF5D-44CF-B864-5676FC03E841}"/>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CASE STUDY</a:t>
            </a:r>
          </a:p>
        </p:txBody>
      </p:sp>
      <p:sp>
        <p:nvSpPr>
          <p:cNvPr id="3" name="API contract theo phạm vi thực hành">
            <a:extLst xmlns:a="http://schemas.openxmlformats.org/drawingml/2006/main">
              <a:ext uri="{FF2B5EF4-FFF2-40B4-BE49-F238E27FC236}">
                <a16:creationId xmlns:a16="http://schemas.microsoft.com/office/drawing/2014/main" id="{597332E3-A430-473D-9293-3BC093381F0D}"/>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API contract theo phạm vi thực hành</a:t>
            </a:r>
          </a:p>
        </p:txBody>
      </p:sp>
      <p:sp>
        <p:nvSpPr>
          <p:cNvPr id="4" name="Performance Testing trên EShop">
            <a:extLst xmlns:a="http://schemas.openxmlformats.org/drawingml/2006/main">
              <a:ext uri="{FF2B5EF4-FFF2-40B4-BE49-F238E27FC236}">
                <a16:creationId xmlns:a16="http://schemas.microsoft.com/office/drawing/2014/main" id="{E793E670-C3BA-4773-973E-1A7A22ABDA28}"/>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05">
            <a:extLst xmlns:a="http://schemas.openxmlformats.org/drawingml/2006/main">
              <a:ext uri="{FF2B5EF4-FFF2-40B4-BE49-F238E27FC236}">
                <a16:creationId xmlns:a16="http://schemas.microsoft.com/office/drawing/2014/main" id="{D063129C-3563-4980-AF17-95BA169ADB9E}"/>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05</a:t>
            </a:r>
          </a:p>
        </p:txBody>
      </p:sp>
      <p:graphicFrame>
        <p:nvGraphicFramePr>
          <p:cNvPr id="6" name="">
            <a:extLst xmlns:a="http://schemas.openxmlformats.org/drawingml/2006/main">
              <a:ext uri="{FF2B5EF4-FFF2-40B4-BE49-F238E27FC236}">
                <a16:creationId xmlns:a16="http://schemas.microsoft.com/office/drawing/2014/main" id="{F81E3CAA-68E8-4E4C-B885-259647972595}"/>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2571750"/>
                <a:gridCol w="5429250"/>
                <a:gridCol w="2971800"/>
              </a:tblGrid>
              <a:tr h="720725">
                <a:tc>
                  <a:txBody>
                    <a:bodyPr/>
                    <a:lstStyle/>
                    <a:p>
                      <a:r>
                        <a:rPr sz="1800" b="1">
                          <a:solidFill>
                            <a:srgbClr val="153E75"/>
                          </a:solidFill>
                          <a:latin typeface="Arial"/>
                          <a:ea typeface="Arial"/>
                          <a:cs typeface="Arial"/>
                        </a:rPr>
                        <a:t>API</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Request</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Checkpoint</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720725">
                <a:tc>
                  <a:txBody>
                    <a:bodyPr/>
                    <a:lstStyle/>
                    <a:p>
                      <a:r>
                        <a:rPr sz="1800">
                          <a:solidFill>
                            <a:srgbClr val="151B23"/>
                          </a:solidFill>
                          <a:latin typeface="Arial"/>
                          <a:ea typeface="Arial"/>
                          <a:cs typeface="Arial"/>
                        </a:rPr>
                        <a:t>Login</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POST /api/login</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status, token</a:t>
                      </a:r>
                    </a:p>
                  </a:txBody>
                  <a:tcPr marL="114300" marR="95250" marT="76200" marB="57150">
                    <a:lnR w="9525">
                      <a:solidFill>
                        <a:srgbClr val="D7DDE4"/>
                      </a:solidFill>
                      <a:prstDash val="solid"/>
                    </a:lnR>
                    <a:lnB w="9525">
                      <a:solidFill>
                        <a:srgbClr val="D7DDE4"/>
                      </a:solidFill>
                      <a:prstDash val="solid"/>
                    </a:lnB>
                    <a:solidFill>
                      <a:srgbClr val="FFFFFF"/>
                    </a:solidFill>
                  </a:tcPr>
                </a:tc>
              </a:tr>
              <a:tr h="720725">
                <a:tc>
                  <a:txBody>
                    <a:bodyPr/>
                    <a:lstStyle/>
                    <a:p>
                      <a:r>
                        <a:rPr sz="1800">
                          <a:solidFill>
                            <a:srgbClr val="151B23"/>
                          </a:solidFill>
                          <a:latin typeface="Arial"/>
                          <a:ea typeface="Arial"/>
                          <a:cs typeface="Arial"/>
                        </a:rPr>
                        <a:t>Search</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GET /api/products?search=…</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status, dữ liệu</a:t>
                      </a:r>
                    </a:p>
                  </a:txBody>
                  <a:tcPr marL="114300" marR="95250" marT="76200" marB="57150">
                    <a:lnR w="9525">
                      <a:solidFill>
                        <a:srgbClr val="D7DDE4"/>
                      </a:solidFill>
                      <a:prstDash val="solid"/>
                    </a:lnR>
                    <a:lnB w="9525">
                      <a:solidFill>
                        <a:srgbClr val="D7DDE4"/>
                      </a:solidFill>
                      <a:prstDash val="solid"/>
                    </a:lnB>
                    <a:solidFill>
                      <a:srgbClr val="FFFFFF"/>
                    </a:solidFill>
                  </a:tcPr>
                </a:tc>
              </a:tr>
              <a:tr h="720725">
                <a:tc>
                  <a:txBody>
                    <a:bodyPr/>
                    <a:lstStyle/>
                    <a:p>
                      <a:r>
                        <a:rPr sz="1800">
                          <a:solidFill>
                            <a:srgbClr val="151B23"/>
                          </a:solidFill>
                          <a:latin typeface="Arial"/>
                          <a:ea typeface="Arial"/>
                          <a:cs typeface="Arial"/>
                        </a:rPr>
                        <a:t>Detail</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GET /api/products/:id</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status, sản phẩm</a:t>
                      </a:r>
                    </a:p>
                  </a:txBody>
                  <a:tcPr marL="114300" marR="95250" marT="76200" marB="57150">
                    <a:lnR w="9525">
                      <a:solidFill>
                        <a:srgbClr val="D7DDE4"/>
                      </a:solidFill>
                      <a:prstDash val="solid"/>
                    </a:lnR>
                    <a:lnB w="9525">
                      <a:solidFill>
                        <a:srgbClr val="D7DDE4"/>
                      </a:solidFill>
                      <a:prstDash val="solid"/>
                    </a:lnB>
                    <a:solidFill>
                      <a:srgbClr val="FFFFFF"/>
                    </a:solidFill>
                  </a:tcPr>
                </a:tc>
              </a:tr>
              <a:tr h="720725">
                <a:tc>
                  <a:txBody>
                    <a:bodyPr/>
                    <a:lstStyle/>
                    <a:p>
                      <a:r>
                        <a:rPr sz="1800">
                          <a:solidFill>
                            <a:srgbClr val="151B23"/>
                          </a:solidFill>
                          <a:latin typeface="Arial"/>
                          <a:ea typeface="Arial"/>
                          <a:cs typeface="Arial"/>
                        </a:rPr>
                        <a:t>Cart (phần k6)</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POST /api/cart</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status, payload</a:t>
                      </a:r>
                    </a:p>
                  </a:txBody>
                  <a:tcPr marL="114300" marR="95250" marT="76200" marB="57150">
                    <a:lnR w="9525">
                      <a:solidFill>
                        <a:srgbClr val="D7DDE4"/>
                      </a:solidFill>
                      <a:prstDash val="solid"/>
                    </a:lnR>
                    <a:lnB w="9525">
                      <a:solidFill>
                        <a:srgbClr val="D7DDE4"/>
                      </a:solidFill>
                      <a:prstDash val="solid"/>
                    </a:lnB>
                    <a:solidFill>
                      <a:srgbClr val="FFFFFF"/>
                    </a:solidFill>
                  </a:tcPr>
                </a:tc>
              </a:tr>
              <a:tr h="720725">
                <a:tc>
                  <a:txBody>
                    <a:bodyPr/>
                    <a:lstStyle/>
                    <a:p>
                      <a:r>
                        <a:rPr sz="1800">
                          <a:solidFill>
                            <a:srgbClr val="151B23"/>
                          </a:solidFill>
                          <a:latin typeface="Arial"/>
                          <a:ea typeface="Arial"/>
                          <a:cs typeface="Arial"/>
                        </a:rPr>
                        <a:t>Checkout</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POST /api/checkout</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status, orderId</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147676468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KHÁI NIỆM">
            <a:extLst xmlns:a="http://schemas.openxmlformats.org/drawingml/2006/main">
              <a:ext uri="{FF2B5EF4-FFF2-40B4-BE49-F238E27FC236}">
                <a16:creationId xmlns:a16="http://schemas.microsoft.com/office/drawing/2014/main" id="{B485E53C-9C24-40B7-AF79-E66B72F81B6C}"/>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KHÁI NIỆM</a:t>
            </a:r>
          </a:p>
        </p:txBody>
      </p:sp>
      <p:sp>
        <p:nvSpPr>
          <p:cNvPr id="3" name="Kiểm thử chức năng và hiệu năng">
            <a:extLst xmlns:a="http://schemas.openxmlformats.org/drawingml/2006/main">
              <a:ext uri="{FF2B5EF4-FFF2-40B4-BE49-F238E27FC236}">
                <a16:creationId xmlns:a16="http://schemas.microsoft.com/office/drawing/2014/main" id="{8534B8A5-CF27-41F5-AEB7-80EBA97FAC6A}"/>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Kiểm thử chức năng và hiệu năng</a:t>
            </a:r>
          </a:p>
        </p:txBody>
      </p:sp>
      <p:sp>
        <p:nvSpPr>
          <p:cNvPr id="4" name="Performance Testing trên EShop">
            <a:extLst xmlns:a="http://schemas.openxmlformats.org/drawingml/2006/main">
              <a:ext uri="{FF2B5EF4-FFF2-40B4-BE49-F238E27FC236}">
                <a16:creationId xmlns:a16="http://schemas.microsoft.com/office/drawing/2014/main" id="{2D7AE096-FA41-4166-8738-665AD7D16F48}"/>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06">
            <a:extLst xmlns:a="http://schemas.openxmlformats.org/drawingml/2006/main">
              <a:ext uri="{FF2B5EF4-FFF2-40B4-BE49-F238E27FC236}">
                <a16:creationId xmlns:a16="http://schemas.microsoft.com/office/drawing/2014/main" id="{4C40F458-F20B-49DF-B301-11E45CC664FC}"/>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06</a:t>
            </a:r>
          </a:p>
        </p:txBody>
      </p:sp>
      <p:graphicFrame>
        <p:nvGraphicFramePr>
          <p:cNvPr id="6" name="">
            <a:extLst xmlns:a="http://schemas.openxmlformats.org/drawingml/2006/main">
              <a:ext uri="{FF2B5EF4-FFF2-40B4-BE49-F238E27FC236}">
                <a16:creationId xmlns:a16="http://schemas.microsoft.com/office/drawing/2014/main" id="{BC305A7D-546C-4BC6-974D-E55652AC72AD}"/>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3657600"/>
                <a:gridCol w="3657600"/>
                <a:gridCol w="3657600"/>
              </a:tblGrid>
              <a:tr h="1081088">
                <a:tc>
                  <a:txBody>
                    <a:bodyPr/>
                    <a:lstStyle/>
                    <a:p>
                      <a:r>
                        <a:rPr sz="1800" b="1">
                          <a:solidFill>
                            <a:srgbClr val="153E75"/>
                          </a:solidFill>
                          <a:latin typeface="Arial"/>
                          <a:ea typeface="Arial"/>
                          <a:cs typeface="Arial"/>
                        </a:rPr>
                        <a:t>Góc nhìn</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Câu hỏi</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Ví dụ EShop</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1081088">
                <a:tc>
                  <a:txBody>
                    <a:bodyPr/>
                    <a:lstStyle/>
                    <a:p>
                      <a:r>
                        <a:rPr sz="1800">
                          <a:solidFill>
                            <a:srgbClr val="151B23"/>
                          </a:solidFill>
                          <a:latin typeface="Arial"/>
                          <a:ea typeface="Arial"/>
                          <a:cs typeface="Arial"/>
                        </a:rPr>
                        <a:t>Chức năng</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Response có đúng nghiệp vụ?</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Login trả token hợp lệ</a:t>
                      </a:r>
                    </a:p>
                  </a:txBody>
                  <a:tcPr marL="114300" marR="95250" marT="76200" marB="57150">
                    <a:lnR w="9525">
                      <a:solidFill>
                        <a:srgbClr val="D7DDE4"/>
                      </a:solidFill>
                      <a:prstDash val="solid"/>
                    </a:lnR>
                    <a:lnB w="9525">
                      <a:solidFill>
                        <a:srgbClr val="D7DDE4"/>
                      </a:solidFill>
                      <a:prstDash val="solid"/>
                    </a:lnB>
                    <a:solidFill>
                      <a:srgbClr val="FFFFFF"/>
                    </a:solidFill>
                  </a:tcPr>
                </a:tc>
              </a:tr>
              <a:tr h="1081088">
                <a:tc>
                  <a:txBody>
                    <a:bodyPr/>
                    <a:lstStyle/>
                    <a:p>
                      <a:r>
                        <a:rPr sz="1800">
                          <a:solidFill>
                            <a:srgbClr val="151B23"/>
                          </a:solidFill>
                          <a:latin typeface="Arial"/>
                          <a:ea typeface="Arial"/>
                          <a:cs typeface="Arial"/>
                        </a:rPr>
                        <a:t>Hiệu năng</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Đúng và đủ nhanh ở tải nào?</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p95 dưới mục tiêu ở 50 VU</a:t>
                      </a:r>
                    </a:p>
                  </a:txBody>
                  <a:tcPr marL="114300" marR="95250" marT="76200" marB="57150">
                    <a:lnR w="9525">
                      <a:solidFill>
                        <a:srgbClr val="D7DDE4"/>
                      </a:solidFill>
                      <a:prstDash val="solid"/>
                    </a:lnR>
                    <a:lnB w="9525">
                      <a:solidFill>
                        <a:srgbClr val="D7DDE4"/>
                      </a:solidFill>
                      <a:prstDash val="solid"/>
                    </a:lnB>
                    <a:solidFill>
                      <a:srgbClr val="FFFFFF"/>
                    </a:solidFill>
                  </a:tcPr>
                </a:tc>
              </a:tr>
              <a:tr h="1081088">
                <a:tc>
                  <a:txBody>
                    <a:bodyPr/>
                    <a:lstStyle/>
                    <a:p>
                      <a:r>
                        <a:rPr sz="1800">
                          <a:solidFill>
                            <a:srgbClr val="151B23"/>
                          </a:solidFill>
                          <a:latin typeface="Arial"/>
                          <a:ea typeface="Arial"/>
                          <a:cs typeface="Arial"/>
                        </a:rPr>
                        <a:t>Điều kiện kết luận</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Workload và dữ liệu có phù hợp?</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Checkout lỗi nhanh vẫn là lỗi</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100460095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KHÁI NIỆM / MỤC TIÊU">
            <a:extLst xmlns:a="http://schemas.openxmlformats.org/drawingml/2006/main">
              <a:ext uri="{FF2B5EF4-FFF2-40B4-BE49-F238E27FC236}">
                <a16:creationId xmlns:a16="http://schemas.microsoft.com/office/drawing/2014/main" id="{73D10D9C-3B92-466C-A8B0-E1D615F0EED1}"/>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KHÁI NIỆM / MỤC TIÊU</a:t>
            </a:r>
          </a:p>
        </p:txBody>
      </p:sp>
      <p:sp>
        <p:nvSpPr>
          <p:cNvPr id="3" name="Hiệu năng: tốc độ, tải và tài nguyên">
            <a:extLst xmlns:a="http://schemas.openxmlformats.org/drawingml/2006/main">
              <a:ext uri="{FF2B5EF4-FFF2-40B4-BE49-F238E27FC236}">
                <a16:creationId xmlns:a16="http://schemas.microsoft.com/office/drawing/2014/main" id="{8065DB4D-1215-442C-9052-9523152F57B1}"/>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Hiệu năng: tốc độ, tải và tài nguyên</a:t>
            </a:r>
          </a:p>
        </p:txBody>
      </p:sp>
      <p:sp>
        <p:nvSpPr>
          <p:cNvPr id="4" name="Performance Testing trên EShop">
            <a:extLst xmlns:a="http://schemas.openxmlformats.org/drawingml/2006/main">
              <a:ext uri="{FF2B5EF4-FFF2-40B4-BE49-F238E27FC236}">
                <a16:creationId xmlns:a16="http://schemas.microsoft.com/office/drawing/2014/main" id="{BB3C2529-F01F-449F-9A1D-841E64A8FFD6}"/>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PAGE_NUMBER">
            <a:extLst xmlns:a="http://schemas.openxmlformats.org/drawingml/2006/main">
              <a:ext uri="{FF2B5EF4-FFF2-40B4-BE49-F238E27FC236}">
                <a16:creationId xmlns:a16="http://schemas.microsoft.com/office/drawing/2014/main" id="{A5CB1E5B-8291-4C09-829F-1F9ACB87EC2F}"/>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07</a:t>
            </a:r>
          </a:p>
        </p:txBody>
      </p:sp>
      <p:graphicFrame>
        <p:nvGraphicFramePr>
          <p:cNvPr id="6" name="">
            <a:extLst xmlns:a="http://schemas.openxmlformats.org/drawingml/2006/main">
              <a:ext uri="{FF2B5EF4-FFF2-40B4-BE49-F238E27FC236}">
                <a16:creationId xmlns:a16="http://schemas.microsoft.com/office/drawing/2014/main" id="{F346EF7D-609D-489A-91A9-3BBDCC31F563}"/>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2381250"/>
                <a:gridCol w="4667250"/>
                <a:gridCol w="3924300"/>
              </a:tblGrid>
              <a:tr h="864870">
                <a:tc>
                  <a:txBody>
                    <a:bodyPr/>
                    <a:lstStyle/>
                    <a:p>
                      <a:r>
                        <a:rPr sz="1800" b="1">
                          <a:solidFill>
                            <a:srgbClr val="153E75"/>
                          </a:solidFill>
                          <a:latin typeface="Arial"/>
                          <a:ea typeface="Arial"/>
                          <a:cs typeface="Arial"/>
                        </a:rPr>
                        <a:t>Khái niệm</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Ý nghĩa</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Ví dụ minh họa EShop</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864870">
                <a:tc>
                  <a:txBody>
                    <a:bodyPr/>
                    <a:lstStyle/>
                    <a:p>
                      <a:r>
                        <a:rPr sz="1800">
                          <a:solidFill>
                            <a:srgbClr val="151B23"/>
                          </a:solidFill>
                          <a:latin typeface="Arial"/>
                          <a:ea typeface="Arial"/>
                          <a:cs typeface="Arial"/>
                        </a:rPr>
                        <a:t>Response time</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Thời gian hoàn thành một request theo phạm vi đo</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Search trả kết quả trong 200 ms</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Throughput</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Khối lượng xử lý trên một đơn vị thời gian</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100 HTTP request/giây</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Capacity</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Mức tải vẫn đáp ứng mục tiêu đã đặt</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Tải nào giữ p95 dưới 500 ms?</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Bottleneck</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Thành phần giới hạn khả năng xử lý</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CPU, truy vấn DB hoặc hàng đợi</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160589392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KHÁI NIỆM">
            <a:extLst xmlns:a="http://schemas.openxmlformats.org/drawingml/2006/main">
              <a:ext uri="{FF2B5EF4-FFF2-40B4-BE49-F238E27FC236}">
                <a16:creationId xmlns:a16="http://schemas.microsoft.com/office/drawing/2014/main" id="{772A2B33-D06B-43C3-B0B4-F3CABEA55934}"/>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KHÁI NIỆM</a:t>
            </a:r>
          </a:p>
        </p:txBody>
      </p:sp>
      <p:sp>
        <p:nvSpPr>
          <p:cNvPr id="3" name="Các loại kiểm thử hiệu năng">
            <a:extLst xmlns:a="http://schemas.openxmlformats.org/drawingml/2006/main">
              <a:ext uri="{FF2B5EF4-FFF2-40B4-BE49-F238E27FC236}">
                <a16:creationId xmlns:a16="http://schemas.microsoft.com/office/drawing/2014/main" id="{C160EB78-EBFC-4D30-8712-E5C3B9426A40}"/>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Các loại kiểm thử hiệu năng</a:t>
            </a:r>
          </a:p>
        </p:txBody>
      </p:sp>
      <p:sp>
        <p:nvSpPr>
          <p:cNvPr id="4" name="Performance Testing trên EShop">
            <a:extLst xmlns:a="http://schemas.openxmlformats.org/drawingml/2006/main">
              <a:ext uri="{FF2B5EF4-FFF2-40B4-BE49-F238E27FC236}">
                <a16:creationId xmlns:a16="http://schemas.microsoft.com/office/drawing/2014/main" id="{59EA5420-50A4-47CB-8741-F703C0DCA974}"/>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07">
            <a:extLst xmlns:a="http://schemas.openxmlformats.org/drawingml/2006/main">
              <a:ext uri="{FF2B5EF4-FFF2-40B4-BE49-F238E27FC236}">
                <a16:creationId xmlns:a16="http://schemas.microsoft.com/office/drawing/2014/main" id="{7EBB4084-E4E5-4700-BC46-EE669D050578}"/>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08</a:t>
            </a:r>
          </a:p>
        </p:txBody>
      </p:sp>
      <p:graphicFrame>
        <p:nvGraphicFramePr>
          <p:cNvPr id="6" name="">
            <a:extLst xmlns:a="http://schemas.openxmlformats.org/drawingml/2006/main">
              <a:ext uri="{FF2B5EF4-FFF2-40B4-BE49-F238E27FC236}">
                <a16:creationId xmlns:a16="http://schemas.microsoft.com/office/drawing/2014/main" id="{B410D606-1F5B-410F-AE8B-EF17E3EC0572}"/>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3657600"/>
                <a:gridCol w="3657600"/>
                <a:gridCol w="3657600"/>
              </a:tblGrid>
              <a:tr h="720725">
                <a:tc>
                  <a:txBody>
                    <a:bodyPr/>
                    <a:lstStyle/>
                    <a:p>
                      <a:r>
                        <a:rPr sz="1800" b="1">
                          <a:solidFill>
                            <a:srgbClr val="153E75"/>
                          </a:solidFill>
                          <a:latin typeface="Arial"/>
                          <a:ea typeface="Arial"/>
                          <a:cs typeface="Arial"/>
                        </a:rPr>
                        <a:t>Loại test</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Mục tiêu</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Dạng tải</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720725">
                <a:tc>
                  <a:txBody>
                    <a:bodyPr/>
                    <a:lstStyle/>
                    <a:p>
                      <a:r>
                        <a:rPr sz="1800">
                          <a:solidFill>
                            <a:srgbClr val="151B23"/>
                          </a:solidFill>
                          <a:latin typeface="Arial"/>
                          <a:ea typeface="Arial"/>
                          <a:cs typeface="Arial"/>
                        </a:rPr>
                        <a:t>Smoke</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Kiểm tra script và SUT cơ bản</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Rất nhỏ, ngắn</a:t>
                      </a:r>
                    </a:p>
                  </a:txBody>
                  <a:tcPr marL="114300" marR="95250" marT="76200" marB="57150">
                    <a:lnR w="9525">
                      <a:solidFill>
                        <a:srgbClr val="D7DDE4"/>
                      </a:solidFill>
                      <a:prstDash val="solid"/>
                    </a:lnR>
                    <a:lnB w="9525">
                      <a:solidFill>
                        <a:srgbClr val="D7DDE4"/>
                      </a:solidFill>
                      <a:prstDash val="solid"/>
                    </a:lnB>
                    <a:solidFill>
                      <a:srgbClr val="FFFFFF"/>
                    </a:solidFill>
                  </a:tcPr>
                </a:tc>
              </a:tr>
              <a:tr h="720725">
                <a:tc>
                  <a:txBody>
                    <a:bodyPr/>
                    <a:lstStyle/>
                    <a:p>
                      <a:r>
                        <a:rPr sz="1800">
                          <a:solidFill>
                            <a:srgbClr val="151B23"/>
                          </a:solidFill>
                          <a:latin typeface="Arial"/>
                          <a:ea typeface="Arial"/>
                          <a:cs typeface="Arial"/>
                        </a:rPr>
                        <a:t>Load / baseline</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Đo ở mức dự kiến, lập mốc</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Tải bình thường</a:t>
                      </a:r>
                    </a:p>
                  </a:txBody>
                  <a:tcPr marL="114300" marR="95250" marT="76200" marB="57150">
                    <a:lnR w="9525">
                      <a:solidFill>
                        <a:srgbClr val="D7DDE4"/>
                      </a:solidFill>
                      <a:prstDash val="solid"/>
                    </a:lnR>
                    <a:lnB w="9525">
                      <a:solidFill>
                        <a:srgbClr val="D7DDE4"/>
                      </a:solidFill>
                      <a:prstDash val="solid"/>
                    </a:lnB>
                    <a:solidFill>
                      <a:srgbClr val="FFFFFF"/>
                    </a:solidFill>
                  </a:tcPr>
                </a:tc>
              </a:tr>
              <a:tr h="720725">
                <a:tc>
                  <a:txBody>
                    <a:bodyPr/>
                    <a:lstStyle/>
                    <a:p>
                      <a:r>
                        <a:rPr sz="1800">
                          <a:solidFill>
                            <a:srgbClr val="151B23"/>
                          </a:solidFill>
                          <a:latin typeface="Arial"/>
                          <a:ea typeface="Arial"/>
                          <a:cs typeface="Arial"/>
                        </a:rPr>
                        <a:t>Stress</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Quan sát vùng suy giảm</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Cao hơn mức bình thường</a:t>
                      </a:r>
                    </a:p>
                  </a:txBody>
                  <a:tcPr marL="114300" marR="95250" marT="76200" marB="57150">
                    <a:lnR w="9525">
                      <a:solidFill>
                        <a:srgbClr val="D7DDE4"/>
                      </a:solidFill>
                      <a:prstDash val="solid"/>
                    </a:lnR>
                    <a:lnB w="9525">
                      <a:solidFill>
                        <a:srgbClr val="D7DDE4"/>
                      </a:solidFill>
                      <a:prstDash val="solid"/>
                    </a:lnB>
                    <a:solidFill>
                      <a:srgbClr val="FFFFFF"/>
                    </a:solidFill>
                  </a:tcPr>
                </a:tc>
              </a:tr>
              <a:tr h="720725">
                <a:tc>
                  <a:txBody>
                    <a:bodyPr/>
                    <a:lstStyle/>
                    <a:p>
                      <a:r>
                        <a:rPr sz="1800">
                          <a:solidFill>
                            <a:srgbClr val="151B23"/>
                          </a:solidFill>
                          <a:latin typeface="Arial"/>
                          <a:ea typeface="Arial"/>
                          <a:cs typeface="Arial"/>
                        </a:rPr>
                        <a:t>Spike</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Quan sát đột biến và phục hồi</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Tăng nhanh rồi giảm</a:t>
                      </a:r>
                    </a:p>
                  </a:txBody>
                  <a:tcPr marL="114300" marR="95250" marT="76200" marB="57150">
                    <a:lnR w="9525">
                      <a:solidFill>
                        <a:srgbClr val="D7DDE4"/>
                      </a:solidFill>
                      <a:prstDash val="solid"/>
                    </a:lnR>
                    <a:lnB w="9525">
                      <a:solidFill>
                        <a:srgbClr val="D7DDE4"/>
                      </a:solidFill>
                      <a:prstDash val="solid"/>
                    </a:lnB>
                    <a:solidFill>
                      <a:srgbClr val="FFFFFF"/>
                    </a:solidFill>
                  </a:tcPr>
                </a:tc>
              </a:tr>
              <a:tr h="720725">
                <a:tc>
                  <a:txBody>
                    <a:bodyPr/>
                    <a:lstStyle/>
                    <a:p>
                      <a:r>
                        <a:rPr sz="1800">
                          <a:solidFill>
                            <a:srgbClr val="151B23"/>
                          </a:solidFill>
                          <a:latin typeface="Arial"/>
                          <a:ea typeface="Arial"/>
                          <a:cs typeface="Arial"/>
                        </a:rPr>
                        <a:t>Soak</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Quan sát ổn định dài hạn</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Duy trì tải lâu</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159006271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KHÁI NIỆM / SMOKE">
            <a:extLst xmlns:a="http://schemas.openxmlformats.org/drawingml/2006/main">
              <a:ext uri="{FF2B5EF4-FFF2-40B4-BE49-F238E27FC236}">
                <a16:creationId xmlns:a16="http://schemas.microsoft.com/office/drawing/2014/main" id="{2F3E816F-D902-4DC3-9734-D7129C0160A1}"/>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KHÁI NIỆM / SMOKE</a:t>
            </a:r>
          </a:p>
        </p:txBody>
      </p:sp>
      <p:sp>
        <p:nvSpPr>
          <p:cNvPr id="3" name="Smoke test: mục tiêu và cách đọc lỗi">
            <a:extLst xmlns:a="http://schemas.openxmlformats.org/drawingml/2006/main">
              <a:ext uri="{FF2B5EF4-FFF2-40B4-BE49-F238E27FC236}">
                <a16:creationId xmlns:a16="http://schemas.microsoft.com/office/drawing/2014/main" id="{AAE16612-D648-4B71-931A-A84D86DA5142}"/>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Smoke test: mục tiêu và cách đọc lỗi</a:t>
            </a:r>
          </a:p>
        </p:txBody>
      </p:sp>
      <p:sp>
        <p:nvSpPr>
          <p:cNvPr id="4" name="Performance Testing trên EShop">
            <a:extLst xmlns:a="http://schemas.openxmlformats.org/drawingml/2006/main">
              <a:ext uri="{FF2B5EF4-FFF2-40B4-BE49-F238E27FC236}">
                <a16:creationId xmlns:a16="http://schemas.microsoft.com/office/drawing/2014/main" id="{E9F83EEC-4193-4F98-BA80-3F5A463F9583}"/>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PAGE_NUMBER">
            <a:extLst xmlns:a="http://schemas.openxmlformats.org/drawingml/2006/main">
              <a:ext uri="{FF2B5EF4-FFF2-40B4-BE49-F238E27FC236}">
                <a16:creationId xmlns:a16="http://schemas.microsoft.com/office/drawing/2014/main" id="{5CDE418F-761E-49BB-B77F-294C7A64E9B8}"/>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09</a:t>
            </a:r>
          </a:p>
        </p:txBody>
      </p:sp>
      <p:sp>
        <p:nvSpPr>
          <p:cNvPr id="6" name="Mục tiêu">
            <a:extLst xmlns:a="http://schemas.openxmlformats.org/drawingml/2006/main">
              <a:ext uri="{FF2B5EF4-FFF2-40B4-BE49-F238E27FC236}">
                <a16:creationId xmlns:a16="http://schemas.microsoft.com/office/drawing/2014/main" id="{787A592D-BF9E-4F40-88DB-801320A1F871}"/>
              </a:ext>
            </a:extLst>
          </p:cNvPr>
          <p:cNvSpPr>
            <a:spLocks xmlns:a="http://schemas.openxmlformats.org/drawingml/2006/main" noGrp="1"/>
          </p:cNvSpPr>
          <p:nvPr/>
        </p:nvSpPr>
        <p:spPr>
          <a:xfrm xmlns:a="http://schemas.openxmlformats.org/drawingml/2006/main">
            <a:off x="609600" y="17526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Mục tiêu</a:t>
            </a:r>
          </a:p>
        </p:txBody>
      </p:sp>
      <p:sp>
        <p:nvSpPr>
          <p:cNvPr id="7" name="Chạy tải rất nhỏ để xác nhận script gọi được SUT và kiểm tra được">
            <a:extLst xmlns:a="http://schemas.openxmlformats.org/drawingml/2006/main">
              <a:ext uri="{FF2B5EF4-FFF2-40B4-BE49-F238E27FC236}">
                <a16:creationId xmlns:a16="http://schemas.microsoft.com/office/drawing/2014/main" id="{8E1E210E-FA71-4B20-B595-104CEA9C2C91}"/>
              </a:ext>
            </a:extLst>
          </p:cNvPr>
          <p:cNvSpPr>
            <a:spLocks xmlns:a="http://schemas.openxmlformats.org/drawingml/2006/main" noGrp="1"/>
          </p:cNvSpPr>
          <p:nvPr/>
        </p:nvSpPr>
        <p:spPr>
          <a:xfrm xmlns:a="http://schemas.openxmlformats.org/drawingml/2006/main">
            <a:off x="609600" y="2143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Chạy tải rất nhỏ để xác nhận script gọi được SUT và kiểm tra được response.</a:t>
            </a:r>
          </a:p>
        </p:txBody>
      </p:sp>
      <p:sp>
        <p:nvSpPr>
          <p:cNvPr id="8" name="Trong web của nhóm">
            <a:extLst xmlns:a="http://schemas.openxmlformats.org/drawingml/2006/main">
              <a:ext uri="{FF2B5EF4-FFF2-40B4-BE49-F238E27FC236}">
                <a16:creationId xmlns:a16="http://schemas.microsoft.com/office/drawing/2014/main" id="{40351B13-61B3-4099-8D54-7B2F792A1BE3}"/>
              </a:ext>
            </a:extLst>
          </p:cNvPr>
          <p:cNvSpPr>
            <a:spLocks xmlns:a="http://schemas.openxmlformats.org/drawingml/2006/main" noGrp="1"/>
          </p:cNvSpPr>
          <p:nvPr/>
        </p:nvSpPr>
        <p:spPr>
          <a:xfrm xmlns:a="http://schemas.openxmlformats.org/drawingml/2006/main">
            <a:off x="609600" y="28003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Trong web của nhóm</a:t>
            </a:r>
          </a:p>
        </p:txBody>
      </p:sp>
      <p:sp>
        <p:nvSpPr>
          <p:cNvPr id="9" name="Mỗi script chạy 1 VU × 1 iteration. Login rồi chọn một nhánh nghi">
            <a:extLst xmlns:a="http://schemas.openxmlformats.org/drawingml/2006/main">
              <a:ext uri="{FF2B5EF4-FFF2-40B4-BE49-F238E27FC236}">
                <a16:creationId xmlns:a16="http://schemas.microsoft.com/office/drawing/2014/main" id="{5CB7D911-D2B1-49CD-923C-5272456144E0}"/>
              </a:ext>
            </a:extLst>
          </p:cNvPr>
          <p:cNvSpPr>
            <a:spLocks xmlns:a="http://schemas.openxmlformats.org/drawingml/2006/main" noGrp="1"/>
          </p:cNvSpPr>
          <p:nvPr/>
        </p:nvSpPr>
        <p:spPr>
          <a:xfrm xmlns:a="http://schemas.openxmlformats.org/drawingml/2006/main">
            <a:off x="609600" y="31908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Mỗi script chạy 1 VU × 1 iteration. Login rồi chọn một nhánh nghiệp vụ.</a:t>
            </a:r>
          </a:p>
        </p:txBody>
      </p:sp>
      <p:sp>
        <p:nvSpPr>
          <p:cNvPr id="10" name="Phân loại lỗi">
            <a:extLst xmlns:a="http://schemas.openxmlformats.org/drawingml/2006/main">
              <a:ext uri="{FF2B5EF4-FFF2-40B4-BE49-F238E27FC236}">
                <a16:creationId xmlns:a16="http://schemas.microsoft.com/office/drawing/2014/main" id="{6051F13D-E19E-483E-9447-74E4320D0CDB}"/>
              </a:ext>
            </a:extLst>
          </p:cNvPr>
          <p:cNvSpPr>
            <a:spLocks xmlns:a="http://schemas.openxmlformats.org/drawingml/2006/main" noGrp="1"/>
          </p:cNvSpPr>
          <p:nvPr/>
        </p:nvSpPr>
        <p:spPr>
          <a:xfrm xmlns:a="http://schemas.openxmlformats.org/drawingml/2006/main">
            <a:off x="609600" y="38481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Phân loại lỗi</a:t>
            </a:r>
          </a:p>
        </p:txBody>
      </p:sp>
      <p:sp>
        <p:nvSpPr>
          <p:cNvPr id="11" name="Connection refused: kiểm tra SUT/địa chỉ. 401/404: đối chiếu toke">
            <a:extLst xmlns:a="http://schemas.openxmlformats.org/drawingml/2006/main">
              <a:ext uri="{FF2B5EF4-FFF2-40B4-BE49-F238E27FC236}">
                <a16:creationId xmlns:a16="http://schemas.microsoft.com/office/drawing/2014/main" id="{A3EA7213-B2E8-4238-8025-8372EFED685D}"/>
              </a:ext>
            </a:extLst>
          </p:cNvPr>
          <p:cNvSpPr>
            <a:spLocks xmlns:a="http://schemas.openxmlformats.org/drawingml/2006/main" noGrp="1"/>
          </p:cNvSpPr>
          <p:nvPr/>
        </p:nvSpPr>
        <p:spPr>
          <a:xfrm xmlns:a="http://schemas.openxmlformats.org/drawingml/2006/main">
            <a:off x="609600" y="42386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Connection refused: kiểm tra SUT/địa chỉ. 401/404: đối chiếu token hoặc contract.</a:t>
            </a:r>
          </a:p>
        </p:txBody>
      </p:sp>
      <p:sp>
        <p:nvSpPr>
          <p:cNvPr id="12" name="Giới hạn">
            <a:extLst xmlns:a="http://schemas.openxmlformats.org/drawingml/2006/main">
              <a:ext uri="{FF2B5EF4-FFF2-40B4-BE49-F238E27FC236}">
                <a16:creationId xmlns:a16="http://schemas.microsoft.com/office/drawing/2014/main" id="{35EDE029-DFD7-442B-8AFA-A409E320D7A5}"/>
              </a:ext>
            </a:extLst>
          </p:cNvPr>
          <p:cNvSpPr>
            <a:spLocks xmlns:a="http://schemas.openxmlformats.org/drawingml/2006/main" noGrp="1"/>
          </p:cNvSpPr>
          <p:nvPr/>
        </p:nvSpPr>
        <p:spPr>
          <a:xfrm xmlns:a="http://schemas.openxmlformats.org/drawingml/2006/main">
            <a:off x="609600" y="48958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Giới hạn</a:t>
            </a:r>
          </a:p>
        </p:txBody>
      </p:sp>
      <p:sp>
        <p:nvSpPr>
          <p:cNvPr id="13" name="Smoke pass chỉ xác nhận nhánh đã chạy. Cần test riêng các nhánh v">
            <a:extLst xmlns:a="http://schemas.openxmlformats.org/drawingml/2006/main">
              <a:ext uri="{FF2B5EF4-FFF2-40B4-BE49-F238E27FC236}">
                <a16:creationId xmlns:a16="http://schemas.microsoft.com/office/drawing/2014/main" id="{D8748485-041B-4028-86C4-FED0A69C6E50}"/>
              </a:ext>
            </a:extLst>
          </p:cNvPr>
          <p:cNvSpPr>
            <a:spLocks xmlns:a="http://schemas.openxmlformats.org/drawingml/2006/main" noGrp="1"/>
          </p:cNvSpPr>
          <p:nvPr/>
        </p:nvSpPr>
        <p:spPr>
          <a:xfrm xmlns:a="http://schemas.openxmlformats.org/drawingml/2006/main">
            <a:off x="609600" y="52863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Smoke pass chỉ xác nhận nhánh đã chạy. Cần test riêng các nhánh và đo tải lớn hơn.</a:t>
            </a:r>
          </a:p>
        </p:txBody>
      </p:sp>
    </p:spTree>
    <p:extLst>
      <p:ext uri="{BB962C8B-B14F-4D97-AF65-F5344CB8AC3E}">
        <p14:creationId xmlns:p14="http://schemas.microsoft.com/office/powerpoint/2010/main" val="102759761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KHÁI NIỆM">
            <a:extLst xmlns:a="http://schemas.openxmlformats.org/drawingml/2006/main">
              <a:ext uri="{FF2B5EF4-FFF2-40B4-BE49-F238E27FC236}">
                <a16:creationId xmlns:a16="http://schemas.microsoft.com/office/drawing/2014/main" id="{0E55591E-5582-4F39-AF1C-B845A6DE400F}"/>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KHÁI NIỆM</a:t>
            </a:r>
          </a:p>
        </p:txBody>
      </p:sp>
      <p:sp>
        <p:nvSpPr>
          <p:cNvPr id="3" name="VU, iteration và request">
            <a:extLst xmlns:a="http://schemas.openxmlformats.org/drawingml/2006/main">
              <a:ext uri="{FF2B5EF4-FFF2-40B4-BE49-F238E27FC236}">
                <a16:creationId xmlns:a16="http://schemas.microsoft.com/office/drawing/2014/main" id="{1CE90A9C-6838-4CAB-ACDF-69113C5CC4AA}"/>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VU, iteration và request</a:t>
            </a:r>
          </a:p>
        </p:txBody>
      </p:sp>
      <p:sp>
        <p:nvSpPr>
          <p:cNvPr id="4" name="Performance Testing trên EShop">
            <a:extLst xmlns:a="http://schemas.openxmlformats.org/drawingml/2006/main">
              <a:ext uri="{FF2B5EF4-FFF2-40B4-BE49-F238E27FC236}">
                <a16:creationId xmlns:a16="http://schemas.microsoft.com/office/drawing/2014/main" id="{548C661F-09D6-406A-9EEC-6BC3206B4BDE}"/>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08">
            <a:extLst xmlns:a="http://schemas.openxmlformats.org/drawingml/2006/main">
              <a:ext uri="{FF2B5EF4-FFF2-40B4-BE49-F238E27FC236}">
                <a16:creationId xmlns:a16="http://schemas.microsoft.com/office/drawing/2014/main" id="{E3873114-8CC7-442A-84E1-7B674BE2C967}"/>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10</a:t>
            </a:r>
          </a:p>
        </p:txBody>
      </p:sp>
      <p:sp>
        <p:nvSpPr>
          <p:cNvPr id="6" name="01">
            <a:extLst xmlns:a="http://schemas.openxmlformats.org/drawingml/2006/main">
              <a:ext uri="{FF2B5EF4-FFF2-40B4-BE49-F238E27FC236}">
                <a16:creationId xmlns:a16="http://schemas.microsoft.com/office/drawing/2014/main" id="{0F07FB4B-C279-4AE9-8D0B-DA0F08C4F85C}"/>
              </a:ext>
            </a:extLst>
          </p:cNvPr>
          <p:cNvSpPr>
            <a:spLocks xmlns:a="http://schemas.openxmlformats.org/drawingml/2006/main" noGrp="1"/>
          </p:cNvSpPr>
          <p:nvPr/>
        </p:nvSpPr>
        <p:spPr>
          <a:xfrm xmlns:a="http://schemas.openxmlformats.org/drawingml/2006/main">
            <a:off x="628650" y="18002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01</a:t>
            </a:r>
          </a:p>
        </p:txBody>
      </p:sp>
      <p:sp>
        <p:nvSpPr>
          <p:cNvPr id="7" name="VU mô phỏng đơn vị người dùng thực thi script.">
            <a:extLst xmlns:a="http://schemas.openxmlformats.org/drawingml/2006/main">
              <a:ext uri="{FF2B5EF4-FFF2-40B4-BE49-F238E27FC236}">
                <a16:creationId xmlns:a16="http://schemas.microsoft.com/office/drawing/2014/main" id="{1C93516E-EACF-457D-B287-66BD8F6B49E4}"/>
              </a:ext>
            </a:extLst>
          </p:cNvPr>
          <p:cNvSpPr>
            <a:spLocks xmlns:a="http://schemas.openxmlformats.org/drawingml/2006/main" noGrp="1"/>
          </p:cNvSpPr>
          <p:nvPr/>
        </p:nvSpPr>
        <p:spPr>
          <a:xfrm xmlns:a="http://schemas.openxmlformats.org/drawingml/2006/main">
            <a:off x="1257300" y="17811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VU mô phỏng đơn vị người dùng thực thi script.</a:t>
            </a:r>
          </a:p>
        </p:txBody>
      </p:sp>
      <p:sp>
        <p:nvSpPr>
          <p:cNvPr id="8" name="02">
            <a:extLst xmlns:a="http://schemas.openxmlformats.org/drawingml/2006/main">
              <a:ext uri="{FF2B5EF4-FFF2-40B4-BE49-F238E27FC236}">
                <a16:creationId xmlns:a16="http://schemas.microsoft.com/office/drawing/2014/main" id="{FE5BB2EB-4C21-48EC-A9F3-13DD9275EAB1}"/>
              </a:ext>
            </a:extLst>
          </p:cNvPr>
          <p:cNvSpPr>
            <a:spLocks xmlns:a="http://schemas.openxmlformats.org/drawingml/2006/main" noGrp="1"/>
          </p:cNvSpPr>
          <p:nvPr/>
        </p:nvSpPr>
        <p:spPr>
          <a:xfrm xmlns:a="http://schemas.openxmlformats.org/drawingml/2006/main">
            <a:off x="628650" y="27527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02</a:t>
            </a:r>
          </a:p>
        </p:txBody>
      </p:sp>
      <p:sp>
        <p:nvSpPr>
          <p:cNvPr id="9" name="Iteration là một lượt chạy logic scenario.">
            <a:extLst xmlns:a="http://schemas.openxmlformats.org/drawingml/2006/main">
              <a:ext uri="{FF2B5EF4-FFF2-40B4-BE49-F238E27FC236}">
                <a16:creationId xmlns:a16="http://schemas.microsoft.com/office/drawing/2014/main" id="{D4A3FFF0-7AF3-444D-91A8-5546DB9B465F}"/>
              </a:ext>
            </a:extLst>
          </p:cNvPr>
          <p:cNvSpPr>
            <a:spLocks xmlns:a="http://schemas.openxmlformats.org/drawingml/2006/main" noGrp="1"/>
          </p:cNvSpPr>
          <p:nvPr/>
        </p:nvSpPr>
        <p:spPr>
          <a:xfrm xmlns:a="http://schemas.openxmlformats.org/drawingml/2006/main">
            <a:off x="1257300" y="27336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Iteration là một lượt chạy logic scenario.</a:t>
            </a:r>
          </a:p>
        </p:txBody>
      </p:sp>
      <p:sp>
        <p:nvSpPr>
          <p:cNvPr id="10" name="03">
            <a:extLst xmlns:a="http://schemas.openxmlformats.org/drawingml/2006/main">
              <a:ext uri="{FF2B5EF4-FFF2-40B4-BE49-F238E27FC236}">
                <a16:creationId xmlns:a16="http://schemas.microsoft.com/office/drawing/2014/main" id="{04DCE23A-5D65-4887-9D21-30A33713231B}"/>
              </a:ext>
            </a:extLst>
          </p:cNvPr>
          <p:cNvSpPr>
            <a:spLocks xmlns:a="http://schemas.openxmlformats.org/drawingml/2006/main" noGrp="1"/>
          </p:cNvSpPr>
          <p:nvPr/>
        </p:nvSpPr>
        <p:spPr>
          <a:xfrm xmlns:a="http://schemas.openxmlformats.org/drawingml/2006/main">
            <a:off x="628650" y="37052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03</a:t>
            </a:r>
          </a:p>
        </p:txBody>
      </p:sp>
      <p:sp>
        <p:nvSpPr>
          <p:cNvPr id="11" name="Một iteration có thể phát nhiều HTTP request.">
            <a:extLst xmlns:a="http://schemas.openxmlformats.org/drawingml/2006/main">
              <a:ext uri="{FF2B5EF4-FFF2-40B4-BE49-F238E27FC236}">
                <a16:creationId xmlns:a16="http://schemas.microsoft.com/office/drawing/2014/main" id="{13F3A2DD-8978-4B23-AC2B-F9F9412BAE69}"/>
              </a:ext>
            </a:extLst>
          </p:cNvPr>
          <p:cNvSpPr>
            <a:spLocks xmlns:a="http://schemas.openxmlformats.org/drawingml/2006/main" noGrp="1"/>
          </p:cNvSpPr>
          <p:nvPr/>
        </p:nvSpPr>
        <p:spPr>
          <a:xfrm xmlns:a="http://schemas.openxmlformats.org/drawingml/2006/main">
            <a:off x="1257300" y="36861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Một iteration có thể phát nhiều HTTP request.</a:t>
            </a:r>
          </a:p>
        </p:txBody>
      </p:sp>
      <p:sp>
        <p:nvSpPr>
          <p:cNvPr id="12" name="04">
            <a:extLst xmlns:a="http://schemas.openxmlformats.org/drawingml/2006/main">
              <a:ext uri="{FF2B5EF4-FFF2-40B4-BE49-F238E27FC236}">
                <a16:creationId xmlns:a16="http://schemas.microsoft.com/office/drawing/2014/main" id="{3F455999-6C79-4FD2-83B3-B77F7C10D4A9}"/>
              </a:ext>
            </a:extLst>
          </p:cNvPr>
          <p:cNvSpPr>
            <a:spLocks xmlns:a="http://schemas.openxmlformats.org/drawingml/2006/main" noGrp="1"/>
          </p:cNvSpPr>
          <p:nvPr/>
        </p:nvSpPr>
        <p:spPr>
          <a:xfrm xmlns:a="http://schemas.openxmlformats.org/drawingml/2006/main">
            <a:off x="628650" y="46577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04</a:t>
            </a:r>
          </a:p>
        </p:txBody>
      </p:sp>
      <p:sp>
        <p:nvSpPr>
          <p:cNvPr id="13" name="10 VU không đồng nghĩa 10 request mỗi giây.">
            <a:extLst xmlns:a="http://schemas.openxmlformats.org/drawingml/2006/main">
              <a:ext uri="{FF2B5EF4-FFF2-40B4-BE49-F238E27FC236}">
                <a16:creationId xmlns:a16="http://schemas.microsoft.com/office/drawing/2014/main" id="{39B506AC-893B-45E1-9DE9-956EAA738B57}"/>
              </a:ext>
            </a:extLst>
          </p:cNvPr>
          <p:cNvSpPr>
            <a:spLocks xmlns:a="http://schemas.openxmlformats.org/drawingml/2006/main" noGrp="1"/>
          </p:cNvSpPr>
          <p:nvPr/>
        </p:nvSpPr>
        <p:spPr>
          <a:xfrm xmlns:a="http://schemas.openxmlformats.org/drawingml/2006/main">
            <a:off x="1257300" y="46386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10 VU không đồng nghĩa 10 request mỗi giây.</a:t>
            </a:r>
          </a:p>
        </p:txBody>
      </p:sp>
    </p:spTree>
    <p:extLst>
      <p:ext uri="{BB962C8B-B14F-4D97-AF65-F5344CB8AC3E}">
        <p14:creationId xmlns:p14="http://schemas.microsoft.com/office/powerpoint/2010/main" val="121015484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KHÁI NIỆM / TẢI">
            <a:extLst xmlns:a="http://schemas.openxmlformats.org/drawingml/2006/main">
              <a:ext uri="{FF2B5EF4-FFF2-40B4-BE49-F238E27FC236}">
                <a16:creationId xmlns:a16="http://schemas.microsoft.com/office/drawing/2014/main" id="{9480A0CC-8E72-4CFA-9A86-063800835D28}"/>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KHÁI NIỆM / TẢI</a:t>
            </a:r>
          </a:p>
        </p:txBody>
      </p:sp>
      <p:sp>
        <p:nvSpPr>
          <p:cNvPr id="3" name="Concurrency và RPS qua một ví dụ">
            <a:extLst xmlns:a="http://schemas.openxmlformats.org/drawingml/2006/main">
              <a:ext uri="{FF2B5EF4-FFF2-40B4-BE49-F238E27FC236}">
                <a16:creationId xmlns:a16="http://schemas.microsoft.com/office/drawing/2014/main" id="{2825F49C-0777-4EB9-80EF-DD95B6169E5C}"/>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Concurrency và RPS qua một ví dụ</a:t>
            </a:r>
          </a:p>
        </p:txBody>
      </p:sp>
      <p:sp>
        <p:nvSpPr>
          <p:cNvPr id="4" name="Performance Testing trên EShop">
            <a:extLst xmlns:a="http://schemas.openxmlformats.org/drawingml/2006/main">
              <a:ext uri="{FF2B5EF4-FFF2-40B4-BE49-F238E27FC236}">
                <a16:creationId xmlns:a16="http://schemas.microsoft.com/office/drawing/2014/main" id="{A02CB05D-E5C6-422F-AA2E-825C1E7DF5C9}"/>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PAGE_NUMBER">
            <a:extLst xmlns:a="http://schemas.openxmlformats.org/drawingml/2006/main">
              <a:ext uri="{FF2B5EF4-FFF2-40B4-BE49-F238E27FC236}">
                <a16:creationId xmlns:a16="http://schemas.microsoft.com/office/drawing/2014/main" id="{A6CE43E7-8479-45AA-B326-FE0AC52432B8}"/>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11</a:t>
            </a:r>
          </a:p>
        </p:txBody>
      </p:sp>
      <p:sp>
        <p:nvSpPr>
          <p:cNvPr id="6" name="Concurrency">
            <a:extLst xmlns:a="http://schemas.openxmlformats.org/drawingml/2006/main">
              <a:ext uri="{FF2B5EF4-FFF2-40B4-BE49-F238E27FC236}">
                <a16:creationId xmlns:a16="http://schemas.microsoft.com/office/drawing/2014/main" id="{2FBDD97F-AABE-4F56-8648-343A760C255C}"/>
              </a:ext>
            </a:extLst>
          </p:cNvPr>
          <p:cNvSpPr>
            <a:spLocks xmlns:a="http://schemas.openxmlformats.org/drawingml/2006/main" noGrp="1"/>
          </p:cNvSpPr>
          <p:nvPr/>
        </p:nvSpPr>
        <p:spPr>
          <a:xfrm xmlns:a="http://schemas.openxmlformats.org/drawingml/2006/main">
            <a:off x="609600" y="17526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Concurrency</a:t>
            </a:r>
          </a:p>
        </p:txBody>
      </p:sp>
      <p:sp>
        <p:nvSpPr>
          <p:cNvPr id="7" name="Số người dùng hoặc tác vụ hoạt động đồng thời. Một VU đang sleep ">
            <a:extLst xmlns:a="http://schemas.openxmlformats.org/drawingml/2006/main">
              <a:ext uri="{FF2B5EF4-FFF2-40B4-BE49-F238E27FC236}">
                <a16:creationId xmlns:a16="http://schemas.microsoft.com/office/drawing/2014/main" id="{00F0FA31-F987-49B3-8E48-1576D717F415}"/>
              </a:ext>
            </a:extLst>
          </p:cNvPr>
          <p:cNvSpPr>
            <a:spLocks xmlns:a="http://schemas.openxmlformats.org/drawingml/2006/main" noGrp="1"/>
          </p:cNvSpPr>
          <p:nvPr/>
        </p:nvSpPr>
        <p:spPr>
          <a:xfrm xmlns:a="http://schemas.openxmlformats.org/drawingml/2006/main">
            <a:off x="609600" y="2143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Số người dùng hoặc tác vụ hoạt động đồng thời. Một VU đang sleep vẫn là VU hoạt động.</a:t>
            </a:r>
          </a:p>
        </p:txBody>
      </p:sp>
      <p:sp>
        <p:nvSpPr>
          <p:cNvPr id="8" name="Giả định minh họa">
            <a:extLst xmlns:a="http://schemas.openxmlformats.org/drawingml/2006/main">
              <a:ext uri="{FF2B5EF4-FFF2-40B4-BE49-F238E27FC236}">
                <a16:creationId xmlns:a16="http://schemas.microsoft.com/office/drawing/2014/main" id="{14BE5EBF-37B4-473E-AE7A-DB2A23156196}"/>
              </a:ext>
            </a:extLst>
          </p:cNvPr>
          <p:cNvSpPr>
            <a:spLocks xmlns:a="http://schemas.openxmlformats.org/drawingml/2006/main" noGrp="1"/>
          </p:cNvSpPr>
          <p:nvPr/>
        </p:nvSpPr>
        <p:spPr>
          <a:xfrm xmlns:a="http://schemas.openxmlformats.org/drawingml/2006/main">
            <a:off x="609600" y="28003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Giả định minh họa</a:t>
            </a:r>
          </a:p>
        </p:txBody>
      </p:sp>
      <p:sp>
        <p:nvSpPr>
          <p:cNvPr id="9" name="50 VU, mỗi iteration có 2 request mất tổng 0,4 giây và nghỉ 4,6 g">
            <a:extLst xmlns:a="http://schemas.openxmlformats.org/drawingml/2006/main">
              <a:ext uri="{FF2B5EF4-FFF2-40B4-BE49-F238E27FC236}">
                <a16:creationId xmlns:a16="http://schemas.microsoft.com/office/drawing/2014/main" id="{8EB026D7-EF46-4B22-84FF-E1C096F2F868}"/>
              </a:ext>
            </a:extLst>
          </p:cNvPr>
          <p:cNvSpPr>
            <a:spLocks xmlns:a="http://schemas.openxmlformats.org/drawingml/2006/main" noGrp="1"/>
          </p:cNvSpPr>
          <p:nvPr/>
        </p:nvSpPr>
        <p:spPr>
          <a:xfrm xmlns:a="http://schemas.openxmlformats.org/drawingml/2006/main">
            <a:off x="609600" y="31908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50 VU, mỗi iteration có 2 request mất tổng 0,4 giây và nghỉ 4,6 giây.</a:t>
            </a:r>
          </a:p>
        </p:txBody>
      </p:sp>
      <p:sp>
        <p:nvSpPr>
          <p:cNvPr id="10" name="Ước tính khi ổn định">
            <a:extLst xmlns:a="http://schemas.openxmlformats.org/drawingml/2006/main">
              <a:ext uri="{FF2B5EF4-FFF2-40B4-BE49-F238E27FC236}">
                <a16:creationId xmlns:a16="http://schemas.microsoft.com/office/drawing/2014/main" id="{C8588AC4-8766-498E-AF8F-19BC25540E46}"/>
              </a:ext>
            </a:extLst>
          </p:cNvPr>
          <p:cNvSpPr>
            <a:spLocks xmlns:a="http://schemas.openxmlformats.org/drawingml/2006/main" noGrp="1"/>
          </p:cNvSpPr>
          <p:nvPr/>
        </p:nvSpPr>
        <p:spPr>
          <a:xfrm xmlns:a="http://schemas.openxmlformats.org/drawingml/2006/main">
            <a:off x="609600" y="38481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Ước tính khi ổn định</a:t>
            </a:r>
          </a:p>
        </p:txBody>
      </p:sp>
      <p:sp>
        <p:nvSpPr>
          <p:cNvPr id="11" name="Một vòng mất 5 giây. Khoảng 50 / 5 = 10 iteration/giây, tương đươ">
            <a:extLst xmlns:a="http://schemas.openxmlformats.org/drawingml/2006/main">
              <a:ext uri="{FF2B5EF4-FFF2-40B4-BE49-F238E27FC236}">
                <a16:creationId xmlns:a16="http://schemas.microsoft.com/office/drawing/2014/main" id="{A22A118A-41B4-4643-9DED-1F37EA6DB374}"/>
              </a:ext>
            </a:extLst>
          </p:cNvPr>
          <p:cNvSpPr>
            <a:spLocks xmlns:a="http://schemas.openxmlformats.org/drawingml/2006/main" noGrp="1"/>
          </p:cNvSpPr>
          <p:nvPr/>
        </p:nvSpPr>
        <p:spPr>
          <a:xfrm xmlns:a="http://schemas.openxmlformats.org/drawingml/2006/main">
            <a:off x="609600" y="42386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Một vòng mất 5 giây. Khoảng 50 / 5 = 10 iteration/giây, tương đương 20 RPS.</a:t>
            </a:r>
          </a:p>
        </p:txBody>
      </p:sp>
      <p:sp>
        <p:nvSpPr>
          <p:cNvPr id="12" name="Điều kiện áp dụng">
            <a:extLst xmlns:a="http://schemas.openxmlformats.org/drawingml/2006/main">
              <a:ext uri="{FF2B5EF4-FFF2-40B4-BE49-F238E27FC236}">
                <a16:creationId xmlns:a16="http://schemas.microsoft.com/office/drawing/2014/main" id="{9EF53607-FF19-4DDE-A1DA-980397F28DA1}"/>
              </a:ext>
            </a:extLst>
          </p:cNvPr>
          <p:cNvSpPr>
            <a:spLocks xmlns:a="http://schemas.openxmlformats.org/drawingml/2006/main" noGrp="1"/>
          </p:cNvSpPr>
          <p:nvPr/>
        </p:nvSpPr>
        <p:spPr>
          <a:xfrm xmlns:a="http://schemas.openxmlformats.org/drawingml/2006/main">
            <a:off x="609600" y="48958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Điều kiện áp dụng</a:t>
            </a:r>
          </a:p>
        </p:txBody>
      </p:sp>
      <p:sp>
        <p:nvSpPr>
          <p:cNvPr id="13" name="Ví dụ giả sử request tuần tự và các vòng giống nhau. Luôn đối chi">
            <a:extLst xmlns:a="http://schemas.openxmlformats.org/drawingml/2006/main">
              <a:ext uri="{FF2B5EF4-FFF2-40B4-BE49-F238E27FC236}">
                <a16:creationId xmlns:a16="http://schemas.microsoft.com/office/drawing/2014/main" id="{F500A3A8-9454-4CF8-B5E2-A4BC9FC6711E}"/>
              </a:ext>
            </a:extLst>
          </p:cNvPr>
          <p:cNvSpPr>
            <a:spLocks xmlns:a="http://schemas.openxmlformats.org/drawingml/2006/main" noGrp="1"/>
          </p:cNvSpPr>
          <p:nvPr/>
        </p:nvSpPr>
        <p:spPr>
          <a:xfrm xmlns:a="http://schemas.openxmlformats.org/drawingml/2006/main">
            <a:off x="609600" y="52863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Ví dụ giả sử request tuần tự và các vòng giống nhau. Luôn đối chiếu RPS thực đo.</a:t>
            </a:r>
          </a:p>
        </p:txBody>
      </p:sp>
    </p:spTree>
    <p:extLst>
      <p:ext uri="{BB962C8B-B14F-4D97-AF65-F5344CB8AC3E}">
        <p14:creationId xmlns:p14="http://schemas.microsoft.com/office/powerpoint/2010/main" val="6882068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KHÁI NIỆM">
            <a:extLst xmlns:a="http://schemas.openxmlformats.org/drawingml/2006/main">
              <a:ext uri="{FF2B5EF4-FFF2-40B4-BE49-F238E27FC236}">
                <a16:creationId xmlns:a16="http://schemas.microsoft.com/office/drawing/2014/main" id="{A6C1A6DD-6A28-417F-907F-BFF0BFBB7D73}"/>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KHÁI NIỆM</a:t>
            </a:r>
          </a:p>
        </p:txBody>
      </p:sp>
      <p:sp>
        <p:nvSpPr>
          <p:cNvPr id="3" name="Workload của các phần thực nghiệm">
            <a:extLst xmlns:a="http://schemas.openxmlformats.org/drawingml/2006/main">
              <a:ext uri="{FF2B5EF4-FFF2-40B4-BE49-F238E27FC236}">
                <a16:creationId xmlns:a16="http://schemas.microsoft.com/office/drawing/2014/main" id="{EF0E36D5-72DD-4EE0-97DF-934C36824C10}"/>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Workload của các phần thực nghiệm</a:t>
            </a:r>
          </a:p>
        </p:txBody>
      </p:sp>
      <p:sp>
        <p:nvSpPr>
          <p:cNvPr id="4" name="Performance Testing trên EShop">
            <a:extLst xmlns:a="http://schemas.openxmlformats.org/drawingml/2006/main">
              <a:ext uri="{FF2B5EF4-FFF2-40B4-BE49-F238E27FC236}">
                <a16:creationId xmlns:a16="http://schemas.microsoft.com/office/drawing/2014/main" id="{98353010-1695-4DCD-8419-ECBF7E28C6C5}"/>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09">
            <a:extLst xmlns:a="http://schemas.openxmlformats.org/drawingml/2006/main">
              <a:ext uri="{FF2B5EF4-FFF2-40B4-BE49-F238E27FC236}">
                <a16:creationId xmlns:a16="http://schemas.microsoft.com/office/drawing/2014/main" id="{62C66D03-3532-4565-989A-728CA3C77C43}"/>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12</a:t>
            </a:r>
          </a:p>
        </p:txBody>
      </p:sp>
      <p:graphicFrame>
        <p:nvGraphicFramePr>
          <p:cNvPr id="6" name="">
            <a:extLst xmlns:a="http://schemas.openxmlformats.org/drawingml/2006/main">
              <a:ext uri="{FF2B5EF4-FFF2-40B4-BE49-F238E27FC236}">
                <a16:creationId xmlns:a16="http://schemas.microsoft.com/office/drawing/2014/main" id="{E5A03978-6788-4F1A-BCA1-87DFAA48884C}"/>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3619500"/>
                <a:gridCol w="4381500"/>
                <a:gridCol w="2971800"/>
              </a:tblGrid>
              <a:tr h="1441450">
                <a:tc>
                  <a:txBody>
                    <a:bodyPr/>
                    <a:lstStyle/>
                    <a:p>
                      <a:r>
                        <a:rPr sz="1800" b="1">
                          <a:solidFill>
                            <a:srgbClr val="153E75"/>
                          </a:solidFill>
                          <a:latin typeface="Arial"/>
                          <a:ea typeface="Arial"/>
                          <a:cs typeface="Arial"/>
                        </a:rPr>
                        <a:t>Phần</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Mix hành động</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Login</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1441450">
                <a:tc>
                  <a:txBody>
                    <a:bodyPr/>
                    <a:lstStyle/>
                    <a:p>
                      <a:r>
                        <a:rPr sz="1800">
                          <a:solidFill>
                            <a:srgbClr val="151B23"/>
                          </a:solidFill>
                          <a:latin typeface="Arial"/>
                          <a:ea typeface="Arial"/>
                          <a:cs typeface="Arial"/>
                        </a:rPr>
                        <a:t>k6 của Quốc Thái</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55% Search, 25% Detail</a:t>
                      </a:r>
                    </a:p>
                    <a:p>
                      <a:r>
                        <a:rPr sz="1800">
                          <a:solidFill>
                            <a:srgbClr val="151B23"/>
                          </a:solidFill>
                          <a:latin typeface="Arial"/>
                          <a:ea typeface="Arial"/>
                          <a:cs typeface="Arial"/>
                        </a:rPr>
                        <a:t>14% Cart, 6% Checkout</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Lazy login, token riêng VU</a:t>
                      </a:r>
                    </a:p>
                  </a:txBody>
                  <a:tcPr marL="114300" marR="95250" marT="76200" marB="57150">
                    <a:lnR w="9525">
                      <a:solidFill>
                        <a:srgbClr val="D7DDE4"/>
                      </a:solidFill>
                      <a:prstDash val="solid"/>
                    </a:lnR>
                    <a:lnB w="9525">
                      <a:solidFill>
                        <a:srgbClr val="D7DDE4"/>
                      </a:solidFill>
                      <a:prstDash val="solid"/>
                    </a:lnB>
                    <a:solidFill>
                      <a:srgbClr val="FFFFFF"/>
                    </a:solidFill>
                  </a:tcPr>
                </a:tc>
              </a:tr>
              <a:tr h="1441450">
                <a:tc>
                  <a:txBody>
                    <a:bodyPr/>
                    <a:lstStyle/>
                    <a:p>
                      <a:r>
                        <a:rPr sz="1800">
                          <a:solidFill>
                            <a:srgbClr val="151B23"/>
                          </a:solidFill>
                          <a:latin typeface="Arial"/>
                          <a:ea typeface="Arial"/>
                          <a:cs typeface="Arial"/>
                        </a:rPr>
                        <a:t>JMeter và script AI</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55% Search, 25% Detail</a:t>
                      </a:r>
                    </a:p>
                    <a:p>
                      <a:r>
                        <a:rPr sz="1800">
                          <a:solidFill>
                            <a:srgbClr val="151B23"/>
                          </a:solidFill>
                          <a:latin typeface="Arial"/>
                          <a:ea typeface="Arial"/>
                          <a:cs typeface="Arial"/>
                        </a:rPr>
                        <a:t>20% Checkout</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Theo test plan/source</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185644593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HIẾT KẾ TẢI / WORKLOAD">
            <a:extLst xmlns:a="http://schemas.openxmlformats.org/drawingml/2006/main">
              <a:ext uri="{FF2B5EF4-FFF2-40B4-BE49-F238E27FC236}">
                <a16:creationId xmlns:a16="http://schemas.microsoft.com/office/drawing/2014/main" id="{F9569355-36F5-43A6-8EC1-32EB7575E411}"/>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THIẾT KẾ TẢI / WORKLOAD</a:t>
            </a:r>
          </a:p>
        </p:txBody>
      </p:sp>
      <p:sp>
        <p:nvSpPr>
          <p:cNvPr id="3" name="Tỷ lệ workload và cách hiện thực trong k6">
            <a:extLst xmlns:a="http://schemas.openxmlformats.org/drawingml/2006/main">
              <a:ext uri="{FF2B5EF4-FFF2-40B4-BE49-F238E27FC236}">
                <a16:creationId xmlns:a16="http://schemas.microsoft.com/office/drawing/2014/main" id="{B7588AB7-39C6-4F71-B968-A122A261DE9B}"/>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Tỷ lệ workload và cách hiện thực trong k6</a:t>
            </a:r>
          </a:p>
        </p:txBody>
      </p:sp>
      <p:sp>
        <p:nvSpPr>
          <p:cNvPr id="4" name="Performance Testing trên EShop">
            <a:extLst xmlns:a="http://schemas.openxmlformats.org/drawingml/2006/main">
              <a:ext uri="{FF2B5EF4-FFF2-40B4-BE49-F238E27FC236}">
                <a16:creationId xmlns:a16="http://schemas.microsoft.com/office/drawing/2014/main" id="{0296D541-D536-4A6A-826D-FA148713771C}"/>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PAGE_NUMBER">
            <a:extLst xmlns:a="http://schemas.openxmlformats.org/drawingml/2006/main">
              <a:ext uri="{FF2B5EF4-FFF2-40B4-BE49-F238E27FC236}">
                <a16:creationId xmlns:a16="http://schemas.microsoft.com/office/drawing/2014/main" id="{F4AAA455-7B8C-4C99-8E83-96E02C3D2D0C}"/>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13</a:t>
            </a:r>
          </a:p>
        </p:txBody>
      </p:sp>
      <p:sp>
        <p:nvSpPr>
          <p:cNvPr id="6" name="Tỷ lệ hành vi">
            <a:extLst xmlns:a="http://schemas.openxmlformats.org/drawingml/2006/main">
              <a:ext uri="{FF2B5EF4-FFF2-40B4-BE49-F238E27FC236}">
                <a16:creationId xmlns:a16="http://schemas.microsoft.com/office/drawing/2014/main" id="{6BFF7C73-CE74-49A7-AC65-D5603A20319E}"/>
              </a:ext>
            </a:extLst>
          </p:cNvPr>
          <p:cNvSpPr>
            <a:spLocks xmlns:a="http://schemas.openxmlformats.org/drawingml/2006/main" noGrp="1"/>
          </p:cNvSpPr>
          <p:nvPr/>
        </p:nvSpPr>
        <p:spPr>
          <a:xfrm xmlns:a="http://schemas.openxmlformats.org/drawingml/2006/main">
            <a:off x="609600" y="17526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Tỷ lệ hành vi</a:t>
            </a:r>
          </a:p>
        </p:txBody>
      </p:sp>
      <p:sp>
        <p:nvSpPr>
          <p:cNvPr id="7" name="55/25/20 mô tả xác suất chọn Search, Detail và Checkout trong một">
            <a:extLst xmlns:a="http://schemas.openxmlformats.org/drawingml/2006/main">
              <a:ext uri="{FF2B5EF4-FFF2-40B4-BE49-F238E27FC236}">
                <a16:creationId xmlns:a16="http://schemas.microsoft.com/office/drawing/2014/main" id="{EEB83216-570F-44E9-8C27-CCB570AF8E31}"/>
              </a:ext>
            </a:extLst>
          </p:cNvPr>
          <p:cNvSpPr>
            <a:spLocks xmlns:a="http://schemas.openxmlformats.org/drawingml/2006/main" noGrp="1"/>
          </p:cNvSpPr>
          <p:nvPr/>
        </p:nvSpPr>
        <p:spPr>
          <a:xfrm xmlns:a="http://schemas.openxmlformats.org/drawingml/2006/main">
            <a:off x="609600" y="2143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55/25/20 mô tả xác suất chọn Search, Detail và Checkout trong một lượt.</a:t>
            </a:r>
          </a:p>
        </p:txBody>
      </p:sp>
      <p:sp>
        <p:nvSpPr>
          <p:cNvPr id="8" name="Nhánh ngẫu nhiên">
            <a:extLst xmlns:a="http://schemas.openxmlformats.org/drawingml/2006/main">
              <a:ext uri="{FF2B5EF4-FFF2-40B4-BE49-F238E27FC236}">
                <a16:creationId xmlns:a16="http://schemas.microsoft.com/office/drawing/2014/main" id="{73D3DC0E-47B7-48FB-980F-B7AFD7103DC0}"/>
              </a:ext>
            </a:extLst>
          </p:cNvPr>
          <p:cNvSpPr>
            <a:spLocks xmlns:a="http://schemas.openxmlformats.org/drawingml/2006/main" noGrp="1"/>
          </p:cNvSpPr>
          <p:nvPr/>
        </p:nvSpPr>
        <p:spPr>
          <a:xfrm xmlns:a="http://schemas.openxmlformats.org/drawingml/2006/main">
            <a:off x="609600" y="28003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Nhánh ngẫu nhiên</a:t>
            </a:r>
          </a:p>
        </p:txBody>
      </p:sp>
      <p:sp>
        <p:nvSpPr>
          <p:cNvPr id="9" name="r &lt; 0.55 chọn Search. r &lt; 0.80 chọn Detail. Phần còn lại chọn Che">
            <a:extLst xmlns:a="http://schemas.openxmlformats.org/drawingml/2006/main">
              <a:ext uri="{FF2B5EF4-FFF2-40B4-BE49-F238E27FC236}">
                <a16:creationId xmlns:a16="http://schemas.microsoft.com/office/drawing/2014/main" id="{470F4F2E-581E-43C2-8EA6-5EB63C28D19D}"/>
              </a:ext>
            </a:extLst>
          </p:cNvPr>
          <p:cNvSpPr>
            <a:spLocks xmlns:a="http://schemas.openxmlformats.org/drawingml/2006/main" noGrp="1"/>
          </p:cNvSpPr>
          <p:nvPr/>
        </p:nvSpPr>
        <p:spPr>
          <a:xfrm xmlns:a="http://schemas.openxmlformats.org/drawingml/2006/main">
            <a:off x="609600" y="31908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if r &lt; 0.55: Search. else if r &lt; 0.80: Detail. else: Checkout.</a:t>
            </a:r>
          </a:p>
        </p:txBody>
      </p:sp>
      <p:sp>
        <p:nvSpPr>
          <p:cNvPr id="10" name="Một giả thuyết khác">
            <a:extLst xmlns:a="http://schemas.openxmlformats.org/drawingml/2006/main">
              <a:ext uri="{FF2B5EF4-FFF2-40B4-BE49-F238E27FC236}">
                <a16:creationId xmlns:a16="http://schemas.microsoft.com/office/drawing/2014/main" id="{DD7B136E-F1B0-4BCD-85AB-650664DF9B36}"/>
              </a:ext>
            </a:extLst>
          </p:cNvPr>
          <p:cNvSpPr>
            <a:spLocks xmlns:a="http://schemas.openxmlformats.org/drawingml/2006/main" noGrp="1"/>
          </p:cNvSpPr>
          <p:nvPr/>
        </p:nvSpPr>
        <p:spPr>
          <a:xfrm xmlns:a="http://schemas.openxmlformats.org/drawingml/2006/main">
            <a:off x="609600" y="38481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Một giả thuyết khác</a:t>
            </a:r>
          </a:p>
        </p:txBody>
      </p:sp>
      <p:sp>
        <p:nvSpPr>
          <p:cNvPr id="11" name="Khuyến mãi có thể dùng 40/20/40 để khảo sát nhiều Checkout hơn. Đ">
            <a:extLst xmlns:a="http://schemas.openxmlformats.org/drawingml/2006/main">
              <a:ext uri="{FF2B5EF4-FFF2-40B4-BE49-F238E27FC236}">
                <a16:creationId xmlns:a16="http://schemas.microsoft.com/office/drawing/2014/main" id="{34AD7650-B433-49C5-ACEB-26F89422D6D5}"/>
              </a:ext>
            </a:extLst>
          </p:cNvPr>
          <p:cNvSpPr>
            <a:spLocks xmlns:a="http://schemas.openxmlformats.org/drawingml/2006/main" noGrp="1"/>
          </p:cNvSpPr>
          <p:nvPr/>
        </p:nvSpPr>
        <p:spPr>
          <a:xfrm xmlns:a="http://schemas.openxmlformats.org/drawingml/2006/main">
            <a:off x="609600" y="42386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Khuyến mãi có thể dùng 40/20/40 để khảo sát nhiều Checkout hơn. Đây là ví dụ chưa chạy.</a:t>
            </a:r>
          </a:p>
        </p:txBody>
      </p:sp>
      <p:sp>
        <p:nvSpPr>
          <p:cNvPr id="12" name="Phân bổ VU khác tỷ lệ request">
            <a:extLst xmlns:a="http://schemas.openxmlformats.org/drawingml/2006/main">
              <a:ext uri="{FF2B5EF4-FFF2-40B4-BE49-F238E27FC236}">
                <a16:creationId xmlns:a16="http://schemas.microsoft.com/office/drawing/2014/main" id="{34626E5B-FCC0-4500-A3FD-4ECDF36B0AE4}"/>
              </a:ext>
            </a:extLst>
          </p:cNvPr>
          <p:cNvSpPr>
            <a:spLocks xmlns:a="http://schemas.openxmlformats.org/drawingml/2006/main" noGrp="1"/>
          </p:cNvSpPr>
          <p:nvPr/>
        </p:nvSpPr>
        <p:spPr>
          <a:xfrm xmlns:a="http://schemas.openxmlformats.org/drawingml/2006/main">
            <a:off x="609600" y="48958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Phân bổ VU khác tỷ lệ request</a:t>
            </a:r>
          </a:p>
        </p:txBody>
      </p:sp>
      <p:sp>
        <p:nvSpPr>
          <p:cNvPr id="13" name="28/12/10 VU là 56%/24%/20% số VU. Tỷ lệ request còn phụ thuộc tốc">
            <a:extLst xmlns:a="http://schemas.openxmlformats.org/drawingml/2006/main">
              <a:ext uri="{FF2B5EF4-FFF2-40B4-BE49-F238E27FC236}">
                <a16:creationId xmlns:a16="http://schemas.microsoft.com/office/drawing/2014/main" id="{5458D9DE-C2EC-4C49-95E4-D9F596E1D092}"/>
              </a:ext>
            </a:extLst>
          </p:cNvPr>
          <p:cNvSpPr>
            <a:spLocks xmlns:a="http://schemas.openxmlformats.org/drawingml/2006/main" noGrp="1"/>
          </p:cNvSpPr>
          <p:nvPr/>
        </p:nvSpPr>
        <p:spPr>
          <a:xfrm xmlns:a="http://schemas.openxmlformats.org/drawingml/2006/main">
            <a:off x="609600" y="52863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28/12/10 VU là 56%/24%/20% số VU. Tỷ lệ request còn phụ thuộc tốc độ từng nhánh.</a:t>
            </a:r>
          </a:p>
        </p:txBody>
      </p:sp>
    </p:spTree>
    <p:extLst>
      <p:ext uri="{BB962C8B-B14F-4D97-AF65-F5344CB8AC3E}">
        <p14:creationId xmlns:p14="http://schemas.microsoft.com/office/powerpoint/2010/main" val="41051795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KHÁI NIỆM">
            <a:extLst xmlns:a="http://schemas.openxmlformats.org/drawingml/2006/main">
              <a:ext uri="{FF2B5EF4-FFF2-40B4-BE49-F238E27FC236}">
                <a16:creationId xmlns:a16="http://schemas.microsoft.com/office/drawing/2014/main" id="{CE9858CC-60DA-4A2A-9044-D7210AA58F3E}"/>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KHÁI NIỆM</a:t>
            </a:r>
          </a:p>
        </p:txBody>
      </p:sp>
      <p:sp>
        <p:nvSpPr>
          <p:cNvPr id="3" name="Think-time và mô hình tạo tải">
            <a:extLst xmlns:a="http://schemas.openxmlformats.org/drawingml/2006/main">
              <a:ext uri="{FF2B5EF4-FFF2-40B4-BE49-F238E27FC236}">
                <a16:creationId xmlns:a16="http://schemas.microsoft.com/office/drawing/2014/main" id="{B38206DE-4D16-4C51-8A9F-5804E369637D}"/>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Think-time và mô hình tạo tải</a:t>
            </a:r>
          </a:p>
        </p:txBody>
      </p:sp>
      <p:sp>
        <p:nvSpPr>
          <p:cNvPr id="4" name="Performance Testing trên EShop">
            <a:extLst xmlns:a="http://schemas.openxmlformats.org/drawingml/2006/main">
              <a:ext uri="{FF2B5EF4-FFF2-40B4-BE49-F238E27FC236}">
                <a16:creationId xmlns:a16="http://schemas.microsoft.com/office/drawing/2014/main" id="{AFA93A94-2E87-41B2-ABED-90BD926A0FBE}"/>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10">
            <a:extLst xmlns:a="http://schemas.openxmlformats.org/drawingml/2006/main">
              <a:ext uri="{FF2B5EF4-FFF2-40B4-BE49-F238E27FC236}">
                <a16:creationId xmlns:a16="http://schemas.microsoft.com/office/drawing/2014/main" id="{4F9F810D-C69A-40CB-A281-27F66263412E}"/>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14</a:t>
            </a:r>
          </a:p>
        </p:txBody>
      </p:sp>
      <p:sp>
        <p:nvSpPr>
          <p:cNvPr id="6" name="01">
            <a:extLst xmlns:a="http://schemas.openxmlformats.org/drawingml/2006/main">
              <a:ext uri="{FF2B5EF4-FFF2-40B4-BE49-F238E27FC236}">
                <a16:creationId xmlns:a16="http://schemas.microsoft.com/office/drawing/2014/main" id="{32E9C37A-C19B-4799-AF03-95597A0FACE3}"/>
              </a:ext>
            </a:extLst>
          </p:cNvPr>
          <p:cNvSpPr>
            <a:spLocks xmlns:a="http://schemas.openxmlformats.org/drawingml/2006/main" noGrp="1"/>
          </p:cNvSpPr>
          <p:nvPr/>
        </p:nvSpPr>
        <p:spPr>
          <a:xfrm xmlns:a="http://schemas.openxmlformats.org/drawingml/2006/main">
            <a:off x="628650" y="18002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01</a:t>
            </a:r>
          </a:p>
        </p:txBody>
      </p:sp>
      <p:sp>
        <p:nvSpPr>
          <p:cNvPr id="7" name="Think-time mô phỏng thời gian đọc hoặc thao tác của người dùng.">
            <a:extLst xmlns:a="http://schemas.openxmlformats.org/drawingml/2006/main">
              <a:ext uri="{FF2B5EF4-FFF2-40B4-BE49-F238E27FC236}">
                <a16:creationId xmlns:a16="http://schemas.microsoft.com/office/drawing/2014/main" id="{35FD1C22-0BE6-4F71-AC07-1A062D099D21}"/>
              </a:ext>
            </a:extLst>
          </p:cNvPr>
          <p:cNvSpPr>
            <a:spLocks xmlns:a="http://schemas.openxmlformats.org/drawingml/2006/main" noGrp="1"/>
          </p:cNvSpPr>
          <p:nvPr/>
        </p:nvSpPr>
        <p:spPr>
          <a:xfrm xmlns:a="http://schemas.openxmlformats.org/drawingml/2006/main">
            <a:off x="1257300" y="17811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Think-time mô phỏng thời gian đọc hoặc thao tác của người dùng.</a:t>
            </a:r>
          </a:p>
        </p:txBody>
      </p:sp>
      <p:sp>
        <p:nvSpPr>
          <p:cNvPr id="8" name="02">
            <a:extLst xmlns:a="http://schemas.openxmlformats.org/drawingml/2006/main">
              <a:ext uri="{FF2B5EF4-FFF2-40B4-BE49-F238E27FC236}">
                <a16:creationId xmlns:a16="http://schemas.microsoft.com/office/drawing/2014/main" id="{A31E6430-29A5-4EF8-8636-E3D982E5F19A}"/>
              </a:ext>
            </a:extLst>
          </p:cNvPr>
          <p:cNvSpPr>
            <a:spLocks xmlns:a="http://schemas.openxmlformats.org/drawingml/2006/main" noGrp="1"/>
          </p:cNvSpPr>
          <p:nvPr/>
        </p:nvSpPr>
        <p:spPr>
          <a:xfrm xmlns:a="http://schemas.openxmlformats.org/drawingml/2006/main">
            <a:off x="628650" y="27527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02</a:t>
            </a:r>
          </a:p>
        </p:txBody>
      </p:sp>
      <p:sp>
        <p:nvSpPr>
          <p:cNvPr id="9" name="sleep làm iteration dài hơn, không cộng vào duration của request ">
            <a:extLst xmlns:a="http://schemas.openxmlformats.org/drawingml/2006/main">
              <a:ext uri="{FF2B5EF4-FFF2-40B4-BE49-F238E27FC236}">
                <a16:creationId xmlns:a16="http://schemas.microsoft.com/office/drawing/2014/main" id="{E2EE2427-19A3-4929-9359-5EC85390CC07}"/>
              </a:ext>
            </a:extLst>
          </p:cNvPr>
          <p:cNvSpPr>
            <a:spLocks xmlns:a="http://schemas.openxmlformats.org/drawingml/2006/main" noGrp="1"/>
          </p:cNvSpPr>
          <p:nvPr/>
        </p:nvSpPr>
        <p:spPr>
          <a:xfrm xmlns:a="http://schemas.openxmlformats.org/drawingml/2006/main">
            <a:off x="1257300" y="27336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sleep làm iteration dài hơn, không cộng vào duration của request trước.</a:t>
            </a:r>
          </a:p>
        </p:txBody>
      </p:sp>
      <p:sp>
        <p:nvSpPr>
          <p:cNvPr id="10" name="03">
            <a:extLst xmlns:a="http://schemas.openxmlformats.org/drawingml/2006/main">
              <a:ext uri="{FF2B5EF4-FFF2-40B4-BE49-F238E27FC236}">
                <a16:creationId xmlns:a16="http://schemas.microsoft.com/office/drawing/2014/main" id="{BE2C7396-5036-4C9A-B038-E3B1E9D2505C}"/>
              </a:ext>
            </a:extLst>
          </p:cNvPr>
          <p:cNvSpPr>
            <a:spLocks xmlns:a="http://schemas.openxmlformats.org/drawingml/2006/main" noGrp="1"/>
          </p:cNvSpPr>
          <p:nvPr/>
        </p:nvSpPr>
        <p:spPr>
          <a:xfrm xmlns:a="http://schemas.openxmlformats.org/drawingml/2006/main">
            <a:off x="628650" y="37052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03</a:t>
            </a:r>
          </a:p>
        </p:txBody>
      </p:sp>
      <p:sp>
        <p:nvSpPr>
          <p:cNvPr id="11" name="Closed model: VU chờ lượt trước xong rồi bắt đầu lượt sau.">
            <a:extLst xmlns:a="http://schemas.openxmlformats.org/drawingml/2006/main">
              <a:ext uri="{FF2B5EF4-FFF2-40B4-BE49-F238E27FC236}">
                <a16:creationId xmlns:a16="http://schemas.microsoft.com/office/drawing/2014/main" id="{DEFB7939-6224-4126-BB2E-254357E5AF0B}"/>
              </a:ext>
            </a:extLst>
          </p:cNvPr>
          <p:cNvSpPr>
            <a:spLocks xmlns:a="http://schemas.openxmlformats.org/drawingml/2006/main" noGrp="1"/>
          </p:cNvSpPr>
          <p:nvPr/>
        </p:nvSpPr>
        <p:spPr>
          <a:xfrm xmlns:a="http://schemas.openxmlformats.org/drawingml/2006/main">
            <a:off x="1257300" y="36861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Closed model: VU chờ lượt trước xong rồi bắt đầu lượt sau.</a:t>
            </a:r>
          </a:p>
        </p:txBody>
      </p:sp>
      <p:sp>
        <p:nvSpPr>
          <p:cNvPr id="12" name="04">
            <a:extLst xmlns:a="http://schemas.openxmlformats.org/drawingml/2006/main">
              <a:ext uri="{FF2B5EF4-FFF2-40B4-BE49-F238E27FC236}">
                <a16:creationId xmlns:a16="http://schemas.microsoft.com/office/drawing/2014/main" id="{9943D789-D994-4BB4-802D-1A64D47620C6}"/>
              </a:ext>
            </a:extLst>
          </p:cNvPr>
          <p:cNvSpPr>
            <a:spLocks xmlns:a="http://schemas.openxmlformats.org/drawingml/2006/main" noGrp="1"/>
          </p:cNvSpPr>
          <p:nvPr/>
        </p:nvSpPr>
        <p:spPr>
          <a:xfrm xmlns:a="http://schemas.openxmlformats.org/drawingml/2006/main">
            <a:off x="628650" y="46577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04</a:t>
            </a:r>
          </a:p>
        </p:txBody>
      </p:sp>
      <p:sp>
        <p:nvSpPr>
          <p:cNvPr id="13" name="Open model: định lịch tốc độ bắt đầu iteration, cần đủ VU.">
            <a:extLst xmlns:a="http://schemas.openxmlformats.org/drawingml/2006/main">
              <a:ext uri="{FF2B5EF4-FFF2-40B4-BE49-F238E27FC236}">
                <a16:creationId xmlns:a16="http://schemas.microsoft.com/office/drawing/2014/main" id="{76AB26C6-D88A-46E3-83C0-0B08AA526D4E}"/>
              </a:ext>
            </a:extLst>
          </p:cNvPr>
          <p:cNvSpPr>
            <a:spLocks xmlns:a="http://schemas.openxmlformats.org/drawingml/2006/main" noGrp="1"/>
          </p:cNvSpPr>
          <p:nvPr/>
        </p:nvSpPr>
        <p:spPr>
          <a:xfrm xmlns:a="http://schemas.openxmlformats.org/drawingml/2006/main">
            <a:off x="1257300" y="46386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Open model: định lịch tốc độ bắt đầu iteration, cần đủ VU.</a:t>
            </a:r>
          </a:p>
        </p:txBody>
      </p:sp>
    </p:spTree>
    <p:extLst>
      <p:ext uri="{BB962C8B-B14F-4D97-AF65-F5344CB8AC3E}">
        <p14:creationId xmlns:p14="http://schemas.microsoft.com/office/powerpoint/2010/main" val="8726698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HIẾT KẾ TẢI / THINK-TIME">
            <a:extLst xmlns:a="http://schemas.openxmlformats.org/drawingml/2006/main">
              <a:ext uri="{FF2B5EF4-FFF2-40B4-BE49-F238E27FC236}">
                <a16:creationId xmlns:a16="http://schemas.microsoft.com/office/drawing/2014/main" id="{DEC9D46A-CA63-4BF1-BBBF-54E001CDCFD4}"/>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THIẾT KẾ TẢI / THINK-TIME</a:t>
            </a:r>
          </a:p>
        </p:txBody>
      </p:sp>
      <p:sp>
        <p:nvSpPr>
          <p:cNvPr id="3" name="Think-time theo hành động của script AI">
            <a:extLst xmlns:a="http://schemas.openxmlformats.org/drawingml/2006/main">
              <a:ext uri="{FF2B5EF4-FFF2-40B4-BE49-F238E27FC236}">
                <a16:creationId xmlns:a16="http://schemas.microsoft.com/office/drawing/2014/main" id="{1505276E-5C98-4FE4-8839-389D0E986FC9}"/>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Think-time theo hành động của script AI</a:t>
            </a:r>
          </a:p>
        </p:txBody>
      </p:sp>
      <p:sp>
        <p:nvSpPr>
          <p:cNvPr id="4" name="Performance Testing trên EShop">
            <a:extLst xmlns:a="http://schemas.openxmlformats.org/drawingml/2006/main">
              <a:ext uri="{FF2B5EF4-FFF2-40B4-BE49-F238E27FC236}">
                <a16:creationId xmlns:a16="http://schemas.microsoft.com/office/drawing/2014/main" id="{450BB857-F8AB-4A14-B980-0647BE8BECCB}"/>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PAGE_NUMBER">
            <a:extLst xmlns:a="http://schemas.openxmlformats.org/drawingml/2006/main">
              <a:ext uri="{FF2B5EF4-FFF2-40B4-BE49-F238E27FC236}">
                <a16:creationId xmlns:a16="http://schemas.microsoft.com/office/drawing/2014/main" id="{9E7AD015-431E-489B-B71E-14354A2508EE}"/>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15</a:t>
            </a:r>
          </a:p>
        </p:txBody>
      </p:sp>
      <p:graphicFrame>
        <p:nvGraphicFramePr>
          <p:cNvPr id="6" name="">
            <a:extLst xmlns:a="http://schemas.openxmlformats.org/drawingml/2006/main">
              <a:ext uri="{FF2B5EF4-FFF2-40B4-BE49-F238E27FC236}">
                <a16:creationId xmlns:a16="http://schemas.microsoft.com/office/drawing/2014/main" id="{6A9FDEB6-5022-4605-B47A-3C38F6965E24}"/>
              </a:ext>
            </a:extLst>
          </p:cNvPr>
          <p:cNvGraphicFramePr/>
          <p:nvPr/>
        </p:nvGraphicFramePr>
        <p:xfrm>
          <a:off xmlns:a="http://schemas.openxmlformats.org/drawingml/2006/main" x="609600" y="1724025"/>
          <a:ext xmlns:a="http://schemas.openxmlformats.org/drawingml/2006/main" cx="10972800" cy="3905250"/>
        </p:xfrm>
        <a:graphic xmlns:a="http://schemas.openxmlformats.org/drawingml/2006/main">
          <a:graphicData uri="http://schemas.openxmlformats.org/drawingml/2006/table">
            <a:tbl>
              <a:tblPr/>
              <a:tblGrid>
                <a:gridCol w="2381250"/>
                <a:gridCol w="2381250"/>
                <a:gridCol w="6210300"/>
              </a:tblGrid>
              <a:tr h="976313">
                <a:tc>
                  <a:txBody>
                    <a:bodyPr/>
                    <a:lstStyle/>
                    <a:p>
                      <a:r>
                        <a:rPr sz="1800" b="1">
                          <a:solidFill>
                            <a:srgbClr val="153E75"/>
                          </a:solidFill>
                          <a:latin typeface="Arial"/>
                          <a:ea typeface="Arial"/>
                          <a:cs typeface="Arial"/>
                        </a:rPr>
                        <a:t>Hành động</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Khoảng nghỉ</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Hành vi mô phỏng</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976313">
                <a:tc>
                  <a:txBody>
                    <a:bodyPr/>
                    <a:lstStyle/>
                    <a:p>
                      <a:r>
                        <a:rPr sz="1800">
                          <a:solidFill>
                            <a:srgbClr val="151B23"/>
                          </a:solidFill>
                          <a:latin typeface="Arial"/>
                          <a:ea typeface="Arial"/>
                          <a:cs typeface="Arial"/>
                        </a:rPr>
                        <a:t>Search</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1–3 giây</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Xem danh sách kết quả</a:t>
                      </a:r>
                    </a:p>
                  </a:txBody>
                  <a:tcPr marL="114300" marR="95250" marT="76200" marB="57150">
                    <a:lnR w="9525">
                      <a:solidFill>
                        <a:srgbClr val="D7DDE4"/>
                      </a:solidFill>
                      <a:prstDash val="solid"/>
                    </a:lnR>
                    <a:lnB w="9525">
                      <a:solidFill>
                        <a:srgbClr val="D7DDE4"/>
                      </a:solidFill>
                      <a:prstDash val="solid"/>
                    </a:lnB>
                    <a:solidFill>
                      <a:srgbClr val="FFFFFF"/>
                    </a:solidFill>
                  </a:tcPr>
                </a:tc>
              </a:tr>
              <a:tr h="976313">
                <a:tc>
                  <a:txBody>
                    <a:bodyPr/>
                    <a:lstStyle/>
                    <a:p>
                      <a:r>
                        <a:rPr sz="1800">
                          <a:solidFill>
                            <a:srgbClr val="151B23"/>
                          </a:solidFill>
                          <a:latin typeface="Arial"/>
                          <a:ea typeface="Arial"/>
                          <a:cs typeface="Arial"/>
                        </a:rPr>
                        <a:t>Detail</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2–5 giây</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Đọc mô tả và xem sản phẩm</a:t>
                      </a:r>
                    </a:p>
                  </a:txBody>
                  <a:tcPr marL="114300" marR="95250" marT="76200" marB="57150">
                    <a:lnR w="9525">
                      <a:solidFill>
                        <a:srgbClr val="D7DDE4"/>
                      </a:solidFill>
                      <a:prstDash val="solid"/>
                    </a:lnR>
                    <a:lnB w="9525">
                      <a:solidFill>
                        <a:srgbClr val="D7DDE4"/>
                      </a:solidFill>
                      <a:prstDash val="solid"/>
                    </a:lnB>
                    <a:solidFill>
                      <a:srgbClr val="FFFFFF"/>
                    </a:solidFill>
                  </a:tcPr>
                </a:tc>
              </a:tr>
              <a:tr h="976313">
                <a:tc>
                  <a:txBody>
                    <a:bodyPr/>
                    <a:lstStyle/>
                    <a:p>
                      <a:r>
                        <a:rPr sz="1800">
                          <a:solidFill>
                            <a:srgbClr val="151B23"/>
                          </a:solidFill>
                          <a:latin typeface="Arial"/>
                          <a:ea typeface="Arial"/>
                          <a:cs typeface="Arial"/>
                        </a:rPr>
                        <a:t>Checkout</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3–6 giây</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Mô phỏng thời gian thao tác mua hàng</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
        <p:nvSpPr>
          <p:cNvPr id="7" name="Khoảng nghỉ là giả định thiết kế, cần đối chiếu với hành vi sử dụ">
            <a:extLst xmlns:a="http://schemas.openxmlformats.org/drawingml/2006/main">
              <a:ext uri="{FF2B5EF4-FFF2-40B4-BE49-F238E27FC236}">
                <a16:creationId xmlns:a16="http://schemas.microsoft.com/office/drawing/2014/main" id="{D85DF078-0A46-47BA-ABBE-BCE0B5EA508A}"/>
              </a:ext>
            </a:extLst>
          </p:cNvPr>
          <p:cNvSpPr>
            <a:spLocks xmlns:a="http://schemas.openxmlformats.org/drawingml/2006/main" noGrp="1"/>
          </p:cNvSpPr>
          <p:nvPr/>
        </p:nvSpPr>
        <p:spPr>
          <a:xfrm xmlns:a="http://schemas.openxmlformats.org/drawingml/2006/main">
            <a:off x="609600" y="58197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2456A6"/>
                </a:solidFill>
                <a:latin typeface="Arial"/>
                <a:ea typeface="Arial"/>
                <a:cs typeface="Arial"/>
              </a:defRPr>
            </a:defPPr>
            <a:lvl1pPr>
              <a:defRPr sz="1725" b="0">
                <a:solidFill>
                  <a:srgbClr val="2456A6"/>
                </a:solidFill>
                <a:latin typeface="Arial"/>
                <a:ea typeface="Arial"/>
                <a:cs typeface="Arial"/>
              </a:defRPr>
            </a:lvl1pPr>
            <a:lvl2pPr>
              <a:defRPr sz="1725" b="0">
                <a:solidFill>
                  <a:srgbClr val="2456A6"/>
                </a:solidFill>
                <a:latin typeface="Arial"/>
                <a:ea typeface="Arial"/>
                <a:cs typeface="Arial"/>
              </a:defRPr>
            </a:lvl2pPr>
            <a:lvl3pPr>
              <a:defRPr sz="1725" b="0">
                <a:solidFill>
                  <a:srgbClr val="2456A6"/>
                </a:solidFill>
                <a:latin typeface="Arial"/>
                <a:ea typeface="Arial"/>
                <a:cs typeface="Arial"/>
              </a:defRPr>
            </a:lvl3pPr>
            <a:lvl4pPr>
              <a:defRPr sz="1725" b="0">
                <a:solidFill>
                  <a:srgbClr val="2456A6"/>
                </a:solidFill>
                <a:latin typeface="Arial"/>
                <a:ea typeface="Arial"/>
                <a:cs typeface="Arial"/>
              </a:defRPr>
            </a:lvl4pPr>
            <a:lvl5pPr>
              <a:defRPr sz="1725" b="0">
                <a:solidFill>
                  <a:srgbClr val="2456A6"/>
                </a:solidFill>
                <a:latin typeface="Arial"/>
                <a:ea typeface="Arial"/>
                <a:cs typeface="Arial"/>
              </a:defRPr>
            </a:lvl5pPr>
            <a:lvl6pPr>
              <a:defRPr sz="1725" b="0">
                <a:solidFill>
                  <a:srgbClr val="2456A6"/>
                </a:solidFill>
                <a:latin typeface="Arial"/>
                <a:ea typeface="Arial"/>
                <a:cs typeface="Arial"/>
              </a:defRPr>
            </a:lvl6pPr>
            <a:lvl7pPr>
              <a:defRPr sz="1725" b="0">
                <a:solidFill>
                  <a:srgbClr val="2456A6"/>
                </a:solidFill>
                <a:latin typeface="Arial"/>
                <a:ea typeface="Arial"/>
                <a:cs typeface="Arial"/>
              </a:defRPr>
            </a:lvl7pPr>
            <a:lvl8pPr>
              <a:defRPr sz="1725" b="0">
                <a:solidFill>
                  <a:srgbClr val="2456A6"/>
                </a:solidFill>
                <a:latin typeface="Arial"/>
                <a:ea typeface="Arial"/>
                <a:cs typeface="Arial"/>
              </a:defRPr>
            </a:lvl8pPr>
            <a:lvl9pPr>
              <a:defRPr sz="1725" b="0">
                <a:solidFill>
                  <a:srgbClr val="2456A6"/>
                </a:solidFill>
                <a:latin typeface="Arial"/>
                <a:ea typeface="Arial"/>
                <a:cs typeface="Arial"/>
              </a:defRPr>
            </a:lvl9pPr>
          </a:lstStyle>
          <a:p xmlns:a="http://schemas.openxmlformats.org/drawingml/2006/main">
            <a:pPr>
              <a:defRPr sz="1725" b="0">
                <a:solidFill>
                  <a:srgbClr val="2456A6"/>
                </a:solidFill>
                <a:latin typeface="Arial"/>
                <a:ea typeface="Arial"/>
                <a:cs typeface="Arial"/>
              </a:defRPr>
            </a:pPr>
            <a:r>
              <a:rPr sz="1725" b="0">
                <a:solidFill>
                  <a:srgbClr val="2456A6"/>
                </a:solidFill>
                <a:latin typeface="Arial"/>
                <a:ea typeface="Arial"/>
                <a:cs typeface="Arial"/>
              </a:rPr>
              <a:t>Khoảng nghỉ là giả định thiết kế, cần đối chiếu với hành vi sử dụng thực tế.</a:t>
            </a:r>
          </a:p>
        </p:txBody>
      </p:sp>
    </p:spTree>
    <p:extLst>
      <p:ext uri="{BB962C8B-B14F-4D97-AF65-F5344CB8AC3E}">
        <p14:creationId xmlns:p14="http://schemas.microsoft.com/office/powerpoint/2010/main" val="208534786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KHÁI NIỆM / GIAI ĐOẠN ĐO">
            <a:extLst xmlns:a="http://schemas.openxmlformats.org/drawingml/2006/main">
              <a:ext uri="{FF2B5EF4-FFF2-40B4-BE49-F238E27FC236}">
                <a16:creationId xmlns:a16="http://schemas.microsoft.com/office/drawing/2014/main" id="{255C0FB8-0E68-456E-8621-E561408A6908}"/>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KHÁI NIỆM / GIAI ĐOẠN ĐO</a:t>
            </a:r>
          </a:p>
        </p:txBody>
      </p:sp>
      <p:sp>
        <p:nvSpPr>
          <p:cNvPr id="3" name="Ramp-up, warm-up và cửa sổ steady">
            <a:extLst xmlns:a="http://schemas.openxmlformats.org/drawingml/2006/main">
              <a:ext uri="{FF2B5EF4-FFF2-40B4-BE49-F238E27FC236}">
                <a16:creationId xmlns:a16="http://schemas.microsoft.com/office/drawing/2014/main" id="{5EDFC437-B18F-400C-A88D-1E4EEDBCCF4F}"/>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Ramp-up, warm-up và cửa sổ steady</a:t>
            </a:r>
          </a:p>
        </p:txBody>
      </p:sp>
      <p:sp>
        <p:nvSpPr>
          <p:cNvPr id="4" name="Performance Testing trên EShop">
            <a:extLst xmlns:a="http://schemas.openxmlformats.org/drawingml/2006/main">
              <a:ext uri="{FF2B5EF4-FFF2-40B4-BE49-F238E27FC236}">
                <a16:creationId xmlns:a16="http://schemas.microsoft.com/office/drawing/2014/main" id="{176C7DBA-B2F9-4559-B6FB-229ED58BCCA2}"/>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PAGE_NUMBER">
            <a:extLst xmlns:a="http://schemas.openxmlformats.org/drawingml/2006/main">
              <a:ext uri="{FF2B5EF4-FFF2-40B4-BE49-F238E27FC236}">
                <a16:creationId xmlns:a16="http://schemas.microsoft.com/office/drawing/2014/main" id="{E8EBF939-38A3-4EEE-9A90-0DE67FCB9117}"/>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16</a:t>
            </a:r>
          </a:p>
        </p:txBody>
      </p:sp>
      <p:graphicFrame>
        <p:nvGraphicFramePr>
          <p:cNvPr id="6" name="">
            <a:extLst xmlns:a="http://schemas.openxmlformats.org/drawingml/2006/main">
              <a:ext uri="{FF2B5EF4-FFF2-40B4-BE49-F238E27FC236}">
                <a16:creationId xmlns:a16="http://schemas.microsoft.com/office/drawing/2014/main" id="{C19F1843-D92F-4D20-947F-2C75C506ABB9}"/>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2571750"/>
                <a:gridCol w="4381500"/>
                <a:gridCol w="4019550"/>
              </a:tblGrid>
              <a:tr h="864870">
                <a:tc>
                  <a:txBody>
                    <a:bodyPr/>
                    <a:lstStyle/>
                    <a:p>
                      <a:r>
                        <a:rPr sz="1800" b="1">
                          <a:solidFill>
                            <a:srgbClr val="153E75"/>
                          </a:solidFill>
                          <a:latin typeface="Arial"/>
                          <a:ea typeface="Arial"/>
                          <a:cs typeface="Arial"/>
                        </a:rPr>
                        <a:t>Giai đoạn</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Mục đích</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Cách dùng kết quả</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864870">
                <a:tc>
                  <a:txBody>
                    <a:bodyPr/>
                    <a:lstStyle/>
                    <a:p>
                      <a:r>
                        <a:rPr sz="1800">
                          <a:solidFill>
                            <a:srgbClr val="151B23"/>
                          </a:solidFill>
                          <a:latin typeface="Arial"/>
                          <a:ea typeface="Arial"/>
                          <a:cs typeface="Arial"/>
                        </a:rPr>
                        <a:t>Ramp-up</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Tăng dần số VU hoặc tốc độ phát tải</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Quan sát phản ứng khi tải tăng</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Warm-up</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Cho cache, kết nối và runtime ổn định</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Có thể trùng một phần ramp-up</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Steady state</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Giữ profile ổn định để thu metric</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So sánh cùng cửa sổ đo</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Ramp-down / recovery</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Giảm tải và quan sát phục hồi</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Xem latency/lỗi có trở về mức cũ</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175001498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KHÁI NIỆM">
            <a:extLst xmlns:a="http://schemas.openxmlformats.org/drawingml/2006/main">
              <a:ext uri="{FF2B5EF4-FFF2-40B4-BE49-F238E27FC236}">
                <a16:creationId xmlns:a16="http://schemas.microsoft.com/office/drawing/2014/main" id="{36398BF1-69A9-499E-A49D-CF1612711049}"/>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KHÁI NIỆM</a:t>
            </a:r>
          </a:p>
        </p:txBody>
      </p:sp>
      <p:sp>
        <p:nvSpPr>
          <p:cNvPr id="3" name="Các metric cần đọc cùng nhau">
            <a:extLst xmlns:a="http://schemas.openxmlformats.org/drawingml/2006/main">
              <a:ext uri="{FF2B5EF4-FFF2-40B4-BE49-F238E27FC236}">
                <a16:creationId xmlns:a16="http://schemas.microsoft.com/office/drawing/2014/main" id="{31C67123-31C3-433D-98AE-98CC1118179F}"/>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Các metric cần đọc cùng nhau</a:t>
            </a:r>
          </a:p>
        </p:txBody>
      </p:sp>
      <p:sp>
        <p:nvSpPr>
          <p:cNvPr id="4" name="Performance Testing trên EShop">
            <a:extLst xmlns:a="http://schemas.openxmlformats.org/drawingml/2006/main">
              <a:ext uri="{FF2B5EF4-FFF2-40B4-BE49-F238E27FC236}">
                <a16:creationId xmlns:a16="http://schemas.microsoft.com/office/drawing/2014/main" id="{8EF4A12B-F184-418B-93A1-A3983A648AC3}"/>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11">
            <a:extLst xmlns:a="http://schemas.openxmlformats.org/drawingml/2006/main">
              <a:ext uri="{FF2B5EF4-FFF2-40B4-BE49-F238E27FC236}">
                <a16:creationId xmlns:a16="http://schemas.microsoft.com/office/drawing/2014/main" id="{2A78D7ED-8886-47FF-9208-CBB74EF8DE5B}"/>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17</a:t>
            </a:r>
          </a:p>
        </p:txBody>
      </p:sp>
      <p:graphicFrame>
        <p:nvGraphicFramePr>
          <p:cNvPr id="6" name="">
            <a:extLst xmlns:a="http://schemas.openxmlformats.org/drawingml/2006/main">
              <a:ext uri="{FF2B5EF4-FFF2-40B4-BE49-F238E27FC236}">
                <a16:creationId xmlns:a16="http://schemas.microsoft.com/office/drawing/2014/main" id="{C866C3FF-5607-4D32-A2DB-B870EA8FAC8B}"/>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3429000"/>
                <a:gridCol w="3905250"/>
                <a:gridCol w="3638550"/>
              </a:tblGrid>
              <a:tr h="720725">
                <a:tc>
                  <a:txBody>
                    <a:bodyPr/>
                    <a:lstStyle/>
                    <a:p>
                      <a:r>
                        <a:rPr sz="1800" b="1">
                          <a:solidFill>
                            <a:srgbClr val="153E75"/>
                          </a:solidFill>
                          <a:latin typeface="Arial"/>
                          <a:ea typeface="Arial"/>
                          <a:cs typeface="Arial"/>
                        </a:rPr>
                        <a:t>Metric</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Ý nghĩa</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Cách đọc</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720725">
                <a:tc>
                  <a:txBody>
                    <a:bodyPr/>
                    <a:lstStyle/>
                    <a:p>
                      <a:r>
                        <a:rPr sz="1800">
                          <a:solidFill>
                            <a:srgbClr val="151B23"/>
                          </a:solidFill>
                          <a:latin typeface="Arial"/>
                          <a:ea typeface="Arial"/>
                          <a:cs typeface="Arial"/>
                        </a:rPr>
                        <a:t>http_reqs</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Số HTTP request</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Đọc cùng cửa sổ đo</a:t>
                      </a:r>
                    </a:p>
                  </a:txBody>
                  <a:tcPr marL="114300" marR="95250" marT="76200" marB="57150">
                    <a:lnR w="9525">
                      <a:solidFill>
                        <a:srgbClr val="D7DDE4"/>
                      </a:solidFill>
                      <a:prstDash val="solid"/>
                    </a:lnR>
                    <a:lnB w="9525">
                      <a:solidFill>
                        <a:srgbClr val="D7DDE4"/>
                      </a:solidFill>
                      <a:prstDash val="solid"/>
                    </a:lnB>
                    <a:solidFill>
                      <a:srgbClr val="FFFFFF"/>
                    </a:solidFill>
                  </a:tcPr>
                </a:tc>
              </a:tr>
              <a:tr h="720725">
                <a:tc>
                  <a:txBody>
                    <a:bodyPr/>
                    <a:lstStyle/>
                    <a:p>
                      <a:r>
                        <a:rPr sz="1800">
                          <a:solidFill>
                            <a:srgbClr val="151B23"/>
                          </a:solidFill>
                          <a:latin typeface="Arial"/>
                          <a:ea typeface="Arial"/>
                          <a:cs typeface="Arial"/>
                        </a:rPr>
                        <a:t>http_req_duration</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Gửi + chờ + nhận response</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Không gồm DNS/kết nối đầu</a:t>
                      </a:r>
                    </a:p>
                  </a:txBody>
                  <a:tcPr marL="114300" marR="95250" marT="76200" marB="57150">
                    <a:lnR w="9525">
                      <a:solidFill>
                        <a:srgbClr val="D7DDE4"/>
                      </a:solidFill>
                      <a:prstDash val="solid"/>
                    </a:lnR>
                    <a:lnB w="9525">
                      <a:solidFill>
                        <a:srgbClr val="D7DDE4"/>
                      </a:solidFill>
                      <a:prstDash val="solid"/>
                    </a:lnB>
                    <a:solidFill>
                      <a:srgbClr val="FFFFFF"/>
                    </a:solidFill>
                  </a:tcPr>
                </a:tc>
              </a:tr>
              <a:tr h="720725">
                <a:tc>
                  <a:txBody>
                    <a:bodyPr/>
                    <a:lstStyle/>
                    <a:p>
                      <a:r>
                        <a:rPr sz="1800">
                          <a:solidFill>
                            <a:srgbClr val="151B23"/>
                          </a:solidFill>
                          <a:latin typeface="Arial"/>
                          <a:ea typeface="Arial"/>
                          <a:cs typeface="Arial"/>
                        </a:rPr>
                        <a:t>http_req_failed</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Tỷ lệ request bị phân loại lỗi</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Khác lỗi check nội dung</a:t>
                      </a:r>
                    </a:p>
                  </a:txBody>
                  <a:tcPr marL="114300" marR="95250" marT="76200" marB="57150">
                    <a:lnR w="9525">
                      <a:solidFill>
                        <a:srgbClr val="D7DDE4"/>
                      </a:solidFill>
                      <a:prstDash val="solid"/>
                    </a:lnR>
                    <a:lnB w="9525">
                      <a:solidFill>
                        <a:srgbClr val="D7DDE4"/>
                      </a:solidFill>
                      <a:prstDash val="solid"/>
                    </a:lnB>
                    <a:solidFill>
                      <a:srgbClr val="FFFFFF"/>
                    </a:solidFill>
                  </a:tcPr>
                </a:tc>
              </a:tr>
              <a:tr h="720725">
                <a:tc>
                  <a:txBody>
                    <a:bodyPr/>
                    <a:lstStyle/>
                    <a:p>
                      <a:r>
                        <a:rPr sz="1800">
                          <a:solidFill>
                            <a:srgbClr val="151B23"/>
                          </a:solidFill>
                          <a:latin typeface="Arial"/>
                          <a:ea typeface="Arial"/>
                          <a:cs typeface="Arial"/>
                        </a:rPr>
                        <a:t>checks</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Tỷ lệ checkpoint đạt</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Một response có nhiều check</a:t>
                      </a:r>
                    </a:p>
                  </a:txBody>
                  <a:tcPr marL="114300" marR="95250" marT="76200" marB="57150">
                    <a:lnR w="9525">
                      <a:solidFill>
                        <a:srgbClr val="D7DDE4"/>
                      </a:solidFill>
                      <a:prstDash val="solid"/>
                    </a:lnR>
                    <a:lnB w="9525">
                      <a:solidFill>
                        <a:srgbClr val="D7DDE4"/>
                      </a:solidFill>
                      <a:prstDash val="solid"/>
                    </a:lnB>
                    <a:solidFill>
                      <a:srgbClr val="FFFFFF"/>
                    </a:solidFill>
                  </a:tcPr>
                </a:tc>
              </a:tr>
              <a:tr h="720725">
                <a:tc>
                  <a:txBody>
                    <a:bodyPr/>
                    <a:lstStyle/>
                    <a:p>
                      <a:r>
                        <a:rPr sz="1800">
                          <a:solidFill>
                            <a:srgbClr val="151B23"/>
                          </a:solidFill>
                          <a:latin typeface="Arial"/>
                          <a:ea typeface="Arial"/>
                          <a:cs typeface="Arial"/>
                        </a:rPr>
                        <a:t>Throughput / RPS</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Số request mỗi giây</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Ghi rõ mẫu số thời gian</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206074054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KHÁI NIỆM / THROUGHPUT">
            <a:extLst xmlns:a="http://schemas.openxmlformats.org/drawingml/2006/main">
              <a:ext uri="{FF2B5EF4-FFF2-40B4-BE49-F238E27FC236}">
                <a16:creationId xmlns:a16="http://schemas.microsoft.com/office/drawing/2014/main" id="{FC82CB6C-378E-4252-987F-6D80B82C37C4}"/>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KHÁI NIỆM / THROUGHPUT</a:t>
            </a:r>
          </a:p>
        </p:txBody>
      </p:sp>
      <p:sp>
        <p:nvSpPr>
          <p:cNvPr id="3" name="RPS và TPS: request khác nghiệp vụ">
            <a:extLst xmlns:a="http://schemas.openxmlformats.org/drawingml/2006/main">
              <a:ext uri="{FF2B5EF4-FFF2-40B4-BE49-F238E27FC236}">
                <a16:creationId xmlns:a16="http://schemas.microsoft.com/office/drawing/2014/main" id="{C81D6251-7F26-4DCB-8A02-88F19F691209}"/>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RPS và TPS: request khác nghiệp vụ</a:t>
            </a:r>
          </a:p>
        </p:txBody>
      </p:sp>
      <p:sp>
        <p:nvSpPr>
          <p:cNvPr id="4" name="Performance Testing trên EShop">
            <a:extLst xmlns:a="http://schemas.openxmlformats.org/drawingml/2006/main">
              <a:ext uri="{FF2B5EF4-FFF2-40B4-BE49-F238E27FC236}">
                <a16:creationId xmlns:a16="http://schemas.microsoft.com/office/drawing/2014/main" id="{A15AFA7D-3757-479E-8CF8-7C1CA33D6B39}"/>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PAGE_NUMBER">
            <a:extLst xmlns:a="http://schemas.openxmlformats.org/drawingml/2006/main">
              <a:ext uri="{FF2B5EF4-FFF2-40B4-BE49-F238E27FC236}">
                <a16:creationId xmlns:a16="http://schemas.microsoft.com/office/drawing/2014/main" id="{CF8F1400-909E-42E5-928E-19B56CFC6621}"/>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18</a:t>
            </a:r>
          </a:p>
        </p:txBody>
      </p:sp>
      <p:sp>
        <p:nvSpPr>
          <p:cNvPr id="6" name="RPS: requests per second">
            <a:extLst xmlns:a="http://schemas.openxmlformats.org/drawingml/2006/main">
              <a:ext uri="{FF2B5EF4-FFF2-40B4-BE49-F238E27FC236}">
                <a16:creationId xmlns:a16="http://schemas.microsoft.com/office/drawing/2014/main" id="{B1C33121-15CF-4CD7-B046-7893D65865F2}"/>
              </a:ext>
            </a:extLst>
          </p:cNvPr>
          <p:cNvSpPr>
            <a:spLocks xmlns:a="http://schemas.openxmlformats.org/drawingml/2006/main" noGrp="1"/>
          </p:cNvSpPr>
          <p:nvPr/>
        </p:nvSpPr>
        <p:spPr>
          <a:xfrm xmlns:a="http://schemas.openxmlformats.org/drawingml/2006/main">
            <a:off x="609600" y="17526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RPS: requests per second</a:t>
            </a:r>
          </a:p>
        </p:txBody>
      </p:sp>
      <p:sp>
        <p:nvSpPr>
          <p:cNvPr id="7" name="Số HTTP request trên một giây. Cần ghi rõ khoảng thời gian dùng l">
            <a:extLst xmlns:a="http://schemas.openxmlformats.org/drawingml/2006/main">
              <a:ext uri="{FF2B5EF4-FFF2-40B4-BE49-F238E27FC236}">
                <a16:creationId xmlns:a16="http://schemas.microsoft.com/office/drawing/2014/main" id="{3A75101D-CDD1-4F74-ADA5-9847C9D48528}"/>
              </a:ext>
            </a:extLst>
          </p:cNvPr>
          <p:cNvSpPr>
            <a:spLocks xmlns:a="http://schemas.openxmlformats.org/drawingml/2006/main" noGrp="1"/>
          </p:cNvSpPr>
          <p:nvPr/>
        </p:nvSpPr>
        <p:spPr>
          <a:xfrm xmlns:a="http://schemas.openxmlformats.org/drawingml/2006/main">
            <a:off x="609600" y="2143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Số HTTP request trên một giây. Cần ghi rõ khoảng thời gian dùng làm mẫu số.</a:t>
            </a:r>
          </a:p>
        </p:txBody>
      </p:sp>
      <p:sp>
        <p:nvSpPr>
          <p:cNvPr id="8" name="TPS: transactions per second">
            <a:extLst xmlns:a="http://schemas.openxmlformats.org/drawingml/2006/main">
              <a:ext uri="{FF2B5EF4-FFF2-40B4-BE49-F238E27FC236}">
                <a16:creationId xmlns:a16="http://schemas.microsoft.com/office/drawing/2014/main" id="{813223B4-6062-4BFC-A88A-F1791B037AAF}"/>
              </a:ext>
            </a:extLst>
          </p:cNvPr>
          <p:cNvSpPr>
            <a:spLocks xmlns:a="http://schemas.openxmlformats.org/drawingml/2006/main" noGrp="1"/>
          </p:cNvSpPr>
          <p:nvPr/>
        </p:nvSpPr>
        <p:spPr>
          <a:xfrm xmlns:a="http://schemas.openxmlformats.org/drawingml/2006/main">
            <a:off x="609600" y="28003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TPS: transactions per second</a:t>
            </a:r>
          </a:p>
        </p:txBody>
      </p:sp>
      <p:sp>
        <p:nvSpPr>
          <p:cNvPr id="9" name="Số lượt nghiệp vụ hoàn thành trên một giây, theo định nghĩa trans">
            <a:extLst xmlns:a="http://schemas.openxmlformats.org/drawingml/2006/main">
              <a:ext uri="{FF2B5EF4-FFF2-40B4-BE49-F238E27FC236}">
                <a16:creationId xmlns:a16="http://schemas.microsoft.com/office/drawing/2014/main" id="{FF294368-82AA-4C81-AC90-AB46EF940EA3}"/>
              </a:ext>
            </a:extLst>
          </p:cNvPr>
          <p:cNvSpPr>
            <a:spLocks xmlns:a="http://schemas.openxmlformats.org/drawingml/2006/main" noGrp="1"/>
          </p:cNvSpPr>
          <p:nvPr/>
        </p:nvSpPr>
        <p:spPr>
          <a:xfrm xmlns:a="http://schemas.openxmlformats.org/drawingml/2006/main">
            <a:off x="609600" y="31908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Số lượt nghiệp vụ hoàn thành trên một giây, theo định nghĩa transaction của bài test.</a:t>
            </a:r>
          </a:p>
        </p:txBody>
      </p:sp>
      <p:sp>
        <p:nvSpPr>
          <p:cNvPr id="10" name="Ví dụ minh họa">
            <a:extLst xmlns:a="http://schemas.openxmlformats.org/drawingml/2006/main">
              <a:ext uri="{FF2B5EF4-FFF2-40B4-BE49-F238E27FC236}">
                <a16:creationId xmlns:a16="http://schemas.microsoft.com/office/drawing/2014/main" id="{5F890B37-4B79-4607-9F32-23F0100DB5CE}"/>
              </a:ext>
            </a:extLst>
          </p:cNvPr>
          <p:cNvSpPr>
            <a:spLocks xmlns:a="http://schemas.openxmlformats.org/drawingml/2006/main" noGrp="1"/>
          </p:cNvSpPr>
          <p:nvPr/>
        </p:nvSpPr>
        <p:spPr>
          <a:xfrm xmlns:a="http://schemas.openxmlformats.org/drawingml/2006/main">
            <a:off x="609600" y="38481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Ví dụ minh họa</a:t>
            </a:r>
          </a:p>
        </p:txBody>
      </p:sp>
      <p:sp>
        <p:nvSpPr>
          <p:cNvPr id="11" name="Một lượt mua hàng gồm 3 request. Nếu hoàn thành 10 lượt/giây thì ">
            <a:extLst xmlns:a="http://schemas.openxmlformats.org/drawingml/2006/main">
              <a:ext uri="{FF2B5EF4-FFF2-40B4-BE49-F238E27FC236}">
                <a16:creationId xmlns:a16="http://schemas.microsoft.com/office/drawing/2014/main" id="{826399B0-5B0D-439A-BF14-93D3DE5C10BE}"/>
              </a:ext>
            </a:extLst>
          </p:cNvPr>
          <p:cNvSpPr>
            <a:spLocks xmlns:a="http://schemas.openxmlformats.org/drawingml/2006/main" noGrp="1"/>
          </p:cNvSpPr>
          <p:nvPr/>
        </p:nvSpPr>
        <p:spPr>
          <a:xfrm xmlns:a="http://schemas.openxmlformats.org/drawingml/2006/main">
            <a:off x="609600" y="42386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Một lượt mua hàng gồm 3 request. Nếu hoàn thành 10 lượt/giây thì có thể tạo 30 RPS.</a:t>
            </a:r>
          </a:p>
        </p:txBody>
      </p:sp>
      <p:sp>
        <p:nvSpPr>
          <p:cNvPr id="12" name="Cách tránh nhầm">
            <a:extLst xmlns:a="http://schemas.openxmlformats.org/drawingml/2006/main">
              <a:ext uri="{FF2B5EF4-FFF2-40B4-BE49-F238E27FC236}">
                <a16:creationId xmlns:a16="http://schemas.microsoft.com/office/drawing/2014/main" id="{6F7914DB-1273-43B4-BB77-ECD252577F5C}"/>
              </a:ext>
            </a:extLst>
          </p:cNvPr>
          <p:cNvSpPr>
            <a:spLocks xmlns:a="http://schemas.openxmlformats.org/drawingml/2006/main" noGrp="1"/>
          </p:cNvSpPr>
          <p:nvPr/>
        </p:nvSpPr>
        <p:spPr>
          <a:xfrm xmlns:a="http://schemas.openxmlformats.org/drawingml/2006/main">
            <a:off x="609600" y="48958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Cách tránh nhầm</a:t>
            </a:r>
          </a:p>
        </p:txBody>
      </p:sp>
      <p:sp>
        <p:nvSpPr>
          <p:cNvPr id="13" name="HTTP 200 chưa đủ chứng minh mua hàng thành công. TPS nghiệp vụ cầ">
            <a:extLst xmlns:a="http://schemas.openxmlformats.org/drawingml/2006/main">
              <a:ext uri="{FF2B5EF4-FFF2-40B4-BE49-F238E27FC236}">
                <a16:creationId xmlns:a16="http://schemas.microsoft.com/office/drawing/2014/main" id="{500CCC6B-BF9C-4433-A9E3-9746D01FE2A3}"/>
              </a:ext>
            </a:extLst>
          </p:cNvPr>
          <p:cNvSpPr>
            <a:spLocks xmlns:a="http://schemas.openxmlformats.org/drawingml/2006/main" noGrp="1"/>
          </p:cNvSpPr>
          <p:nvPr/>
        </p:nvSpPr>
        <p:spPr>
          <a:xfrm xmlns:a="http://schemas.openxmlformats.org/drawingml/2006/main">
            <a:off x="609600" y="52863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HTTP 200 chưa đủ chứng minh mua hàng thành công. TPS nghiệp vụ cần checkpoint riêng.</a:t>
            </a:r>
          </a:p>
        </p:txBody>
      </p:sp>
    </p:spTree>
    <p:extLst>
      <p:ext uri="{BB962C8B-B14F-4D97-AF65-F5344CB8AC3E}">
        <p14:creationId xmlns:p14="http://schemas.microsoft.com/office/powerpoint/2010/main" val="176489832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KHÁI NIỆM / RESOURCE METRICS">
            <a:extLst xmlns:a="http://schemas.openxmlformats.org/drawingml/2006/main">
              <a:ext uri="{FF2B5EF4-FFF2-40B4-BE49-F238E27FC236}">
                <a16:creationId xmlns:a16="http://schemas.microsoft.com/office/drawing/2014/main" id="{3E1636CF-EC45-41FD-80B8-5235B363590F}"/>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KHÁI NIỆM / RESOURCE METRICS</a:t>
            </a:r>
          </a:p>
        </p:txBody>
      </p:sp>
      <p:sp>
        <p:nvSpPr>
          <p:cNvPr id="3" name="Tài nguyên giúp giải thích latency tăng">
            <a:extLst xmlns:a="http://schemas.openxmlformats.org/drawingml/2006/main">
              <a:ext uri="{FF2B5EF4-FFF2-40B4-BE49-F238E27FC236}">
                <a16:creationId xmlns:a16="http://schemas.microsoft.com/office/drawing/2014/main" id="{485EE8C1-BB40-4C11-9F13-CF4FAE4850A8}"/>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Tài nguyên giúp giải thích latency tăng</a:t>
            </a:r>
          </a:p>
        </p:txBody>
      </p:sp>
      <p:sp>
        <p:nvSpPr>
          <p:cNvPr id="4" name="Performance Testing trên EShop">
            <a:extLst xmlns:a="http://schemas.openxmlformats.org/drawingml/2006/main">
              <a:ext uri="{FF2B5EF4-FFF2-40B4-BE49-F238E27FC236}">
                <a16:creationId xmlns:a16="http://schemas.microsoft.com/office/drawing/2014/main" id="{BAFE5AF3-8DA1-4777-8697-48E824B4971E}"/>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PAGE_NUMBER">
            <a:extLst xmlns:a="http://schemas.openxmlformats.org/drawingml/2006/main">
              <a:ext uri="{FF2B5EF4-FFF2-40B4-BE49-F238E27FC236}">
                <a16:creationId xmlns:a16="http://schemas.microsoft.com/office/drawing/2014/main" id="{4B8576BE-D516-47A4-B165-E7C6C43630DE}"/>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19</a:t>
            </a:r>
          </a:p>
        </p:txBody>
      </p:sp>
      <p:graphicFrame>
        <p:nvGraphicFramePr>
          <p:cNvPr id="6" name="">
            <a:extLst xmlns:a="http://schemas.openxmlformats.org/drawingml/2006/main">
              <a:ext uri="{FF2B5EF4-FFF2-40B4-BE49-F238E27FC236}">
                <a16:creationId xmlns:a16="http://schemas.microsoft.com/office/drawing/2014/main" id="{B34C7E40-8D0D-4964-A6D6-E004AD6F3B93}"/>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2476500"/>
                <a:gridCol w="3905250"/>
                <a:gridCol w="4591050"/>
              </a:tblGrid>
              <a:tr h="864870">
                <a:tc>
                  <a:txBody>
                    <a:bodyPr/>
                    <a:lstStyle/>
                    <a:p>
                      <a:r>
                        <a:rPr sz="1800" b="1">
                          <a:solidFill>
                            <a:srgbClr val="153E75"/>
                          </a:solidFill>
                          <a:latin typeface="Arial"/>
                          <a:ea typeface="Arial"/>
                          <a:cs typeface="Arial"/>
                        </a:rPr>
                        <a:t>Chỉ số</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Cần quan sát</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Gợi ý điều tra, chưa phải kết luận</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864870">
                <a:tc>
                  <a:txBody>
                    <a:bodyPr/>
                    <a:lstStyle/>
                    <a:p>
                      <a:r>
                        <a:rPr sz="1800">
                          <a:solidFill>
                            <a:srgbClr val="151B23"/>
                          </a:solidFill>
                          <a:latin typeface="Arial"/>
                          <a:ea typeface="Arial"/>
                          <a:cs typeface="Arial"/>
                        </a:rPr>
                        <a:t>CPU / event-loop lag</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CPU cao, callback bị trễ</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Công việc CPU, xử lý đồng bộ</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RAM / GC</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RSS, heap và các lần thu gom</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Bộ nhớ tăng dần, GC kéo dài</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SQLite / I/O</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Query duration, lock, SQLITE_BUSY</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Truy vấn, giao dịch và lưu trữ</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Máy tạo tải</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CPU, RAM và tải thực phát</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Generator có phát đủ tải dự kiến?</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169705007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KHÁI NIỆM / THỜI GIAN">
            <a:extLst xmlns:a="http://schemas.openxmlformats.org/drawingml/2006/main">
              <a:ext uri="{FF2B5EF4-FFF2-40B4-BE49-F238E27FC236}">
                <a16:creationId xmlns:a16="http://schemas.microsoft.com/office/drawing/2014/main" id="{9E59F268-1A75-4D73-AA5A-C1B3F94E09B2}"/>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KHÁI NIỆM / THỜI GIAN</a:t>
            </a:r>
          </a:p>
        </p:txBody>
      </p:sp>
      <p:sp>
        <p:nvSpPr>
          <p:cNvPr id="3" name="TTFB, response time và thời gian một vòng">
            <a:extLst xmlns:a="http://schemas.openxmlformats.org/drawingml/2006/main">
              <a:ext uri="{FF2B5EF4-FFF2-40B4-BE49-F238E27FC236}">
                <a16:creationId xmlns:a16="http://schemas.microsoft.com/office/drawing/2014/main" id="{D80AE5ED-F51F-496C-9E7B-4319FCB848B6}"/>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TTFB, response time và thời gian một vòng</a:t>
            </a:r>
          </a:p>
        </p:txBody>
      </p:sp>
      <p:sp>
        <p:nvSpPr>
          <p:cNvPr id="4" name="Performance Testing trên EShop">
            <a:extLst xmlns:a="http://schemas.openxmlformats.org/drawingml/2006/main">
              <a:ext uri="{FF2B5EF4-FFF2-40B4-BE49-F238E27FC236}">
                <a16:creationId xmlns:a16="http://schemas.microsoft.com/office/drawing/2014/main" id="{0331E9F6-C75A-4490-BAD4-993B08C21898}"/>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PAGE_NUMBER">
            <a:extLst xmlns:a="http://schemas.openxmlformats.org/drawingml/2006/main">
              <a:ext uri="{FF2B5EF4-FFF2-40B4-BE49-F238E27FC236}">
                <a16:creationId xmlns:a16="http://schemas.microsoft.com/office/drawing/2014/main" id="{B508E807-18DE-4C5F-8E26-9DA6122803CD}"/>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20</a:t>
            </a:r>
          </a:p>
        </p:txBody>
      </p:sp>
      <p:sp>
        <p:nvSpPr>
          <p:cNvPr id="6" name="TTFB trong k6">
            <a:extLst xmlns:a="http://schemas.openxmlformats.org/drawingml/2006/main">
              <a:ext uri="{FF2B5EF4-FFF2-40B4-BE49-F238E27FC236}">
                <a16:creationId xmlns:a16="http://schemas.microsoft.com/office/drawing/2014/main" id="{DEF8B1A0-C0EB-4045-BBAE-5B40C440D334}"/>
              </a:ext>
            </a:extLst>
          </p:cNvPr>
          <p:cNvSpPr>
            <a:spLocks xmlns:a="http://schemas.openxmlformats.org/drawingml/2006/main" noGrp="1"/>
          </p:cNvSpPr>
          <p:nvPr/>
        </p:nvSpPr>
        <p:spPr>
          <a:xfrm xmlns:a="http://schemas.openxmlformats.org/drawingml/2006/main">
            <a:off x="609600" y="17526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TTFB trong k6</a:t>
            </a:r>
          </a:p>
        </p:txBody>
      </p:sp>
      <p:sp>
        <p:nvSpPr>
          <p:cNvPr id="7" name="http_req_waiting đo thời gian chờ response. Nó gồm ảnh hưởng mạng">
            <a:extLst xmlns:a="http://schemas.openxmlformats.org/drawingml/2006/main">
              <a:ext uri="{FF2B5EF4-FFF2-40B4-BE49-F238E27FC236}">
                <a16:creationId xmlns:a16="http://schemas.microsoft.com/office/drawing/2014/main" id="{E4014D7F-CF37-441A-A5C4-DF21CB047085}"/>
              </a:ext>
            </a:extLst>
          </p:cNvPr>
          <p:cNvSpPr>
            <a:spLocks xmlns:a="http://schemas.openxmlformats.org/drawingml/2006/main" noGrp="1"/>
          </p:cNvSpPr>
          <p:nvPr/>
        </p:nvSpPr>
        <p:spPr>
          <a:xfrm xmlns:a="http://schemas.openxmlformats.org/drawingml/2006/main">
            <a:off x="609600" y="2143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http_req_waiting đo thời gian chờ response. Nó gồm ảnh hưởng mạng và xử lý phía server.</a:t>
            </a:r>
          </a:p>
        </p:txBody>
      </p:sp>
      <p:sp>
        <p:nvSpPr>
          <p:cNvPr id="8" name="Duration của request">
            <a:extLst xmlns:a="http://schemas.openxmlformats.org/drawingml/2006/main">
              <a:ext uri="{FF2B5EF4-FFF2-40B4-BE49-F238E27FC236}">
                <a16:creationId xmlns:a16="http://schemas.microsoft.com/office/drawing/2014/main" id="{D49A79FC-8157-493D-BCD5-7B38A56D814D}"/>
              </a:ext>
            </a:extLst>
          </p:cNvPr>
          <p:cNvSpPr>
            <a:spLocks xmlns:a="http://schemas.openxmlformats.org/drawingml/2006/main" noGrp="1"/>
          </p:cNvSpPr>
          <p:nvPr/>
        </p:nvSpPr>
        <p:spPr>
          <a:xfrm xmlns:a="http://schemas.openxmlformats.org/drawingml/2006/main">
            <a:off x="609600" y="28003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Duration của request</a:t>
            </a:r>
          </a:p>
        </p:txBody>
      </p:sp>
      <p:sp>
        <p:nvSpPr>
          <p:cNvPr id="9" name="http_req_duration = sending + waiting + receiving. Chưa gồm DNS, ">
            <a:extLst xmlns:a="http://schemas.openxmlformats.org/drawingml/2006/main">
              <a:ext uri="{FF2B5EF4-FFF2-40B4-BE49-F238E27FC236}">
                <a16:creationId xmlns:a16="http://schemas.microsoft.com/office/drawing/2014/main" id="{3267E80A-EF49-4910-B7A1-16AC2BAC7254}"/>
              </a:ext>
            </a:extLst>
          </p:cNvPr>
          <p:cNvSpPr>
            <a:spLocks xmlns:a="http://schemas.openxmlformats.org/drawingml/2006/main" noGrp="1"/>
          </p:cNvSpPr>
          <p:nvPr/>
        </p:nvSpPr>
        <p:spPr>
          <a:xfrm xmlns:a="http://schemas.openxmlformats.org/drawingml/2006/main">
            <a:off x="609600" y="31908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http_req_duration = sending + waiting + receiving. Chưa gồm DNS, TCP và TLS ban đầu.</a:t>
            </a:r>
          </a:p>
        </p:txBody>
      </p:sp>
      <p:sp>
        <p:nvSpPr>
          <p:cNvPr id="10" name="Ví dụ minh họa">
            <a:extLst xmlns:a="http://schemas.openxmlformats.org/drawingml/2006/main">
              <a:ext uri="{FF2B5EF4-FFF2-40B4-BE49-F238E27FC236}">
                <a16:creationId xmlns:a16="http://schemas.microsoft.com/office/drawing/2014/main" id="{6CA57543-DE9B-4D2B-B98E-F6E7CA1EA001}"/>
              </a:ext>
            </a:extLst>
          </p:cNvPr>
          <p:cNvSpPr>
            <a:spLocks xmlns:a="http://schemas.openxmlformats.org/drawingml/2006/main" noGrp="1"/>
          </p:cNvSpPr>
          <p:nvPr/>
        </p:nvSpPr>
        <p:spPr>
          <a:xfrm xmlns:a="http://schemas.openxmlformats.org/drawingml/2006/main">
            <a:off x="609600" y="38481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Ví dụ minh họa</a:t>
            </a:r>
          </a:p>
        </p:txBody>
      </p:sp>
      <p:sp>
        <p:nvSpPr>
          <p:cNvPr id="11" name="Gửi 2 ms, chờ 90 ms, nhận 8 ms thì duration là 100 ms. Kết nối là">
            <a:extLst xmlns:a="http://schemas.openxmlformats.org/drawingml/2006/main">
              <a:ext uri="{FF2B5EF4-FFF2-40B4-BE49-F238E27FC236}">
                <a16:creationId xmlns:a16="http://schemas.microsoft.com/office/drawing/2014/main" id="{CA1B1940-EA9A-4DD8-B289-AC901D6D7D23}"/>
              </a:ext>
            </a:extLst>
          </p:cNvPr>
          <p:cNvSpPr>
            <a:spLocks xmlns:a="http://schemas.openxmlformats.org/drawingml/2006/main" noGrp="1"/>
          </p:cNvSpPr>
          <p:nvPr/>
        </p:nvSpPr>
        <p:spPr>
          <a:xfrm xmlns:a="http://schemas.openxmlformats.org/drawingml/2006/main">
            <a:off x="609600" y="42386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Gửi 2 ms, chờ 90 ms, nhận 8 ms thì duration là 100 ms. Kết nối là phần đo riêng.</a:t>
            </a:r>
          </a:p>
        </p:txBody>
      </p:sp>
      <p:sp>
        <p:nvSpPr>
          <p:cNvPr id="12" name="Thời gian iteration">
            <a:extLst xmlns:a="http://schemas.openxmlformats.org/drawingml/2006/main">
              <a:ext uri="{FF2B5EF4-FFF2-40B4-BE49-F238E27FC236}">
                <a16:creationId xmlns:a16="http://schemas.microsoft.com/office/drawing/2014/main" id="{EBF0BD29-FD71-40EB-A7E4-0D791C725B78}"/>
              </a:ext>
            </a:extLst>
          </p:cNvPr>
          <p:cNvSpPr>
            <a:spLocks xmlns:a="http://schemas.openxmlformats.org/drawingml/2006/main" noGrp="1"/>
          </p:cNvSpPr>
          <p:nvPr/>
        </p:nvSpPr>
        <p:spPr>
          <a:xfrm xmlns:a="http://schemas.openxmlformats.org/drawingml/2006/main">
            <a:off x="609600" y="48958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Thời gian iteration</a:t>
            </a:r>
          </a:p>
        </p:txBody>
      </p:sp>
      <p:sp>
        <p:nvSpPr>
          <p:cNvPr id="13" name="Một vòng còn có request khác và think-time. API nhanh chưa chứng ">
            <a:extLst xmlns:a="http://schemas.openxmlformats.org/drawingml/2006/main">
              <a:ext uri="{FF2B5EF4-FFF2-40B4-BE49-F238E27FC236}">
                <a16:creationId xmlns:a16="http://schemas.microsoft.com/office/drawing/2014/main" id="{C6FAA879-7BE2-409B-8C86-B0717C352992}"/>
              </a:ext>
            </a:extLst>
          </p:cNvPr>
          <p:cNvSpPr>
            <a:spLocks xmlns:a="http://schemas.openxmlformats.org/drawingml/2006/main" noGrp="1"/>
          </p:cNvSpPr>
          <p:nvPr/>
        </p:nvSpPr>
        <p:spPr>
          <a:xfrm xmlns:a="http://schemas.openxmlformats.org/drawingml/2006/main">
            <a:off x="609600" y="52863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Một vòng còn có request khác và think-time. API nhanh chưa chứng minh trang render nhanh.</a:t>
            </a:r>
          </a:p>
        </p:txBody>
      </p:sp>
    </p:spTree>
    <p:extLst>
      <p:ext uri="{BB962C8B-B14F-4D97-AF65-F5344CB8AC3E}">
        <p14:creationId xmlns:p14="http://schemas.microsoft.com/office/powerpoint/2010/main" val="72433103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KHÁI NIỆM">
            <a:extLst xmlns:a="http://schemas.openxmlformats.org/drawingml/2006/main">
              <a:ext uri="{FF2B5EF4-FFF2-40B4-BE49-F238E27FC236}">
                <a16:creationId xmlns:a16="http://schemas.microsoft.com/office/drawing/2014/main" id="{1617447D-03CA-4185-880F-572CA512F751}"/>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KHÁI NIỆM</a:t>
            </a:r>
          </a:p>
        </p:txBody>
      </p:sp>
      <p:sp>
        <p:nvSpPr>
          <p:cNvPr id="3" name="Phân vị và cỡ mẫu">
            <a:extLst xmlns:a="http://schemas.openxmlformats.org/drawingml/2006/main">
              <a:ext uri="{FF2B5EF4-FFF2-40B4-BE49-F238E27FC236}">
                <a16:creationId xmlns:a16="http://schemas.microsoft.com/office/drawing/2014/main" id="{5E732856-D511-4106-B8E1-9BC6782E6EFF}"/>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Phân vị và cỡ mẫu</a:t>
            </a:r>
          </a:p>
        </p:txBody>
      </p:sp>
      <p:sp>
        <p:nvSpPr>
          <p:cNvPr id="4" name="Performance Testing trên EShop">
            <a:extLst xmlns:a="http://schemas.openxmlformats.org/drawingml/2006/main">
              <a:ext uri="{FF2B5EF4-FFF2-40B4-BE49-F238E27FC236}">
                <a16:creationId xmlns:a16="http://schemas.microsoft.com/office/drawing/2014/main" id="{54921D24-1973-45E0-8744-633B9AAF1F26}"/>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12">
            <a:extLst xmlns:a="http://schemas.openxmlformats.org/drawingml/2006/main">
              <a:ext uri="{FF2B5EF4-FFF2-40B4-BE49-F238E27FC236}">
                <a16:creationId xmlns:a16="http://schemas.microsoft.com/office/drawing/2014/main" id="{198615C4-54B9-4396-8ED3-B94F7EC6DB14}"/>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21</a:t>
            </a:r>
          </a:p>
        </p:txBody>
      </p:sp>
      <p:sp>
        <p:nvSpPr>
          <p:cNvPr id="6" name="01">
            <a:extLst xmlns:a="http://schemas.openxmlformats.org/drawingml/2006/main">
              <a:ext uri="{FF2B5EF4-FFF2-40B4-BE49-F238E27FC236}">
                <a16:creationId xmlns:a16="http://schemas.microsoft.com/office/drawing/2014/main" id="{EFB12E88-1053-4316-8511-FC20117E0BDC}"/>
              </a:ext>
            </a:extLst>
          </p:cNvPr>
          <p:cNvSpPr>
            <a:spLocks xmlns:a="http://schemas.openxmlformats.org/drawingml/2006/main" noGrp="1"/>
          </p:cNvSpPr>
          <p:nvPr/>
        </p:nvSpPr>
        <p:spPr>
          <a:xfrm xmlns:a="http://schemas.openxmlformats.org/drawingml/2006/main">
            <a:off x="628650" y="18002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01</a:t>
            </a:r>
          </a:p>
        </p:txBody>
      </p:sp>
      <p:sp>
        <p:nvSpPr>
          <p:cNvPr id="7" name="p50 mô tả vùng giữa phân bố thời gian request.">
            <a:extLst xmlns:a="http://schemas.openxmlformats.org/drawingml/2006/main">
              <a:ext uri="{FF2B5EF4-FFF2-40B4-BE49-F238E27FC236}">
                <a16:creationId xmlns:a16="http://schemas.microsoft.com/office/drawing/2014/main" id="{F6E054B2-8020-43D4-8C0B-0219B3B36A12}"/>
              </a:ext>
            </a:extLst>
          </p:cNvPr>
          <p:cNvSpPr>
            <a:spLocks xmlns:a="http://schemas.openxmlformats.org/drawingml/2006/main" noGrp="1"/>
          </p:cNvSpPr>
          <p:nvPr/>
        </p:nvSpPr>
        <p:spPr>
          <a:xfrm xmlns:a="http://schemas.openxmlformats.org/drawingml/2006/main">
            <a:off x="1257300" y="17811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p50 mô tả vùng giữa phân bố thời gian request.</a:t>
            </a:r>
          </a:p>
        </p:txBody>
      </p:sp>
      <p:sp>
        <p:nvSpPr>
          <p:cNvPr id="8" name="02">
            <a:extLst xmlns:a="http://schemas.openxmlformats.org/drawingml/2006/main">
              <a:ext uri="{FF2B5EF4-FFF2-40B4-BE49-F238E27FC236}">
                <a16:creationId xmlns:a16="http://schemas.microsoft.com/office/drawing/2014/main" id="{E62DFF37-7EDB-46A6-85EB-00CC42F9A652}"/>
              </a:ext>
            </a:extLst>
          </p:cNvPr>
          <p:cNvSpPr>
            <a:spLocks xmlns:a="http://schemas.openxmlformats.org/drawingml/2006/main" noGrp="1"/>
          </p:cNvSpPr>
          <p:nvPr/>
        </p:nvSpPr>
        <p:spPr>
          <a:xfrm xmlns:a="http://schemas.openxmlformats.org/drawingml/2006/main">
            <a:off x="628650" y="27527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02</a:t>
            </a:r>
          </a:p>
        </p:txBody>
      </p:sp>
      <p:sp>
        <p:nvSpPr>
          <p:cNvPr id="9" name="p95 và p99 giúp quan sát nhóm request chậm.">
            <a:extLst xmlns:a="http://schemas.openxmlformats.org/drawingml/2006/main">
              <a:ext uri="{FF2B5EF4-FFF2-40B4-BE49-F238E27FC236}">
                <a16:creationId xmlns:a16="http://schemas.microsoft.com/office/drawing/2014/main" id="{628CDC34-950E-46A7-BBB0-140341D8BA36}"/>
              </a:ext>
            </a:extLst>
          </p:cNvPr>
          <p:cNvSpPr>
            <a:spLocks xmlns:a="http://schemas.openxmlformats.org/drawingml/2006/main" noGrp="1"/>
          </p:cNvSpPr>
          <p:nvPr/>
        </p:nvSpPr>
        <p:spPr>
          <a:xfrm xmlns:a="http://schemas.openxmlformats.org/drawingml/2006/main">
            <a:off x="1257300" y="27336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p95 và p99 giúp quan sát nhóm request chậm.</a:t>
            </a:r>
          </a:p>
        </p:txBody>
      </p:sp>
      <p:sp>
        <p:nvSpPr>
          <p:cNvPr id="10" name="03">
            <a:extLst xmlns:a="http://schemas.openxmlformats.org/drawingml/2006/main">
              <a:ext uri="{FF2B5EF4-FFF2-40B4-BE49-F238E27FC236}">
                <a16:creationId xmlns:a16="http://schemas.microsoft.com/office/drawing/2014/main" id="{2F3DE5A2-7560-40CB-8747-35BBEDCC998C}"/>
              </a:ext>
            </a:extLst>
          </p:cNvPr>
          <p:cNvSpPr>
            <a:spLocks xmlns:a="http://schemas.openxmlformats.org/drawingml/2006/main" noGrp="1"/>
          </p:cNvSpPr>
          <p:nvPr/>
        </p:nvSpPr>
        <p:spPr>
          <a:xfrm xmlns:a="http://schemas.openxmlformats.org/drawingml/2006/main">
            <a:off x="628650" y="37052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03</a:t>
            </a:r>
          </a:p>
        </p:txBody>
      </p:sp>
      <p:sp>
        <p:nvSpPr>
          <p:cNvPr id="11" name="Trung bình có thể che một số response rất chậm.">
            <a:extLst xmlns:a="http://schemas.openxmlformats.org/drawingml/2006/main">
              <a:ext uri="{FF2B5EF4-FFF2-40B4-BE49-F238E27FC236}">
                <a16:creationId xmlns:a16="http://schemas.microsoft.com/office/drawing/2014/main" id="{3092780E-0EF1-4D85-BDC4-C76F53A0832B}"/>
              </a:ext>
            </a:extLst>
          </p:cNvPr>
          <p:cNvSpPr>
            <a:spLocks xmlns:a="http://schemas.openxmlformats.org/drawingml/2006/main" noGrp="1"/>
          </p:cNvSpPr>
          <p:nvPr/>
        </p:nvSpPr>
        <p:spPr>
          <a:xfrm xmlns:a="http://schemas.openxmlformats.org/drawingml/2006/main">
            <a:off x="1257300" y="36861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Trung bình có thể che một số response rất chậm.</a:t>
            </a:r>
          </a:p>
        </p:txBody>
      </p:sp>
      <p:sp>
        <p:nvSpPr>
          <p:cNvPr id="12" name="04">
            <a:extLst xmlns:a="http://schemas.openxmlformats.org/drawingml/2006/main">
              <a:ext uri="{FF2B5EF4-FFF2-40B4-BE49-F238E27FC236}">
                <a16:creationId xmlns:a16="http://schemas.microsoft.com/office/drawing/2014/main" id="{CFC783F4-336E-415A-B2BE-1863159AFAF3}"/>
              </a:ext>
            </a:extLst>
          </p:cNvPr>
          <p:cNvSpPr>
            <a:spLocks xmlns:a="http://schemas.openxmlformats.org/drawingml/2006/main" noGrp="1"/>
          </p:cNvSpPr>
          <p:nvPr/>
        </p:nvSpPr>
        <p:spPr>
          <a:xfrm xmlns:a="http://schemas.openxmlformats.org/drawingml/2006/main">
            <a:off x="628650" y="46577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04</a:t>
            </a:r>
          </a:p>
        </p:txBody>
      </p:sp>
      <p:sp>
        <p:nvSpPr>
          <p:cNvPr id="13" name="p95 từ hai request chỉ mô tả một mẫu rất nhỏ.">
            <a:extLst xmlns:a="http://schemas.openxmlformats.org/drawingml/2006/main">
              <a:ext uri="{FF2B5EF4-FFF2-40B4-BE49-F238E27FC236}">
                <a16:creationId xmlns:a16="http://schemas.microsoft.com/office/drawing/2014/main" id="{A9EAA397-6A2D-4FBE-8B36-CCFEEBC656C1}"/>
              </a:ext>
            </a:extLst>
          </p:cNvPr>
          <p:cNvSpPr>
            <a:spLocks xmlns:a="http://schemas.openxmlformats.org/drawingml/2006/main" noGrp="1"/>
          </p:cNvSpPr>
          <p:nvPr/>
        </p:nvSpPr>
        <p:spPr>
          <a:xfrm xmlns:a="http://schemas.openxmlformats.org/drawingml/2006/main">
            <a:off x="1257300" y="46386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p95 từ hai request chỉ mô tả một mẫu rất nhỏ.</a:t>
            </a:r>
          </a:p>
        </p:txBody>
      </p:sp>
    </p:spTree>
    <p:extLst>
      <p:ext uri="{BB962C8B-B14F-4D97-AF65-F5344CB8AC3E}">
        <p14:creationId xmlns:p14="http://schemas.microsoft.com/office/powerpoint/2010/main" val="211035571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KHÁI NIỆM / PHÂN VỊ">
            <a:extLst xmlns:a="http://schemas.openxmlformats.org/drawingml/2006/main">
              <a:ext uri="{FF2B5EF4-FFF2-40B4-BE49-F238E27FC236}">
                <a16:creationId xmlns:a16="http://schemas.microsoft.com/office/drawing/2014/main" id="{EE25AF03-F21E-4D7D-B49C-5E642D0FB7C6}"/>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KHÁI NIỆM / PHÂN VỊ</a:t>
            </a:r>
          </a:p>
        </p:txBody>
      </p:sp>
      <p:sp>
        <p:nvSpPr>
          <p:cNvPr id="3" name="p95 và p99: cách hiểu bằng số">
            <a:extLst xmlns:a="http://schemas.openxmlformats.org/drawingml/2006/main">
              <a:ext uri="{FF2B5EF4-FFF2-40B4-BE49-F238E27FC236}">
                <a16:creationId xmlns:a16="http://schemas.microsoft.com/office/drawing/2014/main" id="{7F767DC7-2A15-4110-9D8E-9197A7D91473}"/>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p95 và p99: cách hiểu bằng số</a:t>
            </a:r>
          </a:p>
        </p:txBody>
      </p:sp>
      <p:sp>
        <p:nvSpPr>
          <p:cNvPr id="4" name="Performance Testing trên EShop">
            <a:extLst xmlns:a="http://schemas.openxmlformats.org/drawingml/2006/main">
              <a:ext uri="{FF2B5EF4-FFF2-40B4-BE49-F238E27FC236}">
                <a16:creationId xmlns:a16="http://schemas.microsoft.com/office/drawing/2014/main" id="{BD8B0A05-9D21-4B0C-AE76-AA7FBA68516D}"/>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PAGE_NUMBER">
            <a:extLst xmlns:a="http://schemas.openxmlformats.org/drawingml/2006/main">
              <a:ext uri="{FF2B5EF4-FFF2-40B4-BE49-F238E27FC236}">
                <a16:creationId xmlns:a16="http://schemas.microsoft.com/office/drawing/2014/main" id="{BCC4EB07-EB12-460F-A595-E94252837C17}"/>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22</a:t>
            </a:r>
          </a:p>
        </p:txBody>
      </p:sp>
      <p:sp>
        <p:nvSpPr>
          <p:cNvPr id="6" name="Cách đọc p95">
            <a:extLst xmlns:a="http://schemas.openxmlformats.org/drawingml/2006/main">
              <a:ext uri="{FF2B5EF4-FFF2-40B4-BE49-F238E27FC236}">
                <a16:creationId xmlns:a16="http://schemas.microsoft.com/office/drawing/2014/main" id="{B6870DA8-5006-4683-9A21-457FA3270422}"/>
              </a:ext>
            </a:extLst>
          </p:cNvPr>
          <p:cNvSpPr>
            <a:spLocks xmlns:a="http://schemas.openxmlformats.org/drawingml/2006/main" noGrp="1"/>
          </p:cNvSpPr>
          <p:nvPr/>
        </p:nvSpPr>
        <p:spPr>
          <a:xfrm xmlns:a="http://schemas.openxmlformats.org/drawingml/2006/main">
            <a:off x="609600" y="17526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Cách đọc p95</a:t>
            </a:r>
          </a:p>
        </p:txBody>
      </p:sp>
      <p:sp>
        <p:nvSpPr>
          <p:cNvPr id="7" name="Sau khi sắp thời gian từ thấp đến cao, p95 chỉ vị trí gần 95% của">
            <a:extLst xmlns:a="http://schemas.openxmlformats.org/drawingml/2006/main">
              <a:ext uri="{FF2B5EF4-FFF2-40B4-BE49-F238E27FC236}">
                <a16:creationId xmlns:a16="http://schemas.microsoft.com/office/drawing/2014/main" id="{DEC8E5C0-E1EB-4D73-9F3C-E7CAD7120640}"/>
              </a:ext>
            </a:extLst>
          </p:cNvPr>
          <p:cNvSpPr>
            <a:spLocks xmlns:a="http://schemas.openxmlformats.org/drawingml/2006/main" noGrp="1"/>
          </p:cNvSpPr>
          <p:nvPr/>
        </p:nvSpPr>
        <p:spPr>
          <a:xfrm xmlns:a="http://schemas.openxmlformats.org/drawingml/2006/main">
            <a:off x="609600" y="2143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Sau khi sắp thời gian từ thấp đến cao, p95 chỉ vị trí gần 95% của phân bố.</a:t>
            </a:r>
          </a:p>
        </p:txBody>
      </p:sp>
      <p:sp>
        <p:nvSpPr>
          <p:cNvPr id="8" name="Ví dụ nearest-rank">
            <a:extLst xmlns:a="http://schemas.openxmlformats.org/drawingml/2006/main">
              <a:ext uri="{FF2B5EF4-FFF2-40B4-BE49-F238E27FC236}">
                <a16:creationId xmlns:a16="http://schemas.microsoft.com/office/drawing/2014/main" id="{95458DFF-54BF-4C67-90F4-3E4D7B500656}"/>
              </a:ext>
            </a:extLst>
          </p:cNvPr>
          <p:cNvSpPr>
            <a:spLocks xmlns:a="http://schemas.openxmlformats.org/drawingml/2006/main" noGrp="1"/>
          </p:cNvSpPr>
          <p:nvPr/>
        </p:nvSpPr>
        <p:spPr>
          <a:xfrm xmlns:a="http://schemas.openxmlformats.org/drawingml/2006/main">
            <a:off x="609600" y="28003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Ví dụ nearest-rank</a:t>
            </a:r>
          </a:p>
        </p:txBody>
      </p:sp>
      <p:sp>
        <p:nvSpPr>
          <p:cNvPr id="9" name="Với 100 mẫu đã sắp xếp: p95 là mẫu thứ 95, p99 là mẫu thứ 99.">
            <a:extLst xmlns:a="http://schemas.openxmlformats.org/drawingml/2006/main">
              <a:ext uri="{FF2B5EF4-FFF2-40B4-BE49-F238E27FC236}">
                <a16:creationId xmlns:a16="http://schemas.microsoft.com/office/drawing/2014/main" id="{BB3ADD71-DDCB-42C2-820B-ADD3A64BABC5}"/>
              </a:ext>
            </a:extLst>
          </p:cNvPr>
          <p:cNvSpPr>
            <a:spLocks xmlns:a="http://schemas.openxmlformats.org/drawingml/2006/main" noGrp="1"/>
          </p:cNvSpPr>
          <p:nvPr/>
        </p:nvSpPr>
        <p:spPr>
          <a:xfrm xmlns:a="http://schemas.openxmlformats.org/drawingml/2006/main">
            <a:off x="609600" y="31908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Với 100 mẫu đã sắp xếp: p95 là mẫu thứ 95, p99 là mẫu thứ 99.</a:t>
            </a:r>
          </a:p>
        </p:txBody>
      </p:sp>
      <p:sp>
        <p:nvSpPr>
          <p:cNvPr id="10" name="Ví dụ mục tiêu">
            <a:extLst xmlns:a="http://schemas.openxmlformats.org/drawingml/2006/main">
              <a:ext uri="{FF2B5EF4-FFF2-40B4-BE49-F238E27FC236}">
                <a16:creationId xmlns:a16="http://schemas.microsoft.com/office/drawing/2014/main" id="{5C686DCB-BC5B-4B43-A8EA-BC3668AB3E1C}"/>
              </a:ext>
            </a:extLst>
          </p:cNvPr>
          <p:cNvSpPr>
            <a:spLocks xmlns:a="http://schemas.openxmlformats.org/drawingml/2006/main" noGrp="1"/>
          </p:cNvSpPr>
          <p:nvPr/>
        </p:nvSpPr>
        <p:spPr>
          <a:xfrm xmlns:a="http://schemas.openxmlformats.org/drawingml/2006/main">
            <a:off x="609600" y="38481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Ví dụ mục tiêu</a:t>
            </a:r>
          </a:p>
        </p:txBody>
      </p:sp>
      <p:sp>
        <p:nvSpPr>
          <p:cNvPr id="11" name="p95 = 420 ms cho biết khoảng 95% mẫu không vượt mức này. Nhóm chậ">
            <a:extLst xmlns:a="http://schemas.openxmlformats.org/drawingml/2006/main">
              <a:ext uri="{FF2B5EF4-FFF2-40B4-BE49-F238E27FC236}">
                <a16:creationId xmlns:a16="http://schemas.microsoft.com/office/drawing/2014/main" id="{FED26D97-0574-47AA-9D23-6A1F2BB080B5}"/>
              </a:ext>
            </a:extLst>
          </p:cNvPr>
          <p:cNvSpPr>
            <a:spLocks xmlns:a="http://schemas.openxmlformats.org/drawingml/2006/main" noGrp="1"/>
          </p:cNvSpPr>
          <p:nvPr/>
        </p:nvSpPr>
        <p:spPr>
          <a:xfrm xmlns:a="http://schemas.openxmlformats.org/drawingml/2006/main">
            <a:off x="609600" y="42386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p95 = 420 ms cho biết khoảng 95% mẫu không vượt mức này. Nhóm chậm còn lại vẫn cần xem.</a:t>
            </a:r>
          </a:p>
        </p:txBody>
      </p:sp>
      <p:sp>
        <p:nvSpPr>
          <p:cNvPr id="12" name="Điểm dễ nhầm">
            <a:extLst xmlns:a="http://schemas.openxmlformats.org/drawingml/2006/main">
              <a:ext uri="{FF2B5EF4-FFF2-40B4-BE49-F238E27FC236}">
                <a16:creationId xmlns:a16="http://schemas.microsoft.com/office/drawing/2014/main" id="{864E0655-0921-4CA8-B8BA-D7F132712100}"/>
              </a:ext>
            </a:extLst>
          </p:cNvPr>
          <p:cNvSpPr>
            <a:spLocks xmlns:a="http://schemas.openxmlformats.org/drawingml/2006/main" noGrp="1"/>
          </p:cNvSpPr>
          <p:nvPr/>
        </p:nvSpPr>
        <p:spPr>
          <a:xfrm xmlns:a="http://schemas.openxmlformats.org/drawingml/2006/main">
            <a:off x="609600" y="48958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Điểm dễ nhầm</a:t>
            </a:r>
          </a:p>
        </p:txBody>
      </p:sp>
      <p:sp>
        <p:nvSpPr>
          <p:cNvPr id="13" name="p95 không phải độ tin cậy 95%. Hai request chưa đủ để suy rộng hi">
            <a:extLst xmlns:a="http://schemas.openxmlformats.org/drawingml/2006/main">
              <a:ext uri="{FF2B5EF4-FFF2-40B4-BE49-F238E27FC236}">
                <a16:creationId xmlns:a16="http://schemas.microsoft.com/office/drawing/2014/main" id="{3F082B7D-424E-4EEF-B3EF-6A366F229A92}"/>
              </a:ext>
            </a:extLst>
          </p:cNvPr>
          <p:cNvSpPr>
            <a:spLocks xmlns:a="http://schemas.openxmlformats.org/drawingml/2006/main" noGrp="1"/>
          </p:cNvSpPr>
          <p:nvPr/>
        </p:nvSpPr>
        <p:spPr>
          <a:xfrm xmlns:a="http://schemas.openxmlformats.org/drawingml/2006/main">
            <a:off x="609600" y="52863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p95 không phải độ tin cậy 95%. Hai request chưa đủ để suy rộng hiệu năng dưới tải.</a:t>
            </a:r>
          </a:p>
        </p:txBody>
      </p:sp>
    </p:spTree>
    <p:extLst>
      <p:ext uri="{BB962C8B-B14F-4D97-AF65-F5344CB8AC3E}">
        <p14:creationId xmlns:p14="http://schemas.microsoft.com/office/powerpoint/2010/main" val="110444032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KHÁI NIỆM">
            <a:extLst xmlns:a="http://schemas.openxmlformats.org/drawingml/2006/main">
              <a:ext uri="{FF2B5EF4-FFF2-40B4-BE49-F238E27FC236}">
                <a16:creationId xmlns:a16="http://schemas.microsoft.com/office/drawing/2014/main" id="{10C09F7F-119F-4350-8661-2CBFE9434F09}"/>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KHÁI NIỆM</a:t>
            </a:r>
          </a:p>
        </p:txBody>
      </p:sp>
      <p:sp>
        <p:nvSpPr>
          <p:cNvPr id="3" name="Check, threshold và smoke pass">
            <a:extLst xmlns:a="http://schemas.openxmlformats.org/drawingml/2006/main">
              <a:ext uri="{FF2B5EF4-FFF2-40B4-BE49-F238E27FC236}">
                <a16:creationId xmlns:a16="http://schemas.microsoft.com/office/drawing/2014/main" id="{270E2F1E-828B-4822-91CD-A97D5B9A5176}"/>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Check, threshold và smoke pass</a:t>
            </a:r>
          </a:p>
        </p:txBody>
      </p:sp>
      <p:sp>
        <p:nvSpPr>
          <p:cNvPr id="4" name="Performance Testing trên EShop">
            <a:extLst xmlns:a="http://schemas.openxmlformats.org/drawingml/2006/main">
              <a:ext uri="{FF2B5EF4-FFF2-40B4-BE49-F238E27FC236}">
                <a16:creationId xmlns:a16="http://schemas.microsoft.com/office/drawing/2014/main" id="{578A224D-4B4B-4453-8DEB-9C7F35331268}"/>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13">
            <a:extLst xmlns:a="http://schemas.openxmlformats.org/drawingml/2006/main">
              <a:ext uri="{FF2B5EF4-FFF2-40B4-BE49-F238E27FC236}">
                <a16:creationId xmlns:a16="http://schemas.microsoft.com/office/drawing/2014/main" id="{E9B234B3-05DB-4449-86FB-A43C0669CBE4}"/>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23</a:t>
            </a:r>
          </a:p>
        </p:txBody>
      </p:sp>
      <p:graphicFrame>
        <p:nvGraphicFramePr>
          <p:cNvPr id="6" name="">
            <a:extLst xmlns:a="http://schemas.openxmlformats.org/drawingml/2006/main">
              <a:ext uri="{FF2B5EF4-FFF2-40B4-BE49-F238E27FC236}">
                <a16:creationId xmlns:a16="http://schemas.microsoft.com/office/drawing/2014/main" id="{47AC729D-7C65-4634-8F2C-2606AE6D73B7}"/>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3657600"/>
                <a:gridCol w="3657600"/>
                <a:gridCol w="3657600"/>
              </a:tblGrid>
              <a:tr h="1081088">
                <a:tc>
                  <a:txBody>
                    <a:bodyPr/>
                    <a:lstStyle/>
                    <a:p>
                      <a:r>
                        <a:rPr sz="1800" b="1">
                          <a:solidFill>
                            <a:srgbClr val="153E75"/>
                          </a:solidFill>
                          <a:latin typeface="Arial"/>
                          <a:ea typeface="Arial"/>
                          <a:cs typeface="Arial"/>
                        </a:rPr>
                        <a:t>Khái niệm</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Áp dụng</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Ví dụ</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1081088">
                <a:tc>
                  <a:txBody>
                    <a:bodyPr/>
                    <a:lstStyle/>
                    <a:p>
                      <a:r>
                        <a:rPr sz="1800">
                          <a:solidFill>
                            <a:srgbClr val="151B23"/>
                          </a:solidFill>
                          <a:latin typeface="Arial"/>
                          <a:ea typeface="Arial"/>
                          <a:cs typeface="Arial"/>
                        </a:rPr>
                        <a:t>Check</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Điều kiện trên response</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status === 200, token tồn tại</a:t>
                      </a:r>
                    </a:p>
                  </a:txBody>
                  <a:tcPr marL="114300" marR="95250" marT="76200" marB="57150">
                    <a:lnR w="9525">
                      <a:solidFill>
                        <a:srgbClr val="D7DDE4"/>
                      </a:solidFill>
                      <a:prstDash val="solid"/>
                    </a:lnR>
                    <a:lnB w="9525">
                      <a:solidFill>
                        <a:srgbClr val="D7DDE4"/>
                      </a:solidFill>
                      <a:prstDash val="solid"/>
                    </a:lnB>
                    <a:solidFill>
                      <a:srgbClr val="FFFFFF"/>
                    </a:solidFill>
                  </a:tcPr>
                </a:tc>
              </a:tr>
              <a:tr h="1081088">
                <a:tc>
                  <a:txBody>
                    <a:bodyPr/>
                    <a:lstStyle/>
                    <a:p>
                      <a:r>
                        <a:rPr sz="1800">
                          <a:solidFill>
                            <a:srgbClr val="151B23"/>
                          </a:solidFill>
                          <a:latin typeface="Arial"/>
                          <a:ea typeface="Arial"/>
                          <a:cs typeface="Arial"/>
                        </a:rPr>
                        <a:t>Threshold</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Điều kiện chấp nhận metric</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p(95)&lt;500, checks&gt;=0.99</a:t>
                      </a:r>
                    </a:p>
                  </a:txBody>
                  <a:tcPr marL="114300" marR="95250" marT="76200" marB="57150">
                    <a:lnR w="9525">
                      <a:solidFill>
                        <a:srgbClr val="D7DDE4"/>
                      </a:solidFill>
                      <a:prstDash val="solid"/>
                    </a:lnR>
                    <a:lnB w="9525">
                      <a:solidFill>
                        <a:srgbClr val="D7DDE4"/>
                      </a:solidFill>
                      <a:prstDash val="solid"/>
                    </a:lnB>
                    <a:solidFill>
                      <a:srgbClr val="FFFFFF"/>
                    </a:solidFill>
                  </a:tcPr>
                </a:tc>
              </a:tr>
              <a:tr h="1081088">
                <a:tc>
                  <a:txBody>
                    <a:bodyPr/>
                    <a:lstStyle/>
                    <a:p>
                      <a:r>
                        <a:rPr sz="1800">
                          <a:solidFill>
                            <a:srgbClr val="151B23"/>
                          </a:solidFill>
                          <a:latin typeface="Arial"/>
                          <a:ea typeface="Arial"/>
                          <a:cs typeface="Arial"/>
                        </a:rPr>
                        <a:t>Smoke pass của web</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Quy tắc runtime của project</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Có mẫu, đủ metric, không lỗi</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129327937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KHÁI NIỆM / TÍNH ĐÚNG">
            <a:extLst xmlns:a="http://schemas.openxmlformats.org/drawingml/2006/main">
              <a:ext uri="{FF2B5EF4-FFF2-40B4-BE49-F238E27FC236}">
                <a16:creationId xmlns:a16="http://schemas.microsoft.com/office/drawing/2014/main" id="{54B0583B-E134-4799-9809-38F39419823D}"/>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KHÁI NIỆM / TÍNH ĐÚNG</a:t>
            </a:r>
          </a:p>
        </p:txBody>
      </p:sp>
      <p:sp>
        <p:nvSpPr>
          <p:cNvPr id="3" name="HTTP error rate và check rate khác nhau">
            <a:extLst xmlns:a="http://schemas.openxmlformats.org/drawingml/2006/main">
              <a:ext uri="{FF2B5EF4-FFF2-40B4-BE49-F238E27FC236}">
                <a16:creationId xmlns:a16="http://schemas.microsoft.com/office/drawing/2014/main" id="{E1D54A91-2C67-4326-BB1E-AD198BA4E9BF}"/>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HTTP error rate và check rate khác nhau</a:t>
            </a:r>
          </a:p>
        </p:txBody>
      </p:sp>
      <p:sp>
        <p:nvSpPr>
          <p:cNvPr id="4" name="Performance Testing trên EShop">
            <a:extLst xmlns:a="http://schemas.openxmlformats.org/drawingml/2006/main">
              <a:ext uri="{FF2B5EF4-FFF2-40B4-BE49-F238E27FC236}">
                <a16:creationId xmlns:a16="http://schemas.microsoft.com/office/drawing/2014/main" id="{D4B84261-C4B1-411A-A7D1-FD764ABDB974}"/>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PAGE_NUMBER">
            <a:extLst xmlns:a="http://schemas.openxmlformats.org/drawingml/2006/main">
              <a:ext uri="{FF2B5EF4-FFF2-40B4-BE49-F238E27FC236}">
                <a16:creationId xmlns:a16="http://schemas.microsoft.com/office/drawing/2014/main" id="{417281C1-8CD5-47F9-A7A7-D7F08E3CEA38}"/>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24</a:t>
            </a:r>
          </a:p>
        </p:txBody>
      </p:sp>
      <p:sp>
        <p:nvSpPr>
          <p:cNvPr id="6" name="HTTP error rate">
            <a:extLst xmlns:a="http://schemas.openxmlformats.org/drawingml/2006/main">
              <a:ext uri="{FF2B5EF4-FFF2-40B4-BE49-F238E27FC236}">
                <a16:creationId xmlns:a16="http://schemas.microsoft.com/office/drawing/2014/main" id="{DBA0A779-95BC-4D26-9781-F0B9BBF014DB}"/>
              </a:ext>
            </a:extLst>
          </p:cNvPr>
          <p:cNvSpPr>
            <a:spLocks xmlns:a="http://schemas.openxmlformats.org/drawingml/2006/main" noGrp="1"/>
          </p:cNvSpPr>
          <p:nvPr/>
        </p:nvSpPr>
        <p:spPr>
          <a:xfrm xmlns:a="http://schemas.openxmlformats.org/drawingml/2006/main">
            <a:off x="609600" y="17526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HTTP error rate</a:t>
            </a:r>
          </a:p>
        </p:txBody>
      </p:sp>
      <p:sp>
        <p:nvSpPr>
          <p:cNvPr id="7" name="Ví dụ có 2 request lỗi trên 100 request thì tỷ lệ HTTP lỗi là 2%.">
            <a:extLst xmlns:a="http://schemas.openxmlformats.org/drawingml/2006/main">
              <a:ext uri="{FF2B5EF4-FFF2-40B4-BE49-F238E27FC236}">
                <a16:creationId xmlns:a16="http://schemas.microsoft.com/office/drawing/2014/main" id="{513334FF-6AB2-411D-A2DD-455E5E40A015}"/>
              </a:ext>
            </a:extLst>
          </p:cNvPr>
          <p:cNvSpPr>
            <a:spLocks xmlns:a="http://schemas.openxmlformats.org/drawingml/2006/main" noGrp="1"/>
          </p:cNvSpPr>
          <p:nvPr/>
        </p:nvSpPr>
        <p:spPr>
          <a:xfrm xmlns:a="http://schemas.openxmlformats.org/drawingml/2006/main">
            <a:off x="609600" y="2143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Ví dụ có 2 request lỗi trên 100 request thì tỷ lệ HTTP lỗi là 2%.</a:t>
            </a:r>
          </a:p>
        </p:txBody>
      </p:sp>
      <p:sp>
        <p:nvSpPr>
          <p:cNvPr id="8" name="Check rate">
            <a:extLst xmlns:a="http://schemas.openxmlformats.org/drawingml/2006/main">
              <a:ext uri="{FF2B5EF4-FFF2-40B4-BE49-F238E27FC236}">
                <a16:creationId xmlns:a16="http://schemas.microsoft.com/office/drawing/2014/main" id="{AD375C15-ACE9-4874-9B06-CB29164673C0}"/>
              </a:ext>
            </a:extLst>
          </p:cNvPr>
          <p:cNvSpPr>
            <a:spLocks xmlns:a="http://schemas.openxmlformats.org/drawingml/2006/main" noGrp="1"/>
          </p:cNvSpPr>
          <p:nvPr/>
        </p:nvSpPr>
        <p:spPr>
          <a:xfrm xmlns:a="http://schemas.openxmlformats.org/drawingml/2006/main">
            <a:off x="609600" y="28003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Check rate</a:t>
            </a:r>
          </a:p>
        </p:txBody>
      </p:sp>
      <p:sp>
        <p:nvSpPr>
          <p:cNvPr id="9" name="Nếu thực hiện 200 check và 198 check đạt thì checks rate là 99%.">
            <a:extLst xmlns:a="http://schemas.openxmlformats.org/drawingml/2006/main">
              <a:ext uri="{FF2B5EF4-FFF2-40B4-BE49-F238E27FC236}">
                <a16:creationId xmlns:a16="http://schemas.microsoft.com/office/drawing/2014/main" id="{CF70C1FE-9ECD-40AE-9E48-67D8F32ABB71}"/>
              </a:ext>
            </a:extLst>
          </p:cNvPr>
          <p:cNvSpPr>
            <a:spLocks xmlns:a="http://schemas.openxmlformats.org/drawingml/2006/main" noGrp="1"/>
          </p:cNvSpPr>
          <p:nvPr/>
        </p:nvSpPr>
        <p:spPr>
          <a:xfrm xmlns:a="http://schemas.openxmlformats.org/drawingml/2006/main">
            <a:off x="609600" y="31908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Nếu thực hiện 200 check và 198 check đạt thì checks rate là 99%.</a:t>
            </a:r>
          </a:p>
        </p:txBody>
      </p:sp>
      <p:sp>
        <p:nvSpPr>
          <p:cNvPr id="10" name="Response 200 vẫn có thể sai">
            <a:extLst xmlns:a="http://schemas.openxmlformats.org/drawingml/2006/main">
              <a:ext uri="{FF2B5EF4-FFF2-40B4-BE49-F238E27FC236}">
                <a16:creationId xmlns:a16="http://schemas.microsoft.com/office/drawing/2014/main" id="{CF08F7BF-5D7E-402D-A77A-B221BA554519}"/>
              </a:ext>
            </a:extLst>
          </p:cNvPr>
          <p:cNvSpPr>
            <a:spLocks xmlns:a="http://schemas.openxmlformats.org/drawingml/2006/main" noGrp="1"/>
          </p:cNvSpPr>
          <p:nvPr/>
        </p:nvSpPr>
        <p:spPr>
          <a:xfrm xmlns:a="http://schemas.openxmlformats.org/drawingml/2006/main">
            <a:off x="609600" y="38481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Response 200 vẫn có thể sai</a:t>
            </a:r>
          </a:p>
        </p:txBody>
      </p:sp>
      <p:sp>
        <p:nvSpPr>
          <p:cNvPr id="11" name="Login trả 200 nhưng thiếu token: HTTP có thể đạt, check nội dung ">
            <a:extLst xmlns:a="http://schemas.openxmlformats.org/drawingml/2006/main">
              <a:ext uri="{FF2B5EF4-FFF2-40B4-BE49-F238E27FC236}">
                <a16:creationId xmlns:a16="http://schemas.microsoft.com/office/drawing/2014/main" id="{38972F1E-632B-4F96-AFBA-21683DC56169}"/>
              </a:ext>
            </a:extLst>
          </p:cNvPr>
          <p:cNvSpPr>
            <a:spLocks xmlns:a="http://schemas.openxmlformats.org/drawingml/2006/main" noGrp="1"/>
          </p:cNvSpPr>
          <p:nvPr/>
        </p:nvSpPr>
        <p:spPr>
          <a:xfrm xmlns:a="http://schemas.openxmlformats.org/drawingml/2006/main">
            <a:off x="609600" y="42386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Login trả 200 nhưng thiếu token: HTTP có thể đạt, check nội dung vẫn thất bại.</a:t>
            </a:r>
          </a:p>
        </p:txBody>
      </p:sp>
      <p:sp>
        <p:nvSpPr>
          <p:cNvPr id="12" name="Hệ quả cho kết luận">
            <a:extLst xmlns:a="http://schemas.openxmlformats.org/drawingml/2006/main">
              <a:ext uri="{FF2B5EF4-FFF2-40B4-BE49-F238E27FC236}">
                <a16:creationId xmlns:a16="http://schemas.microsoft.com/office/drawing/2014/main" id="{CB098C4A-6EB2-40BB-A834-16D45F610381}"/>
              </a:ext>
            </a:extLst>
          </p:cNvPr>
          <p:cNvSpPr>
            <a:spLocks xmlns:a="http://schemas.openxmlformats.org/drawingml/2006/main" noGrp="1"/>
          </p:cNvSpPr>
          <p:nvPr/>
        </p:nvSpPr>
        <p:spPr>
          <a:xfrm xmlns:a="http://schemas.openxmlformats.org/drawingml/2006/main">
            <a:off x="609600" y="48958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Hệ quả cho kết luận</a:t>
            </a:r>
          </a:p>
        </p:txBody>
      </p:sp>
      <p:sp>
        <p:nvSpPr>
          <p:cNvPr id="13" name="Mỗi request có thể chứa nhiều check. Phải giữ riêng số request, s">
            <a:extLst xmlns:a="http://schemas.openxmlformats.org/drawingml/2006/main">
              <a:ext uri="{FF2B5EF4-FFF2-40B4-BE49-F238E27FC236}">
                <a16:creationId xmlns:a16="http://schemas.microsoft.com/office/drawing/2014/main" id="{43AE824C-9141-4E0A-B9AE-B3A62A2A3FA8}"/>
              </a:ext>
            </a:extLst>
          </p:cNvPr>
          <p:cNvSpPr>
            <a:spLocks xmlns:a="http://schemas.openxmlformats.org/drawingml/2006/main" noGrp="1"/>
          </p:cNvSpPr>
          <p:nvPr/>
        </p:nvSpPr>
        <p:spPr>
          <a:xfrm xmlns:a="http://schemas.openxmlformats.org/drawingml/2006/main">
            <a:off x="609600" y="52863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Mỗi request có thể chứa nhiều check. Phải giữ riêng số request, số check và mẫu số.</a:t>
            </a:r>
          </a:p>
        </p:txBody>
      </p:sp>
    </p:spTree>
    <p:extLst>
      <p:ext uri="{BB962C8B-B14F-4D97-AF65-F5344CB8AC3E}">
        <p14:creationId xmlns:p14="http://schemas.microsoft.com/office/powerpoint/2010/main" val="209600541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KHÁI NIỆM / MỤC TIÊU CHẤP NHẬN">
            <a:extLst xmlns:a="http://schemas.openxmlformats.org/drawingml/2006/main">
              <a:ext uri="{FF2B5EF4-FFF2-40B4-BE49-F238E27FC236}">
                <a16:creationId xmlns:a16="http://schemas.microsoft.com/office/drawing/2014/main" id="{8AEF0E71-541D-4308-A6B7-0E87B0461FD0}"/>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KHÁI NIỆM / MỤC TIÊU CHẤP NHẬN</a:t>
            </a:r>
          </a:p>
        </p:txBody>
      </p:sp>
      <p:sp>
        <p:nvSpPr>
          <p:cNvPr id="3" name="SLI, SLO, SLA và threshold">
            <a:extLst xmlns:a="http://schemas.openxmlformats.org/drawingml/2006/main">
              <a:ext uri="{FF2B5EF4-FFF2-40B4-BE49-F238E27FC236}">
                <a16:creationId xmlns:a16="http://schemas.microsoft.com/office/drawing/2014/main" id="{BD5B86EB-11BF-43E2-8EAE-BB9125222914}"/>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SLI, SLO, SLA và threshold</a:t>
            </a:r>
          </a:p>
        </p:txBody>
      </p:sp>
      <p:sp>
        <p:nvSpPr>
          <p:cNvPr id="4" name="Performance Testing trên EShop">
            <a:extLst xmlns:a="http://schemas.openxmlformats.org/drawingml/2006/main">
              <a:ext uri="{FF2B5EF4-FFF2-40B4-BE49-F238E27FC236}">
                <a16:creationId xmlns:a16="http://schemas.microsoft.com/office/drawing/2014/main" id="{CCB1D5F9-8269-4391-8E0C-97C58DBE6384}"/>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PAGE_NUMBER">
            <a:extLst xmlns:a="http://schemas.openxmlformats.org/drawingml/2006/main">
              <a:ext uri="{FF2B5EF4-FFF2-40B4-BE49-F238E27FC236}">
                <a16:creationId xmlns:a16="http://schemas.microsoft.com/office/drawing/2014/main" id="{6261E3FF-28E9-4E13-9941-0500B1EEE161}"/>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25</a:t>
            </a:r>
          </a:p>
        </p:txBody>
      </p:sp>
      <p:graphicFrame>
        <p:nvGraphicFramePr>
          <p:cNvPr id="6" name="">
            <a:extLst xmlns:a="http://schemas.openxmlformats.org/drawingml/2006/main">
              <a:ext uri="{FF2B5EF4-FFF2-40B4-BE49-F238E27FC236}">
                <a16:creationId xmlns:a16="http://schemas.microsoft.com/office/drawing/2014/main" id="{5F69C198-96B0-4B8E-855B-E33F64D24583}"/>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2286000"/>
                <a:gridCol w="4476750"/>
                <a:gridCol w="4210050"/>
              </a:tblGrid>
              <a:tr h="864870">
                <a:tc>
                  <a:txBody>
                    <a:bodyPr/>
                    <a:lstStyle/>
                    <a:p>
                      <a:r>
                        <a:rPr sz="1800" b="1">
                          <a:solidFill>
                            <a:srgbClr val="153E75"/>
                          </a:solidFill>
                          <a:latin typeface="Arial"/>
                          <a:ea typeface="Arial"/>
                          <a:cs typeface="Arial"/>
                        </a:rPr>
                        <a:t>Khái niệm</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Ý nghĩa</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Ví dụ minh họa</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864870">
                <a:tc>
                  <a:txBody>
                    <a:bodyPr/>
                    <a:lstStyle/>
                    <a:p>
                      <a:r>
                        <a:rPr sz="1800">
                          <a:solidFill>
                            <a:srgbClr val="151B23"/>
                          </a:solidFill>
                          <a:latin typeface="Arial"/>
                          <a:ea typeface="Arial"/>
                          <a:cs typeface="Arial"/>
                        </a:rPr>
                        <a:t>SLI</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Chỉ số cụ thể dùng để đo mức dịch vụ</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p95 thời gian Search trong cửa sổ đo</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SLO</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Mục tiêu cho một chỉ số và phạm vi</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p95 Search dưới 500 ms ở tải dự kiến</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SLA</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Cam kết dịch vụ kèm hệ quả vi phạm</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Thỏa thuận với khách hàng, nếu có</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Threshold</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Điều kiện pass/fail trên metric test</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http_req_duration: p(95)&lt;500</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169676817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KHÁI NIỆM / ĐỌC KẾT QUẢ">
            <a:extLst xmlns:a="http://schemas.openxmlformats.org/drawingml/2006/main">
              <a:ext uri="{FF2B5EF4-FFF2-40B4-BE49-F238E27FC236}">
                <a16:creationId xmlns:a16="http://schemas.microsoft.com/office/drawing/2014/main" id="{9EADBB06-A2B3-4C54-B3A2-62A3B8ACDDE0}"/>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KHÁI NIỆM / ĐỌC KẾT QUẢ</a:t>
            </a:r>
          </a:p>
        </p:txBody>
      </p:sp>
      <p:sp>
        <p:nvSpPr>
          <p:cNvPr id="3" name="Threshold và những kết luận dễ sai">
            <a:extLst xmlns:a="http://schemas.openxmlformats.org/drawingml/2006/main">
              <a:ext uri="{FF2B5EF4-FFF2-40B4-BE49-F238E27FC236}">
                <a16:creationId xmlns:a16="http://schemas.microsoft.com/office/drawing/2014/main" id="{30EFD883-B313-4459-9ACD-713DC17FA5CA}"/>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Threshold và những kết luận dễ sai</a:t>
            </a:r>
          </a:p>
        </p:txBody>
      </p:sp>
      <p:sp>
        <p:nvSpPr>
          <p:cNvPr id="4" name="Performance Testing trên EShop">
            <a:extLst xmlns:a="http://schemas.openxmlformats.org/drawingml/2006/main">
              <a:ext uri="{FF2B5EF4-FFF2-40B4-BE49-F238E27FC236}">
                <a16:creationId xmlns:a16="http://schemas.microsoft.com/office/drawing/2014/main" id="{C8560522-8350-48F7-9422-42E589E6DCD5}"/>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PAGE_NUMBER">
            <a:extLst xmlns:a="http://schemas.openxmlformats.org/drawingml/2006/main">
              <a:ext uri="{FF2B5EF4-FFF2-40B4-BE49-F238E27FC236}">
                <a16:creationId xmlns:a16="http://schemas.microsoft.com/office/drawing/2014/main" id="{C26066CE-81EF-405C-BDB6-19AA56C2461C}"/>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26</a:t>
            </a:r>
          </a:p>
        </p:txBody>
      </p:sp>
      <p:sp>
        <p:nvSpPr>
          <p:cNvPr id="6" name="Metric phải đúng phạm vi">
            <a:extLst xmlns:a="http://schemas.openxmlformats.org/drawingml/2006/main">
              <a:ext uri="{FF2B5EF4-FFF2-40B4-BE49-F238E27FC236}">
                <a16:creationId xmlns:a16="http://schemas.microsoft.com/office/drawing/2014/main" id="{CA6F289D-635C-4784-97F7-3862F0CF2F2A}"/>
              </a:ext>
            </a:extLst>
          </p:cNvPr>
          <p:cNvSpPr>
            <a:spLocks xmlns:a="http://schemas.openxmlformats.org/drawingml/2006/main" noGrp="1"/>
          </p:cNvSpPr>
          <p:nvPr/>
        </p:nvSpPr>
        <p:spPr>
          <a:xfrm xmlns:a="http://schemas.openxmlformats.org/drawingml/2006/main">
            <a:off x="609600" y="17526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Metric phải đúng phạm vi</a:t>
            </a:r>
          </a:p>
        </p:txBody>
      </p:sp>
      <p:sp>
        <p:nvSpPr>
          <p:cNvPr id="7" name="p95 tổng trộn Login và các action. Một endpoint chậm có thể cần m">
            <a:extLst xmlns:a="http://schemas.openxmlformats.org/drawingml/2006/main">
              <a:ext uri="{FF2B5EF4-FFF2-40B4-BE49-F238E27FC236}">
                <a16:creationId xmlns:a16="http://schemas.microsoft.com/office/drawing/2014/main" id="{90E5DEEC-2DEB-418C-BC35-509DF56388DB}"/>
              </a:ext>
            </a:extLst>
          </p:cNvPr>
          <p:cNvSpPr>
            <a:spLocks xmlns:a="http://schemas.openxmlformats.org/drawingml/2006/main" noGrp="1"/>
          </p:cNvSpPr>
          <p:nvPr/>
        </p:nvSpPr>
        <p:spPr>
          <a:xfrm xmlns:a="http://schemas.openxmlformats.org/drawingml/2006/main">
            <a:off x="609600" y="2143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p95 tổng trộn Login và các action. Một endpoint chậm có thể cần metric/tag riêng.</a:t>
            </a:r>
          </a:p>
        </p:txBody>
      </p:sp>
      <p:sp>
        <p:nvSpPr>
          <p:cNvPr id="8" name="Ngưỡng phải bám mục tiêu">
            <a:extLst xmlns:a="http://schemas.openxmlformats.org/drawingml/2006/main">
              <a:ext uri="{FF2B5EF4-FFF2-40B4-BE49-F238E27FC236}">
                <a16:creationId xmlns:a16="http://schemas.microsoft.com/office/drawing/2014/main" id="{22C68D12-97E3-40C5-9577-425EA3AC7E3D}"/>
              </a:ext>
            </a:extLst>
          </p:cNvPr>
          <p:cNvSpPr>
            <a:spLocks xmlns:a="http://schemas.openxmlformats.org/drawingml/2006/main" noGrp="1"/>
          </p:cNvSpPr>
          <p:nvPr/>
        </p:nvSpPr>
        <p:spPr>
          <a:xfrm xmlns:a="http://schemas.openxmlformats.org/drawingml/2006/main">
            <a:off x="609600" y="28003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Ngưỡng phải bám mục tiêu</a:t>
            </a:r>
          </a:p>
        </p:txBody>
      </p:sp>
      <p:sp>
        <p:nvSpPr>
          <p:cNvPr id="9" name="p(99)&lt;5000 không tự bảo đảm mục tiêu p95&lt;500 ms. Ngưỡng quá chặt ">
            <a:extLst xmlns:a="http://schemas.openxmlformats.org/drawingml/2006/main">
              <a:ext uri="{FF2B5EF4-FFF2-40B4-BE49-F238E27FC236}">
                <a16:creationId xmlns:a16="http://schemas.microsoft.com/office/drawing/2014/main" id="{CA5FEC48-786F-4018-B4CF-9C1B4CFC932F}"/>
              </a:ext>
            </a:extLst>
          </p:cNvPr>
          <p:cNvSpPr>
            <a:spLocks xmlns:a="http://schemas.openxmlformats.org/drawingml/2006/main" noGrp="1"/>
          </p:cNvSpPr>
          <p:nvPr/>
        </p:nvSpPr>
        <p:spPr>
          <a:xfrm xmlns:a="http://schemas.openxmlformats.org/drawingml/2006/main">
            <a:off x="609600" y="31908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p(99)&lt;5000 không tự bảo đảm mục tiêu p95&lt;500 ms. Ngưỡng quá chặt cũng có thể gây fail vô ích.</a:t>
            </a:r>
          </a:p>
        </p:txBody>
      </p:sp>
      <p:sp>
        <p:nvSpPr>
          <p:cNvPr id="10" name="Kết quả cần cỡ mẫu">
            <a:extLst xmlns:a="http://schemas.openxmlformats.org/drawingml/2006/main">
              <a:ext uri="{FF2B5EF4-FFF2-40B4-BE49-F238E27FC236}">
                <a16:creationId xmlns:a16="http://schemas.microsoft.com/office/drawing/2014/main" id="{A835E5F8-2F62-491D-BCAB-A178FDC9996C}"/>
              </a:ext>
            </a:extLst>
          </p:cNvPr>
          <p:cNvSpPr>
            <a:spLocks xmlns:a="http://schemas.openxmlformats.org/drawingml/2006/main" noGrp="1"/>
          </p:cNvSpPr>
          <p:nvPr/>
        </p:nvSpPr>
        <p:spPr>
          <a:xfrm xmlns:a="http://schemas.openxmlformats.org/drawingml/2006/main">
            <a:off x="609600" y="38481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Kết quả cần cỡ mẫu</a:t>
            </a:r>
          </a:p>
        </p:txBody>
      </p:sp>
      <p:sp>
        <p:nvSpPr>
          <p:cNvPr id="11" name="Average và percentile đều có ích. Đọc thêm số mẫu, max và lỗi, th">
            <a:extLst xmlns:a="http://schemas.openxmlformats.org/drawingml/2006/main">
              <a:ext uri="{FF2B5EF4-FFF2-40B4-BE49-F238E27FC236}">
                <a16:creationId xmlns:a16="http://schemas.microsoft.com/office/drawing/2014/main" id="{21EE20F5-A8EE-4B75-A075-0F5F18ECC40B}"/>
              </a:ext>
            </a:extLst>
          </p:cNvPr>
          <p:cNvSpPr>
            <a:spLocks xmlns:a="http://schemas.openxmlformats.org/drawingml/2006/main" noGrp="1"/>
          </p:cNvSpPr>
          <p:nvPr/>
        </p:nvSpPr>
        <p:spPr>
          <a:xfrm xmlns:a="http://schemas.openxmlformats.org/drawingml/2006/main">
            <a:off x="609600" y="42386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Average và percentile đều có ích. Đọc thêm số mẫu, max và lỗi, thay vì chỉ một con số.</a:t>
            </a:r>
          </a:p>
        </p:txBody>
      </p:sp>
      <p:sp>
        <p:nvSpPr>
          <p:cNvPr id="12" name="Tự động hóa cần phân loại lỗi">
            <a:extLst xmlns:a="http://schemas.openxmlformats.org/drawingml/2006/main">
              <a:ext uri="{FF2B5EF4-FFF2-40B4-BE49-F238E27FC236}">
                <a16:creationId xmlns:a16="http://schemas.microsoft.com/office/drawing/2014/main" id="{4844E38B-3F9C-447B-A3F3-9A23E71473E2}"/>
              </a:ext>
            </a:extLst>
          </p:cNvPr>
          <p:cNvSpPr>
            <a:spLocks xmlns:a="http://schemas.openxmlformats.org/drawingml/2006/main" noGrp="1"/>
          </p:cNvSpPr>
          <p:nvPr/>
        </p:nvSpPr>
        <p:spPr>
          <a:xfrm xmlns:a="http://schemas.openxmlformats.org/drawingml/2006/main">
            <a:off x="609600" y="48958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Tự động hóa cần phân loại lỗi</a:t>
            </a:r>
          </a:p>
        </p:txBody>
      </p:sp>
      <p:sp>
        <p:nvSpPr>
          <p:cNvPr id="13" name="CI có thể kiểm tra exit code và artifact. Threshold fail khác lỗi">
            <a:extLst xmlns:a="http://schemas.openxmlformats.org/drawingml/2006/main">
              <a:ext uri="{FF2B5EF4-FFF2-40B4-BE49-F238E27FC236}">
                <a16:creationId xmlns:a16="http://schemas.microsoft.com/office/drawing/2014/main" id="{31AA08F8-CD91-432D-84EB-B05EA1536979}"/>
              </a:ext>
            </a:extLst>
          </p:cNvPr>
          <p:cNvSpPr>
            <a:spLocks xmlns:a="http://schemas.openxmlformats.org/drawingml/2006/main" noGrp="1"/>
          </p:cNvSpPr>
          <p:nvPr/>
        </p:nvSpPr>
        <p:spPr>
          <a:xfrm xmlns:a="http://schemas.openxmlformats.org/drawingml/2006/main">
            <a:off x="609600" y="52863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CI có thể kiểm tra exit code và artifact. Threshold fail khác lỗi kết nối hoặc script lỗi.</a:t>
            </a:r>
          </a:p>
        </p:txBody>
      </p:sp>
    </p:spTree>
    <p:extLst>
      <p:ext uri="{BB962C8B-B14F-4D97-AF65-F5344CB8AC3E}">
        <p14:creationId xmlns:p14="http://schemas.microsoft.com/office/powerpoint/2010/main" val="147548127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KHẢO SÁT">
            <a:extLst xmlns:a="http://schemas.openxmlformats.org/drawingml/2006/main">
              <a:ext uri="{FF2B5EF4-FFF2-40B4-BE49-F238E27FC236}">
                <a16:creationId xmlns:a16="http://schemas.microsoft.com/office/drawing/2014/main" id="{61912EFA-8754-4A64-87CD-1A39638129BD}"/>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KHẢO SÁT</a:t>
            </a:r>
          </a:p>
        </p:txBody>
      </p:sp>
      <p:sp>
        <p:nvSpPr>
          <p:cNvPr id="3" name="Khảo sát và lựa chọn công cụ">
            <a:extLst xmlns:a="http://schemas.openxmlformats.org/drawingml/2006/main">
              <a:ext uri="{FF2B5EF4-FFF2-40B4-BE49-F238E27FC236}">
                <a16:creationId xmlns:a16="http://schemas.microsoft.com/office/drawing/2014/main" id="{3F838F6A-2163-46CA-B24A-2D7DA6CB5AF5}"/>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Khảo sát và lựa chọn công cụ</a:t>
            </a:r>
          </a:p>
        </p:txBody>
      </p:sp>
      <p:sp>
        <p:nvSpPr>
          <p:cNvPr id="4" name="Performance Testing trên EShop">
            <a:extLst xmlns:a="http://schemas.openxmlformats.org/drawingml/2006/main">
              <a:ext uri="{FF2B5EF4-FFF2-40B4-BE49-F238E27FC236}">
                <a16:creationId xmlns:a16="http://schemas.microsoft.com/office/drawing/2014/main" id="{1B01D168-AEE6-41B1-97B3-256E03C22421}"/>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14">
            <a:extLst xmlns:a="http://schemas.openxmlformats.org/drawingml/2006/main">
              <a:ext uri="{FF2B5EF4-FFF2-40B4-BE49-F238E27FC236}">
                <a16:creationId xmlns:a16="http://schemas.microsoft.com/office/drawing/2014/main" id="{3C5F3E4A-07D0-4B64-9B7B-FF8C75D920C5}"/>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27</a:t>
            </a:r>
          </a:p>
        </p:txBody>
      </p:sp>
      <p:graphicFrame>
        <p:nvGraphicFramePr>
          <p:cNvPr id="6" name="">
            <a:extLst xmlns:a="http://schemas.openxmlformats.org/drawingml/2006/main">
              <a:ext uri="{FF2B5EF4-FFF2-40B4-BE49-F238E27FC236}">
                <a16:creationId xmlns:a16="http://schemas.microsoft.com/office/drawing/2014/main" id="{E11F3B68-AE0B-4ADA-AE01-0C0106E0DEB4}"/>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3657600"/>
                <a:gridCol w="3657600"/>
                <a:gridCol w="3657600"/>
              </a:tblGrid>
              <a:tr h="864870">
                <a:tc>
                  <a:txBody>
                    <a:bodyPr/>
                    <a:lstStyle/>
                    <a:p>
                      <a:r>
                        <a:rPr sz="1800" b="1">
                          <a:solidFill>
                            <a:srgbClr val="153E75"/>
                          </a:solidFill>
                          <a:latin typeface="Arial"/>
                          <a:ea typeface="Arial"/>
                          <a:cs typeface="Arial"/>
                        </a:rPr>
                        <a:t>Công cụ</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Ưu điểm cho bài</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Giới hạn</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864870">
                <a:tc>
                  <a:txBody>
                    <a:bodyPr/>
                    <a:lstStyle/>
                    <a:p>
                      <a:r>
                        <a:rPr sz="1800">
                          <a:solidFill>
                            <a:srgbClr val="151B23"/>
                          </a:solidFill>
                          <a:latin typeface="Arial"/>
                          <a:ea typeface="Arial"/>
                          <a:cs typeface="Arial"/>
                        </a:rPr>
                        <a:t>k6</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Source JS, checks, thresholds, CLI</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Cần tự thiết kế workload</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JMeter</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GUI test plan, recorder, extractor</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Cần kiểm soát cấu hình tải</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DevTools HAR</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Traffic thật của phiên thao tác</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Có dữ liệu nhạy cảm và cache</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LLM + web audit</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Sinh source và giải thích evidence</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Cần người kiểm chứng</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120178609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O SÁNH / 1. CÁCH LÀM VIỆC">
            <a:extLst xmlns:a="http://schemas.openxmlformats.org/drawingml/2006/main">
              <a:ext uri="{FF2B5EF4-FFF2-40B4-BE49-F238E27FC236}">
                <a16:creationId xmlns:a16="http://schemas.microsoft.com/office/drawing/2014/main" id="{9522FCFD-EEDA-4E9F-A23B-942A5815CC45}"/>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SO SÁNH / 1. CÁCH LÀM VIỆC</a:t>
            </a:r>
          </a:p>
        </p:txBody>
      </p:sp>
      <p:sp>
        <p:nvSpPr>
          <p:cNvPr id="3" name="So sánh công cụ: ngôn ngữ và cách chạy">
            <a:extLst xmlns:a="http://schemas.openxmlformats.org/drawingml/2006/main">
              <a:ext uri="{FF2B5EF4-FFF2-40B4-BE49-F238E27FC236}">
                <a16:creationId xmlns:a16="http://schemas.microsoft.com/office/drawing/2014/main" id="{DC47D560-12A8-4D32-B4D7-CA5E42888EF4}"/>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So sánh công cụ: ngôn ngữ và cách chạy</a:t>
            </a:r>
          </a:p>
        </p:txBody>
      </p:sp>
      <p:sp>
        <p:nvSpPr>
          <p:cNvPr id="4" name="Performance Testing trên EShop">
            <a:extLst xmlns:a="http://schemas.openxmlformats.org/drawingml/2006/main">
              <a:ext uri="{FF2B5EF4-FFF2-40B4-BE49-F238E27FC236}">
                <a16:creationId xmlns:a16="http://schemas.microsoft.com/office/drawing/2014/main" id="{833D9A2F-3636-475F-AD3B-86958A48CBF3}"/>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PAGE_NUMBER">
            <a:extLst xmlns:a="http://schemas.openxmlformats.org/drawingml/2006/main">
              <a:ext uri="{FF2B5EF4-FFF2-40B4-BE49-F238E27FC236}">
                <a16:creationId xmlns:a16="http://schemas.microsoft.com/office/drawing/2014/main" id="{6D507C53-E746-460A-8706-6C04240303BA}"/>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28</a:t>
            </a:r>
          </a:p>
        </p:txBody>
      </p:sp>
      <p:graphicFrame>
        <p:nvGraphicFramePr>
          <p:cNvPr id="6" name="">
            <a:extLst xmlns:a="http://schemas.openxmlformats.org/drawingml/2006/main">
              <a:ext uri="{FF2B5EF4-FFF2-40B4-BE49-F238E27FC236}">
                <a16:creationId xmlns:a16="http://schemas.microsoft.com/office/drawing/2014/main" id="{575D9D2B-4F48-4AD6-9C2C-B1820B8266B3}"/>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2095500"/>
                <a:gridCol w="4381500"/>
                <a:gridCol w="4495800"/>
              </a:tblGrid>
              <a:tr h="864870">
                <a:tc>
                  <a:txBody>
                    <a:bodyPr/>
                    <a:lstStyle/>
                    <a:p>
                      <a:r>
                        <a:rPr sz="1800" b="1">
                          <a:solidFill>
                            <a:srgbClr val="153E75"/>
                          </a:solidFill>
                          <a:latin typeface="Arial"/>
                          <a:ea typeface="Arial"/>
                          <a:cs typeface="Arial"/>
                        </a:rPr>
                        <a:t>Công cụ</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Script / runtime</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Giao diện và vận hành</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864870">
                <a:tc>
                  <a:txBody>
                    <a:bodyPr/>
                    <a:lstStyle/>
                    <a:p>
                      <a:r>
                        <a:rPr sz="1800">
                          <a:solidFill>
                            <a:srgbClr val="151B23"/>
                          </a:solidFill>
                          <a:latin typeface="Arial"/>
                          <a:ea typeface="Arial"/>
                          <a:cs typeface="Arial"/>
                        </a:rPr>
                        <a:t>k6</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JavaScript/TypeScript</a:t>
                      </a:r>
                    </a:p>
                    <a:p>
                      <a:r>
                        <a:rPr sz="1800">
                          <a:solidFill>
                            <a:srgbClr val="151B23"/>
                          </a:solidFill>
                          <a:latin typeface="Arial"/>
                          <a:ea typeface="Arial"/>
                          <a:cs typeface="Arial"/>
                        </a:rPr>
                        <a:t>Go engine</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CLI, dashboard và k6 Studio</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JMeter</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Test plan XML (.jmx)</a:t>
                      </a:r>
                    </a:p>
                    <a:p>
                      <a:r>
                        <a:rPr sz="1800">
                          <a:solidFill>
                            <a:srgbClr val="151B23"/>
                          </a:solidFill>
                          <a:latin typeface="Arial"/>
                          <a:ea typeface="Arial"/>
                          <a:cs typeface="Arial"/>
                        </a:rPr>
                        <a:t>Java/JVM</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GUI dựng test, CLI tạo tải</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Locust</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Python</a:t>
                      </a:r>
                    </a:p>
                    <a:p>
                      <a:r>
                        <a:rPr sz="1800">
                          <a:solidFill>
                            <a:srgbClr val="151B23"/>
                          </a:solidFill>
                          <a:latin typeface="Arial"/>
                          <a:ea typeface="Arial"/>
                          <a:cs typeface="Arial"/>
                        </a:rPr>
                        <a:t>gevent greenlets</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Web UI hoặc headless CLI</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Gatling</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Java/Kotlin/Scala, JS/TS</a:t>
                      </a:r>
                    </a:p>
                    <a:p>
                      <a:r>
                        <a:rPr sz="1800">
                          <a:solidFill>
                            <a:srgbClr val="151B23"/>
                          </a:solidFill>
                          <a:latin typeface="Arial"/>
                          <a:ea typeface="Arial"/>
                          <a:cs typeface="Arial"/>
                        </a:rPr>
                        <a:t>JVM engine</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CLI/build tool, HTML report</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150611195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O SÁNH / 2. DỮ LIỆU VÀ GHI NHẬN">
            <a:extLst xmlns:a="http://schemas.openxmlformats.org/drawingml/2006/main">
              <a:ext uri="{FF2B5EF4-FFF2-40B4-BE49-F238E27FC236}">
                <a16:creationId xmlns:a16="http://schemas.microsoft.com/office/drawing/2014/main" id="{6A6FD998-61FD-48DC-B562-B392CB9E0F3C}"/>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SO SÁNH / 2. DỮ LIỆU VÀ GHI NHẬN</a:t>
            </a:r>
          </a:p>
        </p:txBody>
      </p:sp>
      <p:sp>
        <p:nvSpPr>
          <p:cNvPr id="3" name="So sánh công cụ: ghi traffic và dữ liệu">
            <a:extLst xmlns:a="http://schemas.openxmlformats.org/drawingml/2006/main">
              <a:ext uri="{FF2B5EF4-FFF2-40B4-BE49-F238E27FC236}">
                <a16:creationId xmlns:a16="http://schemas.microsoft.com/office/drawing/2014/main" id="{16843B43-308A-4055-9DDF-61E69C9B5DBC}"/>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So sánh công cụ: ghi traffic và dữ liệu</a:t>
            </a:r>
          </a:p>
        </p:txBody>
      </p:sp>
      <p:sp>
        <p:nvSpPr>
          <p:cNvPr id="4" name="Performance Testing trên EShop">
            <a:extLst xmlns:a="http://schemas.openxmlformats.org/drawingml/2006/main">
              <a:ext uri="{FF2B5EF4-FFF2-40B4-BE49-F238E27FC236}">
                <a16:creationId xmlns:a16="http://schemas.microsoft.com/office/drawing/2014/main" id="{F8A2A5C0-873C-44F1-B066-4BD346597742}"/>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PAGE_NUMBER">
            <a:extLst xmlns:a="http://schemas.openxmlformats.org/drawingml/2006/main">
              <a:ext uri="{FF2B5EF4-FFF2-40B4-BE49-F238E27FC236}">
                <a16:creationId xmlns:a16="http://schemas.microsoft.com/office/drawing/2014/main" id="{01ABDB2C-F0AC-4F1E-866C-3773D44C0C42}"/>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29</a:t>
            </a:r>
          </a:p>
        </p:txBody>
      </p:sp>
      <p:graphicFrame>
        <p:nvGraphicFramePr>
          <p:cNvPr id="6" name="">
            <a:extLst xmlns:a="http://schemas.openxmlformats.org/drawingml/2006/main">
              <a:ext uri="{FF2B5EF4-FFF2-40B4-BE49-F238E27FC236}">
                <a16:creationId xmlns:a16="http://schemas.microsoft.com/office/drawing/2014/main" id="{5CF1D2B4-52B9-443A-8C58-084BA00F5A92}"/>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2095500"/>
                <a:gridCol w="4381500"/>
                <a:gridCol w="4495800"/>
              </a:tblGrid>
              <a:tr h="864870">
                <a:tc>
                  <a:txBody>
                    <a:bodyPr/>
                    <a:lstStyle/>
                    <a:p>
                      <a:r>
                        <a:rPr sz="1800" b="1">
                          <a:solidFill>
                            <a:srgbClr val="153E75"/>
                          </a:solidFill>
                          <a:latin typeface="Arial"/>
                          <a:ea typeface="Arial"/>
                          <a:cs typeface="Arial"/>
                        </a:rPr>
                        <a:t>Công cụ</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Ghi traffic / HAR</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Data driven / correlation</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864870">
                <a:tc>
                  <a:txBody>
                    <a:bodyPr/>
                    <a:lstStyle/>
                    <a:p>
                      <a:r>
                        <a:rPr sz="1800">
                          <a:solidFill>
                            <a:srgbClr val="151B23"/>
                          </a:solidFill>
                          <a:latin typeface="Arial"/>
                          <a:ea typeface="Arial"/>
                          <a:cs typeface="Arial"/>
                        </a:rPr>
                        <a:t>k6</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k6 Studio, HAR/converter</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CSV/SharedArray, parse JSON token</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JMeter</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HTTP(S) Recorder qua proxy</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CSV Data Set, JSON/RegEx Extractor</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Locust</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Viết task hoặc dùng recorder ngoài</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Dữ liệu Python, response.json()</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Gatling</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Recorder: proxy hoặc HAR</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Feeder, check và saveAs</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190400665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O SÁNH / 3. PHÂN TÍCH KẾT QUẢ">
            <a:extLst xmlns:a="http://schemas.openxmlformats.org/drawingml/2006/main">
              <a:ext uri="{FF2B5EF4-FFF2-40B4-BE49-F238E27FC236}">
                <a16:creationId xmlns:a16="http://schemas.microsoft.com/office/drawing/2014/main" id="{14351E9E-8060-4F4C-B8FF-0877DC96A0A7}"/>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SO SÁNH / 3. PHÂN TÍCH KẾT QUẢ</a:t>
            </a:r>
          </a:p>
        </p:txBody>
      </p:sp>
      <p:sp>
        <p:nvSpPr>
          <p:cNvPr id="3" name="So sánh công cụ: báo cáo và điều kiện đạt">
            <a:extLst xmlns:a="http://schemas.openxmlformats.org/drawingml/2006/main">
              <a:ext uri="{FF2B5EF4-FFF2-40B4-BE49-F238E27FC236}">
                <a16:creationId xmlns:a16="http://schemas.microsoft.com/office/drawing/2014/main" id="{92EDA7B2-B278-42A4-A5AB-0B845AF9ACC4}"/>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So sánh công cụ: báo cáo và điều kiện đạt</a:t>
            </a:r>
          </a:p>
        </p:txBody>
      </p:sp>
      <p:sp>
        <p:nvSpPr>
          <p:cNvPr id="4" name="Performance Testing trên EShop">
            <a:extLst xmlns:a="http://schemas.openxmlformats.org/drawingml/2006/main">
              <a:ext uri="{FF2B5EF4-FFF2-40B4-BE49-F238E27FC236}">
                <a16:creationId xmlns:a16="http://schemas.microsoft.com/office/drawing/2014/main" id="{88091075-D02E-48E3-A9FD-2E50AEB0E3ED}"/>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PAGE_NUMBER">
            <a:extLst xmlns:a="http://schemas.openxmlformats.org/drawingml/2006/main">
              <a:ext uri="{FF2B5EF4-FFF2-40B4-BE49-F238E27FC236}">
                <a16:creationId xmlns:a16="http://schemas.microsoft.com/office/drawing/2014/main" id="{5A52F030-FC03-4C1D-959E-41F29E381957}"/>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30</a:t>
            </a:r>
          </a:p>
        </p:txBody>
      </p:sp>
      <p:graphicFrame>
        <p:nvGraphicFramePr>
          <p:cNvPr id="6" name="">
            <a:extLst xmlns:a="http://schemas.openxmlformats.org/drawingml/2006/main">
              <a:ext uri="{FF2B5EF4-FFF2-40B4-BE49-F238E27FC236}">
                <a16:creationId xmlns:a16="http://schemas.microsoft.com/office/drawing/2014/main" id="{F8539A6F-B94D-457B-85E9-5F8AACB3B026}"/>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2095500"/>
                <a:gridCol w="4381500"/>
                <a:gridCol w="4495800"/>
              </a:tblGrid>
              <a:tr h="864870">
                <a:tc>
                  <a:txBody>
                    <a:bodyPr/>
                    <a:lstStyle/>
                    <a:p>
                      <a:r>
                        <a:rPr sz="1800" b="1">
                          <a:solidFill>
                            <a:srgbClr val="153E75"/>
                          </a:solidFill>
                          <a:latin typeface="Arial"/>
                          <a:ea typeface="Arial"/>
                          <a:cs typeface="Arial"/>
                        </a:rPr>
                        <a:t>Công cụ</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Kết quả có thể xuất</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Kiểm tra và tích hợp CI</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864870">
                <a:tc>
                  <a:txBody>
                    <a:bodyPr/>
                    <a:lstStyle/>
                    <a:p>
                      <a:r>
                        <a:rPr sz="1800">
                          <a:solidFill>
                            <a:srgbClr val="151B23"/>
                          </a:solidFill>
                          <a:latin typeface="Arial"/>
                          <a:ea typeface="Arial"/>
                          <a:cs typeface="Arial"/>
                        </a:rPr>
                        <a:t>k6</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Summary, dashboard, HTML export</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Checks và thresholds trên metric</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JMeter</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JTL và HTML dashboard</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Assertions từng sample</a:t>
                      </a:r>
                    </a:p>
                    <a:p>
                      <a:r>
                        <a:rPr sz="1800">
                          <a:solidFill>
                            <a:srgbClr val="151B23"/>
                          </a:solidFill>
                          <a:latin typeface="Arial"/>
                          <a:ea typeface="Arial"/>
                          <a:cs typeface="Arial"/>
                        </a:rPr>
                        <a:t>CI đánh giá metric tổng hợp</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Locust</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Web UI, CSV, HTML report</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Hook đọc stats</a:t>
                      </a:r>
                    </a:p>
                    <a:p>
                      <a:r>
                        <a:rPr sz="1800">
                          <a:solidFill>
                            <a:srgbClr val="151B23"/>
                          </a:solidFill>
                          <a:latin typeface="Arial"/>
                          <a:ea typeface="Arial"/>
                          <a:cs typeface="Arial"/>
                        </a:rPr>
                        <a:t>Tùy chỉnh exit code</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Gatling</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HTML report của từng run</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Checks và assertions</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1930573494"/>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O SÁNH / 4. QUYẾT ĐỊNH CỦA NHÓM">
            <a:extLst xmlns:a="http://schemas.openxmlformats.org/drawingml/2006/main">
              <a:ext uri="{FF2B5EF4-FFF2-40B4-BE49-F238E27FC236}">
                <a16:creationId xmlns:a16="http://schemas.microsoft.com/office/drawing/2014/main" id="{00EE16EA-CC19-4949-8B31-20C70EE3EA65}"/>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SO SÁNH / 4. QUYẾT ĐỊNH CỦA NHÓM</a:t>
            </a:r>
          </a:p>
        </p:txBody>
      </p:sp>
      <p:sp>
        <p:nvSpPr>
          <p:cNvPr id="3" name="Lý do chọn công cụ trong phạm vi nhóm">
            <a:extLst xmlns:a="http://schemas.openxmlformats.org/drawingml/2006/main">
              <a:ext uri="{FF2B5EF4-FFF2-40B4-BE49-F238E27FC236}">
                <a16:creationId xmlns:a16="http://schemas.microsoft.com/office/drawing/2014/main" id="{5300B751-FBCF-4DD1-8358-0011FAEDDA3A}"/>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Lý do chọn công cụ trong phạm vi nhóm</a:t>
            </a:r>
          </a:p>
        </p:txBody>
      </p:sp>
      <p:sp>
        <p:nvSpPr>
          <p:cNvPr id="4" name="Performance Testing trên EShop">
            <a:extLst xmlns:a="http://schemas.openxmlformats.org/drawingml/2006/main">
              <a:ext uri="{FF2B5EF4-FFF2-40B4-BE49-F238E27FC236}">
                <a16:creationId xmlns:a16="http://schemas.microsoft.com/office/drawing/2014/main" id="{33F95D77-F2F2-420C-9FE6-B67C9F061306}"/>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PAGE_NUMBER">
            <a:extLst xmlns:a="http://schemas.openxmlformats.org/drawingml/2006/main">
              <a:ext uri="{FF2B5EF4-FFF2-40B4-BE49-F238E27FC236}">
                <a16:creationId xmlns:a16="http://schemas.microsoft.com/office/drawing/2014/main" id="{82464C9C-5751-419F-9E7E-0B337A33961B}"/>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31</a:t>
            </a:r>
          </a:p>
        </p:txBody>
      </p:sp>
      <p:sp>
        <p:nvSpPr>
          <p:cNvPr id="6" name="k6 là công cụ chính">
            <a:extLst xmlns:a="http://schemas.openxmlformats.org/drawingml/2006/main">
              <a:ext uri="{FF2B5EF4-FFF2-40B4-BE49-F238E27FC236}">
                <a16:creationId xmlns:a16="http://schemas.microsoft.com/office/drawing/2014/main" id="{5A93C4AF-0683-41E7-B4F7-6EB2BC96377F}"/>
              </a:ext>
            </a:extLst>
          </p:cNvPr>
          <p:cNvSpPr>
            <a:spLocks xmlns:a="http://schemas.openxmlformats.org/drawingml/2006/main" noGrp="1"/>
          </p:cNvSpPr>
          <p:nvPr/>
        </p:nvSpPr>
        <p:spPr>
          <a:xfrm xmlns:a="http://schemas.openxmlformats.org/drawingml/2006/main">
            <a:off x="609600" y="17526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k6 là công cụ chính</a:t>
            </a:r>
          </a:p>
        </p:txBody>
      </p:sp>
      <p:sp>
        <p:nvSpPr>
          <p:cNvPr id="7" name="Source JavaScript thuận tiện cho nhóm review, quản lý Git và khai">
            <a:extLst xmlns:a="http://schemas.openxmlformats.org/drawingml/2006/main">
              <a:ext uri="{FF2B5EF4-FFF2-40B4-BE49-F238E27FC236}">
                <a16:creationId xmlns:a16="http://schemas.microsoft.com/office/drawing/2014/main" id="{B5047939-86BC-4AFD-B056-EE2889D9C891}"/>
              </a:ext>
            </a:extLst>
          </p:cNvPr>
          <p:cNvSpPr>
            <a:spLocks xmlns:a="http://schemas.openxmlformats.org/drawingml/2006/main" noGrp="1"/>
          </p:cNvSpPr>
          <p:nvPr/>
        </p:nvSpPr>
        <p:spPr>
          <a:xfrm xmlns:a="http://schemas.openxmlformats.org/drawingml/2006/main">
            <a:off x="609600" y="2143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Source JavaScript thuận tiện cho nhóm review, quản lý Git và khai báo threshold.</a:t>
            </a:r>
          </a:p>
        </p:txBody>
      </p:sp>
      <p:sp>
        <p:nvSpPr>
          <p:cNvPr id="8" name="JMeter bổ sung cách tiếp cận GUI">
            <a:extLst xmlns:a="http://schemas.openxmlformats.org/drawingml/2006/main">
              <a:ext uri="{FF2B5EF4-FFF2-40B4-BE49-F238E27FC236}">
                <a16:creationId xmlns:a16="http://schemas.microsoft.com/office/drawing/2014/main" id="{8756A695-EA70-4986-AD26-E1CAFF6936B3}"/>
              </a:ext>
            </a:extLst>
          </p:cNvPr>
          <p:cNvSpPr>
            <a:spLocks xmlns:a="http://schemas.openxmlformats.org/drawingml/2006/main" noGrp="1"/>
          </p:cNvSpPr>
          <p:nvPr/>
        </p:nvSpPr>
        <p:spPr>
          <a:xfrm xmlns:a="http://schemas.openxmlformats.org/drawingml/2006/main">
            <a:off x="609600" y="28003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JMeter bổ sung cách tiếp cận GUI</a:t>
            </a:r>
          </a:p>
        </p:txBody>
      </p:sp>
      <p:sp>
        <p:nvSpPr>
          <p:cNvPr id="9" name="Cây test plan thể hiện dữ liệu, token extractor và assertions để ">
            <a:extLst xmlns:a="http://schemas.openxmlformats.org/drawingml/2006/main">
              <a:ext uri="{FF2B5EF4-FFF2-40B4-BE49-F238E27FC236}">
                <a16:creationId xmlns:a16="http://schemas.microsoft.com/office/drawing/2014/main" id="{3A498FA7-8E5E-40A4-BC17-0A1DD332FEBC}"/>
              </a:ext>
            </a:extLst>
          </p:cNvPr>
          <p:cNvSpPr>
            <a:spLocks xmlns:a="http://schemas.openxmlformats.org/drawingml/2006/main" noGrp="1"/>
          </p:cNvSpPr>
          <p:nvPr/>
        </p:nvSpPr>
        <p:spPr>
          <a:xfrm xmlns:a="http://schemas.openxmlformats.org/drawingml/2006/main">
            <a:off x="609600" y="31908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Cây test plan thể hiện dữ liệu, token extractor và assertions để đối chiếu.</a:t>
            </a:r>
          </a:p>
        </p:txBody>
      </p:sp>
      <p:sp>
        <p:nvSpPr>
          <p:cNvPr id="10" name="Locust và Gatling là phương án thay thế">
            <a:extLst xmlns:a="http://schemas.openxmlformats.org/drawingml/2006/main">
              <a:ext uri="{FF2B5EF4-FFF2-40B4-BE49-F238E27FC236}">
                <a16:creationId xmlns:a16="http://schemas.microsoft.com/office/drawing/2014/main" id="{BDE36BE6-3DE8-49D1-9ECA-7C478E80E61C}"/>
              </a:ext>
            </a:extLst>
          </p:cNvPr>
          <p:cNvSpPr>
            <a:spLocks xmlns:a="http://schemas.openxmlformats.org/drawingml/2006/main" noGrp="1"/>
          </p:cNvSpPr>
          <p:nvPr/>
        </p:nvSpPr>
        <p:spPr>
          <a:xfrm xmlns:a="http://schemas.openxmlformats.org/drawingml/2006/main">
            <a:off x="609600" y="38481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Locust và Gatling là phương án thay thế</a:t>
            </a:r>
          </a:p>
        </p:txBody>
      </p:sp>
      <p:sp>
        <p:nvSpPr>
          <p:cNvPr id="11" name="Phù hợp khi đội muốn hệ sinh thái Python hoặc DSL của Gatling, tù">
            <a:extLst xmlns:a="http://schemas.openxmlformats.org/drawingml/2006/main">
              <a:ext uri="{FF2B5EF4-FFF2-40B4-BE49-F238E27FC236}">
                <a16:creationId xmlns:a16="http://schemas.microsoft.com/office/drawing/2014/main" id="{A33495DA-E562-4DFA-9F9B-36CF0BE0F116}"/>
              </a:ext>
            </a:extLst>
          </p:cNvPr>
          <p:cNvSpPr>
            <a:spLocks xmlns:a="http://schemas.openxmlformats.org/drawingml/2006/main" noGrp="1"/>
          </p:cNvSpPr>
          <p:nvPr/>
        </p:nvSpPr>
        <p:spPr>
          <a:xfrm xmlns:a="http://schemas.openxmlformats.org/drawingml/2006/main">
            <a:off x="609600" y="42386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Phù hợp khi đội muốn hệ sinh thái Python hoặc DSL của Gatling, tùy kinh nghiệm và nhu cầu.</a:t>
            </a:r>
          </a:p>
        </p:txBody>
      </p:sp>
      <p:sp>
        <p:nvSpPr>
          <p:cNvPr id="12" name="Giới hạn của khảo sát">
            <a:extLst xmlns:a="http://schemas.openxmlformats.org/drawingml/2006/main">
              <a:ext uri="{FF2B5EF4-FFF2-40B4-BE49-F238E27FC236}">
                <a16:creationId xmlns:a16="http://schemas.microsoft.com/office/drawing/2014/main" id="{28D98AA7-9104-454B-8DA9-9F8680A9BBA4}"/>
              </a:ext>
            </a:extLst>
          </p:cNvPr>
          <p:cNvSpPr>
            <a:spLocks xmlns:a="http://schemas.openxmlformats.org/drawingml/2006/main" noGrp="1"/>
          </p:cNvSpPr>
          <p:nvPr/>
        </p:nvSpPr>
        <p:spPr>
          <a:xfrm xmlns:a="http://schemas.openxmlformats.org/drawingml/2006/main">
            <a:off x="609600" y="48958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Giới hạn của khảo sát</a:t>
            </a:r>
          </a:p>
        </p:txBody>
      </p:sp>
      <p:sp>
        <p:nvSpPr>
          <p:cNvPr id="13" name="Nhóm chưa benchmark đủ bốn công cụ. Độ khó, tốc độ và RAM cần đán">
            <a:extLst xmlns:a="http://schemas.openxmlformats.org/drawingml/2006/main">
              <a:ext uri="{FF2B5EF4-FFF2-40B4-BE49-F238E27FC236}">
                <a16:creationId xmlns:a16="http://schemas.microsoft.com/office/drawing/2014/main" id="{FAF3D182-6AF7-4456-91E1-265097E3708C}"/>
              </a:ext>
            </a:extLst>
          </p:cNvPr>
          <p:cNvSpPr>
            <a:spLocks xmlns:a="http://schemas.openxmlformats.org/drawingml/2006/main" noGrp="1"/>
          </p:cNvSpPr>
          <p:nvPr/>
        </p:nvSpPr>
        <p:spPr>
          <a:xfrm xmlns:a="http://schemas.openxmlformats.org/drawingml/2006/main">
            <a:off x="609600" y="52863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Nhóm chưa benchmark đủ bốn công cụ. Độ khó, tốc độ và RAM cần đánh giá trong cùng điều kiện.</a:t>
            </a:r>
          </a:p>
        </p:txBody>
      </p:sp>
    </p:spTree>
    <p:extLst>
      <p:ext uri="{BB962C8B-B14F-4D97-AF65-F5344CB8AC3E}">
        <p14:creationId xmlns:p14="http://schemas.microsoft.com/office/powerpoint/2010/main" val="812930915"/>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O SÁNH / 5. CHI PHÍ VÀ KHẢ NĂNG DUY TRÌ">
            <a:extLst xmlns:a="http://schemas.openxmlformats.org/drawingml/2006/main">
              <a:ext uri="{FF2B5EF4-FFF2-40B4-BE49-F238E27FC236}">
                <a16:creationId xmlns:a16="http://schemas.microsoft.com/office/drawing/2014/main" id="{AA156C61-5A88-41AD-8D0E-C8E103F4555D}"/>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SO SÁNH / 5. CHI PHÍ VÀ KHẢ NĂNG DUY TRÌ</a:t>
            </a:r>
          </a:p>
        </p:txBody>
      </p:sp>
      <p:sp>
        <p:nvSpPr>
          <p:cNvPr id="3" name="Các tiêu chí lựa chọn ngoài tính năng">
            <a:extLst xmlns:a="http://schemas.openxmlformats.org/drawingml/2006/main">
              <a:ext uri="{FF2B5EF4-FFF2-40B4-BE49-F238E27FC236}">
                <a16:creationId xmlns:a16="http://schemas.microsoft.com/office/drawing/2014/main" id="{0016257C-EF7A-4B74-95B1-B16291AA7FEF}"/>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Các tiêu chí lựa chọn ngoài tính năng</a:t>
            </a:r>
          </a:p>
        </p:txBody>
      </p:sp>
      <p:sp>
        <p:nvSpPr>
          <p:cNvPr id="4" name="Đường học">
            <a:extLst xmlns:a="http://schemas.openxmlformats.org/drawingml/2006/main">
              <a:ext uri="{FF2B5EF4-FFF2-40B4-BE49-F238E27FC236}">
                <a16:creationId xmlns:a16="http://schemas.microsoft.com/office/drawing/2014/main" id="{6DEE0AFA-3C0A-4125-B1E0-74FB2C05BBB2}"/>
              </a:ext>
            </a:extLst>
          </p:cNvPr>
          <p:cNvSpPr>
            <a:spLocks xmlns:a="http://schemas.openxmlformats.org/drawingml/2006/main" noGrp="1"/>
          </p:cNvSpPr>
          <p:nvPr/>
        </p:nvSpPr>
        <p:spPr>
          <a:xfrm xmlns:a="http://schemas.openxmlformats.org/drawingml/2006/main">
            <a:off x="609600" y="17526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Đường học</a:t>
            </a:r>
          </a:p>
        </p:txBody>
      </p:sp>
      <p:sp>
        <p:nvSpPr>
          <p:cNvPr id="5" name="Phụ thuộc kỹ năng sẵn có: JS/TS, Python, Java/Kotlin/Scala h">
            <a:extLst xmlns:a="http://schemas.openxmlformats.org/drawingml/2006/main">
              <a:ext uri="{FF2B5EF4-FFF2-40B4-BE49-F238E27FC236}">
                <a16:creationId xmlns:a16="http://schemas.microsoft.com/office/drawing/2014/main" id="{2D5FF8FD-D56C-4CF2-94ED-4A47F1420915}"/>
              </a:ext>
            </a:extLst>
          </p:cNvPr>
          <p:cNvSpPr>
            <a:spLocks xmlns:a="http://schemas.openxmlformats.org/drawingml/2006/main" noGrp="1"/>
          </p:cNvSpPr>
          <p:nvPr/>
        </p:nvSpPr>
        <p:spPr>
          <a:xfrm xmlns:a="http://schemas.openxmlformats.org/drawingml/2006/main">
            <a:off x="609600" y="2143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Phụ thuộc kỹ năng sẵn có: JS/TS, Python, Java/Kotlin/Scala hoặc cách dựng test plan bằng GUI.</a:t>
            </a:r>
          </a:p>
        </p:txBody>
      </p:sp>
      <p:sp>
        <p:nvSpPr>
          <p:cNvPr id="6" name="Chi phí và giấy phép">
            <a:extLst xmlns:a="http://schemas.openxmlformats.org/drawingml/2006/main">
              <a:ext uri="{FF2B5EF4-FFF2-40B4-BE49-F238E27FC236}">
                <a16:creationId xmlns:a16="http://schemas.microsoft.com/office/drawing/2014/main" id="{EED4392B-2324-40D6-A609-24C082B421E9}"/>
              </a:ext>
            </a:extLst>
          </p:cNvPr>
          <p:cNvSpPr>
            <a:spLocks xmlns:a="http://schemas.openxmlformats.org/drawingml/2006/main" noGrp="1"/>
          </p:cNvSpPr>
          <p:nvPr/>
        </p:nvSpPr>
        <p:spPr>
          <a:xfrm xmlns:a="http://schemas.openxmlformats.org/drawingml/2006/main">
            <a:off x="609600" y="28003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Chi phí và giấy phép</a:t>
            </a:r>
          </a:p>
        </p:txBody>
      </p:sp>
      <p:sp>
        <p:nvSpPr>
          <p:cNvPr id="7" name="Cả bốn có bản nguồn mở để chạy local. Dịch vụ cloud, Enterpr">
            <a:extLst xmlns:a="http://schemas.openxmlformats.org/drawingml/2006/main">
              <a:ext uri="{FF2B5EF4-FFF2-40B4-BE49-F238E27FC236}">
                <a16:creationId xmlns:a16="http://schemas.microsoft.com/office/drawing/2014/main" id="{6CD1B99F-FEB0-4997-95FC-EF8CEB84E003}"/>
              </a:ext>
            </a:extLst>
          </p:cNvPr>
          <p:cNvSpPr>
            <a:spLocks xmlns:a="http://schemas.openxmlformats.org/drawingml/2006/main" noGrp="1"/>
          </p:cNvSpPr>
          <p:nvPr/>
        </p:nvSpPr>
        <p:spPr>
          <a:xfrm xmlns:a="http://schemas.openxmlformats.org/drawingml/2006/main">
            <a:off x="609600" y="31908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Cả bốn có bản nguồn mở để chạy local. Dịch vụ cloud, Enterprise và thành phần bổ sung có điều kiện riêng.</a:t>
            </a:r>
          </a:p>
        </p:txBody>
      </p:sp>
      <p:sp>
        <p:nvSpPr>
          <p:cNvPr id="8" name="AI và bảo trì">
            <a:extLst xmlns:a="http://schemas.openxmlformats.org/drawingml/2006/main">
              <a:ext uri="{FF2B5EF4-FFF2-40B4-BE49-F238E27FC236}">
                <a16:creationId xmlns:a16="http://schemas.microsoft.com/office/drawing/2014/main" id="{DEBB4D81-0BF1-4728-80DC-0157C21AACAD}"/>
              </a:ext>
            </a:extLst>
          </p:cNvPr>
          <p:cNvSpPr>
            <a:spLocks xmlns:a="http://schemas.openxmlformats.org/drawingml/2006/main" noGrp="1"/>
          </p:cNvSpPr>
          <p:nvPr/>
        </p:nvSpPr>
        <p:spPr>
          <a:xfrm xmlns:a="http://schemas.openxmlformats.org/drawingml/2006/main">
            <a:off x="609600" y="38481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AI và bảo trì</a:t>
            </a:r>
          </a:p>
        </p:txBody>
      </p:sp>
      <p:sp>
        <p:nvSpPr>
          <p:cNvPr id="9" name="LLM có thể sinh cả source code và XML. Nhóm vẫn phải review ">
            <a:extLst xmlns:a="http://schemas.openxmlformats.org/drawingml/2006/main">
              <a:ext uri="{FF2B5EF4-FFF2-40B4-BE49-F238E27FC236}">
                <a16:creationId xmlns:a16="http://schemas.microsoft.com/office/drawing/2014/main" id="{44CA4013-47C7-4729-AD8D-3CB39403C595}"/>
              </a:ext>
            </a:extLst>
          </p:cNvPr>
          <p:cNvSpPr>
            <a:spLocks xmlns:a="http://schemas.openxmlformats.org/drawingml/2006/main" noGrp="1"/>
          </p:cNvSpPr>
          <p:nvPr/>
        </p:nvSpPr>
        <p:spPr>
          <a:xfrm xmlns:a="http://schemas.openxmlformats.org/drawingml/2006/main">
            <a:off x="609600" y="42386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LLM có thể sinh cả source code và XML. Nhóm vẫn phải review dữ liệu, API, token và checks.</a:t>
            </a:r>
          </a:p>
        </p:txBody>
      </p:sp>
      <p:sp>
        <p:nvSpPr>
          <p:cNvPr id="10" name="Tài liệu và hỗ trợ">
            <a:extLst xmlns:a="http://schemas.openxmlformats.org/drawingml/2006/main">
              <a:ext uri="{FF2B5EF4-FFF2-40B4-BE49-F238E27FC236}">
                <a16:creationId xmlns:a16="http://schemas.microsoft.com/office/drawing/2014/main" id="{E18819FD-57A6-43D6-9364-2359500142CA}"/>
              </a:ext>
            </a:extLst>
          </p:cNvPr>
          <p:cNvSpPr>
            <a:spLocks xmlns:a="http://schemas.openxmlformats.org/drawingml/2006/main" noGrp="1"/>
          </p:cNvSpPr>
          <p:nvPr/>
        </p:nvSpPr>
        <p:spPr>
          <a:xfrm xmlns:a="http://schemas.openxmlformats.org/drawingml/2006/main">
            <a:off x="609600" y="48958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Tài liệu và hỗ trợ</a:t>
            </a:r>
          </a:p>
        </p:txBody>
      </p:sp>
      <p:sp>
        <p:nvSpPr>
          <p:cNvPr id="11" name="Xem tài liệu chính thức, ví dụ, issue tracker và cách nâng c">
            <a:extLst xmlns:a="http://schemas.openxmlformats.org/drawingml/2006/main">
              <a:ext uri="{FF2B5EF4-FFF2-40B4-BE49-F238E27FC236}">
                <a16:creationId xmlns:a16="http://schemas.microsoft.com/office/drawing/2014/main" id="{31C1562E-50DD-4300-8B5F-EC7AAD978725}"/>
              </a:ext>
            </a:extLst>
          </p:cNvPr>
          <p:cNvSpPr>
            <a:spLocks xmlns:a="http://schemas.openxmlformats.org/drawingml/2006/main" noGrp="1"/>
          </p:cNvSpPr>
          <p:nvPr/>
        </p:nvSpPr>
        <p:spPr>
          <a:xfrm xmlns:a="http://schemas.openxmlformats.org/drawingml/2006/main">
            <a:off x="609600" y="52863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Xem tài liệu chính thức, ví dụ, issue tracker và cách nâng cấp phù hợp với phiên bản đang dùng.</a:t>
            </a:r>
          </a:p>
        </p:txBody>
      </p:sp>
      <p:sp>
        <p:nvSpPr>
          <p:cNvPr id="12" name="Performance Testing trên EShop">
            <a:extLst xmlns:a="http://schemas.openxmlformats.org/drawingml/2006/main">
              <a:ext uri="{FF2B5EF4-FFF2-40B4-BE49-F238E27FC236}">
                <a16:creationId xmlns:a16="http://schemas.microsoft.com/office/drawing/2014/main" id="{DAE8A1A2-5B36-4085-ABD9-7D589B9874AE}"/>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13" name="00">
            <a:extLst xmlns:a="http://schemas.openxmlformats.org/drawingml/2006/main">
              <a:ext uri="{FF2B5EF4-FFF2-40B4-BE49-F238E27FC236}">
                <a16:creationId xmlns:a16="http://schemas.microsoft.com/office/drawing/2014/main" id="{43F17ABC-2508-4EF1-9B41-02D73B8CDA91}"/>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32</a:t>
            </a:r>
          </a:p>
        </p:txBody>
      </p:sp>
    </p:spTree>
    <p:extLst>
      <p:ext uri="{BB962C8B-B14F-4D97-AF65-F5344CB8AC3E}">
        <p14:creationId xmlns:p14="http://schemas.microsoft.com/office/powerpoint/2010/main" val="31368879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K6 / QUỐC THÁI">
            <a:extLst xmlns:a="http://schemas.openxmlformats.org/drawingml/2006/main">
              <a:ext uri="{FF2B5EF4-FFF2-40B4-BE49-F238E27FC236}">
                <a16:creationId xmlns:a16="http://schemas.microsoft.com/office/drawing/2014/main" id="{D740AC4B-61EB-4B91-ADBA-44933BAC3895}"/>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K6 / QUỐC THÁI</a:t>
            </a:r>
          </a:p>
        </p:txBody>
      </p:sp>
      <p:sp>
        <p:nvSpPr>
          <p:cNvPr id="3" name="k6: nguyên lý và vòng đời script">
            <a:extLst xmlns:a="http://schemas.openxmlformats.org/drawingml/2006/main">
              <a:ext uri="{FF2B5EF4-FFF2-40B4-BE49-F238E27FC236}">
                <a16:creationId xmlns:a16="http://schemas.microsoft.com/office/drawing/2014/main" id="{F81A7DB9-E31C-47E1-B2FF-71C9AF46546C}"/>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k6: nguyên lý và vòng đời script</a:t>
            </a:r>
          </a:p>
        </p:txBody>
      </p:sp>
      <p:sp>
        <p:nvSpPr>
          <p:cNvPr id="4" name="Performance Testing trên EShop">
            <a:extLst xmlns:a="http://schemas.openxmlformats.org/drawingml/2006/main">
              <a:ext uri="{FF2B5EF4-FFF2-40B4-BE49-F238E27FC236}">
                <a16:creationId xmlns:a16="http://schemas.microsoft.com/office/drawing/2014/main" id="{CDB1829A-764C-40E5-8E63-D4C4943B80D4}"/>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15">
            <a:extLst xmlns:a="http://schemas.openxmlformats.org/drawingml/2006/main">
              <a:ext uri="{FF2B5EF4-FFF2-40B4-BE49-F238E27FC236}">
                <a16:creationId xmlns:a16="http://schemas.microsoft.com/office/drawing/2014/main" id="{723BF406-EBDE-415C-BC73-6EBB7BFA7509}"/>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33</a:t>
            </a:r>
          </a:p>
        </p:txBody>
      </p:sp>
      <p:sp>
        <p:nvSpPr>
          <p:cNvPr id="6" name="01">
            <a:extLst xmlns:a="http://schemas.openxmlformats.org/drawingml/2006/main">
              <a:ext uri="{FF2B5EF4-FFF2-40B4-BE49-F238E27FC236}">
                <a16:creationId xmlns:a16="http://schemas.microsoft.com/office/drawing/2014/main" id="{C754E49C-3A6A-41EF-A2FC-0E190891833B}"/>
              </a:ext>
            </a:extLst>
          </p:cNvPr>
          <p:cNvSpPr>
            <a:spLocks xmlns:a="http://schemas.openxmlformats.org/drawingml/2006/main" noGrp="1"/>
          </p:cNvSpPr>
          <p:nvPr/>
        </p:nvSpPr>
        <p:spPr>
          <a:xfrm xmlns:a="http://schemas.openxmlformats.org/drawingml/2006/main">
            <a:off x="628650" y="18002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01</a:t>
            </a:r>
          </a:p>
        </p:txBody>
      </p:sp>
      <p:sp>
        <p:nvSpPr>
          <p:cNvPr id="7" name="Init khai báo dữ liệu, import module và options.">
            <a:extLst xmlns:a="http://schemas.openxmlformats.org/drawingml/2006/main">
              <a:ext uri="{FF2B5EF4-FFF2-40B4-BE49-F238E27FC236}">
                <a16:creationId xmlns:a16="http://schemas.microsoft.com/office/drawing/2014/main" id="{E1C92720-84D8-4FC8-B664-EDD35B3AC408}"/>
              </a:ext>
            </a:extLst>
          </p:cNvPr>
          <p:cNvSpPr>
            <a:spLocks xmlns:a="http://schemas.openxmlformats.org/drawingml/2006/main" noGrp="1"/>
          </p:cNvSpPr>
          <p:nvPr/>
        </p:nvSpPr>
        <p:spPr>
          <a:xfrm xmlns:a="http://schemas.openxmlformats.org/drawingml/2006/main">
            <a:off x="1257300" y="17811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Init khai báo dữ liệu, import module và options.</a:t>
            </a:r>
          </a:p>
        </p:txBody>
      </p:sp>
      <p:sp>
        <p:nvSpPr>
          <p:cNvPr id="8" name="02">
            <a:extLst xmlns:a="http://schemas.openxmlformats.org/drawingml/2006/main">
              <a:ext uri="{FF2B5EF4-FFF2-40B4-BE49-F238E27FC236}">
                <a16:creationId xmlns:a16="http://schemas.microsoft.com/office/drawing/2014/main" id="{E637D9FD-89C3-46F3-866E-CB9E2D49AB0D}"/>
              </a:ext>
            </a:extLst>
          </p:cNvPr>
          <p:cNvSpPr>
            <a:spLocks xmlns:a="http://schemas.openxmlformats.org/drawingml/2006/main" noGrp="1"/>
          </p:cNvSpPr>
          <p:nvPr/>
        </p:nvSpPr>
        <p:spPr>
          <a:xfrm xmlns:a="http://schemas.openxmlformats.org/drawingml/2006/main">
            <a:off x="628650" y="27527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02</a:t>
            </a:r>
          </a:p>
        </p:txBody>
      </p:sp>
      <p:sp>
        <p:nvSpPr>
          <p:cNvPr id="9" name="setup chuẩn bị dữ liệu nếu kịch bản cần.">
            <a:extLst xmlns:a="http://schemas.openxmlformats.org/drawingml/2006/main">
              <a:ext uri="{FF2B5EF4-FFF2-40B4-BE49-F238E27FC236}">
                <a16:creationId xmlns:a16="http://schemas.microsoft.com/office/drawing/2014/main" id="{14B57494-CB69-4F08-B084-4D4CAC5A3F0E}"/>
              </a:ext>
            </a:extLst>
          </p:cNvPr>
          <p:cNvSpPr>
            <a:spLocks xmlns:a="http://schemas.openxmlformats.org/drawingml/2006/main" noGrp="1"/>
          </p:cNvSpPr>
          <p:nvPr/>
        </p:nvSpPr>
        <p:spPr>
          <a:xfrm xmlns:a="http://schemas.openxmlformats.org/drawingml/2006/main">
            <a:off x="1257300" y="27336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setup chuẩn bị dữ liệu nếu kịch bản cần.</a:t>
            </a:r>
          </a:p>
        </p:txBody>
      </p:sp>
      <p:sp>
        <p:nvSpPr>
          <p:cNvPr id="10" name="03">
            <a:extLst xmlns:a="http://schemas.openxmlformats.org/drawingml/2006/main">
              <a:ext uri="{FF2B5EF4-FFF2-40B4-BE49-F238E27FC236}">
                <a16:creationId xmlns:a16="http://schemas.microsoft.com/office/drawing/2014/main" id="{640E5FA0-2E91-4C35-ABF6-7F8CF3F5DC17}"/>
              </a:ext>
            </a:extLst>
          </p:cNvPr>
          <p:cNvSpPr>
            <a:spLocks xmlns:a="http://schemas.openxmlformats.org/drawingml/2006/main" noGrp="1"/>
          </p:cNvSpPr>
          <p:nvPr/>
        </p:nvSpPr>
        <p:spPr>
          <a:xfrm xmlns:a="http://schemas.openxmlformats.org/drawingml/2006/main">
            <a:off x="628650" y="37052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03</a:t>
            </a:r>
          </a:p>
        </p:txBody>
      </p:sp>
      <p:sp>
        <p:nvSpPr>
          <p:cNvPr id="11" name="VU code thực hiện request, checks rồi think-time.">
            <a:extLst xmlns:a="http://schemas.openxmlformats.org/drawingml/2006/main">
              <a:ext uri="{FF2B5EF4-FFF2-40B4-BE49-F238E27FC236}">
                <a16:creationId xmlns:a16="http://schemas.microsoft.com/office/drawing/2014/main" id="{4247F765-3487-4DD6-A69E-198C2DC97706}"/>
              </a:ext>
            </a:extLst>
          </p:cNvPr>
          <p:cNvSpPr>
            <a:spLocks xmlns:a="http://schemas.openxmlformats.org/drawingml/2006/main" noGrp="1"/>
          </p:cNvSpPr>
          <p:nvPr/>
        </p:nvSpPr>
        <p:spPr>
          <a:xfrm xmlns:a="http://schemas.openxmlformats.org/drawingml/2006/main">
            <a:off x="1257300" y="36861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VU code thực hiện request, checks rồi think-time.</a:t>
            </a:r>
          </a:p>
        </p:txBody>
      </p:sp>
      <p:sp>
        <p:nvSpPr>
          <p:cNvPr id="12" name="04">
            <a:extLst xmlns:a="http://schemas.openxmlformats.org/drawingml/2006/main">
              <a:ext uri="{FF2B5EF4-FFF2-40B4-BE49-F238E27FC236}">
                <a16:creationId xmlns:a16="http://schemas.microsoft.com/office/drawing/2014/main" id="{6EB7C739-21F6-4419-A2EC-49F8FE087896}"/>
              </a:ext>
            </a:extLst>
          </p:cNvPr>
          <p:cNvSpPr>
            <a:spLocks xmlns:a="http://schemas.openxmlformats.org/drawingml/2006/main" noGrp="1"/>
          </p:cNvSpPr>
          <p:nvPr/>
        </p:nvSpPr>
        <p:spPr>
          <a:xfrm xmlns:a="http://schemas.openxmlformats.org/drawingml/2006/main">
            <a:off x="628650" y="46577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04</a:t>
            </a:r>
          </a:p>
        </p:txBody>
      </p:sp>
      <p:sp>
        <p:nvSpPr>
          <p:cNvPr id="13" name="teardown xử lý kết thúc nếu source có khai báo.">
            <a:extLst xmlns:a="http://schemas.openxmlformats.org/drawingml/2006/main">
              <a:ext uri="{FF2B5EF4-FFF2-40B4-BE49-F238E27FC236}">
                <a16:creationId xmlns:a16="http://schemas.microsoft.com/office/drawing/2014/main" id="{9DB54CF7-65BD-4D2C-AEF7-82C746DB5244}"/>
              </a:ext>
            </a:extLst>
          </p:cNvPr>
          <p:cNvSpPr>
            <a:spLocks xmlns:a="http://schemas.openxmlformats.org/drawingml/2006/main" noGrp="1"/>
          </p:cNvSpPr>
          <p:nvPr/>
        </p:nvSpPr>
        <p:spPr>
          <a:xfrm xmlns:a="http://schemas.openxmlformats.org/drawingml/2006/main">
            <a:off x="1257300" y="46386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teardown xử lý kết thúc nếu source có khai báo.</a:t>
            </a:r>
          </a:p>
        </p:txBody>
      </p:sp>
    </p:spTree>
    <p:extLst>
      <p:ext uri="{BB962C8B-B14F-4D97-AF65-F5344CB8AC3E}">
        <p14:creationId xmlns:p14="http://schemas.microsoft.com/office/powerpoint/2010/main" val="548105299"/>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K6 / CÀI ĐẶT">
            <a:extLst xmlns:a="http://schemas.openxmlformats.org/drawingml/2006/main">
              <a:ext uri="{FF2B5EF4-FFF2-40B4-BE49-F238E27FC236}">
                <a16:creationId xmlns:a16="http://schemas.microsoft.com/office/drawing/2014/main" id="{75BB407C-6A45-4559-B4DF-DDCB1727BED0}"/>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K6 / CÀI ĐẶT</a:t>
            </a:r>
          </a:p>
        </p:txBody>
      </p:sp>
      <p:sp>
        <p:nvSpPr>
          <p:cNvPr id="3" name="k6: chuẩn bị môi trường và chạy thử">
            <a:extLst xmlns:a="http://schemas.openxmlformats.org/drawingml/2006/main">
              <a:ext uri="{FF2B5EF4-FFF2-40B4-BE49-F238E27FC236}">
                <a16:creationId xmlns:a16="http://schemas.microsoft.com/office/drawing/2014/main" id="{DD7CD045-B59B-4CAD-8AC1-6A77CD8FA5FF}"/>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k6: chuẩn bị môi trường và chạy thử</a:t>
            </a:r>
          </a:p>
        </p:txBody>
      </p:sp>
      <p:sp>
        <p:nvSpPr>
          <p:cNvPr id="4" name="Performance Testing trên EShop">
            <a:extLst xmlns:a="http://schemas.openxmlformats.org/drawingml/2006/main">
              <a:ext uri="{FF2B5EF4-FFF2-40B4-BE49-F238E27FC236}">
                <a16:creationId xmlns:a16="http://schemas.microsoft.com/office/drawing/2014/main" id="{EF1F8D12-ECB5-4D33-A42E-159DC46142B9}"/>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16">
            <a:extLst xmlns:a="http://schemas.openxmlformats.org/drawingml/2006/main">
              <a:ext uri="{FF2B5EF4-FFF2-40B4-BE49-F238E27FC236}">
                <a16:creationId xmlns:a16="http://schemas.microsoft.com/office/drawing/2014/main" id="{E00A785E-10D9-48D1-B814-AA1CD2F4C17A}"/>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34</a:t>
            </a:r>
          </a:p>
        </p:txBody>
      </p:sp>
      <p:sp>
        <p:nvSpPr>
          <p:cNvPr id="6" name="01">
            <a:extLst xmlns:a="http://schemas.openxmlformats.org/drawingml/2006/main">
              <a:ext uri="{FF2B5EF4-FFF2-40B4-BE49-F238E27FC236}">
                <a16:creationId xmlns:a16="http://schemas.microsoft.com/office/drawing/2014/main" id="{113BD0C3-7F87-41B4-9A8D-35E528AE0D7B}"/>
              </a:ext>
            </a:extLst>
          </p:cNvPr>
          <p:cNvSpPr>
            <a:spLocks xmlns:a="http://schemas.openxmlformats.org/drawingml/2006/main" noGrp="1"/>
          </p:cNvSpPr>
          <p:nvPr/>
        </p:nvSpPr>
        <p:spPr>
          <a:xfrm xmlns:a="http://schemas.openxmlformats.org/drawingml/2006/main">
            <a:off x="628650" y="18002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01</a:t>
            </a:r>
          </a:p>
        </p:txBody>
      </p:sp>
      <p:sp>
        <p:nvSpPr>
          <p:cNvPr id="7" name="Cài k6 CLI, kiểm tra bằng k6 version.">
            <a:extLst xmlns:a="http://schemas.openxmlformats.org/drawingml/2006/main">
              <a:ext uri="{FF2B5EF4-FFF2-40B4-BE49-F238E27FC236}">
                <a16:creationId xmlns:a16="http://schemas.microsoft.com/office/drawing/2014/main" id="{4C2122CC-F951-4909-B388-D71C18EF627A}"/>
              </a:ext>
            </a:extLst>
          </p:cNvPr>
          <p:cNvSpPr>
            <a:spLocks xmlns:a="http://schemas.openxmlformats.org/drawingml/2006/main" noGrp="1"/>
          </p:cNvSpPr>
          <p:nvPr/>
        </p:nvSpPr>
        <p:spPr>
          <a:xfrm xmlns:a="http://schemas.openxmlformats.org/drawingml/2006/main">
            <a:off x="1257300" y="17811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Cài k6 CLI, kiểm tra bằng k6 version.</a:t>
            </a:r>
          </a:p>
        </p:txBody>
      </p:sp>
      <p:sp>
        <p:nvSpPr>
          <p:cNvPr id="8" name="02">
            <a:extLst xmlns:a="http://schemas.openxmlformats.org/drawingml/2006/main">
              <a:ext uri="{FF2B5EF4-FFF2-40B4-BE49-F238E27FC236}">
                <a16:creationId xmlns:a16="http://schemas.microsoft.com/office/drawing/2014/main" id="{97B116A3-049F-49F9-B1BF-7393199F6F4D}"/>
              </a:ext>
            </a:extLst>
          </p:cNvPr>
          <p:cNvSpPr>
            <a:spLocks xmlns:a="http://schemas.openxmlformats.org/drawingml/2006/main" noGrp="1"/>
          </p:cNvSpPr>
          <p:nvPr/>
        </p:nvSpPr>
        <p:spPr>
          <a:xfrm xmlns:a="http://schemas.openxmlformats.org/drawingml/2006/main">
            <a:off x="628650" y="27527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02</a:t>
            </a:r>
          </a:p>
        </p:txBody>
      </p:sp>
      <p:sp>
        <p:nvSpPr>
          <p:cNvPr id="9" name="Khởi động backend và seed tài khoản test theo README.">
            <a:extLst xmlns:a="http://schemas.openxmlformats.org/drawingml/2006/main">
              <a:ext uri="{FF2B5EF4-FFF2-40B4-BE49-F238E27FC236}">
                <a16:creationId xmlns:a16="http://schemas.microsoft.com/office/drawing/2014/main" id="{0E769B01-5540-41C9-8EAA-FB15ECDF1D42}"/>
              </a:ext>
            </a:extLst>
          </p:cNvPr>
          <p:cNvSpPr>
            <a:spLocks xmlns:a="http://schemas.openxmlformats.org/drawingml/2006/main" noGrp="1"/>
          </p:cNvSpPr>
          <p:nvPr/>
        </p:nvSpPr>
        <p:spPr>
          <a:xfrm xmlns:a="http://schemas.openxmlformats.org/drawingml/2006/main">
            <a:off x="1257300" y="27336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Khởi động backend và seed tài khoản test theo README.</a:t>
            </a:r>
          </a:p>
        </p:txBody>
      </p:sp>
      <p:sp>
        <p:nvSpPr>
          <p:cNvPr id="10" name="03">
            <a:extLst xmlns:a="http://schemas.openxmlformats.org/drawingml/2006/main">
              <a:ext uri="{FF2B5EF4-FFF2-40B4-BE49-F238E27FC236}">
                <a16:creationId xmlns:a16="http://schemas.microsoft.com/office/drawing/2014/main" id="{71FF2D69-3B72-4E34-9AF5-BA55041D304E}"/>
              </a:ext>
            </a:extLst>
          </p:cNvPr>
          <p:cNvSpPr>
            <a:spLocks xmlns:a="http://schemas.openxmlformats.org/drawingml/2006/main" noGrp="1"/>
          </p:cNvSpPr>
          <p:nvPr/>
        </p:nvSpPr>
        <p:spPr>
          <a:xfrm xmlns:a="http://schemas.openxmlformats.org/drawingml/2006/main">
            <a:off x="628650" y="37052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03</a:t>
            </a:r>
          </a:p>
        </p:txBody>
      </p:sp>
      <p:sp>
        <p:nvSpPr>
          <p:cNvPr id="11" name="Chạy smoke trước các profile lớn.">
            <a:extLst xmlns:a="http://schemas.openxmlformats.org/drawingml/2006/main">
              <a:ext uri="{FF2B5EF4-FFF2-40B4-BE49-F238E27FC236}">
                <a16:creationId xmlns:a16="http://schemas.microsoft.com/office/drawing/2014/main" id="{32BE5C6E-2B21-4030-B970-7CE9C197C28A}"/>
              </a:ext>
            </a:extLst>
          </p:cNvPr>
          <p:cNvSpPr>
            <a:spLocks xmlns:a="http://schemas.openxmlformats.org/drawingml/2006/main" noGrp="1"/>
          </p:cNvSpPr>
          <p:nvPr/>
        </p:nvSpPr>
        <p:spPr>
          <a:xfrm xmlns:a="http://schemas.openxmlformats.org/drawingml/2006/main">
            <a:off x="1257300" y="36861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Chạy smoke trước các profile lớn.</a:t>
            </a:r>
          </a:p>
        </p:txBody>
      </p:sp>
      <p:sp>
        <p:nvSpPr>
          <p:cNvPr id="12" name="04">
            <a:extLst xmlns:a="http://schemas.openxmlformats.org/drawingml/2006/main">
              <a:ext uri="{FF2B5EF4-FFF2-40B4-BE49-F238E27FC236}">
                <a16:creationId xmlns:a16="http://schemas.microsoft.com/office/drawing/2014/main" id="{26B1BA7D-7058-44C6-9D93-E9CB88340EF8}"/>
              </a:ext>
            </a:extLst>
          </p:cNvPr>
          <p:cNvSpPr>
            <a:spLocks xmlns:a="http://schemas.openxmlformats.org/drawingml/2006/main" noGrp="1"/>
          </p:cNvSpPr>
          <p:nvPr/>
        </p:nvSpPr>
        <p:spPr>
          <a:xfrm xmlns:a="http://schemas.openxmlformats.org/drawingml/2006/main">
            <a:off x="628650" y="46577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04</a:t>
            </a:r>
          </a:p>
        </p:txBody>
      </p:sp>
      <p:sp>
        <p:nvSpPr>
          <p:cNvPr id="13" name="Giữ lệnh chạy, source và thư mục output theo run.">
            <a:extLst xmlns:a="http://schemas.openxmlformats.org/drawingml/2006/main">
              <a:ext uri="{FF2B5EF4-FFF2-40B4-BE49-F238E27FC236}">
                <a16:creationId xmlns:a16="http://schemas.microsoft.com/office/drawing/2014/main" id="{0D95FB17-4F60-4D59-97C8-2BE45E2DC8C8}"/>
              </a:ext>
            </a:extLst>
          </p:cNvPr>
          <p:cNvSpPr>
            <a:spLocks xmlns:a="http://schemas.openxmlformats.org/drawingml/2006/main" noGrp="1"/>
          </p:cNvSpPr>
          <p:nvPr/>
        </p:nvSpPr>
        <p:spPr>
          <a:xfrm xmlns:a="http://schemas.openxmlformats.org/drawingml/2006/main">
            <a:off x="1257300" y="46386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Giữ lệnh chạy, source và thư mục output theo run.</a:t>
            </a:r>
          </a:p>
        </p:txBody>
      </p:sp>
    </p:spTree>
    <p:extLst>
      <p:ext uri="{BB962C8B-B14F-4D97-AF65-F5344CB8AC3E}">
        <p14:creationId xmlns:p14="http://schemas.microsoft.com/office/powerpoint/2010/main" val="2117966641"/>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K6 / CHỨC NĂNG">
            <a:extLst xmlns:a="http://schemas.openxmlformats.org/drawingml/2006/main">
              <a:ext uri="{FF2B5EF4-FFF2-40B4-BE49-F238E27FC236}">
                <a16:creationId xmlns:a16="http://schemas.microsoft.com/office/drawing/2014/main" id="{F84A3534-00AB-438D-AFDC-334563ADDB97}"/>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K6 / CHỨC NĂNG</a:t>
            </a:r>
          </a:p>
        </p:txBody>
      </p:sp>
      <p:sp>
        <p:nvSpPr>
          <p:cNvPr id="3" name="k6: ghi traffic, dữ liệu và checkpoints">
            <a:extLst xmlns:a="http://schemas.openxmlformats.org/drawingml/2006/main">
              <a:ext uri="{FF2B5EF4-FFF2-40B4-BE49-F238E27FC236}">
                <a16:creationId xmlns:a16="http://schemas.microsoft.com/office/drawing/2014/main" id="{E9A8EB2F-2B1D-457E-8D82-EBA640007DE3}"/>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k6: ghi traffic, dữ liệu và checkpoints</a:t>
            </a:r>
          </a:p>
        </p:txBody>
      </p:sp>
      <p:sp>
        <p:nvSpPr>
          <p:cNvPr id="4" name="Performance Testing trên EShop">
            <a:extLst xmlns:a="http://schemas.openxmlformats.org/drawingml/2006/main">
              <a:ext uri="{FF2B5EF4-FFF2-40B4-BE49-F238E27FC236}">
                <a16:creationId xmlns:a16="http://schemas.microsoft.com/office/drawing/2014/main" id="{ADCDD76B-4AD4-458A-8AA5-D4E08BB11D7E}"/>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17">
            <a:extLst xmlns:a="http://schemas.openxmlformats.org/drawingml/2006/main">
              <a:ext uri="{FF2B5EF4-FFF2-40B4-BE49-F238E27FC236}">
                <a16:creationId xmlns:a16="http://schemas.microsoft.com/office/drawing/2014/main" id="{1CD768E0-3BC8-4975-A357-516688353529}"/>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35</a:t>
            </a:r>
          </a:p>
        </p:txBody>
      </p:sp>
      <p:graphicFrame>
        <p:nvGraphicFramePr>
          <p:cNvPr id="6" name="">
            <a:extLst xmlns:a="http://schemas.openxmlformats.org/drawingml/2006/main">
              <a:ext uri="{FF2B5EF4-FFF2-40B4-BE49-F238E27FC236}">
                <a16:creationId xmlns:a16="http://schemas.microsoft.com/office/drawing/2014/main" id="{6DFDB18C-A398-4B24-A408-0AFD10F84286}"/>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3657600"/>
                <a:gridCol w="3657600"/>
                <a:gridCol w="3657600"/>
              </a:tblGrid>
              <a:tr h="864870">
                <a:tc>
                  <a:txBody>
                    <a:bodyPr/>
                    <a:lstStyle/>
                    <a:p>
                      <a:r>
                        <a:rPr sz="1800" b="1">
                          <a:solidFill>
                            <a:srgbClr val="153E75"/>
                          </a:solidFill>
                          <a:latin typeface="Arial"/>
                          <a:ea typeface="Arial"/>
                          <a:cs typeface="Arial"/>
                        </a:rPr>
                        <a:t>Thành phần</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Cách thực hiện</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Evidence</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864870">
                <a:tc>
                  <a:txBody>
                    <a:bodyPr/>
                    <a:lstStyle/>
                    <a:p>
                      <a:r>
                        <a:rPr sz="1800">
                          <a:solidFill>
                            <a:srgbClr val="151B23"/>
                          </a:solidFill>
                          <a:latin typeface="Arial"/>
                          <a:ea typeface="Arial"/>
                          <a:cs typeface="Arial"/>
                        </a:rPr>
                        <a:t>Record / playback</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HAR tham chiếu, script gửi API</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Request thực tế trong log</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Data driven</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CSV 50 tài khoản, SharedArray</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Mỗi VU dùng dữ liệu riêng</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Correlation</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Token login lưu theo VU</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Bearer cho request cần quyền</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Checkpoints</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Status và body theo API</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Checks và thresholds</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317016728"/>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KHÁI NIỆM / DỮ LIỆU VÀ PHIÊN">
            <a:extLst xmlns:a="http://schemas.openxmlformats.org/drawingml/2006/main">
              <a:ext uri="{FF2B5EF4-FFF2-40B4-BE49-F238E27FC236}">
                <a16:creationId xmlns:a16="http://schemas.microsoft.com/office/drawing/2014/main" id="{F22F638F-C790-44C0-B51A-98BEECC771D0}"/>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KHÁI NIỆM / DỮ LIỆU VÀ PHIÊN</a:t>
            </a:r>
          </a:p>
        </p:txBody>
      </p:sp>
      <p:sp>
        <p:nvSpPr>
          <p:cNvPr id="3" name="Data driven và correlation trong EShop">
            <a:extLst xmlns:a="http://schemas.openxmlformats.org/drawingml/2006/main">
              <a:ext uri="{FF2B5EF4-FFF2-40B4-BE49-F238E27FC236}">
                <a16:creationId xmlns:a16="http://schemas.microsoft.com/office/drawing/2014/main" id="{E2386E71-D143-4912-ACFD-628F5FA0E33F}"/>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Data driven và correlation trong EShop</a:t>
            </a:r>
          </a:p>
        </p:txBody>
      </p:sp>
      <p:sp>
        <p:nvSpPr>
          <p:cNvPr id="4" name="Performance Testing trên EShop">
            <a:extLst xmlns:a="http://schemas.openxmlformats.org/drawingml/2006/main">
              <a:ext uri="{FF2B5EF4-FFF2-40B4-BE49-F238E27FC236}">
                <a16:creationId xmlns:a16="http://schemas.microsoft.com/office/drawing/2014/main" id="{16CB3DFC-32F5-4D06-8DD2-10F864162CA6}"/>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PAGE_NUMBER">
            <a:extLst xmlns:a="http://schemas.openxmlformats.org/drawingml/2006/main">
              <a:ext uri="{FF2B5EF4-FFF2-40B4-BE49-F238E27FC236}">
                <a16:creationId xmlns:a16="http://schemas.microsoft.com/office/drawing/2014/main" id="{F34471F9-29C3-460C-9611-5D2377A822E3}"/>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36</a:t>
            </a:r>
          </a:p>
        </p:txBody>
      </p:sp>
      <p:graphicFrame>
        <p:nvGraphicFramePr>
          <p:cNvPr id="6" name="">
            <a:extLst xmlns:a="http://schemas.openxmlformats.org/drawingml/2006/main">
              <a:ext uri="{FF2B5EF4-FFF2-40B4-BE49-F238E27FC236}">
                <a16:creationId xmlns:a16="http://schemas.microsoft.com/office/drawing/2014/main" id="{C8A850DA-CA3A-490F-B68C-37C45372041D}"/>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2476500"/>
                <a:gridCol w="4191000"/>
                <a:gridCol w="4305300"/>
              </a:tblGrid>
              <a:tr h="864870">
                <a:tc>
                  <a:txBody>
                    <a:bodyPr/>
                    <a:lstStyle/>
                    <a:p>
                      <a:r>
                        <a:rPr sz="1800" b="1">
                          <a:solidFill>
                            <a:srgbClr val="153E75"/>
                          </a:solidFill>
                          <a:latin typeface="Arial"/>
                          <a:ea typeface="Arial"/>
                          <a:cs typeface="Arial"/>
                        </a:rPr>
                        <a:t>Khái niệm</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Nguồn dữ liệu</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Cách dùng</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864870">
                <a:tc>
                  <a:txBody>
                    <a:bodyPr/>
                    <a:lstStyle/>
                    <a:p>
                      <a:r>
                        <a:rPr sz="1800">
                          <a:solidFill>
                            <a:srgbClr val="151B23"/>
                          </a:solidFill>
                          <a:latin typeface="Arial"/>
                          <a:ea typeface="Arial"/>
                          <a:cs typeface="Arial"/>
                        </a:rPr>
                        <a:t>Parameterization</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Tham số thay cho giá trị hard-code</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BASE_URL, keyword hoặc product ID</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Data driven</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Bộ dữ liệu test được chuẩn bị</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CSV tài khoản theo từng VU</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Correlation</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Giá trị động từ response trước</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Token login cho Bearer checkout</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Checkpoint</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Điều kiện xác nhận response</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Kiểm tra orderId ở bước cuối</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1871511787"/>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K6 / KỊCH BẢN PHỨC TẠP">
            <a:extLst xmlns:a="http://schemas.openxmlformats.org/drawingml/2006/main">
              <a:ext uri="{FF2B5EF4-FFF2-40B4-BE49-F238E27FC236}">
                <a16:creationId xmlns:a16="http://schemas.microsoft.com/office/drawing/2014/main" id="{B95CAAD6-0B2C-445E-8D41-2B96A03E010A}"/>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K6 / KỊCH BẢN PHỨC TẠP</a:t>
            </a:r>
          </a:p>
        </p:txBody>
      </p:sp>
      <p:sp>
        <p:nvSpPr>
          <p:cNvPr id="3" name="k6: cấu hình profile thực tế">
            <a:extLst xmlns:a="http://schemas.openxmlformats.org/drawingml/2006/main">
              <a:ext uri="{FF2B5EF4-FFF2-40B4-BE49-F238E27FC236}">
                <a16:creationId xmlns:a16="http://schemas.microsoft.com/office/drawing/2014/main" id="{F1ED9624-DA73-4118-A78D-122D7337B1A9}"/>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k6: cấu hình profile thực tế</a:t>
            </a:r>
          </a:p>
        </p:txBody>
      </p:sp>
      <p:sp>
        <p:nvSpPr>
          <p:cNvPr id="4" name="Performance Testing trên EShop">
            <a:extLst xmlns:a="http://schemas.openxmlformats.org/drawingml/2006/main">
              <a:ext uri="{FF2B5EF4-FFF2-40B4-BE49-F238E27FC236}">
                <a16:creationId xmlns:a16="http://schemas.microsoft.com/office/drawing/2014/main" id="{CD098207-3437-4FF0-845C-6858EE038EB8}"/>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18">
            <a:extLst xmlns:a="http://schemas.openxmlformats.org/drawingml/2006/main">
              <a:ext uri="{FF2B5EF4-FFF2-40B4-BE49-F238E27FC236}">
                <a16:creationId xmlns:a16="http://schemas.microsoft.com/office/drawing/2014/main" id="{B00DD5DA-9108-4DCC-B588-B2F45340ACE8}"/>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37</a:t>
            </a:r>
          </a:p>
        </p:txBody>
      </p:sp>
      <p:graphicFrame>
        <p:nvGraphicFramePr>
          <p:cNvPr id="6" name="">
            <a:extLst xmlns:a="http://schemas.openxmlformats.org/drawingml/2006/main">
              <a:ext uri="{FF2B5EF4-FFF2-40B4-BE49-F238E27FC236}">
                <a16:creationId xmlns:a16="http://schemas.microsoft.com/office/drawing/2014/main" id="{319E408B-72D6-40BF-84E6-05E0414C7414}"/>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3657600"/>
                <a:gridCol w="3657600"/>
                <a:gridCol w="3657600"/>
              </a:tblGrid>
              <a:tr h="864870">
                <a:tc>
                  <a:txBody>
                    <a:bodyPr/>
                    <a:lstStyle/>
                    <a:p>
                      <a:r>
                        <a:rPr sz="1800" b="1">
                          <a:solidFill>
                            <a:srgbClr val="153E75"/>
                          </a:solidFill>
                          <a:latin typeface="Arial"/>
                          <a:ea typeface="Arial"/>
                          <a:cs typeface="Arial"/>
                        </a:rPr>
                        <a:t>Profile</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Thiết kế đã ghi trong report</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Điểm quan sát</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864870">
                <a:tc>
                  <a:txBody>
                    <a:bodyPr/>
                    <a:lstStyle/>
                    <a:p>
                      <a:r>
                        <a:rPr sz="1800">
                          <a:solidFill>
                            <a:srgbClr val="151B23"/>
                          </a:solidFill>
                          <a:latin typeface="Arial"/>
                          <a:ea typeface="Arial"/>
                          <a:cs typeface="Arial"/>
                        </a:rPr>
                        <a:t>Baseline</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60s ramp, 300s steady, 60s down</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50 VU, metric steady</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Stress</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11 bậc 500–2.800 VU</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Vùng suy giảm theo bậc</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Spike</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50 lên 1.500 VU</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Đỉnh tải và recovery</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Tuning</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Bản sao SUT dùng WAL/index</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So sánh với cấu hình gốc</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100304606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UNING / PHÂN TÍCH NGUYÊN NHÂN">
            <a:extLst xmlns:a="http://schemas.openxmlformats.org/drawingml/2006/main">
              <a:ext uri="{FF2B5EF4-FFF2-40B4-BE49-F238E27FC236}">
                <a16:creationId xmlns:a16="http://schemas.microsoft.com/office/drawing/2014/main" id="{BC343442-7CF1-4BCA-9636-7640DFA26BBB}"/>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TUNING / PHÂN TÍCH NGUYÊN NHÂN</a:t>
            </a:r>
          </a:p>
        </p:txBody>
      </p:sp>
      <p:sp>
        <p:nvSpPr>
          <p:cNvPr id="3" name="Bottleneck EShop: giả thuyết cần kiểm chứng">
            <a:extLst xmlns:a="http://schemas.openxmlformats.org/drawingml/2006/main">
              <a:ext uri="{FF2B5EF4-FFF2-40B4-BE49-F238E27FC236}">
                <a16:creationId xmlns:a16="http://schemas.microsoft.com/office/drawing/2014/main" id="{A0303459-5284-4C1E-9871-1580C3D15540}"/>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Bottleneck EShop: giả thuyết cần kiểm chứng</a:t>
            </a:r>
          </a:p>
        </p:txBody>
      </p:sp>
      <p:sp>
        <p:nvSpPr>
          <p:cNvPr id="4" name="Performance Testing trên EShop">
            <a:extLst xmlns:a="http://schemas.openxmlformats.org/drawingml/2006/main">
              <a:ext uri="{FF2B5EF4-FFF2-40B4-BE49-F238E27FC236}">
                <a16:creationId xmlns:a16="http://schemas.microsoft.com/office/drawing/2014/main" id="{BB83BBF6-1389-4663-B5BE-C32F83250925}"/>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PAGE_NUMBER">
            <a:extLst xmlns:a="http://schemas.openxmlformats.org/drawingml/2006/main">
              <a:ext uri="{FF2B5EF4-FFF2-40B4-BE49-F238E27FC236}">
                <a16:creationId xmlns:a16="http://schemas.microsoft.com/office/drawing/2014/main" id="{2BFE2921-608B-46B3-9F10-F38F89B5FF50}"/>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38</a:t>
            </a:r>
          </a:p>
        </p:txBody>
      </p:sp>
      <p:graphicFrame>
        <p:nvGraphicFramePr>
          <p:cNvPr id="6" name="">
            <a:extLst xmlns:a="http://schemas.openxmlformats.org/drawingml/2006/main">
              <a:ext uri="{FF2B5EF4-FFF2-40B4-BE49-F238E27FC236}">
                <a16:creationId xmlns:a16="http://schemas.microsoft.com/office/drawing/2014/main" id="{0D715097-8586-40F4-AE37-AABA80098112}"/>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2476500"/>
                <a:gridCol w="4000500"/>
                <a:gridCol w="4495800"/>
              </a:tblGrid>
              <a:tr h="864870">
                <a:tc>
                  <a:txBody>
                    <a:bodyPr/>
                    <a:lstStyle/>
                    <a:p>
                      <a:r>
                        <a:rPr sz="1800" b="1">
                          <a:solidFill>
                            <a:srgbClr val="153E75"/>
                          </a:solidFill>
                          <a:latin typeface="Arial"/>
                          <a:ea typeface="Arial"/>
                          <a:cs typeface="Arial"/>
                        </a:rPr>
                        <a:t>Thành phần</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Dấu hiệu cần tìm</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Evidence để xác nhận</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864870">
                <a:tc>
                  <a:txBody>
                    <a:bodyPr/>
                    <a:lstStyle/>
                    <a:p>
                      <a:r>
                        <a:rPr sz="1800">
                          <a:solidFill>
                            <a:srgbClr val="151B23"/>
                          </a:solidFill>
                          <a:latin typeface="Arial"/>
                          <a:ea typeface="Arial"/>
                          <a:cs typeface="Arial"/>
                        </a:rPr>
                        <a:t>Node.js</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Callback chậm hoặc CPU cao</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Event-loop lag, CPU profile</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Search / SQLite</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Query name LIKE chậm</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Query duration, EXPLAIN QUERY PLAN</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Checkout / SQLite</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Chờ ghi, SQLITE_BUSY hoặc timeout</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Log giao dịch, lock và thời gian I/O</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Generator / môi trường</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VU tăng nhưng tải phát không đạt</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CPU/RAM, network và actual RPS</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1685078605"/>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UNING / CƠ CHẾ WAL">
            <a:extLst xmlns:a="http://schemas.openxmlformats.org/drawingml/2006/main">
              <a:ext uri="{FF2B5EF4-FFF2-40B4-BE49-F238E27FC236}">
                <a16:creationId xmlns:a16="http://schemas.microsoft.com/office/drawing/2014/main" id="{6AF3B538-0CEB-4682-92D6-012E3AD49F63}"/>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TUNING / CƠ CHẾ WAL</a:t>
            </a:r>
          </a:p>
        </p:txBody>
      </p:sp>
      <p:sp>
        <p:nvSpPr>
          <p:cNvPr id="3" name="SQLite: rollback journal và WAL">
            <a:extLst xmlns:a="http://schemas.openxmlformats.org/drawingml/2006/main">
              <a:ext uri="{FF2B5EF4-FFF2-40B4-BE49-F238E27FC236}">
                <a16:creationId xmlns:a16="http://schemas.microsoft.com/office/drawing/2014/main" id="{F631A518-5055-4A26-A1E7-26B5AF970590}"/>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SQLite: rollback journal và WAL</a:t>
            </a:r>
          </a:p>
        </p:txBody>
      </p:sp>
      <p:sp>
        <p:nvSpPr>
          <p:cNvPr id="4" name="Performance Testing trên EShop">
            <a:extLst xmlns:a="http://schemas.openxmlformats.org/drawingml/2006/main">
              <a:ext uri="{FF2B5EF4-FFF2-40B4-BE49-F238E27FC236}">
                <a16:creationId xmlns:a16="http://schemas.microsoft.com/office/drawing/2014/main" id="{A9B9158F-9646-4121-9B47-791FE103B6DE}"/>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PAGE_NUMBER">
            <a:extLst xmlns:a="http://schemas.openxmlformats.org/drawingml/2006/main">
              <a:ext uri="{FF2B5EF4-FFF2-40B4-BE49-F238E27FC236}">
                <a16:creationId xmlns:a16="http://schemas.microsoft.com/office/drawing/2014/main" id="{3BBF2B58-0600-43DA-A08E-13F99F62364B}"/>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39</a:t>
            </a:r>
          </a:p>
        </p:txBody>
      </p:sp>
      <p:graphicFrame>
        <p:nvGraphicFramePr>
          <p:cNvPr id="6" name="">
            <a:extLst xmlns:a="http://schemas.openxmlformats.org/drawingml/2006/main">
              <a:ext uri="{FF2B5EF4-FFF2-40B4-BE49-F238E27FC236}">
                <a16:creationId xmlns:a16="http://schemas.microsoft.com/office/drawing/2014/main" id="{DFA068ED-3C04-4B9A-B1E0-46F52E9FE210}"/>
              </a:ext>
            </a:extLst>
          </p:cNvPr>
          <p:cNvGraphicFramePr/>
          <p:nvPr/>
        </p:nvGraphicFramePr>
        <p:xfrm>
          <a:off xmlns:a="http://schemas.openxmlformats.org/drawingml/2006/main" x="609600" y="1724025"/>
          <a:ext xmlns:a="http://schemas.openxmlformats.org/drawingml/2006/main" cx="10972800" cy="3905250"/>
        </p:xfrm>
        <a:graphic xmlns:a="http://schemas.openxmlformats.org/drawingml/2006/main">
          <a:graphicData uri="http://schemas.openxmlformats.org/drawingml/2006/table">
            <a:tbl>
              <a:tblPr/>
              <a:tblGrid>
                <a:gridCol w="2381250"/>
                <a:gridCol w="4286250"/>
                <a:gridCol w="4305300"/>
              </a:tblGrid>
              <a:tr h="781050">
                <a:tc>
                  <a:txBody>
                    <a:bodyPr/>
                    <a:lstStyle/>
                    <a:p>
                      <a:r>
                        <a:rPr sz="1800" b="1">
                          <a:solidFill>
                            <a:srgbClr val="153E75"/>
                          </a:solidFill>
                          <a:latin typeface="Arial"/>
                          <a:ea typeface="Arial"/>
                          <a:cs typeface="Arial"/>
                        </a:rPr>
                        <a:t>Khía cạnh</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Rollback journal</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Write-Ahead Log (WAL)</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781050">
                <a:tc>
                  <a:txBody>
                    <a:bodyPr/>
                    <a:lstStyle/>
                    <a:p>
                      <a:r>
                        <a:rPr sz="1800">
                          <a:solidFill>
                            <a:srgbClr val="151B23"/>
                          </a:solidFill>
                          <a:latin typeface="Arial"/>
                          <a:ea typeface="Arial"/>
                          <a:cs typeface="Arial"/>
                        </a:rPr>
                        <a:t>Cách ghi</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Journal giữ bản dữ liệu cũ</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Thay đổi mới ghi vào WAL</a:t>
                      </a:r>
                    </a:p>
                  </a:txBody>
                  <a:tcPr marL="114300" marR="95250" marT="76200" marB="57150">
                    <a:lnR w="9525">
                      <a:solidFill>
                        <a:srgbClr val="D7DDE4"/>
                      </a:solidFill>
                      <a:prstDash val="solid"/>
                    </a:lnR>
                    <a:lnB w="9525">
                      <a:solidFill>
                        <a:srgbClr val="D7DDE4"/>
                      </a:solidFill>
                      <a:prstDash val="solid"/>
                    </a:lnB>
                    <a:solidFill>
                      <a:srgbClr val="FFFFFF"/>
                    </a:solidFill>
                  </a:tcPr>
                </a:tc>
              </a:tr>
              <a:tr h="781050">
                <a:tc>
                  <a:txBody>
                    <a:bodyPr/>
                    <a:lstStyle/>
                    <a:p>
                      <a:r>
                        <a:rPr sz="1800">
                          <a:solidFill>
                            <a:srgbClr val="151B23"/>
                          </a:solidFill>
                          <a:latin typeface="Arial"/>
                          <a:ea typeface="Arial"/>
                          <a:cs typeface="Arial"/>
                        </a:rPr>
                        <a:t>Đọc và ghi</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Có thể chặn nhau khi cần</a:t>
                      </a:r>
                    </a:p>
                    <a:p>
                      <a:r>
                        <a:rPr sz="1800">
                          <a:solidFill>
                            <a:srgbClr val="151B23"/>
                          </a:solidFill>
                          <a:latin typeface="Arial"/>
                          <a:ea typeface="Arial"/>
                          <a:cs typeface="Arial"/>
                        </a:rPr>
                        <a:t>khóa độc quyền</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Đọc và ghi thường có thể</a:t>
                      </a:r>
                    </a:p>
                    <a:p>
                      <a:r>
                        <a:rPr sz="1800">
                          <a:solidFill>
                            <a:srgbClr val="151B23"/>
                          </a:solidFill>
                          <a:latin typeface="Arial"/>
                          <a:ea typeface="Arial"/>
                          <a:cs typeface="Arial"/>
                        </a:rPr>
                        <a:t>diễn ra đồng thời</a:t>
                      </a:r>
                    </a:p>
                  </a:txBody>
                  <a:tcPr marL="114300" marR="95250" marT="76200" marB="57150">
                    <a:lnR w="9525">
                      <a:solidFill>
                        <a:srgbClr val="D7DDE4"/>
                      </a:solidFill>
                      <a:prstDash val="solid"/>
                    </a:lnR>
                    <a:lnB w="9525">
                      <a:solidFill>
                        <a:srgbClr val="D7DDE4"/>
                      </a:solidFill>
                      <a:prstDash val="solid"/>
                    </a:lnB>
                    <a:solidFill>
                      <a:srgbClr val="FFFFFF"/>
                    </a:solidFill>
                  </a:tcPr>
                </a:tc>
              </a:tr>
              <a:tr h="781050">
                <a:tc>
                  <a:txBody>
                    <a:bodyPr/>
                    <a:lstStyle/>
                    <a:p>
                      <a:r>
                        <a:rPr sz="1800">
                          <a:solidFill>
                            <a:srgbClr val="151B23"/>
                          </a:solidFill>
                          <a:latin typeface="Arial"/>
                          <a:ea typeface="Arial"/>
                          <a:cs typeface="Arial"/>
                        </a:rPr>
                        <a:t>Ghi đồng thời</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Một write transaction</a:t>
                      </a:r>
                    </a:p>
                    <a:p>
                      <a:r>
                        <a:rPr sz="1800">
                          <a:solidFill>
                            <a:srgbClr val="151B23"/>
                          </a:solidFill>
                          <a:latin typeface="Arial"/>
                          <a:ea typeface="Arial"/>
                          <a:cs typeface="Arial"/>
                        </a:rPr>
                        <a:t>tại một thời điểm</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Vẫn chỉ một writer</a:t>
                      </a:r>
                    </a:p>
                    <a:p>
                      <a:r>
                        <a:rPr sz="1800">
                          <a:solidFill>
                            <a:srgbClr val="151B23"/>
                          </a:solidFill>
                          <a:latin typeface="Arial"/>
                          <a:ea typeface="Arial"/>
                          <a:cs typeface="Arial"/>
                        </a:rPr>
                        <a:t>tại một thời điểm</a:t>
                      </a:r>
                    </a:p>
                  </a:txBody>
                  <a:tcPr marL="114300" marR="95250" marT="76200" marB="57150">
                    <a:lnR w="9525">
                      <a:solidFill>
                        <a:srgbClr val="D7DDE4"/>
                      </a:solidFill>
                      <a:prstDash val="solid"/>
                    </a:lnR>
                    <a:lnB w="9525">
                      <a:solidFill>
                        <a:srgbClr val="D7DDE4"/>
                      </a:solidFill>
                      <a:prstDash val="solid"/>
                    </a:lnB>
                    <a:solidFill>
                      <a:srgbClr val="FFFFFF"/>
                    </a:solidFill>
                  </a:tcPr>
                </a:tc>
              </a:tr>
              <a:tr h="781050">
                <a:tc>
                  <a:txBody>
                    <a:bodyPr/>
                    <a:lstStyle/>
                    <a:p>
                      <a:r>
                        <a:rPr sz="1800">
                          <a:solidFill>
                            <a:srgbClr val="151B23"/>
                          </a:solidFill>
                          <a:latin typeface="Arial"/>
                          <a:ea typeface="Arial"/>
                          <a:cs typeface="Arial"/>
                        </a:rPr>
                        <a:t>Điểm cần theo dõi</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Khóa, commit và I/O</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Checkpoint, WAL lớn, SQLITE_BUSY</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
        <p:nvSpPr>
          <p:cNvPr id="7" name="Cấu hình minh họa: PRAGMA journal_mode=WAL;   Kiểm tra mode trả v">
            <a:extLst xmlns:a="http://schemas.openxmlformats.org/drawingml/2006/main">
              <a:ext uri="{FF2B5EF4-FFF2-40B4-BE49-F238E27FC236}">
                <a16:creationId xmlns:a16="http://schemas.microsoft.com/office/drawing/2014/main" id="{DD5EC860-9FB3-4A0A-BD87-B99E246036A3}"/>
              </a:ext>
            </a:extLst>
          </p:cNvPr>
          <p:cNvSpPr>
            <a:spLocks xmlns:a="http://schemas.openxmlformats.org/drawingml/2006/main" noGrp="1"/>
          </p:cNvSpPr>
          <p:nvPr/>
        </p:nvSpPr>
        <p:spPr>
          <a:xfrm xmlns:a="http://schemas.openxmlformats.org/drawingml/2006/main">
            <a:off x="609600" y="58197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2456A6"/>
                </a:solidFill>
                <a:latin typeface="Arial"/>
                <a:ea typeface="Arial"/>
                <a:cs typeface="Arial"/>
              </a:defRPr>
            </a:defPPr>
            <a:lvl1pPr>
              <a:defRPr sz="1725" b="0">
                <a:solidFill>
                  <a:srgbClr val="2456A6"/>
                </a:solidFill>
                <a:latin typeface="Arial"/>
                <a:ea typeface="Arial"/>
                <a:cs typeface="Arial"/>
              </a:defRPr>
            </a:lvl1pPr>
            <a:lvl2pPr>
              <a:defRPr sz="1725" b="0">
                <a:solidFill>
                  <a:srgbClr val="2456A6"/>
                </a:solidFill>
                <a:latin typeface="Arial"/>
                <a:ea typeface="Arial"/>
                <a:cs typeface="Arial"/>
              </a:defRPr>
            </a:lvl2pPr>
            <a:lvl3pPr>
              <a:defRPr sz="1725" b="0">
                <a:solidFill>
                  <a:srgbClr val="2456A6"/>
                </a:solidFill>
                <a:latin typeface="Arial"/>
                <a:ea typeface="Arial"/>
                <a:cs typeface="Arial"/>
              </a:defRPr>
            </a:lvl3pPr>
            <a:lvl4pPr>
              <a:defRPr sz="1725" b="0">
                <a:solidFill>
                  <a:srgbClr val="2456A6"/>
                </a:solidFill>
                <a:latin typeface="Arial"/>
                <a:ea typeface="Arial"/>
                <a:cs typeface="Arial"/>
              </a:defRPr>
            </a:lvl4pPr>
            <a:lvl5pPr>
              <a:defRPr sz="1725" b="0">
                <a:solidFill>
                  <a:srgbClr val="2456A6"/>
                </a:solidFill>
                <a:latin typeface="Arial"/>
                <a:ea typeface="Arial"/>
                <a:cs typeface="Arial"/>
              </a:defRPr>
            </a:lvl5pPr>
            <a:lvl6pPr>
              <a:defRPr sz="1725" b="0">
                <a:solidFill>
                  <a:srgbClr val="2456A6"/>
                </a:solidFill>
                <a:latin typeface="Arial"/>
                <a:ea typeface="Arial"/>
                <a:cs typeface="Arial"/>
              </a:defRPr>
            </a:lvl6pPr>
            <a:lvl7pPr>
              <a:defRPr sz="1725" b="0">
                <a:solidFill>
                  <a:srgbClr val="2456A6"/>
                </a:solidFill>
                <a:latin typeface="Arial"/>
                <a:ea typeface="Arial"/>
                <a:cs typeface="Arial"/>
              </a:defRPr>
            </a:lvl7pPr>
            <a:lvl8pPr>
              <a:defRPr sz="1725" b="0">
                <a:solidFill>
                  <a:srgbClr val="2456A6"/>
                </a:solidFill>
                <a:latin typeface="Arial"/>
                <a:ea typeface="Arial"/>
                <a:cs typeface="Arial"/>
              </a:defRPr>
            </a:lvl8pPr>
            <a:lvl9pPr>
              <a:defRPr sz="1725" b="0">
                <a:solidFill>
                  <a:srgbClr val="2456A6"/>
                </a:solidFill>
                <a:latin typeface="Arial"/>
                <a:ea typeface="Arial"/>
                <a:cs typeface="Arial"/>
              </a:defRPr>
            </a:lvl9pPr>
          </a:lstStyle>
          <a:p xmlns:a="http://schemas.openxmlformats.org/drawingml/2006/main">
            <a:pPr>
              <a:defRPr sz="1725" b="0">
                <a:solidFill>
                  <a:srgbClr val="2456A6"/>
                </a:solidFill>
                <a:latin typeface="Arial"/>
                <a:ea typeface="Arial"/>
                <a:cs typeface="Arial"/>
              </a:defRPr>
            </a:pPr>
            <a:r>
              <a:rPr sz="1725" b="0">
                <a:solidFill>
                  <a:srgbClr val="2456A6"/>
                </a:solidFill>
                <a:latin typeface="Arial"/>
                <a:ea typeface="Arial"/>
                <a:cs typeface="Arial"/>
              </a:rPr>
              <a:t>Cấu hình minh họa: PRAGMA journal_mode=WAL;   Kiểm tra mode trả về trước khi test.</a:t>
            </a:r>
          </a:p>
        </p:txBody>
      </p:sp>
    </p:spTree>
    <p:extLst>
      <p:ext uri="{BB962C8B-B14F-4D97-AF65-F5344CB8AC3E}">
        <p14:creationId xmlns:p14="http://schemas.microsoft.com/office/powerpoint/2010/main" val="1496230937"/>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UNING / INDEX VÀ KIỂM CHỨNG">
            <a:extLst xmlns:a="http://schemas.openxmlformats.org/drawingml/2006/main">
              <a:ext uri="{FF2B5EF4-FFF2-40B4-BE49-F238E27FC236}">
                <a16:creationId xmlns:a16="http://schemas.microsoft.com/office/drawing/2014/main" id="{862630CA-FCA5-41B4-A60E-F89CD24D84BC}"/>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TUNING / INDEX VÀ KIỂM CHỨNG</a:t>
            </a:r>
          </a:p>
        </p:txBody>
      </p:sp>
      <p:sp>
        <p:nvSpPr>
          <p:cNvPr id="3" name="Index và LIKE: vì sao cần xem query plan?">
            <a:extLst xmlns:a="http://schemas.openxmlformats.org/drawingml/2006/main">
              <a:ext uri="{FF2B5EF4-FFF2-40B4-BE49-F238E27FC236}">
                <a16:creationId xmlns:a16="http://schemas.microsoft.com/office/drawing/2014/main" id="{BD55B0A5-B4E9-4D18-AFC9-2468F2AB2E26}"/>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Index và LIKE: vì sao cần xem query plan?</a:t>
            </a:r>
          </a:p>
        </p:txBody>
      </p:sp>
      <p:sp>
        <p:nvSpPr>
          <p:cNvPr id="4" name="Performance Testing trên EShop">
            <a:extLst xmlns:a="http://schemas.openxmlformats.org/drawingml/2006/main">
              <a:ext uri="{FF2B5EF4-FFF2-40B4-BE49-F238E27FC236}">
                <a16:creationId xmlns:a16="http://schemas.microsoft.com/office/drawing/2014/main" id="{11EE1717-5595-4B1E-974C-B8679196A441}"/>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PAGE_NUMBER">
            <a:extLst xmlns:a="http://schemas.openxmlformats.org/drawingml/2006/main">
              <a:ext uri="{FF2B5EF4-FFF2-40B4-BE49-F238E27FC236}">
                <a16:creationId xmlns:a16="http://schemas.microsoft.com/office/drawing/2014/main" id="{A8192B13-F625-4E86-B436-355F9EEA7090}"/>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40</a:t>
            </a:r>
          </a:p>
        </p:txBody>
      </p:sp>
      <p:sp>
        <p:nvSpPr>
          <p:cNvPr id="6" name="Pattern bắt đầu bằng wildcard">
            <a:extLst xmlns:a="http://schemas.openxmlformats.org/drawingml/2006/main">
              <a:ext uri="{FF2B5EF4-FFF2-40B4-BE49-F238E27FC236}">
                <a16:creationId xmlns:a16="http://schemas.microsoft.com/office/drawing/2014/main" id="{CA6743B1-D258-4208-8B78-EA36556EF43B}"/>
              </a:ext>
            </a:extLst>
          </p:cNvPr>
          <p:cNvSpPr>
            <a:spLocks xmlns:a="http://schemas.openxmlformats.org/drawingml/2006/main" noGrp="1"/>
          </p:cNvSpPr>
          <p:nvPr/>
        </p:nvSpPr>
        <p:spPr>
          <a:xfrm xmlns:a="http://schemas.openxmlformats.org/drawingml/2006/main">
            <a:off x="609600" y="17526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Pattern bắt đầu bằng wildcard</a:t>
            </a:r>
          </a:p>
        </p:txBody>
      </p:sp>
      <p:sp>
        <p:nvSpPr>
          <p:cNvPr id="7" name="LIKE '%keyword%' không dùng phép tối ưu khoảng LIKE thông thường ">
            <a:extLst xmlns:a="http://schemas.openxmlformats.org/drawingml/2006/main">
              <a:ext uri="{FF2B5EF4-FFF2-40B4-BE49-F238E27FC236}">
                <a16:creationId xmlns:a16="http://schemas.microsoft.com/office/drawing/2014/main" id="{4E752E72-3FAA-4702-A0EE-51B5913457F1}"/>
              </a:ext>
            </a:extLst>
          </p:cNvPr>
          <p:cNvSpPr>
            <a:spLocks xmlns:a="http://schemas.openxmlformats.org/drawingml/2006/main" noGrp="1"/>
          </p:cNvSpPr>
          <p:nvPr/>
        </p:nvSpPr>
        <p:spPr>
          <a:xfrm xmlns:a="http://schemas.openxmlformats.org/drawingml/2006/main">
            <a:off x="609600" y="2143125"/>
            <a:ext cx="10972800" cy="97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LIKE '%keyword%' không dùng phép tối ưu khoảng LIKE thông thường của B-tree index.</a:t>
            </a:r>
          </a:p>
        </p:txBody>
      </p:sp>
      <p:sp>
        <p:nvSpPr>
          <p:cNvPr id="8" name="Kiểm tra query thật">
            <a:extLst xmlns:a="http://schemas.openxmlformats.org/drawingml/2006/main">
              <a:ext uri="{FF2B5EF4-FFF2-40B4-BE49-F238E27FC236}">
                <a16:creationId xmlns:a16="http://schemas.microsoft.com/office/drawing/2014/main" id="{F7F756C7-9D4B-41ED-BF31-73FF35638793}"/>
              </a:ext>
            </a:extLst>
          </p:cNvPr>
          <p:cNvSpPr>
            <a:spLocks xmlns:a="http://schemas.openxmlformats.org/drawingml/2006/main" noGrp="1"/>
          </p:cNvSpPr>
          <p:nvPr/>
        </p:nvSpPr>
        <p:spPr>
          <a:xfrm xmlns:a="http://schemas.openxmlformats.org/drawingml/2006/main">
            <a:off x="609600" y="31496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Kiểm tra query thật</a:t>
            </a:r>
          </a:p>
        </p:txBody>
      </p:sp>
      <p:sp>
        <p:nvSpPr>
          <p:cNvPr id="9" name="EXPLAIN QUERY PLAN giúp xem SCAN hoặc SEARCH. Có index chưa bảo đ">
            <a:extLst xmlns:a="http://schemas.openxmlformats.org/drawingml/2006/main">
              <a:ext uri="{FF2B5EF4-FFF2-40B4-BE49-F238E27FC236}">
                <a16:creationId xmlns:a16="http://schemas.microsoft.com/office/drawing/2014/main" id="{37B1A014-9BD1-4DA4-AEB3-035E0B30233A}"/>
              </a:ext>
            </a:extLst>
          </p:cNvPr>
          <p:cNvSpPr>
            <a:spLocks xmlns:a="http://schemas.openxmlformats.org/drawingml/2006/main" noGrp="1"/>
          </p:cNvSpPr>
          <p:nvPr/>
        </p:nvSpPr>
        <p:spPr>
          <a:xfrm xmlns:a="http://schemas.openxmlformats.org/drawingml/2006/main">
            <a:off x="609600" y="3540125"/>
            <a:ext cx="10972800" cy="97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EXPLAIN QUERY PLAN giúp xem SCAN hoặc SEARCH. Có index chưa bảo đảm query này dùng được.</a:t>
            </a:r>
          </a:p>
        </p:txBody>
      </p:sp>
      <p:sp>
        <p:nvSpPr>
          <p:cNvPr id="10" name="Kiểm chứng tác động tuning">
            <a:extLst xmlns:a="http://schemas.openxmlformats.org/drawingml/2006/main">
              <a:ext uri="{FF2B5EF4-FFF2-40B4-BE49-F238E27FC236}">
                <a16:creationId xmlns:a16="http://schemas.microsoft.com/office/drawing/2014/main" id="{A286A097-1344-4F58-B88A-708198A0F23A}"/>
              </a:ext>
            </a:extLst>
          </p:cNvPr>
          <p:cNvSpPr>
            <a:spLocks xmlns:a="http://schemas.openxmlformats.org/drawingml/2006/main" noGrp="1"/>
          </p:cNvSpPr>
          <p:nvPr/>
        </p:nvSpPr>
        <p:spPr>
          <a:xfrm xmlns:a="http://schemas.openxmlformats.org/drawingml/2006/main">
            <a:off x="609600" y="45466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Kiểm chứng tác động tuning</a:t>
            </a:r>
          </a:p>
        </p:txBody>
      </p:sp>
      <p:sp>
        <p:nvSpPr>
          <p:cNvPr id="11" name="Giữ dữ liệu, profile và môi trường, rồi chạy lặp trước/sau. Tách ">
            <a:extLst xmlns:a="http://schemas.openxmlformats.org/drawingml/2006/main">
              <a:ext uri="{FF2B5EF4-FFF2-40B4-BE49-F238E27FC236}">
                <a16:creationId xmlns:a16="http://schemas.microsoft.com/office/drawing/2014/main" id="{EE6C0384-ADEE-4474-A9CF-059438D47DB0}"/>
              </a:ext>
            </a:extLst>
          </p:cNvPr>
          <p:cNvSpPr>
            <a:spLocks xmlns:a="http://schemas.openxmlformats.org/drawingml/2006/main" noGrp="1"/>
          </p:cNvSpPr>
          <p:nvPr/>
        </p:nvSpPr>
        <p:spPr>
          <a:xfrm xmlns:a="http://schemas.openxmlformats.org/drawingml/2006/main">
            <a:off x="609600" y="4937125"/>
            <a:ext cx="10972800" cy="97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Giữ dữ liệu, profile và môi trường, rồi chạy lặp trước/sau. Tách thay đổi WAL và index khi cần.</a:t>
            </a:r>
          </a:p>
        </p:txBody>
      </p:sp>
    </p:spTree>
    <p:extLst>
      <p:ext uri="{BB962C8B-B14F-4D97-AF65-F5344CB8AC3E}">
        <p14:creationId xmlns:p14="http://schemas.microsoft.com/office/powerpoint/2010/main" val="664760117"/>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DEMO CỦA LÊ NGUYỄN QUỐC THÁI">
            <a:extLst xmlns:a="http://schemas.openxmlformats.org/drawingml/2006/main">
              <a:ext uri="{FF2B5EF4-FFF2-40B4-BE49-F238E27FC236}">
                <a16:creationId xmlns:a16="http://schemas.microsoft.com/office/drawing/2014/main" id="{0EA75507-55E9-4035-8440-3235EC2D4079}"/>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DEMO CỦA LÊ NGUYỄN QUỐC THÁI</a:t>
            </a:r>
          </a:p>
        </p:txBody>
      </p:sp>
      <p:sp>
        <p:nvSpPr>
          <p:cNvPr id="3" name="Video demo 1: k6 và tuning">
            <a:extLst xmlns:a="http://schemas.openxmlformats.org/drawingml/2006/main">
              <a:ext uri="{FF2B5EF4-FFF2-40B4-BE49-F238E27FC236}">
                <a16:creationId xmlns:a16="http://schemas.microsoft.com/office/drawing/2014/main" id="{E7D027DD-1B7F-49C0-8FD9-4761F5C37BC1}"/>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Video demo 1: k6 và tuning</a:t>
            </a:r>
          </a:p>
        </p:txBody>
      </p:sp>
      <p:sp>
        <p:nvSpPr>
          <p:cNvPr id="4" name="Performance Testing trên EShop">
            <a:extLst xmlns:a="http://schemas.openxmlformats.org/drawingml/2006/main">
              <a:ext uri="{FF2B5EF4-FFF2-40B4-BE49-F238E27FC236}">
                <a16:creationId xmlns:a16="http://schemas.microsoft.com/office/drawing/2014/main" id="{2FBCC97D-7B2D-4C08-A5AE-0D7FF6708BC0}"/>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19">
            <a:extLst xmlns:a="http://schemas.openxmlformats.org/drawingml/2006/main">
              <a:ext uri="{FF2B5EF4-FFF2-40B4-BE49-F238E27FC236}">
                <a16:creationId xmlns:a16="http://schemas.microsoft.com/office/drawing/2014/main" id="{D2758DEA-2FC6-47E4-968D-47CECAD2C0A4}"/>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41</a:t>
            </a:r>
          </a:p>
        </p:txBody>
      </p:sp>
      <p:sp>
        <p:nvSpPr>
          <p:cNvPr id="6" name="Lê Nguyễn Quốc Thái">
            <a:extLst xmlns:a="http://schemas.openxmlformats.org/drawingml/2006/main">
              <a:ext uri="{FF2B5EF4-FFF2-40B4-BE49-F238E27FC236}">
                <a16:creationId xmlns:a16="http://schemas.microsoft.com/office/drawing/2014/main" id="{41491445-F50C-469A-837D-C8FEAA1EA9F8}"/>
              </a:ext>
            </a:extLst>
          </p:cNvPr>
          <p:cNvSpPr>
            <a:spLocks xmlns:a="http://schemas.openxmlformats.org/drawingml/2006/main" noGrp="1"/>
          </p:cNvSpPr>
          <p:nvPr/>
        </p:nvSpPr>
        <p:spPr>
          <a:xfrm xmlns:a="http://schemas.openxmlformats.org/drawingml/2006/main">
            <a:off x="609600" y="17526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456A6"/>
                </a:solidFill>
                <a:latin typeface="Arial"/>
                <a:ea typeface="Arial"/>
                <a:cs typeface="Arial"/>
              </a:defRPr>
            </a:defPPr>
            <a:lvl1pPr>
              <a:defRPr sz="2250" b="1">
                <a:solidFill>
                  <a:srgbClr val="2456A6"/>
                </a:solidFill>
                <a:latin typeface="Arial"/>
                <a:ea typeface="Arial"/>
                <a:cs typeface="Arial"/>
              </a:defRPr>
            </a:lvl1pPr>
            <a:lvl2pPr>
              <a:defRPr sz="2250" b="1">
                <a:solidFill>
                  <a:srgbClr val="2456A6"/>
                </a:solidFill>
                <a:latin typeface="Arial"/>
                <a:ea typeface="Arial"/>
                <a:cs typeface="Arial"/>
              </a:defRPr>
            </a:lvl2pPr>
            <a:lvl3pPr>
              <a:defRPr sz="2250" b="1">
                <a:solidFill>
                  <a:srgbClr val="2456A6"/>
                </a:solidFill>
                <a:latin typeface="Arial"/>
                <a:ea typeface="Arial"/>
                <a:cs typeface="Arial"/>
              </a:defRPr>
            </a:lvl3pPr>
            <a:lvl4pPr>
              <a:defRPr sz="2250" b="1">
                <a:solidFill>
                  <a:srgbClr val="2456A6"/>
                </a:solidFill>
                <a:latin typeface="Arial"/>
                <a:ea typeface="Arial"/>
                <a:cs typeface="Arial"/>
              </a:defRPr>
            </a:lvl4pPr>
            <a:lvl5pPr>
              <a:defRPr sz="2250" b="1">
                <a:solidFill>
                  <a:srgbClr val="2456A6"/>
                </a:solidFill>
                <a:latin typeface="Arial"/>
                <a:ea typeface="Arial"/>
                <a:cs typeface="Arial"/>
              </a:defRPr>
            </a:lvl5pPr>
            <a:lvl6pPr>
              <a:defRPr sz="2250" b="1">
                <a:solidFill>
                  <a:srgbClr val="2456A6"/>
                </a:solidFill>
                <a:latin typeface="Arial"/>
                <a:ea typeface="Arial"/>
                <a:cs typeface="Arial"/>
              </a:defRPr>
            </a:lvl6pPr>
            <a:lvl7pPr>
              <a:defRPr sz="2250" b="1">
                <a:solidFill>
                  <a:srgbClr val="2456A6"/>
                </a:solidFill>
                <a:latin typeface="Arial"/>
                <a:ea typeface="Arial"/>
                <a:cs typeface="Arial"/>
              </a:defRPr>
            </a:lvl7pPr>
            <a:lvl8pPr>
              <a:defRPr sz="2250" b="1">
                <a:solidFill>
                  <a:srgbClr val="2456A6"/>
                </a:solidFill>
                <a:latin typeface="Arial"/>
                <a:ea typeface="Arial"/>
                <a:cs typeface="Arial"/>
              </a:defRPr>
            </a:lvl8pPr>
            <a:lvl9pPr>
              <a:defRPr sz="2250" b="1">
                <a:solidFill>
                  <a:srgbClr val="2456A6"/>
                </a:solidFill>
                <a:latin typeface="Arial"/>
                <a:ea typeface="Arial"/>
                <a:cs typeface="Arial"/>
              </a:defRPr>
            </a:lvl9pPr>
          </a:lstStyle>
          <a:p xmlns:a="http://schemas.openxmlformats.org/drawingml/2006/main">
            <a:pPr>
              <a:defRPr sz="2250" b="1">
                <a:solidFill>
                  <a:srgbClr val="2456A6"/>
                </a:solidFill>
                <a:latin typeface="Arial"/>
                <a:ea typeface="Arial"/>
                <a:cs typeface="Arial"/>
              </a:defRPr>
            </a:pPr>
            <a:r>
              <a:rPr sz="2250" b="1">
                <a:solidFill>
                  <a:srgbClr val="2456A6"/>
                </a:solidFill>
                <a:latin typeface="Arial"/>
                <a:ea typeface="Arial"/>
                <a:cs typeface="Arial"/>
              </a:rPr>
              <a:t>Lê Nguyễn Quốc Thái</a:t>
            </a:r>
          </a:p>
        </p:txBody>
      </p:sp>
      <p:sp>
        <p:nvSpPr>
          <p:cNvPr id="7" name="1. Cài đặt, chuẩn bị SUT và chạy smoke.">
            <a:extLst xmlns:a="http://schemas.openxmlformats.org/drawingml/2006/main">
              <a:ext uri="{FF2B5EF4-FFF2-40B4-BE49-F238E27FC236}">
                <a16:creationId xmlns:a16="http://schemas.microsoft.com/office/drawing/2014/main" id="{DF0532CA-4284-4711-9B22-9238EB5971E5}"/>
              </a:ext>
            </a:extLst>
          </p:cNvPr>
          <p:cNvSpPr>
            <a:spLocks xmlns:a="http://schemas.openxmlformats.org/drawingml/2006/main" noGrp="1"/>
          </p:cNvSpPr>
          <p:nvPr/>
        </p:nvSpPr>
        <p:spPr>
          <a:xfrm xmlns:a="http://schemas.openxmlformats.org/drawingml/2006/main">
            <a:off x="609600" y="24384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1. Cài đặt, chuẩn bị SUT và chạy smoke.</a:t>
            </a:r>
          </a:p>
        </p:txBody>
      </p:sp>
      <p:sp>
        <p:nvSpPr>
          <p:cNvPr id="8" name="2. Baseline với dữ liệu, token và checkpoints.">
            <a:extLst xmlns:a="http://schemas.openxmlformats.org/drawingml/2006/main">
              <a:ext uri="{FF2B5EF4-FFF2-40B4-BE49-F238E27FC236}">
                <a16:creationId xmlns:a16="http://schemas.microsoft.com/office/drawing/2014/main" id="{15ABC85D-24FD-40EF-9E0A-13C9FB20F780}"/>
              </a:ext>
            </a:extLst>
          </p:cNvPr>
          <p:cNvSpPr>
            <a:spLocks xmlns:a="http://schemas.openxmlformats.org/drawingml/2006/main" noGrp="1"/>
          </p:cNvSpPr>
          <p:nvPr/>
        </p:nvSpPr>
        <p:spPr>
          <a:xfrm xmlns:a="http://schemas.openxmlformats.org/drawingml/2006/main">
            <a:off x="609600" y="32004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2. Baseline với dữ liệu, token và checkpoints.</a:t>
            </a:r>
          </a:p>
        </p:txBody>
      </p:sp>
      <p:sp>
        <p:nvSpPr>
          <p:cNvPr id="9" name="3. Stress/spike, đọc kết quả và đối chiếu tuning.">
            <a:extLst xmlns:a="http://schemas.openxmlformats.org/drawingml/2006/main">
              <a:ext uri="{FF2B5EF4-FFF2-40B4-BE49-F238E27FC236}">
                <a16:creationId xmlns:a16="http://schemas.microsoft.com/office/drawing/2014/main" id="{6E5C6449-D229-4017-8A7E-C86C23FF6484}"/>
              </a:ext>
            </a:extLst>
          </p:cNvPr>
          <p:cNvSpPr>
            <a:spLocks xmlns:a="http://schemas.openxmlformats.org/drawingml/2006/main" noGrp="1"/>
          </p:cNvSpPr>
          <p:nvPr/>
        </p:nvSpPr>
        <p:spPr>
          <a:xfrm xmlns:a="http://schemas.openxmlformats.org/drawingml/2006/main">
            <a:off x="609600" y="39624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3. Stress/spike, đọc kết quả và đối chiếu tuning.</a:t>
            </a:r>
          </a:p>
        </p:txBody>
      </p:sp>
      <p:sp>
        <p:nvSpPr>
          <p:cNvPr id="10" name="LINK_VIDEO_1">
            <a:extLst xmlns:a="http://schemas.openxmlformats.org/drawingml/2006/main">
              <a:ext uri="{FF2B5EF4-FFF2-40B4-BE49-F238E27FC236}">
                <a16:creationId xmlns:a16="http://schemas.microsoft.com/office/drawing/2014/main" id="{7ECA84EA-A780-46DE-83AE-30E587710901}"/>
              </a:ext>
            </a:extLst>
          </p:cNvPr>
          <p:cNvSpPr>
            <a:spLocks xmlns:a="http://schemas.openxmlformats.org/drawingml/2006/main" noGrp="1"/>
          </p:cNvSpPr>
          <p:nvPr/>
        </p:nvSpPr>
        <p:spPr>
          <a:xfrm xmlns:a="http://schemas.openxmlformats.org/drawingml/2006/main">
            <a:off x="609600" y="51816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2456A6"/>
                </a:solidFill>
                <a:latin typeface="Arial"/>
                <a:ea typeface="Arial"/>
                <a:cs typeface="Arial"/>
              </a:defRPr>
            </a:defPPr>
            <a:lvl1pPr>
              <a:defRPr sz="2100" b="1">
                <a:solidFill>
                  <a:srgbClr val="2456A6"/>
                </a:solidFill>
                <a:latin typeface="Arial"/>
                <a:ea typeface="Arial"/>
                <a:cs typeface="Arial"/>
              </a:defRPr>
            </a:lvl1pPr>
            <a:lvl2pPr>
              <a:defRPr sz="2100" b="1">
                <a:solidFill>
                  <a:srgbClr val="2456A6"/>
                </a:solidFill>
                <a:latin typeface="Arial"/>
                <a:ea typeface="Arial"/>
                <a:cs typeface="Arial"/>
              </a:defRPr>
            </a:lvl2pPr>
            <a:lvl3pPr>
              <a:defRPr sz="2100" b="1">
                <a:solidFill>
                  <a:srgbClr val="2456A6"/>
                </a:solidFill>
                <a:latin typeface="Arial"/>
                <a:ea typeface="Arial"/>
                <a:cs typeface="Arial"/>
              </a:defRPr>
            </a:lvl3pPr>
            <a:lvl4pPr>
              <a:defRPr sz="2100" b="1">
                <a:solidFill>
                  <a:srgbClr val="2456A6"/>
                </a:solidFill>
                <a:latin typeface="Arial"/>
                <a:ea typeface="Arial"/>
                <a:cs typeface="Arial"/>
              </a:defRPr>
            </a:lvl4pPr>
            <a:lvl5pPr>
              <a:defRPr sz="2100" b="1">
                <a:solidFill>
                  <a:srgbClr val="2456A6"/>
                </a:solidFill>
                <a:latin typeface="Arial"/>
                <a:ea typeface="Arial"/>
                <a:cs typeface="Arial"/>
              </a:defRPr>
            </a:lvl5pPr>
            <a:lvl6pPr>
              <a:defRPr sz="2100" b="1">
                <a:solidFill>
                  <a:srgbClr val="2456A6"/>
                </a:solidFill>
                <a:latin typeface="Arial"/>
                <a:ea typeface="Arial"/>
                <a:cs typeface="Arial"/>
              </a:defRPr>
            </a:lvl6pPr>
            <a:lvl7pPr>
              <a:defRPr sz="2100" b="1">
                <a:solidFill>
                  <a:srgbClr val="2456A6"/>
                </a:solidFill>
                <a:latin typeface="Arial"/>
                <a:ea typeface="Arial"/>
                <a:cs typeface="Arial"/>
              </a:defRPr>
            </a:lvl7pPr>
            <a:lvl8pPr>
              <a:defRPr sz="2100" b="1">
                <a:solidFill>
                  <a:srgbClr val="2456A6"/>
                </a:solidFill>
                <a:latin typeface="Arial"/>
                <a:ea typeface="Arial"/>
                <a:cs typeface="Arial"/>
              </a:defRPr>
            </a:lvl8pPr>
            <a:lvl9pPr>
              <a:defRPr sz="2100" b="1">
                <a:solidFill>
                  <a:srgbClr val="2456A6"/>
                </a:solidFill>
                <a:latin typeface="Arial"/>
                <a:ea typeface="Arial"/>
                <a:cs typeface="Arial"/>
              </a:defRPr>
            </a:lvl9pPr>
          </a:lstStyle>
          <a:p xmlns:a="http://schemas.openxmlformats.org/drawingml/2006/main">
            <a:pPr>
              <a:defRPr sz="2100" b="1">
                <a:solidFill>
                  <a:srgbClr val="2456A6"/>
                </a:solidFill>
                <a:latin typeface="Arial"/>
                <a:ea typeface="Arial"/>
                <a:cs typeface="Arial"/>
              </a:defRPr>
            </a:pPr>
            <a:r>
              <a:rPr sz="2100" b="1">
                <a:solidFill>
                  <a:srgbClr val="2456A6"/>
                </a:solidFill>
                <a:latin typeface="Arial"/>
                <a:ea typeface="Arial"/>
                <a:cs typeface="Arial"/>
              </a:rPr>
              <a:t>Link YouTube: [Thêm link video 1 tại đây]</a:t>
            </a:r>
          </a:p>
        </p:txBody>
      </p:sp>
      <p:sp>
        <p:nvSpPr>
          <p:cNvPr id="11" name="Nội dung video bám theo các thao tác vừa trình bày">
            <a:extLst xmlns:a="http://schemas.openxmlformats.org/drawingml/2006/main">
              <a:ext uri="{FF2B5EF4-FFF2-40B4-BE49-F238E27FC236}">
                <a16:creationId xmlns:a16="http://schemas.microsoft.com/office/drawing/2014/main" id="{B6EFCBF5-028D-408D-8EEF-F26AD4650FC0}"/>
              </a:ext>
            </a:extLst>
          </p:cNvPr>
          <p:cNvSpPr>
            <a:spLocks xmlns:a="http://schemas.openxmlformats.org/drawingml/2006/main" noGrp="1"/>
          </p:cNvSpPr>
          <p:nvPr/>
        </p:nvSpPr>
        <p:spPr>
          <a:xfrm xmlns:a="http://schemas.openxmlformats.org/drawingml/2006/main">
            <a:off x="609600" y="58578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151B23"/>
                </a:solidFill>
                <a:latin typeface="Arial"/>
                <a:ea typeface="Arial"/>
                <a:cs typeface="Arial"/>
              </a:defRPr>
            </a:defPPr>
            <a:lvl1pPr>
              <a:defRPr sz="1725" b="0">
                <a:solidFill>
                  <a:srgbClr val="151B23"/>
                </a:solidFill>
                <a:latin typeface="Arial"/>
                <a:ea typeface="Arial"/>
                <a:cs typeface="Arial"/>
              </a:defRPr>
            </a:lvl1pPr>
            <a:lvl2pPr>
              <a:defRPr sz="1725" b="0">
                <a:solidFill>
                  <a:srgbClr val="151B23"/>
                </a:solidFill>
                <a:latin typeface="Arial"/>
                <a:ea typeface="Arial"/>
                <a:cs typeface="Arial"/>
              </a:defRPr>
            </a:lvl2pPr>
            <a:lvl3pPr>
              <a:defRPr sz="1725" b="0">
                <a:solidFill>
                  <a:srgbClr val="151B23"/>
                </a:solidFill>
                <a:latin typeface="Arial"/>
                <a:ea typeface="Arial"/>
                <a:cs typeface="Arial"/>
              </a:defRPr>
            </a:lvl3pPr>
            <a:lvl4pPr>
              <a:defRPr sz="1725" b="0">
                <a:solidFill>
                  <a:srgbClr val="151B23"/>
                </a:solidFill>
                <a:latin typeface="Arial"/>
                <a:ea typeface="Arial"/>
                <a:cs typeface="Arial"/>
              </a:defRPr>
            </a:lvl4pPr>
            <a:lvl5pPr>
              <a:defRPr sz="1725" b="0">
                <a:solidFill>
                  <a:srgbClr val="151B23"/>
                </a:solidFill>
                <a:latin typeface="Arial"/>
                <a:ea typeface="Arial"/>
                <a:cs typeface="Arial"/>
              </a:defRPr>
            </a:lvl5pPr>
            <a:lvl6pPr>
              <a:defRPr sz="1725" b="0">
                <a:solidFill>
                  <a:srgbClr val="151B23"/>
                </a:solidFill>
                <a:latin typeface="Arial"/>
                <a:ea typeface="Arial"/>
                <a:cs typeface="Arial"/>
              </a:defRPr>
            </a:lvl6pPr>
            <a:lvl7pPr>
              <a:defRPr sz="1725" b="0">
                <a:solidFill>
                  <a:srgbClr val="151B23"/>
                </a:solidFill>
                <a:latin typeface="Arial"/>
                <a:ea typeface="Arial"/>
                <a:cs typeface="Arial"/>
              </a:defRPr>
            </a:lvl7pPr>
            <a:lvl8pPr>
              <a:defRPr sz="1725" b="0">
                <a:solidFill>
                  <a:srgbClr val="151B23"/>
                </a:solidFill>
                <a:latin typeface="Arial"/>
                <a:ea typeface="Arial"/>
                <a:cs typeface="Arial"/>
              </a:defRPr>
            </a:lvl8pPr>
            <a:lvl9pPr>
              <a:defRPr sz="1725" b="0">
                <a:solidFill>
                  <a:srgbClr val="151B23"/>
                </a:solidFill>
                <a:latin typeface="Arial"/>
                <a:ea typeface="Arial"/>
                <a:cs typeface="Arial"/>
              </a:defRPr>
            </a:lvl9pPr>
          </a:lstStyle>
          <a:p xmlns:a="http://schemas.openxmlformats.org/drawingml/2006/main">
            <a:pPr>
              <a:defRPr sz="1725" b="0">
                <a:solidFill>
                  <a:srgbClr val="151B23"/>
                </a:solidFill>
                <a:latin typeface="Arial"/>
                <a:ea typeface="Arial"/>
                <a:cs typeface="Arial"/>
              </a:defRPr>
            </a:pPr>
            <a:r>
              <a:rPr sz="1725" b="0">
                <a:solidFill>
                  <a:srgbClr val="151B23"/>
                </a:solidFill>
                <a:latin typeface="Arial"/>
                <a:ea typeface="Arial"/>
                <a:cs typeface="Arial"/>
              </a:rPr>
              <a:t>Nội dung video bám theo các thao tác vừa trình bày</a:t>
            </a:r>
          </a:p>
        </p:txBody>
      </p:sp>
    </p:spTree>
    <p:extLst>
      <p:ext uri="{BB962C8B-B14F-4D97-AF65-F5344CB8AC3E}">
        <p14:creationId xmlns:p14="http://schemas.microsoft.com/office/powerpoint/2010/main" val="279259250"/>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K6 / KẾT QUẢ">
            <a:extLst xmlns:a="http://schemas.openxmlformats.org/drawingml/2006/main">
              <a:ext uri="{FF2B5EF4-FFF2-40B4-BE49-F238E27FC236}">
                <a16:creationId xmlns:a16="http://schemas.microsoft.com/office/drawing/2014/main" id="{818435FA-1717-41FD-AD3D-4D7FAC180ED6}"/>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K6 / KẾT QUẢ</a:t>
            </a:r>
          </a:p>
        </p:txBody>
      </p:sp>
      <p:sp>
        <p:nvSpPr>
          <p:cNvPr id="3" name="k6 baseline: kết quả của một lần đo">
            <a:extLst xmlns:a="http://schemas.openxmlformats.org/drawingml/2006/main">
              <a:ext uri="{FF2B5EF4-FFF2-40B4-BE49-F238E27FC236}">
                <a16:creationId xmlns:a16="http://schemas.microsoft.com/office/drawing/2014/main" id="{635CB0B4-6134-4EAE-827E-1E55BB9251F7}"/>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k6 baseline: kết quả của một lần đo</a:t>
            </a:r>
          </a:p>
        </p:txBody>
      </p:sp>
      <p:sp>
        <p:nvSpPr>
          <p:cNvPr id="4" name="Performance Testing trên EShop">
            <a:extLst xmlns:a="http://schemas.openxmlformats.org/drawingml/2006/main">
              <a:ext uri="{FF2B5EF4-FFF2-40B4-BE49-F238E27FC236}">
                <a16:creationId xmlns:a16="http://schemas.microsoft.com/office/drawing/2014/main" id="{5AB7AB92-2CB4-4154-AFD2-F2CA7163512A}"/>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20">
            <a:extLst xmlns:a="http://schemas.openxmlformats.org/drawingml/2006/main">
              <a:ext uri="{FF2B5EF4-FFF2-40B4-BE49-F238E27FC236}">
                <a16:creationId xmlns:a16="http://schemas.microsoft.com/office/drawing/2014/main" id="{543B8A88-21C8-47DB-AA0E-B7D38FD00F1A}"/>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42</a:t>
            </a:r>
          </a:p>
        </p:txBody>
      </p:sp>
      <p:graphicFrame>
        <p:nvGraphicFramePr>
          <p:cNvPr id="6" name="">
            <a:extLst xmlns:a="http://schemas.openxmlformats.org/drawingml/2006/main">
              <a:ext uri="{FF2B5EF4-FFF2-40B4-BE49-F238E27FC236}">
                <a16:creationId xmlns:a16="http://schemas.microsoft.com/office/drawing/2014/main" id="{8C5E52BE-1148-40B5-914B-DEC3D69A9B93}"/>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3657600"/>
                <a:gridCol w="3657600"/>
                <a:gridCol w="3657600"/>
              </a:tblGrid>
              <a:tr h="864870">
                <a:tc>
                  <a:txBody>
                    <a:bodyPr/>
                    <a:lstStyle/>
                    <a:p>
                      <a:r>
                        <a:rPr sz="1800" b="1">
                          <a:solidFill>
                            <a:srgbClr val="153E75"/>
                          </a:solidFill>
                          <a:latin typeface="Arial"/>
                          <a:ea typeface="Arial"/>
                          <a:cs typeface="Arial"/>
                        </a:rPr>
                        <a:t>Metric steady</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Giá trị</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Phạm vi</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864870">
                <a:tc>
                  <a:txBody>
                    <a:bodyPr/>
                    <a:lstStyle/>
                    <a:p>
                      <a:r>
                        <a:rPr sz="1800">
                          <a:solidFill>
                            <a:srgbClr val="151B23"/>
                          </a:solidFill>
                          <a:latin typeface="Arial"/>
                          <a:ea typeface="Arial"/>
                          <a:cs typeface="Arial"/>
                        </a:rPr>
                        <a:t>HTTP request</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5.925</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Có 6 Login trong steady</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p50 / p95 / p99</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2,034 / 8,122 / 14,546 ms</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50 VU, 300 giây steady</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HTTP lỗi / checks</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0% / 100%</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0/5.925 HTTP lỗi</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RPS</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19,750</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Count chia 300 giây</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670045720"/>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K6 / KẾT QUẢ">
            <a:extLst xmlns:a="http://schemas.openxmlformats.org/drawingml/2006/main">
              <a:ext uri="{FF2B5EF4-FFF2-40B4-BE49-F238E27FC236}">
                <a16:creationId xmlns:a16="http://schemas.microsoft.com/office/drawing/2014/main" id="{BC017021-741A-4C1F-B621-72F118A049C0}"/>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K6 / KẾT QUẢ</a:t>
            </a:r>
          </a:p>
        </p:txBody>
      </p:sp>
      <p:sp>
        <p:nvSpPr>
          <p:cNvPr id="3" name="Stress và spike: suy giảm dưới tải cao">
            <a:extLst xmlns:a="http://schemas.openxmlformats.org/drawingml/2006/main">
              <a:ext uri="{FF2B5EF4-FFF2-40B4-BE49-F238E27FC236}">
                <a16:creationId xmlns:a16="http://schemas.microsoft.com/office/drawing/2014/main" id="{AB417EB1-B0E6-4E7D-8C00-B790DA828FC6}"/>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Stress và spike: suy giảm dưới tải cao</a:t>
            </a:r>
          </a:p>
        </p:txBody>
      </p:sp>
      <p:sp>
        <p:nvSpPr>
          <p:cNvPr id="4" name="Performance Testing trên EShop">
            <a:extLst xmlns:a="http://schemas.openxmlformats.org/drawingml/2006/main">
              <a:ext uri="{FF2B5EF4-FFF2-40B4-BE49-F238E27FC236}">
                <a16:creationId xmlns:a16="http://schemas.microsoft.com/office/drawing/2014/main" id="{B5D0E931-5389-43EF-AEA1-2C323681B520}"/>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21">
            <a:extLst xmlns:a="http://schemas.openxmlformats.org/drawingml/2006/main">
              <a:ext uri="{FF2B5EF4-FFF2-40B4-BE49-F238E27FC236}">
                <a16:creationId xmlns:a16="http://schemas.microsoft.com/office/drawing/2014/main" id="{79023485-A0AF-434F-BFA0-859835BE143F}"/>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43</a:t>
            </a:r>
          </a:p>
        </p:txBody>
      </p:sp>
      <p:graphicFrame>
        <p:nvGraphicFramePr>
          <p:cNvPr id="6" name="">
            <a:extLst xmlns:a="http://schemas.openxmlformats.org/drawingml/2006/main">
              <a:ext uri="{FF2B5EF4-FFF2-40B4-BE49-F238E27FC236}">
                <a16:creationId xmlns:a16="http://schemas.microsoft.com/office/drawing/2014/main" id="{321FF623-E2B7-4204-A4BD-AE299578EB2D}"/>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3657600"/>
                <a:gridCol w="3657600"/>
                <a:gridCol w="3657600"/>
              </a:tblGrid>
              <a:tr h="1081088">
                <a:tc>
                  <a:txBody>
                    <a:bodyPr/>
                    <a:lstStyle/>
                    <a:p>
                      <a:r>
                        <a:rPr sz="1800" b="1">
                          <a:solidFill>
                            <a:srgbClr val="153E75"/>
                          </a:solidFill>
                          <a:latin typeface="Arial"/>
                          <a:ea typeface="Arial"/>
                          <a:cs typeface="Arial"/>
                        </a:rPr>
                        <a:t>Thử nghiệm</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Quan sát</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Giới hạn kết luận</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1081088">
                <a:tc>
                  <a:txBody>
                    <a:bodyPr/>
                    <a:lstStyle/>
                    <a:p>
                      <a:r>
                        <a:rPr sz="1800">
                          <a:solidFill>
                            <a:srgbClr val="151B23"/>
                          </a:solidFill>
                          <a:latin typeface="Arial"/>
                          <a:ea typeface="Arial"/>
                          <a:cs typeface="Arial"/>
                        </a:rPr>
                        <a:t>Stress ở 1.500 VU</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p95 5.380,45 ms</a:t>
                      </a:r>
                    </a:p>
                    <a:p>
                      <a:r>
                        <a:rPr sz="1800">
                          <a:solidFill>
                            <a:srgbClr val="151B23"/>
                          </a:solidFill>
                          <a:latin typeface="Arial"/>
                          <a:ea typeface="Arial"/>
                          <a:cs typeface="Arial"/>
                        </a:rPr>
                        <a:t>HTTP lỗi 2,659%</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Các bậc cao hơn xen kẽ đạt/lỗi</a:t>
                      </a:r>
                    </a:p>
                  </a:txBody>
                  <a:tcPr marL="114300" marR="95250" marT="76200" marB="57150">
                    <a:lnR w="9525">
                      <a:solidFill>
                        <a:srgbClr val="D7DDE4"/>
                      </a:solidFill>
                      <a:prstDash val="solid"/>
                    </a:lnR>
                    <a:lnB w="9525">
                      <a:solidFill>
                        <a:srgbClr val="D7DDE4"/>
                      </a:solidFill>
                      <a:prstDash val="solid"/>
                    </a:lnB>
                    <a:solidFill>
                      <a:srgbClr val="FFFFFF"/>
                    </a:solidFill>
                  </a:tcPr>
                </a:tc>
              </a:tr>
              <a:tr h="1081088">
                <a:tc>
                  <a:txBody>
                    <a:bodyPr/>
                    <a:lstStyle/>
                    <a:p>
                      <a:r>
                        <a:rPr sz="1800">
                          <a:solidFill>
                            <a:srgbClr val="151B23"/>
                          </a:solidFill>
                          <a:latin typeface="Arial"/>
                          <a:ea typeface="Arial"/>
                          <a:cs typeface="Arial"/>
                        </a:rPr>
                        <a:t>Spike 50 lên 1.500 VU</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p95 5.344,45 ms</a:t>
                      </a:r>
                    </a:p>
                    <a:p>
                      <a:r>
                        <a:rPr sz="1800">
                          <a:solidFill>
                            <a:srgbClr val="151B23"/>
                          </a:solidFill>
                          <a:latin typeface="Arial"/>
                          <a:ea typeface="Arial"/>
                          <a:cs typeface="Arial"/>
                        </a:rPr>
                        <a:t>HTTP lỗi 1,486%</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Có 1 nghiệp vụ skipped</a:t>
                      </a:r>
                    </a:p>
                  </a:txBody>
                  <a:tcPr marL="114300" marR="95250" marT="76200" marB="57150">
                    <a:lnR w="9525">
                      <a:solidFill>
                        <a:srgbClr val="D7DDE4"/>
                      </a:solidFill>
                      <a:prstDash val="solid"/>
                    </a:lnR>
                    <a:lnB w="9525">
                      <a:solidFill>
                        <a:srgbClr val="D7DDE4"/>
                      </a:solidFill>
                      <a:prstDash val="solid"/>
                    </a:lnB>
                    <a:solidFill>
                      <a:srgbClr val="FFFFFF"/>
                    </a:solidFill>
                  </a:tcPr>
                </a:tc>
              </a:tr>
              <a:tr h="1081088">
                <a:tc>
                  <a:txBody>
                    <a:bodyPr/>
                    <a:lstStyle/>
                    <a:p>
                      <a:r>
                        <a:rPr sz="1800">
                          <a:solidFill>
                            <a:srgbClr val="151B23"/>
                          </a:solidFill>
                          <a:latin typeface="Arial"/>
                          <a:ea typeface="Arial"/>
                          <a:cs typeface="Arial"/>
                        </a:rPr>
                        <a:t>Recovery về 50 VU</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p95 13,04 ms</a:t>
                      </a:r>
                    </a:p>
                    <a:p>
                      <a:r>
                        <a:rPr sz="1800">
                          <a:solidFill>
                            <a:srgbClr val="151B23"/>
                          </a:solidFill>
                          <a:latin typeface="Arial"/>
                          <a:ea typeface="Arial"/>
                          <a:cs typeface="Arial"/>
                        </a:rPr>
                        <a:t>HTTP lỗi 0%</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Cửa sổ quan sát 60 giây</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1333086447"/>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K6 / TUNING">
            <a:extLst xmlns:a="http://schemas.openxmlformats.org/drawingml/2006/main">
              <a:ext uri="{FF2B5EF4-FFF2-40B4-BE49-F238E27FC236}">
                <a16:creationId xmlns:a16="http://schemas.microsoft.com/office/drawing/2014/main" id="{A759C117-9FBA-40B8-8BD5-A3C3FF4E8FF4}"/>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K6 / TUNING</a:t>
            </a:r>
          </a:p>
        </p:txBody>
      </p:sp>
      <p:sp>
        <p:nvSpPr>
          <p:cNvPr id="3" name="Baseline trước và sau cấu hình tuned">
            <a:extLst xmlns:a="http://schemas.openxmlformats.org/drawingml/2006/main">
              <a:ext uri="{FF2B5EF4-FFF2-40B4-BE49-F238E27FC236}">
                <a16:creationId xmlns:a16="http://schemas.microsoft.com/office/drawing/2014/main" id="{00A9B86B-7D72-4511-8C61-469538154FF2}"/>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Baseline trước và sau cấu hình tuned</a:t>
            </a:r>
          </a:p>
        </p:txBody>
      </p:sp>
      <p:sp>
        <p:nvSpPr>
          <p:cNvPr id="4" name="Performance Testing trên EShop">
            <a:extLst xmlns:a="http://schemas.openxmlformats.org/drawingml/2006/main">
              <a:ext uri="{FF2B5EF4-FFF2-40B4-BE49-F238E27FC236}">
                <a16:creationId xmlns:a16="http://schemas.microsoft.com/office/drawing/2014/main" id="{CEFEF469-5C61-4F54-90F4-C2B68D56B789}"/>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22">
            <a:extLst xmlns:a="http://schemas.openxmlformats.org/drawingml/2006/main">
              <a:ext uri="{FF2B5EF4-FFF2-40B4-BE49-F238E27FC236}">
                <a16:creationId xmlns:a16="http://schemas.microsoft.com/office/drawing/2014/main" id="{4841322D-A812-4B48-A942-E9A5EF17F4A4}"/>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44</a:t>
            </a:r>
          </a:p>
        </p:txBody>
      </p:sp>
      <p:graphicFrame>
        <p:nvGraphicFramePr>
          <p:cNvPr id="6" name="">
            <a:extLst xmlns:a="http://schemas.openxmlformats.org/drawingml/2006/main">
              <a:ext uri="{FF2B5EF4-FFF2-40B4-BE49-F238E27FC236}">
                <a16:creationId xmlns:a16="http://schemas.microsoft.com/office/drawing/2014/main" id="{BA521641-E0D3-4771-A54E-F1CA119987C9}"/>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3657600"/>
                <a:gridCol w="3657600"/>
                <a:gridCol w="3657600"/>
              </a:tblGrid>
              <a:tr h="864870">
                <a:tc>
                  <a:txBody>
                    <a:bodyPr/>
                    <a:lstStyle/>
                    <a:p>
                      <a:r>
                        <a:rPr sz="1800" b="1">
                          <a:solidFill>
                            <a:srgbClr val="153E75"/>
                          </a:solidFill>
                          <a:latin typeface="Arial"/>
                          <a:ea typeface="Arial"/>
                          <a:cs typeface="Arial"/>
                        </a:rPr>
                        <a:t>Metric</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Trước tuning</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Sau tuning</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864870">
                <a:tc>
                  <a:txBody>
                    <a:bodyPr/>
                    <a:lstStyle/>
                    <a:p>
                      <a:r>
                        <a:rPr sz="1800">
                          <a:solidFill>
                            <a:srgbClr val="151B23"/>
                          </a:solidFill>
                          <a:latin typeface="Arial"/>
                          <a:ea typeface="Arial"/>
                          <a:cs typeface="Arial"/>
                        </a:rPr>
                        <a:t>Steady requests</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5.925</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5.942</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p95 / p99 (ms)</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8,122 / 14,546</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6,328 / 10,586</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HTTP lỗi</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0%</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0%</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RPS trong 300s</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19,750</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19,807</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503607276"/>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BÀI TẬP CỦA QUỐC THÁI">
            <a:extLst xmlns:a="http://schemas.openxmlformats.org/drawingml/2006/main">
              <a:ext uri="{FF2B5EF4-FFF2-40B4-BE49-F238E27FC236}">
                <a16:creationId xmlns:a16="http://schemas.microsoft.com/office/drawing/2014/main" id="{5747F8BD-9E2C-492A-92E9-2A74AE36D5D4}"/>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BÀI TẬP CỦA QUỐC THÁI</a:t>
            </a:r>
          </a:p>
        </p:txBody>
      </p:sp>
      <p:sp>
        <p:nvSpPr>
          <p:cNvPr id="3" name="Bài tập áp dụng 1">
            <a:extLst xmlns:a="http://schemas.openxmlformats.org/drawingml/2006/main">
              <a:ext uri="{FF2B5EF4-FFF2-40B4-BE49-F238E27FC236}">
                <a16:creationId xmlns:a16="http://schemas.microsoft.com/office/drawing/2014/main" id="{B30461D4-E46A-4BDD-AF5C-8AD388D726C9}"/>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Bài tập áp dụng 1</a:t>
            </a:r>
          </a:p>
        </p:txBody>
      </p:sp>
      <p:sp>
        <p:nvSpPr>
          <p:cNvPr id="4" name="Performance Testing trên EShop">
            <a:extLst xmlns:a="http://schemas.openxmlformats.org/drawingml/2006/main">
              <a:ext uri="{FF2B5EF4-FFF2-40B4-BE49-F238E27FC236}">
                <a16:creationId xmlns:a16="http://schemas.microsoft.com/office/drawing/2014/main" id="{C1A8A303-F3BB-4C7E-8093-D62C0CD76F07}"/>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23">
            <a:extLst xmlns:a="http://schemas.openxmlformats.org/drawingml/2006/main">
              <a:ext uri="{FF2B5EF4-FFF2-40B4-BE49-F238E27FC236}">
                <a16:creationId xmlns:a16="http://schemas.microsoft.com/office/drawing/2014/main" id="{AC1202D5-4D98-4930-80AA-626A4F3191B1}"/>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45</a:t>
            </a:r>
          </a:p>
        </p:txBody>
      </p:sp>
      <p:sp>
        <p:nvSpPr>
          <p:cNvPr id="6" name="01">
            <a:extLst xmlns:a="http://schemas.openxmlformats.org/drawingml/2006/main">
              <a:ext uri="{FF2B5EF4-FFF2-40B4-BE49-F238E27FC236}">
                <a16:creationId xmlns:a16="http://schemas.microsoft.com/office/drawing/2014/main" id="{49522053-FAA0-47A3-B965-E4D281200B3C}"/>
              </a:ext>
            </a:extLst>
          </p:cNvPr>
          <p:cNvSpPr>
            <a:spLocks xmlns:a="http://schemas.openxmlformats.org/drawingml/2006/main" noGrp="1"/>
          </p:cNvSpPr>
          <p:nvPr/>
        </p:nvSpPr>
        <p:spPr>
          <a:xfrm xmlns:a="http://schemas.openxmlformats.org/drawingml/2006/main">
            <a:off x="628650" y="18002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01</a:t>
            </a:r>
          </a:p>
        </p:txBody>
      </p:sp>
      <p:sp>
        <p:nvSpPr>
          <p:cNvPr id="7" name="Lê Nguyễn Quốc Thái bổ sung đề bài.">
            <a:extLst xmlns:a="http://schemas.openxmlformats.org/drawingml/2006/main">
              <a:ext uri="{FF2B5EF4-FFF2-40B4-BE49-F238E27FC236}">
                <a16:creationId xmlns:a16="http://schemas.microsoft.com/office/drawing/2014/main" id="{7275A7F3-6E97-4EEF-B99D-1EFA63ED3429}"/>
              </a:ext>
            </a:extLst>
          </p:cNvPr>
          <p:cNvSpPr>
            <a:spLocks xmlns:a="http://schemas.openxmlformats.org/drawingml/2006/main" noGrp="1"/>
          </p:cNvSpPr>
          <p:nvPr/>
        </p:nvSpPr>
        <p:spPr>
          <a:xfrm xmlns:a="http://schemas.openxmlformats.org/drawingml/2006/main">
            <a:off x="1257300" y="17811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Lê Nguyễn Quốc Thái bổ sung đề bài.</a:t>
            </a:r>
          </a:p>
        </p:txBody>
      </p:sp>
      <p:sp>
        <p:nvSpPr>
          <p:cNvPr id="8" name="02">
            <a:extLst xmlns:a="http://schemas.openxmlformats.org/drawingml/2006/main">
              <a:ext uri="{FF2B5EF4-FFF2-40B4-BE49-F238E27FC236}">
                <a16:creationId xmlns:a16="http://schemas.microsoft.com/office/drawing/2014/main" id="{0431FD0E-3E6E-47FA-9F5C-1135FE5AD4CC}"/>
              </a:ext>
            </a:extLst>
          </p:cNvPr>
          <p:cNvSpPr>
            <a:spLocks xmlns:a="http://schemas.openxmlformats.org/drawingml/2006/main" noGrp="1"/>
          </p:cNvSpPr>
          <p:nvPr/>
        </p:nvSpPr>
        <p:spPr>
          <a:xfrm xmlns:a="http://schemas.openxmlformats.org/drawingml/2006/main">
            <a:off x="628650" y="27527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02</a:t>
            </a:r>
          </a:p>
        </p:txBody>
      </p:sp>
      <p:sp>
        <p:nvSpPr>
          <p:cNvPr id="9" name="Bổ sung dữ liệu đầu vào và thao tác thực hành.">
            <a:extLst xmlns:a="http://schemas.openxmlformats.org/drawingml/2006/main">
              <a:ext uri="{FF2B5EF4-FFF2-40B4-BE49-F238E27FC236}">
                <a16:creationId xmlns:a16="http://schemas.microsoft.com/office/drawing/2014/main" id="{F012FB2C-5A46-47DD-92F0-EBA9477E3ACB}"/>
              </a:ext>
            </a:extLst>
          </p:cNvPr>
          <p:cNvSpPr>
            <a:spLocks xmlns:a="http://schemas.openxmlformats.org/drawingml/2006/main" noGrp="1"/>
          </p:cNvSpPr>
          <p:nvPr/>
        </p:nvSpPr>
        <p:spPr>
          <a:xfrm xmlns:a="http://schemas.openxmlformats.org/drawingml/2006/main">
            <a:off x="1257300" y="27336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Bổ sung dữ liệu đầu vào và thao tác thực hành.</a:t>
            </a:r>
          </a:p>
        </p:txBody>
      </p:sp>
      <p:sp>
        <p:nvSpPr>
          <p:cNvPr id="10" name="03">
            <a:extLst xmlns:a="http://schemas.openxmlformats.org/drawingml/2006/main">
              <a:ext uri="{FF2B5EF4-FFF2-40B4-BE49-F238E27FC236}">
                <a16:creationId xmlns:a16="http://schemas.microsoft.com/office/drawing/2014/main" id="{70A57FB0-D298-4A9F-B6EB-98281351A1A7}"/>
              </a:ext>
            </a:extLst>
          </p:cNvPr>
          <p:cNvSpPr>
            <a:spLocks xmlns:a="http://schemas.openxmlformats.org/drawingml/2006/main" noGrp="1"/>
          </p:cNvSpPr>
          <p:nvPr/>
        </p:nvSpPr>
        <p:spPr>
          <a:xfrm xmlns:a="http://schemas.openxmlformats.org/drawingml/2006/main">
            <a:off x="628650" y="37052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03</a:t>
            </a:r>
          </a:p>
        </p:txBody>
      </p:sp>
      <p:sp>
        <p:nvSpPr>
          <p:cNvPr id="11" name="Bổ sung gợi ý cùng tiêu chí hoàn thành.">
            <a:extLst xmlns:a="http://schemas.openxmlformats.org/drawingml/2006/main">
              <a:ext uri="{FF2B5EF4-FFF2-40B4-BE49-F238E27FC236}">
                <a16:creationId xmlns:a16="http://schemas.microsoft.com/office/drawing/2014/main" id="{2384F12F-6B67-4FE5-8618-B730EEA23CEC}"/>
              </a:ext>
            </a:extLst>
          </p:cNvPr>
          <p:cNvSpPr>
            <a:spLocks xmlns:a="http://schemas.openxmlformats.org/drawingml/2006/main" noGrp="1"/>
          </p:cNvSpPr>
          <p:nvPr/>
        </p:nvSpPr>
        <p:spPr>
          <a:xfrm xmlns:a="http://schemas.openxmlformats.org/drawingml/2006/main">
            <a:off x="1257300" y="36861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Bổ sung gợi ý cùng tiêu chí hoàn thành.</a:t>
            </a:r>
          </a:p>
        </p:txBody>
      </p:sp>
    </p:spTree>
    <p:extLst>
      <p:ext uri="{BB962C8B-B14F-4D97-AF65-F5344CB8AC3E}">
        <p14:creationId xmlns:p14="http://schemas.microsoft.com/office/powerpoint/2010/main" val="729762"/>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JMETER / HỮU THẮNG">
            <a:extLst xmlns:a="http://schemas.openxmlformats.org/drawingml/2006/main">
              <a:ext uri="{FF2B5EF4-FFF2-40B4-BE49-F238E27FC236}">
                <a16:creationId xmlns:a16="http://schemas.microsoft.com/office/drawing/2014/main" id="{CA862FCC-A187-49FF-86A7-E922E5D8E7C3}"/>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JMETER / HỮU THẮNG</a:t>
            </a:r>
          </a:p>
        </p:txBody>
      </p:sp>
      <p:sp>
        <p:nvSpPr>
          <p:cNvPr id="3" name="JMeter: các thành phần của test plan">
            <a:extLst xmlns:a="http://schemas.openxmlformats.org/drawingml/2006/main">
              <a:ext uri="{FF2B5EF4-FFF2-40B4-BE49-F238E27FC236}">
                <a16:creationId xmlns:a16="http://schemas.microsoft.com/office/drawing/2014/main" id="{0AFB934E-5EAA-41FC-B050-D19A31212C79}"/>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JMeter: các thành phần của test plan</a:t>
            </a:r>
          </a:p>
        </p:txBody>
      </p:sp>
      <p:sp>
        <p:nvSpPr>
          <p:cNvPr id="4" name="Performance Testing trên EShop">
            <a:extLst xmlns:a="http://schemas.openxmlformats.org/drawingml/2006/main">
              <a:ext uri="{FF2B5EF4-FFF2-40B4-BE49-F238E27FC236}">
                <a16:creationId xmlns:a16="http://schemas.microsoft.com/office/drawing/2014/main" id="{3A013BAB-8191-4BA8-9A06-E8D7F2906CE8}"/>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24">
            <a:extLst xmlns:a="http://schemas.openxmlformats.org/drawingml/2006/main">
              <a:ext uri="{FF2B5EF4-FFF2-40B4-BE49-F238E27FC236}">
                <a16:creationId xmlns:a16="http://schemas.microsoft.com/office/drawing/2014/main" id="{1821F346-05C7-42E8-81B1-64164EDF55DC}"/>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46</a:t>
            </a:r>
          </a:p>
        </p:txBody>
      </p:sp>
      <p:graphicFrame>
        <p:nvGraphicFramePr>
          <p:cNvPr id="6" name="">
            <a:extLst xmlns:a="http://schemas.openxmlformats.org/drawingml/2006/main">
              <a:ext uri="{FF2B5EF4-FFF2-40B4-BE49-F238E27FC236}">
                <a16:creationId xmlns:a16="http://schemas.microsoft.com/office/drawing/2014/main" id="{20615083-8BB0-48A7-9C54-BDEDABA48CA3}"/>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4000500"/>
                <a:gridCol w="6972300"/>
              </a:tblGrid>
              <a:tr h="720725">
                <a:tc>
                  <a:txBody>
                    <a:bodyPr/>
                    <a:lstStyle/>
                    <a:p>
                      <a:r>
                        <a:rPr sz="1800" b="1">
                          <a:solidFill>
                            <a:srgbClr val="153E75"/>
                          </a:solidFill>
                          <a:latin typeface="Arial"/>
                          <a:ea typeface="Arial"/>
                          <a:cs typeface="Arial"/>
                        </a:rPr>
                        <a:t>Thành phần</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Vai trò</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720725">
                <a:tc>
                  <a:txBody>
                    <a:bodyPr/>
                    <a:lstStyle/>
                    <a:p>
                      <a:r>
                        <a:rPr sz="1800">
                          <a:solidFill>
                            <a:srgbClr val="151B23"/>
                          </a:solidFill>
                          <a:latin typeface="Arial"/>
                          <a:ea typeface="Arial"/>
                          <a:cs typeface="Arial"/>
                        </a:rPr>
                        <a:t>Thread Group</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Người dùng, ramp-up và vòng lặp</a:t>
                      </a:r>
                    </a:p>
                  </a:txBody>
                  <a:tcPr marL="114300" marR="95250" marT="76200" marB="57150">
                    <a:lnR w="9525">
                      <a:solidFill>
                        <a:srgbClr val="D7DDE4"/>
                      </a:solidFill>
                      <a:prstDash val="solid"/>
                    </a:lnR>
                    <a:lnB w="9525">
                      <a:solidFill>
                        <a:srgbClr val="D7DDE4"/>
                      </a:solidFill>
                      <a:prstDash val="solid"/>
                    </a:lnB>
                    <a:solidFill>
                      <a:srgbClr val="FFFFFF"/>
                    </a:solidFill>
                  </a:tcPr>
                </a:tc>
              </a:tr>
              <a:tr h="720725">
                <a:tc>
                  <a:txBody>
                    <a:bodyPr/>
                    <a:lstStyle/>
                    <a:p>
                      <a:r>
                        <a:rPr sz="1800">
                          <a:solidFill>
                            <a:srgbClr val="151B23"/>
                          </a:solidFill>
                          <a:latin typeface="Arial"/>
                          <a:ea typeface="Arial"/>
                          <a:cs typeface="Arial"/>
                        </a:rPr>
                        <a:t>HTTP Request sampler</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Gửi request API</a:t>
                      </a:r>
                    </a:p>
                  </a:txBody>
                  <a:tcPr marL="114300" marR="95250" marT="76200" marB="57150">
                    <a:lnR w="9525">
                      <a:solidFill>
                        <a:srgbClr val="D7DDE4"/>
                      </a:solidFill>
                      <a:prstDash val="solid"/>
                    </a:lnR>
                    <a:lnB w="9525">
                      <a:solidFill>
                        <a:srgbClr val="D7DDE4"/>
                      </a:solidFill>
                      <a:prstDash val="solid"/>
                    </a:lnB>
                    <a:solidFill>
                      <a:srgbClr val="FFFFFF"/>
                    </a:solidFill>
                  </a:tcPr>
                </a:tc>
              </a:tr>
              <a:tr h="720725">
                <a:tc>
                  <a:txBody>
                    <a:bodyPr/>
                    <a:lstStyle/>
                    <a:p>
                      <a:r>
                        <a:rPr sz="1800">
                          <a:solidFill>
                            <a:srgbClr val="151B23"/>
                          </a:solidFill>
                          <a:latin typeface="Arial"/>
                          <a:ea typeface="Arial"/>
                          <a:cs typeface="Arial"/>
                        </a:rPr>
                        <a:t>Config / CSV Data Set</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Header, biến và dữ liệu đầu vào</a:t>
                      </a:r>
                    </a:p>
                  </a:txBody>
                  <a:tcPr marL="114300" marR="95250" marT="76200" marB="57150">
                    <a:lnR w="9525">
                      <a:solidFill>
                        <a:srgbClr val="D7DDE4"/>
                      </a:solidFill>
                      <a:prstDash val="solid"/>
                    </a:lnR>
                    <a:lnB w="9525">
                      <a:solidFill>
                        <a:srgbClr val="D7DDE4"/>
                      </a:solidFill>
                      <a:prstDash val="solid"/>
                    </a:lnB>
                    <a:solidFill>
                      <a:srgbClr val="FFFFFF"/>
                    </a:solidFill>
                  </a:tcPr>
                </a:tc>
              </a:tr>
              <a:tr h="720725">
                <a:tc>
                  <a:txBody>
                    <a:bodyPr/>
                    <a:lstStyle/>
                    <a:p>
                      <a:r>
                        <a:rPr sz="1800">
                          <a:solidFill>
                            <a:srgbClr val="151B23"/>
                          </a:solidFill>
                          <a:latin typeface="Arial"/>
                          <a:ea typeface="Arial"/>
                          <a:cs typeface="Arial"/>
                        </a:rPr>
                        <a:t>Extractor / Assertion</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Lấy dữ liệu động và kiểm tra response</a:t>
                      </a:r>
                    </a:p>
                  </a:txBody>
                  <a:tcPr marL="114300" marR="95250" marT="76200" marB="57150">
                    <a:lnR w="9525">
                      <a:solidFill>
                        <a:srgbClr val="D7DDE4"/>
                      </a:solidFill>
                      <a:prstDash val="solid"/>
                    </a:lnR>
                    <a:lnB w="9525">
                      <a:solidFill>
                        <a:srgbClr val="D7DDE4"/>
                      </a:solidFill>
                      <a:prstDash val="solid"/>
                    </a:lnB>
                    <a:solidFill>
                      <a:srgbClr val="FFFFFF"/>
                    </a:solidFill>
                  </a:tcPr>
                </a:tc>
              </a:tr>
              <a:tr h="720725">
                <a:tc>
                  <a:txBody>
                    <a:bodyPr/>
                    <a:lstStyle/>
                    <a:p>
                      <a:r>
                        <a:rPr sz="1800">
                          <a:solidFill>
                            <a:srgbClr val="151B23"/>
                          </a:solidFill>
                          <a:latin typeface="Arial"/>
                          <a:ea typeface="Arial"/>
                          <a:cs typeface="Arial"/>
                        </a:rPr>
                        <a:t>Timer / Controller</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Think-time và điều phối workload</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812416092"/>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JMETER / CÀI ĐẶT">
            <a:extLst xmlns:a="http://schemas.openxmlformats.org/drawingml/2006/main">
              <a:ext uri="{FF2B5EF4-FFF2-40B4-BE49-F238E27FC236}">
                <a16:creationId xmlns:a16="http://schemas.microsoft.com/office/drawing/2014/main" id="{7CAA1882-30D4-4BF6-9088-4A42788CAD6F}"/>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JMETER / CÀI ĐẶT</a:t>
            </a:r>
          </a:p>
        </p:txBody>
      </p:sp>
      <p:sp>
        <p:nvSpPr>
          <p:cNvPr id="3" name="JMeter: chuẩn bị và chạy CLI">
            <a:extLst xmlns:a="http://schemas.openxmlformats.org/drawingml/2006/main">
              <a:ext uri="{FF2B5EF4-FFF2-40B4-BE49-F238E27FC236}">
                <a16:creationId xmlns:a16="http://schemas.microsoft.com/office/drawing/2014/main" id="{A460626D-E727-4B6C-8AB1-5CBEDE0287D0}"/>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JMeter: chuẩn bị và chạy CLI</a:t>
            </a:r>
          </a:p>
        </p:txBody>
      </p:sp>
      <p:sp>
        <p:nvSpPr>
          <p:cNvPr id="4" name="Performance Testing trên EShop">
            <a:extLst xmlns:a="http://schemas.openxmlformats.org/drawingml/2006/main">
              <a:ext uri="{FF2B5EF4-FFF2-40B4-BE49-F238E27FC236}">
                <a16:creationId xmlns:a16="http://schemas.microsoft.com/office/drawing/2014/main" id="{983A1D23-DA14-4CE6-B053-E81E8488E606}"/>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25">
            <a:extLst xmlns:a="http://schemas.openxmlformats.org/drawingml/2006/main">
              <a:ext uri="{FF2B5EF4-FFF2-40B4-BE49-F238E27FC236}">
                <a16:creationId xmlns:a16="http://schemas.microsoft.com/office/drawing/2014/main" id="{9863FA3B-9340-4CD0-A100-56738561670F}"/>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47</a:t>
            </a:r>
          </a:p>
        </p:txBody>
      </p:sp>
      <p:sp>
        <p:nvSpPr>
          <p:cNvPr id="6" name="01">
            <a:extLst xmlns:a="http://schemas.openxmlformats.org/drawingml/2006/main">
              <a:ext uri="{FF2B5EF4-FFF2-40B4-BE49-F238E27FC236}">
                <a16:creationId xmlns:a16="http://schemas.microsoft.com/office/drawing/2014/main" id="{1A1CB332-AB3D-4BE0-A569-5CB45BB9BCAE}"/>
              </a:ext>
            </a:extLst>
          </p:cNvPr>
          <p:cNvSpPr>
            <a:spLocks xmlns:a="http://schemas.openxmlformats.org/drawingml/2006/main" noGrp="1"/>
          </p:cNvSpPr>
          <p:nvPr/>
        </p:nvSpPr>
        <p:spPr>
          <a:xfrm xmlns:a="http://schemas.openxmlformats.org/drawingml/2006/main">
            <a:off x="628650" y="18002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01</a:t>
            </a:r>
          </a:p>
        </p:txBody>
      </p:sp>
      <p:sp>
        <p:nvSpPr>
          <p:cNvPr id="7" name="Cài Java và JMeter, kiểm tra phiên bản theo README.">
            <a:extLst xmlns:a="http://schemas.openxmlformats.org/drawingml/2006/main">
              <a:ext uri="{FF2B5EF4-FFF2-40B4-BE49-F238E27FC236}">
                <a16:creationId xmlns:a16="http://schemas.microsoft.com/office/drawing/2014/main" id="{B18BC608-AD3F-47F1-BA46-E4AEF12B848D}"/>
              </a:ext>
            </a:extLst>
          </p:cNvPr>
          <p:cNvSpPr>
            <a:spLocks xmlns:a="http://schemas.openxmlformats.org/drawingml/2006/main" noGrp="1"/>
          </p:cNvSpPr>
          <p:nvPr/>
        </p:nvSpPr>
        <p:spPr>
          <a:xfrm xmlns:a="http://schemas.openxmlformats.org/drawingml/2006/main">
            <a:off x="1257300" y="17811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Cài Java và JMeter, kiểm tra phiên bản theo README.</a:t>
            </a:r>
          </a:p>
        </p:txBody>
      </p:sp>
      <p:sp>
        <p:nvSpPr>
          <p:cNvPr id="8" name="02">
            <a:extLst xmlns:a="http://schemas.openxmlformats.org/drawingml/2006/main">
              <a:ext uri="{FF2B5EF4-FFF2-40B4-BE49-F238E27FC236}">
                <a16:creationId xmlns:a16="http://schemas.microsoft.com/office/drawing/2014/main" id="{179EC7EB-E771-4996-9623-19A800E9A296}"/>
              </a:ext>
            </a:extLst>
          </p:cNvPr>
          <p:cNvSpPr>
            <a:spLocks xmlns:a="http://schemas.openxmlformats.org/drawingml/2006/main" noGrp="1"/>
          </p:cNvSpPr>
          <p:nvPr/>
        </p:nvSpPr>
        <p:spPr>
          <a:xfrm xmlns:a="http://schemas.openxmlformats.org/drawingml/2006/main">
            <a:off x="628650" y="27527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02</a:t>
            </a:r>
          </a:p>
        </p:txBody>
      </p:sp>
      <p:sp>
        <p:nvSpPr>
          <p:cNvPr id="9" name="Khởi động SUT, chuẩn bị dữ liệu test tương ứng.">
            <a:extLst xmlns:a="http://schemas.openxmlformats.org/drawingml/2006/main">
              <a:ext uri="{FF2B5EF4-FFF2-40B4-BE49-F238E27FC236}">
                <a16:creationId xmlns:a16="http://schemas.microsoft.com/office/drawing/2014/main" id="{006FE559-472D-4287-BD39-42C4D8794AEE}"/>
              </a:ext>
            </a:extLst>
          </p:cNvPr>
          <p:cNvSpPr>
            <a:spLocks xmlns:a="http://schemas.openxmlformats.org/drawingml/2006/main" noGrp="1"/>
          </p:cNvSpPr>
          <p:nvPr/>
        </p:nvSpPr>
        <p:spPr>
          <a:xfrm xmlns:a="http://schemas.openxmlformats.org/drawingml/2006/main">
            <a:off x="1257300" y="27336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Khởi động SUT, chuẩn bị dữ liệu test tương ứng.</a:t>
            </a:r>
          </a:p>
        </p:txBody>
      </p:sp>
      <p:sp>
        <p:nvSpPr>
          <p:cNvPr id="10" name="03">
            <a:extLst xmlns:a="http://schemas.openxmlformats.org/drawingml/2006/main">
              <a:ext uri="{FF2B5EF4-FFF2-40B4-BE49-F238E27FC236}">
                <a16:creationId xmlns:a16="http://schemas.microsoft.com/office/drawing/2014/main" id="{0C092D05-97DE-4FE2-845F-FC06386FD85D}"/>
              </a:ext>
            </a:extLst>
          </p:cNvPr>
          <p:cNvSpPr>
            <a:spLocks xmlns:a="http://schemas.openxmlformats.org/drawingml/2006/main" noGrp="1"/>
          </p:cNvSpPr>
          <p:nvPr/>
        </p:nvSpPr>
        <p:spPr>
          <a:xfrm xmlns:a="http://schemas.openxmlformats.org/drawingml/2006/main">
            <a:off x="628650" y="37052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03</a:t>
            </a:r>
          </a:p>
        </p:txBody>
      </p:sp>
      <p:sp>
        <p:nvSpPr>
          <p:cNvPr id="11" name="Mở eshop_workload.jmx để xem cấu trúc.">
            <a:extLst xmlns:a="http://schemas.openxmlformats.org/drawingml/2006/main">
              <a:ext uri="{FF2B5EF4-FFF2-40B4-BE49-F238E27FC236}">
                <a16:creationId xmlns:a16="http://schemas.microsoft.com/office/drawing/2014/main" id="{4CE25C1E-2607-4B44-ACCF-3F7D30B04B81}"/>
              </a:ext>
            </a:extLst>
          </p:cNvPr>
          <p:cNvSpPr>
            <a:spLocks xmlns:a="http://schemas.openxmlformats.org/drawingml/2006/main" noGrp="1"/>
          </p:cNvSpPr>
          <p:nvPr/>
        </p:nvSpPr>
        <p:spPr>
          <a:xfrm xmlns:a="http://schemas.openxmlformats.org/drawingml/2006/main">
            <a:off x="1257300" y="36861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Mở eshop_workload.jmx để xem cấu trúc.</a:t>
            </a:r>
          </a:p>
        </p:txBody>
      </p:sp>
      <p:sp>
        <p:nvSpPr>
          <p:cNvPr id="12" name="04">
            <a:extLst xmlns:a="http://schemas.openxmlformats.org/drawingml/2006/main">
              <a:ext uri="{FF2B5EF4-FFF2-40B4-BE49-F238E27FC236}">
                <a16:creationId xmlns:a16="http://schemas.microsoft.com/office/drawing/2014/main" id="{0EEDF941-8374-476A-88B6-B68B25815264}"/>
              </a:ext>
            </a:extLst>
          </p:cNvPr>
          <p:cNvSpPr>
            <a:spLocks xmlns:a="http://schemas.openxmlformats.org/drawingml/2006/main" noGrp="1"/>
          </p:cNvSpPr>
          <p:nvPr/>
        </p:nvSpPr>
        <p:spPr>
          <a:xfrm xmlns:a="http://schemas.openxmlformats.org/drawingml/2006/main">
            <a:off x="628650" y="46577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04</a:t>
            </a:r>
          </a:p>
        </p:txBody>
      </p:sp>
      <p:sp>
        <p:nvSpPr>
          <p:cNvPr id="13" name="Chạy CLI và xuất JTL cùng HTML report.">
            <a:extLst xmlns:a="http://schemas.openxmlformats.org/drawingml/2006/main">
              <a:ext uri="{FF2B5EF4-FFF2-40B4-BE49-F238E27FC236}">
                <a16:creationId xmlns:a16="http://schemas.microsoft.com/office/drawing/2014/main" id="{D48DD465-4EEE-433C-802D-3CC7348D8616}"/>
              </a:ext>
            </a:extLst>
          </p:cNvPr>
          <p:cNvSpPr>
            <a:spLocks xmlns:a="http://schemas.openxmlformats.org/drawingml/2006/main" noGrp="1"/>
          </p:cNvSpPr>
          <p:nvPr/>
        </p:nvSpPr>
        <p:spPr>
          <a:xfrm xmlns:a="http://schemas.openxmlformats.org/drawingml/2006/main">
            <a:off x="1257300" y="46386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Chạy CLI và xuất JTL cùng HTML report.</a:t>
            </a:r>
          </a:p>
        </p:txBody>
      </p:sp>
    </p:spTree>
    <p:extLst>
      <p:ext uri="{BB962C8B-B14F-4D97-AF65-F5344CB8AC3E}">
        <p14:creationId xmlns:p14="http://schemas.microsoft.com/office/powerpoint/2010/main" val="775219772"/>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JMETER / CHỨC NĂNG">
            <a:extLst xmlns:a="http://schemas.openxmlformats.org/drawingml/2006/main">
              <a:ext uri="{FF2B5EF4-FFF2-40B4-BE49-F238E27FC236}">
                <a16:creationId xmlns:a16="http://schemas.microsoft.com/office/drawing/2014/main" id="{AE72DD6E-0590-4D9B-9BF9-3EBFFE0C39EF}"/>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JMETER / CHỨC NĂNG</a:t>
            </a:r>
          </a:p>
        </p:txBody>
      </p:sp>
      <p:sp>
        <p:nvSpPr>
          <p:cNvPr id="3" name="JMeter: luồng nghiệp vụ và workload">
            <a:extLst xmlns:a="http://schemas.openxmlformats.org/drawingml/2006/main">
              <a:ext uri="{FF2B5EF4-FFF2-40B4-BE49-F238E27FC236}">
                <a16:creationId xmlns:a16="http://schemas.microsoft.com/office/drawing/2014/main" id="{6D567373-DA2F-42A6-BBD9-F9446E8D750A}"/>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JMeter: luồng nghiệp vụ và workload</a:t>
            </a:r>
          </a:p>
        </p:txBody>
      </p:sp>
      <p:sp>
        <p:nvSpPr>
          <p:cNvPr id="4" name="Performance Testing trên EShop">
            <a:extLst xmlns:a="http://schemas.openxmlformats.org/drawingml/2006/main">
              <a:ext uri="{FF2B5EF4-FFF2-40B4-BE49-F238E27FC236}">
                <a16:creationId xmlns:a16="http://schemas.microsoft.com/office/drawing/2014/main" id="{939D05EB-8FA3-481A-B610-25F3D4A02057}"/>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26">
            <a:extLst xmlns:a="http://schemas.openxmlformats.org/drawingml/2006/main">
              <a:ext uri="{FF2B5EF4-FFF2-40B4-BE49-F238E27FC236}">
                <a16:creationId xmlns:a16="http://schemas.microsoft.com/office/drawing/2014/main" id="{9F23E061-4B97-4448-901F-016E4975DA0E}"/>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48</a:t>
            </a:r>
          </a:p>
        </p:txBody>
      </p:sp>
      <p:sp>
        <p:nvSpPr>
          <p:cNvPr id="6" name="01">
            <a:extLst xmlns:a="http://schemas.openxmlformats.org/drawingml/2006/main">
              <a:ext uri="{FF2B5EF4-FFF2-40B4-BE49-F238E27FC236}">
                <a16:creationId xmlns:a16="http://schemas.microsoft.com/office/drawing/2014/main" id="{0A32BA02-409C-4276-90B2-7246ADCA3277}"/>
              </a:ext>
            </a:extLst>
          </p:cNvPr>
          <p:cNvSpPr>
            <a:spLocks xmlns:a="http://schemas.openxmlformats.org/drawingml/2006/main" noGrp="1"/>
          </p:cNvSpPr>
          <p:nvPr/>
        </p:nvSpPr>
        <p:spPr>
          <a:xfrm xmlns:a="http://schemas.openxmlformats.org/drawingml/2006/main">
            <a:off x="628650" y="18002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01</a:t>
            </a:r>
          </a:p>
        </p:txBody>
      </p:sp>
      <p:sp>
        <p:nvSpPr>
          <p:cNvPr id="7" name="Mỗi thread đăng nhập theo cấu hình test plan.">
            <a:extLst xmlns:a="http://schemas.openxmlformats.org/drawingml/2006/main">
              <a:ext uri="{FF2B5EF4-FFF2-40B4-BE49-F238E27FC236}">
                <a16:creationId xmlns:a16="http://schemas.microsoft.com/office/drawing/2014/main" id="{7FE4AE39-9701-427E-8CD5-3021C5174AB7}"/>
              </a:ext>
            </a:extLst>
          </p:cNvPr>
          <p:cNvSpPr>
            <a:spLocks xmlns:a="http://schemas.openxmlformats.org/drawingml/2006/main" noGrp="1"/>
          </p:cNvSpPr>
          <p:nvPr/>
        </p:nvSpPr>
        <p:spPr>
          <a:xfrm xmlns:a="http://schemas.openxmlformats.org/drawingml/2006/main">
            <a:off x="1257300" y="17811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Mỗi thread đăng nhập theo cấu hình test plan.</a:t>
            </a:r>
          </a:p>
        </p:txBody>
      </p:sp>
      <p:sp>
        <p:nvSpPr>
          <p:cNvPr id="8" name="02">
            <a:extLst xmlns:a="http://schemas.openxmlformats.org/drawingml/2006/main">
              <a:ext uri="{FF2B5EF4-FFF2-40B4-BE49-F238E27FC236}">
                <a16:creationId xmlns:a16="http://schemas.microsoft.com/office/drawing/2014/main" id="{90FD4AA0-F26D-4B46-923C-D5FDEA24CE00}"/>
              </a:ext>
            </a:extLst>
          </p:cNvPr>
          <p:cNvSpPr>
            <a:spLocks xmlns:a="http://schemas.openxmlformats.org/drawingml/2006/main" noGrp="1"/>
          </p:cNvSpPr>
          <p:nvPr/>
        </p:nvSpPr>
        <p:spPr>
          <a:xfrm xmlns:a="http://schemas.openxmlformats.org/drawingml/2006/main">
            <a:off x="628650" y="27527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02</a:t>
            </a:r>
          </a:p>
        </p:txBody>
      </p:sp>
      <p:sp>
        <p:nvSpPr>
          <p:cNvPr id="9" name="Chọn Search, Detail hoặc Checkout theo mix 55/25/20.">
            <a:extLst xmlns:a="http://schemas.openxmlformats.org/drawingml/2006/main">
              <a:ext uri="{FF2B5EF4-FFF2-40B4-BE49-F238E27FC236}">
                <a16:creationId xmlns:a16="http://schemas.microsoft.com/office/drawing/2014/main" id="{A066B86A-EF15-4244-AB9E-B932E9484E67}"/>
              </a:ext>
            </a:extLst>
          </p:cNvPr>
          <p:cNvSpPr>
            <a:spLocks xmlns:a="http://schemas.openxmlformats.org/drawingml/2006/main" noGrp="1"/>
          </p:cNvSpPr>
          <p:nvPr/>
        </p:nvSpPr>
        <p:spPr>
          <a:xfrm xmlns:a="http://schemas.openxmlformats.org/drawingml/2006/main">
            <a:off x="1257300" y="27336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Chọn Search, Detail hoặc Checkout theo mix 55/25/20.</a:t>
            </a:r>
          </a:p>
        </p:txBody>
      </p:sp>
      <p:sp>
        <p:nvSpPr>
          <p:cNvPr id="10" name="03">
            <a:extLst xmlns:a="http://schemas.openxmlformats.org/drawingml/2006/main">
              <a:ext uri="{FF2B5EF4-FFF2-40B4-BE49-F238E27FC236}">
                <a16:creationId xmlns:a16="http://schemas.microsoft.com/office/drawing/2014/main" id="{BABCD7DE-B2F4-43F5-BF66-A8438B098A7B}"/>
              </a:ext>
            </a:extLst>
          </p:cNvPr>
          <p:cNvSpPr>
            <a:spLocks xmlns:a="http://schemas.openxmlformats.org/drawingml/2006/main" noGrp="1"/>
          </p:cNvSpPr>
          <p:nvPr/>
        </p:nvSpPr>
        <p:spPr>
          <a:xfrm xmlns:a="http://schemas.openxmlformats.org/drawingml/2006/main">
            <a:off x="628650" y="37052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03</a:t>
            </a:r>
          </a:p>
        </p:txBody>
      </p:sp>
      <p:sp>
        <p:nvSpPr>
          <p:cNvPr id="11" name="Dùng timer mô phỏng think-time từng action.">
            <a:extLst xmlns:a="http://schemas.openxmlformats.org/drawingml/2006/main">
              <a:ext uri="{FF2B5EF4-FFF2-40B4-BE49-F238E27FC236}">
                <a16:creationId xmlns:a16="http://schemas.microsoft.com/office/drawing/2014/main" id="{59342E54-5BDA-4354-9D6F-3CF6381D8397}"/>
              </a:ext>
            </a:extLst>
          </p:cNvPr>
          <p:cNvSpPr>
            <a:spLocks xmlns:a="http://schemas.openxmlformats.org/drawingml/2006/main" noGrp="1"/>
          </p:cNvSpPr>
          <p:nvPr/>
        </p:nvSpPr>
        <p:spPr>
          <a:xfrm xmlns:a="http://schemas.openxmlformats.org/drawingml/2006/main">
            <a:off x="1257300" y="36861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Dùng timer mô phỏng think-time từng action.</a:t>
            </a:r>
          </a:p>
        </p:txBody>
      </p:sp>
      <p:sp>
        <p:nvSpPr>
          <p:cNvPr id="12" name="04">
            <a:extLst xmlns:a="http://schemas.openxmlformats.org/drawingml/2006/main">
              <a:ext uri="{FF2B5EF4-FFF2-40B4-BE49-F238E27FC236}">
                <a16:creationId xmlns:a16="http://schemas.microsoft.com/office/drawing/2014/main" id="{DC0DA504-378B-4C79-97D7-B984531404B7}"/>
              </a:ext>
            </a:extLst>
          </p:cNvPr>
          <p:cNvSpPr>
            <a:spLocks xmlns:a="http://schemas.openxmlformats.org/drawingml/2006/main" noGrp="1"/>
          </p:cNvSpPr>
          <p:nvPr/>
        </p:nvSpPr>
        <p:spPr>
          <a:xfrm xmlns:a="http://schemas.openxmlformats.org/drawingml/2006/main">
            <a:off x="628650" y="46577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04</a:t>
            </a:r>
          </a:p>
        </p:txBody>
      </p:sp>
      <p:sp>
        <p:nvSpPr>
          <p:cNvPr id="13" name="Ghi từng sample và assertion vào kết quả chạy.">
            <a:extLst xmlns:a="http://schemas.openxmlformats.org/drawingml/2006/main">
              <a:ext uri="{FF2B5EF4-FFF2-40B4-BE49-F238E27FC236}">
                <a16:creationId xmlns:a16="http://schemas.microsoft.com/office/drawing/2014/main" id="{38E6E92A-4FA0-41C4-893B-2A7A70DF0153}"/>
              </a:ext>
            </a:extLst>
          </p:cNvPr>
          <p:cNvSpPr>
            <a:spLocks xmlns:a="http://schemas.openxmlformats.org/drawingml/2006/main" noGrp="1"/>
          </p:cNvSpPr>
          <p:nvPr/>
        </p:nvSpPr>
        <p:spPr>
          <a:xfrm xmlns:a="http://schemas.openxmlformats.org/drawingml/2006/main">
            <a:off x="1257300" y="46386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Ghi từng sample và assertion vào kết quả chạy.</a:t>
            </a:r>
          </a:p>
        </p:txBody>
      </p:sp>
    </p:spTree>
    <p:extLst>
      <p:ext uri="{BB962C8B-B14F-4D97-AF65-F5344CB8AC3E}">
        <p14:creationId xmlns:p14="http://schemas.microsoft.com/office/powerpoint/2010/main" val="512378625"/>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JMETER / KỊCH BẢN">
            <a:extLst xmlns:a="http://schemas.openxmlformats.org/drawingml/2006/main">
              <a:ext uri="{FF2B5EF4-FFF2-40B4-BE49-F238E27FC236}">
                <a16:creationId xmlns:a16="http://schemas.microsoft.com/office/drawing/2014/main" id="{DE0DC617-FF77-40F9-8551-51853CD7A0A4}"/>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JMETER / KỊCH BẢN</a:t>
            </a:r>
          </a:p>
        </p:txBody>
      </p:sp>
      <p:sp>
        <p:nvSpPr>
          <p:cNvPr id="3" name="JMeter: recorder, data driven và correlation">
            <a:extLst xmlns:a="http://schemas.openxmlformats.org/drawingml/2006/main">
              <a:ext uri="{FF2B5EF4-FFF2-40B4-BE49-F238E27FC236}">
                <a16:creationId xmlns:a16="http://schemas.microsoft.com/office/drawing/2014/main" id="{3FE1BFCB-1815-49A0-9BFF-E2DD0CF6470A}"/>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JMeter: recorder, data driven và correlation</a:t>
            </a:r>
          </a:p>
        </p:txBody>
      </p:sp>
      <p:sp>
        <p:nvSpPr>
          <p:cNvPr id="4" name="Performance Testing trên EShop">
            <a:extLst xmlns:a="http://schemas.openxmlformats.org/drawingml/2006/main">
              <a:ext uri="{FF2B5EF4-FFF2-40B4-BE49-F238E27FC236}">
                <a16:creationId xmlns:a16="http://schemas.microsoft.com/office/drawing/2014/main" id="{8FBCFF48-81D2-43AA-B371-3F7A39D6B502}"/>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27">
            <a:extLst xmlns:a="http://schemas.openxmlformats.org/drawingml/2006/main">
              <a:ext uri="{FF2B5EF4-FFF2-40B4-BE49-F238E27FC236}">
                <a16:creationId xmlns:a16="http://schemas.microsoft.com/office/drawing/2014/main" id="{8A690B36-F56B-4FE0-8635-999D46ED6BAB}"/>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49</a:t>
            </a:r>
          </a:p>
        </p:txBody>
      </p:sp>
      <p:graphicFrame>
        <p:nvGraphicFramePr>
          <p:cNvPr id="6" name="">
            <a:extLst xmlns:a="http://schemas.openxmlformats.org/drawingml/2006/main">
              <a:ext uri="{FF2B5EF4-FFF2-40B4-BE49-F238E27FC236}">
                <a16:creationId xmlns:a16="http://schemas.microsoft.com/office/drawing/2014/main" id="{1131B00D-5F4F-4784-9D7C-4B42A5178CE0}"/>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3333750"/>
                <a:gridCol w="7639050"/>
              </a:tblGrid>
              <a:tr h="720725">
                <a:tc>
                  <a:txBody>
                    <a:bodyPr/>
                    <a:lstStyle/>
                    <a:p>
                      <a:r>
                        <a:rPr sz="1800" b="1">
                          <a:solidFill>
                            <a:srgbClr val="153E75"/>
                          </a:solidFill>
                          <a:latin typeface="Arial"/>
                          <a:ea typeface="Arial"/>
                          <a:cs typeface="Arial"/>
                        </a:rPr>
                        <a:t>Khía cạnh</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Cách dùng trong bài</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720725">
                <a:tc>
                  <a:txBody>
                    <a:bodyPr/>
                    <a:lstStyle/>
                    <a:p>
                      <a:r>
                        <a:rPr sz="1800">
                          <a:solidFill>
                            <a:srgbClr val="151B23"/>
                          </a:solidFill>
                          <a:latin typeface="Arial"/>
                          <a:ea typeface="Arial"/>
                          <a:cs typeface="Arial"/>
                        </a:rPr>
                        <a:t>Record / playback</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Recorder hoặc traffic HAR làm tham chiếu test plan</a:t>
                      </a:r>
                    </a:p>
                  </a:txBody>
                  <a:tcPr marL="114300" marR="95250" marT="76200" marB="57150">
                    <a:lnR w="9525">
                      <a:solidFill>
                        <a:srgbClr val="D7DDE4"/>
                      </a:solidFill>
                      <a:prstDash val="solid"/>
                    </a:lnR>
                    <a:lnB w="9525">
                      <a:solidFill>
                        <a:srgbClr val="D7DDE4"/>
                      </a:solidFill>
                      <a:prstDash val="solid"/>
                    </a:lnB>
                    <a:solidFill>
                      <a:srgbClr val="FFFFFF"/>
                    </a:solidFill>
                  </a:tcPr>
                </a:tc>
              </a:tr>
              <a:tr h="720725">
                <a:tc>
                  <a:txBody>
                    <a:bodyPr/>
                    <a:lstStyle/>
                    <a:p>
                      <a:r>
                        <a:rPr sz="1800">
                          <a:solidFill>
                            <a:srgbClr val="151B23"/>
                          </a:solidFill>
                          <a:latin typeface="Arial"/>
                          <a:ea typeface="Arial"/>
                          <a:cs typeface="Arial"/>
                        </a:rPr>
                        <a:t>Data driven</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CSV/biến cho tài khoản và dữ liệu request</a:t>
                      </a:r>
                    </a:p>
                  </a:txBody>
                  <a:tcPr marL="114300" marR="95250" marT="76200" marB="57150">
                    <a:lnR w="9525">
                      <a:solidFill>
                        <a:srgbClr val="D7DDE4"/>
                      </a:solidFill>
                      <a:prstDash val="solid"/>
                    </a:lnR>
                    <a:lnB w="9525">
                      <a:solidFill>
                        <a:srgbClr val="D7DDE4"/>
                      </a:solidFill>
                      <a:prstDash val="solid"/>
                    </a:lnB>
                    <a:solidFill>
                      <a:srgbClr val="FFFFFF"/>
                    </a:solidFill>
                  </a:tcPr>
                </a:tc>
              </a:tr>
              <a:tr h="720725">
                <a:tc>
                  <a:txBody>
                    <a:bodyPr/>
                    <a:lstStyle/>
                    <a:p>
                      <a:r>
                        <a:rPr sz="1800">
                          <a:solidFill>
                            <a:srgbClr val="151B23"/>
                          </a:solidFill>
                          <a:latin typeface="Arial"/>
                          <a:ea typeface="Arial"/>
                          <a:cs typeface="Arial"/>
                        </a:rPr>
                        <a:t>Correlation</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Extractor lấy token, Header Manager gửi Bearer</a:t>
                      </a:r>
                    </a:p>
                  </a:txBody>
                  <a:tcPr marL="114300" marR="95250" marT="76200" marB="57150">
                    <a:lnR w="9525">
                      <a:solidFill>
                        <a:srgbClr val="D7DDE4"/>
                      </a:solidFill>
                      <a:prstDash val="solid"/>
                    </a:lnR>
                    <a:lnB w="9525">
                      <a:solidFill>
                        <a:srgbClr val="D7DDE4"/>
                      </a:solidFill>
                      <a:prstDash val="solid"/>
                    </a:lnB>
                    <a:solidFill>
                      <a:srgbClr val="FFFFFF"/>
                    </a:solidFill>
                  </a:tcPr>
                </a:tc>
              </a:tr>
              <a:tr h="720725">
                <a:tc>
                  <a:txBody>
                    <a:bodyPr/>
                    <a:lstStyle/>
                    <a:p>
                      <a:r>
                        <a:rPr sz="1800">
                          <a:solidFill>
                            <a:srgbClr val="151B23"/>
                          </a:solidFill>
                          <a:latin typeface="Arial"/>
                          <a:ea typeface="Arial"/>
                          <a:cs typeface="Arial"/>
                        </a:rPr>
                        <a:t>Checkpoint</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Assertions kiểm tra status và nội dung</a:t>
                      </a:r>
                    </a:p>
                  </a:txBody>
                  <a:tcPr marL="114300" marR="95250" marT="76200" marB="57150">
                    <a:lnR w="9525">
                      <a:solidFill>
                        <a:srgbClr val="D7DDE4"/>
                      </a:solidFill>
                      <a:prstDash val="solid"/>
                    </a:lnR>
                    <a:lnB w="9525">
                      <a:solidFill>
                        <a:srgbClr val="D7DDE4"/>
                      </a:solidFill>
                      <a:prstDash val="solid"/>
                    </a:lnB>
                    <a:solidFill>
                      <a:srgbClr val="FFFFFF"/>
                    </a:solidFill>
                  </a:tcPr>
                </a:tc>
              </a:tr>
              <a:tr h="720725">
                <a:tc>
                  <a:txBody>
                    <a:bodyPr/>
                    <a:lstStyle/>
                    <a:p>
                      <a:r>
                        <a:rPr sz="1800">
                          <a:solidFill>
                            <a:srgbClr val="151B23"/>
                          </a:solidFill>
                          <a:latin typeface="Arial"/>
                          <a:ea typeface="Arial"/>
                          <a:cs typeface="Arial"/>
                        </a:rPr>
                        <a:t>Report</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CLI lưu JTL rồi sinh HTML</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278222400"/>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DEMO CỦA VÕ HỮU THẮNG">
            <a:extLst xmlns:a="http://schemas.openxmlformats.org/drawingml/2006/main">
              <a:ext uri="{FF2B5EF4-FFF2-40B4-BE49-F238E27FC236}">
                <a16:creationId xmlns:a16="http://schemas.microsoft.com/office/drawing/2014/main" id="{AFB3106C-EDA5-4063-950E-7F94E4359308}"/>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DEMO CỦA VÕ HỮU THẮNG</a:t>
            </a:r>
          </a:p>
        </p:txBody>
      </p:sp>
      <p:sp>
        <p:nvSpPr>
          <p:cNvPr id="3" name="Video demo 2: JMeter và đối chiếu">
            <a:extLst xmlns:a="http://schemas.openxmlformats.org/drawingml/2006/main">
              <a:ext uri="{FF2B5EF4-FFF2-40B4-BE49-F238E27FC236}">
                <a16:creationId xmlns:a16="http://schemas.microsoft.com/office/drawing/2014/main" id="{F92AAE83-086A-4D7E-8AB6-9A83F381A723}"/>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Video demo 2: JMeter và đối chiếu</a:t>
            </a:r>
          </a:p>
        </p:txBody>
      </p:sp>
      <p:sp>
        <p:nvSpPr>
          <p:cNvPr id="4" name="Performance Testing trên EShop">
            <a:extLst xmlns:a="http://schemas.openxmlformats.org/drawingml/2006/main">
              <a:ext uri="{FF2B5EF4-FFF2-40B4-BE49-F238E27FC236}">
                <a16:creationId xmlns:a16="http://schemas.microsoft.com/office/drawing/2014/main" id="{06352E9B-C701-47CC-85C7-39B6A935B6FB}"/>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28">
            <a:extLst xmlns:a="http://schemas.openxmlformats.org/drawingml/2006/main">
              <a:ext uri="{FF2B5EF4-FFF2-40B4-BE49-F238E27FC236}">
                <a16:creationId xmlns:a16="http://schemas.microsoft.com/office/drawing/2014/main" id="{FABABBE8-86A0-4C97-A9FE-20C7764907F7}"/>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50</a:t>
            </a:r>
          </a:p>
        </p:txBody>
      </p:sp>
      <p:sp>
        <p:nvSpPr>
          <p:cNvPr id="6" name="Võ Hữu Thắng">
            <a:extLst xmlns:a="http://schemas.openxmlformats.org/drawingml/2006/main">
              <a:ext uri="{FF2B5EF4-FFF2-40B4-BE49-F238E27FC236}">
                <a16:creationId xmlns:a16="http://schemas.microsoft.com/office/drawing/2014/main" id="{CDC363D0-E3A6-4DC5-800B-1BC5FB95E6EB}"/>
              </a:ext>
            </a:extLst>
          </p:cNvPr>
          <p:cNvSpPr>
            <a:spLocks xmlns:a="http://schemas.openxmlformats.org/drawingml/2006/main" noGrp="1"/>
          </p:cNvSpPr>
          <p:nvPr/>
        </p:nvSpPr>
        <p:spPr>
          <a:xfrm xmlns:a="http://schemas.openxmlformats.org/drawingml/2006/main">
            <a:off x="609600" y="17526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456A6"/>
                </a:solidFill>
                <a:latin typeface="Arial"/>
                <a:ea typeface="Arial"/>
                <a:cs typeface="Arial"/>
              </a:defRPr>
            </a:defPPr>
            <a:lvl1pPr>
              <a:defRPr sz="2250" b="1">
                <a:solidFill>
                  <a:srgbClr val="2456A6"/>
                </a:solidFill>
                <a:latin typeface="Arial"/>
                <a:ea typeface="Arial"/>
                <a:cs typeface="Arial"/>
              </a:defRPr>
            </a:lvl1pPr>
            <a:lvl2pPr>
              <a:defRPr sz="2250" b="1">
                <a:solidFill>
                  <a:srgbClr val="2456A6"/>
                </a:solidFill>
                <a:latin typeface="Arial"/>
                <a:ea typeface="Arial"/>
                <a:cs typeface="Arial"/>
              </a:defRPr>
            </a:lvl2pPr>
            <a:lvl3pPr>
              <a:defRPr sz="2250" b="1">
                <a:solidFill>
                  <a:srgbClr val="2456A6"/>
                </a:solidFill>
                <a:latin typeface="Arial"/>
                <a:ea typeface="Arial"/>
                <a:cs typeface="Arial"/>
              </a:defRPr>
            </a:lvl3pPr>
            <a:lvl4pPr>
              <a:defRPr sz="2250" b="1">
                <a:solidFill>
                  <a:srgbClr val="2456A6"/>
                </a:solidFill>
                <a:latin typeface="Arial"/>
                <a:ea typeface="Arial"/>
                <a:cs typeface="Arial"/>
              </a:defRPr>
            </a:lvl4pPr>
            <a:lvl5pPr>
              <a:defRPr sz="2250" b="1">
                <a:solidFill>
                  <a:srgbClr val="2456A6"/>
                </a:solidFill>
                <a:latin typeface="Arial"/>
                <a:ea typeface="Arial"/>
                <a:cs typeface="Arial"/>
              </a:defRPr>
            </a:lvl5pPr>
            <a:lvl6pPr>
              <a:defRPr sz="2250" b="1">
                <a:solidFill>
                  <a:srgbClr val="2456A6"/>
                </a:solidFill>
                <a:latin typeface="Arial"/>
                <a:ea typeface="Arial"/>
                <a:cs typeface="Arial"/>
              </a:defRPr>
            </a:lvl6pPr>
            <a:lvl7pPr>
              <a:defRPr sz="2250" b="1">
                <a:solidFill>
                  <a:srgbClr val="2456A6"/>
                </a:solidFill>
                <a:latin typeface="Arial"/>
                <a:ea typeface="Arial"/>
                <a:cs typeface="Arial"/>
              </a:defRPr>
            </a:lvl7pPr>
            <a:lvl8pPr>
              <a:defRPr sz="2250" b="1">
                <a:solidFill>
                  <a:srgbClr val="2456A6"/>
                </a:solidFill>
                <a:latin typeface="Arial"/>
                <a:ea typeface="Arial"/>
                <a:cs typeface="Arial"/>
              </a:defRPr>
            </a:lvl8pPr>
            <a:lvl9pPr>
              <a:defRPr sz="2250" b="1">
                <a:solidFill>
                  <a:srgbClr val="2456A6"/>
                </a:solidFill>
                <a:latin typeface="Arial"/>
                <a:ea typeface="Arial"/>
                <a:cs typeface="Arial"/>
              </a:defRPr>
            </a:lvl9pPr>
          </a:lstStyle>
          <a:p xmlns:a="http://schemas.openxmlformats.org/drawingml/2006/main">
            <a:pPr>
              <a:defRPr sz="2250" b="1">
                <a:solidFill>
                  <a:srgbClr val="2456A6"/>
                </a:solidFill>
                <a:latin typeface="Arial"/>
                <a:ea typeface="Arial"/>
                <a:cs typeface="Arial"/>
              </a:defRPr>
            </a:pPr>
            <a:r>
              <a:rPr sz="2250" b="1">
                <a:solidFill>
                  <a:srgbClr val="2456A6"/>
                </a:solidFill>
                <a:latin typeface="Arial"/>
                <a:ea typeface="Arial"/>
                <a:cs typeface="Arial"/>
              </a:rPr>
              <a:t>Võ Hữu Thắng</a:t>
            </a:r>
          </a:p>
        </p:txBody>
      </p:sp>
      <p:sp>
        <p:nvSpPr>
          <p:cNvPr id="7" name="1. Cài Java/JMeter và mở test plan EShop.">
            <a:extLst xmlns:a="http://schemas.openxmlformats.org/drawingml/2006/main">
              <a:ext uri="{FF2B5EF4-FFF2-40B4-BE49-F238E27FC236}">
                <a16:creationId xmlns:a16="http://schemas.microsoft.com/office/drawing/2014/main" id="{B9AAB535-9F35-442D-8257-06375CF5D693}"/>
              </a:ext>
            </a:extLst>
          </p:cNvPr>
          <p:cNvSpPr>
            <a:spLocks xmlns:a="http://schemas.openxmlformats.org/drawingml/2006/main" noGrp="1"/>
          </p:cNvSpPr>
          <p:nvPr/>
        </p:nvSpPr>
        <p:spPr>
          <a:xfrm xmlns:a="http://schemas.openxmlformats.org/drawingml/2006/main">
            <a:off x="609600" y="24384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1. Cài Java/JMeter và mở test plan EShop.</a:t>
            </a:r>
          </a:p>
        </p:txBody>
      </p:sp>
      <p:sp>
        <p:nvSpPr>
          <p:cNvPr id="8" name="2. Dữ liệu, token extractor và assertions.">
            <a:extLst xmlns:a="http://schemas.openxmlformats.org/drawingml/2006/main">
              <a:ext uri="{FF2B5EF4-FFF2-40B4-BE49-F238E27FC236}">
                <a16:creationId xmlns:a16="http://schemas.microsoft.com/office/drawing/2014/main" id="{CCC15047-82C7-4823-A1B1-31CB6E86BDC7}"/>
              </a:ext>
            </a:extLst>
          </p:cNvPr>
          <p:cNvSpPr>
            <a:spLocks xmlns:a="http://schemas.openxmlformats.org/drawingml/2006/main" noGrp="1"/>
          </p:cNvSpPr>
          <p:nvPr/>
        </p:nvSpPr>
        <p:spPr>
          <a:xfrm xmlns:a="http://schemas.openxmlformats.org/drawingml/2006/main">
            <a:off x="609600" y="32004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2. Dữ liệu, token extractor và assertions.</a:t>
            </a:r>
          </a:p>
        </p:txBody>
      </p:sp>
      <p:sp>
        <p:nvSpPr>
          <p:cNvPr id="9" name="3. Chạy CLI, xem HTML report và so sánh với k6.">
            <a:extLst xmlns:a="http://schemas.openxmlformats.org/drawingml/2006/main">
              <a:ext uri="{FF2B5EF4-FFF2-40B4-BE49-F238E27FC236}">
                <a16:creationId xmlns:a16="http://schemas.microsoft.com/office/drawing/2014/main" id="{4268D233-C444-446D-963A-0986612D9EAC}"/>
              </a:ext>
            </a:extLst>
          </p:cNvPr>
          <p:cNvSpPr>
            <a:spLocks xmlns:a="http://schemas.openxmlformats.org/drawingml/2006/main" noGrp="1"/>
          </p:cNvSpPr>
          <p:nvPr/>
        </p:nvSpPr>
        <p:spPr>
          <a:xfrm xmlns:a="http://schemas.openxmlformats.org/drawingml/2006/main">
            <a:off x="609600" y="39624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3. Chạy CLI, xem HTML report và so sánh với k6.</a:t>
            </a:r>
          </a:p>
        </p:txBody>
      </p:sp>
      <p:sp>
        <p:nvSpPr>
          <p:cNvPr id="10" name="LINK_VIDEO_2">
            <a:extLst xmlns:a="http://schemas.openxmlformats.org/drawingml/2006/main">
              <a:ext uri="{FF2B5EF4-FFF2-40B4-BE49-F238E27FC236}">
                <a16:creationId xmlns:a16="http://schemas.microsoft.com/office/drawing/2014/main" id="{814119CC-526F-4DE8-92DD-DEA63CEA4346}"/>
              </a:ext>
            </a:extLst>
          </p:cNvPr>
          <p:cNvSpPr>
            <a:spLocks xmlns:a="http://schemas.openxmlformats.org/drawingml/2006/main" noGrp="1"/>
          </p:cNvSpPr>
          <p:nvPr/>
        </p:nvSpPr>
        <p:spPr>
          <a:xfrm xmlns:a="http://schemas.openxmlformats.org/drawingml/2006/main">
            <a:off x="609600" y="51816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2456A6"/>
                </a:solidFill>
                <a:latin typeface="Arial"/>
                <a:ea typeface="Arial"/>
                <a:cs typeface="Arial"/>
              </a:defRPr>
            </a:defPPr>
            <a:lvl1pPr>
              <a:defRPr sz="2100" b="1">
                <a:solidFill>
                  <a:srgbClr val="2456A6"/>
                </a:solidFill>
                <a:latin typeface="Arial"/>
                <a:ea typeface="Arial"/>
                <a:cs typeface="Arial"/>
              </a:defRPr>
            </a:lvl1pPr>
            <a:lvl2pPr>
              <a:defRPr sz="2100" b="1">
                <a:solidFill>
                  <a:srgbClr val="2456A6"/>
                </a:solidFill>
                <a:latin typeface="Arial"/>
                <a:ea typeface="Arial"/>
                <a:cs typeface="Arial"/>
              </a:defRPr>
            </a:lvl2pPr>
            <a:lvl3pPr>
              <a:defRPr sz="2100" b="1">
                <a:solidFill>
                  <a:srgbClr val="2456A6"/>
                </a:solidFill>
                <a:latin typeface="Arial"/>
                <a:ea typeface="Arial"/>
                <a:cs typeface="Arial"/>
              </a:defRPr>
            </a:lvl3pPr>
            <a:lvl4pPr>
              <a:defRPr sz="2100" b="1">
                <a:solidFill>
                  <a:srgbClr val="2456A6"/>
                </a:solidFill>
                <a:latin typeface="Arial"/>
                <a:ea typeface="Arial"/>
                <a:cs typeface="Arial"/>
              </a:defRPr>
            </a:lvl4pPr>
            <a:lvl5pPr>
              <a:defRPr sz="2100" b="1">
                <a:solidFill>
                  <a:srgbClr val="2456A6"/>
                </a:solidFill>
                <a:latin typeface="Arial"/>
                <a:ea typeface="Arial"/>
                <a:cs typeface="Arial"/>
              </a:defRPr>
            </a:lvl5pPr>
            <a:lvl6pPr>
              <a:defRPr sz="2100" b="1">
                <a:solidFill>
                  <a:srgbClr val="2456A6"/>
                </a:solidFill>
                <a:latin typeface="Arial"/>
                <a:ea typeface="Arial"/>
                <a:cs typeface="Arial"/>
              </a:defRPr>
            </a:lvl6pPr>
            <a:lvl7pPr>
              <a:defRPr sz="2100" b="1">
                <a:solidFill>
                  <a:srgbClr val="2456A6"/>
                </a:solidFill>
                <a:latin typeface="Arial"/>
                <a:ea typeface="Arial"/>
                <a:cs typeface="Arial"/>
              </a:defRPr>
            </a:lvl7pPr>
            <a:lvl8pPr>
              <a:defRPr sz="2100" b="1">
                <a:solidFill>
                  <a:srgbClr val="2456A6"/>
                </a:solidFill>
                <a:latin typeface="Arial"/>
                <a:ea typeface="Arial"/>
                <a:cs typeface="Arial"/>
              </a:defRPr>
            </a:lvl8pPr>
            <a:lvl9pPr>
              <a:defRPr sz="2100" b="1">
                <a:solidFill>
                  <a:srgbClr val="2456A6"/>
                </a:solidFill>
                <a:latin typeface="Arial"/>
                <a:ea typeface="Arial"/>
                <a:cs typeface="Arial"/>
              </a:defRPr>
            </a:lvl9pPr>
          </a:lstStyle>
          <a:p xmlns:a="http://schemas.openxmlformats.org/drawingml/2006/main">
            <a:pPr>
              <a:defRPr sz="2100" b="1">
                <a:solidFill>
                  <a:srgbClr val="2456A6"/>
                </a:solidFill>
                <a:latin typeface="Arial"/>
                <a:ea typeface="Arial"/>
                <a:cs typeface="Arial"/>
              </a:defRPr>
            </a:pPr>
            <a:r>
              <a:rPr sz="2100" b="1">
                <a:solidFill>
                  <a:srgbClr val="2456A6"/>
                </a:solidFill>
                <a:latin typeface="Arial"/>
                <a:ea typeface="Arial"/>
                <a:cs typeface="Arial"/>
              </a:rPr>
              <a:t>Link YouTube: [Thêm link video 2 tại đây]</a:t>
            </a:r>
          </a:p>
        </p:txBody>
      </p:sp>
      <p:sp>
        <p:nvSpPr>
          <p:cNvPr id="11" name="Nội dung video bám theo các thao tác vừa trình bày">
            <a:extLst xmlns:a="http://schemas.openxmlformats.org/drawingml/2006/main">
              <a:ext uri="{FF2B5EF4-FFF2-40B4-BE49-F238E27FC236}">
                <a16:creationId xmlns:a16="http://schemas.microsoft.com/office/drawing/2014/main" id="{BB9E7619-43EB-4DFF-813F-222E312F98A0}"/>
              </a:ext>
            </a:extLst>
          </p:cNvPr>
          <p:cNvSpPr>
            <a:spLocks xmlns:a="http://schemas.openxmlformats.org/drawingml/2006/main" noGrp="1"/>
          </p:cNvSpPr>
          <p:nvPr/>
        </p:nvSpPr>
        <p:spPr>
          <a:xfrm xmlns:a="http://schemas.openxmlformats.org/drawingml/2006/main">
            <a:off x="609600" y="58578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151B23"/>
                </a:solidFill>
                <a:latin typeface="Arial"/>
                <a:ea typeface="Arial"/>
                <a:cs typeface="Arial"/>
              </a:defRPr>
            </a:defPPr>
            <a:lvl1pPr>
              <a:defRPr sz="1725" b="0">
                <a:solidFill>
                  <a:srgbClr val="151B23"/>
                </a:solidFill>
                <a:latin typeface="Arial"/>
                <a:ea typeface="Arial"/>
                <a:cs typeface="Arial"/>
              </a:defRPr>
            </a:lvl1pPr>
            <a:lvl2pPr>
              <a:defRPr sz="1725" b="0">
                <a:solidFill>
                  <a:srgbClr val="151B23"/>
                </a:solidFill>
                <a:latin typeface="Arial"/>
                <a:ea typeface="Arial"/>
                <a:cs typeface="Arial"/>
              </a:defRPr>
            </a:lvl2pPr>
            <a:lvl3pPr>
              <a:defRPr sz="1725" b="0">
                <a:solidFill>
                  <a:srgbClr val="151B23"/>
                </a:solidFill>
                <a:latin typeface="Arial"/>
                <a:ea typeface="Arial"/>
                <a:cs typeface="Arial"/>
              </a:defRPr>
            </a:lvl3pPr>
            <a:lvl4pPr>
              <a:defRPr sz="1725" b="0">
                <a:solidFill>
                  <a:srgbClr val="151B23"/>
                </a:solidFill>
                <a:latin typeface="Arial"/>
                <a:ea typeface="Arial"/>
                <a:cs typeface="Arial"/>
              </a:defRPr>
            </a:lvl4pPr>
            <a:lvl5pPr>
              <a:defRPr sz="1725" b="0">
                <a:solidFill>
                  <a:srgbClr val="151B23"/>
                </a:solidFill>
                <a:latin typeface="Arial"/>
                <a:ea typeface="Arial"/>
                <a:cs typeface="Arial"/>
              </a:defRPr>
            </a:lvl5pPr>
            <a:lvl6pPr>
              <a:defRPr sz="1725" b="0">
                <a:solidFill>
                  <a:srgbClr val="151B23"/>
                </a:solidFill>
                <a:latin typeface="Arial"/>
                <a:ea typeface="Arial"/>
                <a:cs typeface="Arial"/>
              </a:defRPr>
            </a:lvl6pPr>
            <a:lvl7pPr>
              <a:defRPr sz="1725" b="0">
                <a:solidFill>
                  <a:srgbClr val="151B23"/>
                </a:solidFill>
                <a:latin typeface="Arial"/>
                <a:ea typeface="Arial"/>
                <a:cs typeface="Arial"/>
              </a:defRPr>
            </a:lvl7pPr>
            <a:lvl8pPr>
              <a:defRPr sz="1725" b="0">
                <a:solidFill>
                  <a:srgbClr val="151B23"/>
                </a:solidFill>
                <a:latin typeface="Arial"/>
                <a:ea typeface="Arial"/>
                <a:cs typeface="Arial"/>
              </a:defRPr>
            </a:lvl8pPr>
            <a:lvl9pPr>
              <a:defRPr sz="1725" b="0">
                <a:solidFill>
                  <a:srgbClr val="151B23"/>
                </a:solidFill>
                <a:latin typeface="Arial"/>
                <a:ea typeface="Arial"/>
                <a:cs typeface="Arial"/>
              </a:defRPr>
            </a:lvl9pPr>
          </a:lstStyle>
          <a:p xmlns:a="http://schemas.openxmlformats.org/drawingml/2006/main">
            <a:pPr>
              <a:defRPr sz="1725" b="0">
                <a:solidFill>
                  <a:srgbClr val="151B23"/>
                </a:solidFill>
                <a:latin typeface="Arial"/>
                <a:ea typeface="Arial"/>
                <a:cs typeface="Arial"/>
              </a:defRPr>
            </a:pPr>
            <a:r>
              <a:rPr sz="1725" b="0">
                <a:solidFill>
                  <a:srgbClr val="151B23"/>
                </a:solidFill>
                <a:latin typeface="Arial"/>
                <a:ea typeface="Arial"/>
                <a:cs typeface="Arial"/>
              </a:rPr>
              <a:t>Nội dung video bám theo các thao tác vừa trình bày</a:t>
            </a:r>
          </a:p>
        </p:txBody>
      </p:sp>
    </p:spTree>
    <p:extLst>
      <p:ext uri="{BB962C8B-B14F-4D97-AF65-F5344CB8AC3E}">
        <p14:creationId xmlns:p14="http://schemas.microsoft.com/office/powerpoint/2010/main" val="895562614"/>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JMETER / KẾT QUẢ">
            <a:extLst xmlns:a="http://schemas.openxmlformats.org/drawingml/2006/main">
              <a:ext uri="{FF2B5EF4-FFF2-40B4-BE49-F238E27FC236}">
                <a16:creationId xmlns:a16="http://schemas.microsoft.com/office/drawing/2014/main" id="{9D313DD1-A392-4081-BCD3-F2D91CC04B7E}"/>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JMETER / KẾT QUẢ</a:t>
            </a:r>
          </a:p>
        </p:txBody>
      </p:sp>
      <p:sp>
        <p:nvSpPr>
          <p:cNvPr id="3" name="JMeter: kết quả actions của một lần chạy">
            <a:extLst xmlns:a="http://schemas.openxmlformats.org/drawingml/2006/main">
              <a:ext uri="{FF2B5EF4-FFF2-40B4-BE49-F238E27FC236}">
                <a16:creationId xmlns:a16="http://schemas.microsoft.com/office/drawing/2014/main" id="{98164E6D-5FC0-41BA-A554-7673A243453E}"/>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JMeter: kết quả actions của một lần chạy</a:t>
            </a:r>
          </a:p>
        </p:txBody>
      </p:sp>
      <p:sp>
        <p:nvSpPr>
          <p:cNvPr id="4" name="Performance Testing trên EShop">
            <a:extLst xmlns:a="http://schemas.openxmlformats.org/drawingml/2006/main">
              <a:ext uri="{FF2B5EF4-FFF2-40B4-BE49-F238E27FC236}">
                <a16:creationId xmlns:a16="http://schemas.microsoft.com/office/drawing/2014/main" id="{3816EC02-D640-4E0E-A519-A081825CE51B}"/>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29">
            <a:extLst xmlns:a="http://schemas.openxmlformats.org/drawingml/2006/main">
              <a:ext uri="{FF2B5EF4-FFF2-40B4-BE49-F238E27FC236}">
                <a16:creationId xmlns:a16="http://schemas.microsoft.com/office/drawing/2014/main" id="{BEA8CDB5-D01D-430B-B9A1-57BC4DBF24B7}"/>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51</a:t>
            </a:r>
          </a:p>
        </p:txBody>
      </p:sp>
      <p:graphicFrame>
        <p:nvGraphicFramePr>
          <p:cNvPr id="6" name="">
            <a:extLst xmlns:a="http://schemas.openxmlformats.org/drawingml/2006/main">
              <a:ext uri="{FF2B5EF4-FFF2-40B4-BE49-F238E27FC236}">
                <a16:creationId xmlns:a16="http://schemas.microsoft.com/office/drawing/2014/main" id="{19F6B065-32A4-4257-83BE-66B20FF767E8}"/>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3657600"/>
                <a:gridCol w="3657600"/>
                <a:gridCol w="3657600"/>
              </a:tblGrid>
              <a:tr h="864870">
                <a:tc>
                  <a:txBody>
                    <a:bodyPr/>
                    <a:lstStyle/>
                    <a:p>
                      <a:r>
                        <a:rPr sz="1800" b="1">
                          <a:solidFill>
                            <a:srgbClr val="153E75"/>
                          </a:solidFill>
                          <a:latin typeface="Arial"/>
                          <a:ea typeface="Arial"/>
                          <a:cs typeface="Arial"/>
                        </a:rPr>
                        <a:t>Metric</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Giá trị</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Phạm vi</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864870">
                <a:tc>
                  <a:txBody>
                    <a:bodyPr/>
                    <a:lstStyle/>
                    <a:p>
                      <a:r>
                        <a:rPr sz="1800">
                          <a:solidFill>
                            <a:srgbClr val="151B23"/>
                          </a:solidFill>
                          <a:latin typeface="Arial"/>
                          <a:ea typeface="Arial"/>
                          <a:cs typeface="Arial"/>
                        </a:rPr>
                        <a:t>Action samples</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5.140</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Không gồm 50 Login</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p50 / p95 / p99</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2 / 16 / 21 ms</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Elapsed milliseconds</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Sample failures</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0%</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Có xét assertions</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RPS / khoảng quan sát</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17,321 / 296,748 giây</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Không cùng mẫu số k6</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1207764931"/>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ĐỐI CHIẾU">
            <a:extLst xmlns:a="http://schemas.openxmlformats.org/drawingml/2006/main">
              <a:ext uri="{FF2B5EF4-FFF2-40B4-BE49-F238E27FC236}">
                <a16:creationId xmlns:a16="http://schemas.microsoft.com/office/drawing/2014/main" id="{A8DFA156-2642-4EE9-86BB-6351902D7D36}"/>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ĐỐI CHIẾU</a:t>
            </a:r>
          </a:p>
        </p:txBody>
      </p:sp>
      <p:sp>
        <p:nvSpPr>
          <p:cNvPr id="3" name="Điều kiện đối chiếu k6 và JMeter">
            <a:extLst xmlns:a="http://schemas.openxmlformats.org/drawingml/2006/main">
              <a:ext uri="{FF2B5EF4-FFF2-40B4-BE49-F238E27FC236}">
                <a16:creationId xmlns:a16="http://schemas.microsoft.com/office/drawing/2014/main" id="{DAE79C4C-7E35-41DC-ADF3-6B5E4F00F9C5}"/>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Điều kiện đối chiếu k6 và JMeter</a:t>
            </a:r>
          </a:p>
        </p:txBody>
      </p:sp>
      <p:sp>
        <p:nvSpPr>
          <p:cNvPr id="4" name="Performance Testing trên EShop">
            <a:extLst xmlns:a="http://schemas.openxmlformats.org/drawingml/2006/main">
              <a:ext uri="{FF2B5EF4-FFF2-40B4-BE49-F238E27FC236}">
                <a16:creationId xmlns:a16="http://schemas.microsoft.com/office/drawing/2014/main" id="{27DA81DB-A7A8-4270-8530-BC6724214809}"/>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30">
            <a:extLst xmlns:a="http://schemas.openxmlformats.org/drawingml/2006/main">
              <a:ext uri="{FF2B5EF4-FFF2-40B4-BE49-F238E27FC236}">
                <a16:creationId xmlns:a16="http://schemas.microsoft.com/office/drawing/2014/main" id="{26E9BFBA-9B50-4D4E-A34E-746371A76D9C}"/>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52</a:t>
            </a:r>
          </a:p>
        </p:txBody>
      </p:sp>
      <p:graphicFrame>
        <p:nvGraphicFramePr>
          <p:cNvPr id="6" name="">
            <a:extLst xmlns:a="http://schemas.openxmlformats.org/drawingml/2006/main">
              <a:ext uri="{FF2B5EF4-FFF2-40B4-BE49-F238E27FC236}">
                <a16:creationId xmlns:a16="http://schemas.microsoft.com/office/drawing/2014/main" id="{BBA33475-1316-4A6D-BC0D-92D80944C52B}"/>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3657600"/>
                <a:gridCol w="3657600"/>
                <a:gridCol w="3657600"/>
              </a:tblGrid>
              <a:tr h="864870">
                <a:tc>
                  <a:txBody>
                    <a:bodyPr/>
                    <a:lstStyle/>
                    <a:p>
                      <a:r>
                        <a:rPr sz="1800" b="1">
                          <a:solidFill>
                            <a:srgbClr val="153E75"/>
                          </a:solidFill>
                          <a:latin typeface="Arial"/>
                          <a:ea typeface="Arial"/>
                          <a:cs typeface="Arial"/>
                        </a:rPr>
                        <a:t>Yếu tố</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k6 tham chiếu</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JMeter tham chiếu</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864870">
                <a:tc>
                  <a:txBody>
                    <a:bodyPr/>
                    <a:lstStyle/>
                    <a:p>
                      <a:r>
                        <a:rPr sz="1800">
                          <a:solidFill>
                            <a:srgbClr val="151B23"/>
                          </a:solidFill>
                          <a:latin typeface="Arial"/>
                          <a:ea typeface="Arial"/>
                          <a:cs typeface="Arial"/>
                        </a:rPr>
                        <a:t>Action mix</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55/25/14/6, có Cart</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55/25/20</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Login</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Lazy login, cache token</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Một lần/thread</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Cửa sổ</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300s steady sau ramp</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Action span 296,748s</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Môi trường</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Linux, 22/10</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Windows, 21/10</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1174946664"/>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BÀI TẬP CỦA HỮU THẮNG">
            <a:extLst xmlns:a="http://schemas.openxmlformats.org/drawingml/2006/main">
              <a:ext uri="{FF2B5EF4-FFF2-40B4-BE49-F238E27FC236}">
                <a16:creationId xmlns:a16="http://schemas.microsoft.com/office/drawing/2014/main" id="{987BA85E-7BCD-4F3E-A6C9-5140496226B8}"/>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BÀI TẬP CỦA HỮU THẮNG</a:t>
            </a:r>
          </a:p>
        </p:txBody>
      </p:sp>
      <p:sp>
        <p:nvSpPr>
          <p:cNvPr id="3" name="Bài tập áp dụng 2">
            <a:extLst xmlns:a="http://schemas.openxmlformats.org/drawingml/2006/main">
              <a:ext uri="{FF2B5EF4-FFF2-40B4-BE49-F238E27FC236}">
                <a16:creationId xmlns:a16="http://schemas.microsoft.com/office/drawing/2014/main" id="{045975F9-C5D2-419B-89DC-91CD245EF1AB}"/>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Bài tập áp dụng 2</a:t>
            </a:r>
          </a:p>
        </p:txBody>
      </p:sp>
      <p:sp>
        <p:nvSpPr>
          <p:cNvPr id="4" name="Performance Testing trên EShop">
            <a:extLst xmlns:a="http://schemas.openxmlformats.org/drawingml/2006/main">
              <a:ext uri="{FF2B5EF4-FFF2-40B4-BE49-F238E27FC236}">
                <a16:creationId xmlns:a16="http://schemas.microsoft.com/office/drawing/2014/main" id="{5F324BA5-8D29-4B3D-A978-59C64B57524A}"/>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31">
            <a:extLst xmlns:a="http://schemas.openxmlformats.org/drawingml/2006/main">
              <a:ext uri="{FF2B5EF4-FFF2-40B4-BE49-F238E27FC236}">
                <a16:creationId xmlns:a16="http://schemas.microsoft.com/office/drawing/2014/main" id="{0C67A4D8-DF86-484E-9A50-54D486493126}"/>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53</a:t>
            </a:r>
          </a:p>
        </p:txBody>
      </p:sp>
      <p:sp>
        <p:nvSpPr>
          <p:cNvPr id="6" name="01">
            <a:extLst xmlns:a="http://schemas.openxmlformats.org/drawingml/2006/main">
              <a:ext uri="{FF2B5EF4-FFF2-40B4-BE49-F238E27FC236}">
                <a16:creationId xmlns:a16="http://schemas.microsoft.com/office/drawing/2014/main" id="{21510CF2-798D-48DA-AD91-205BB5B938EF}"/>
              </a:ext>
            </a:extLst>
          </p:cNvPr>
          <p:cNvSpPr>
            <a:spLocks xmlns:a="http://schemas.openxmlformats.org/drawingml/2006/main" noGrp="1"/>
          </p:cNvSpPr>
          <p:nvPr/>
        </p:nvSpPr>
        <p:spPr>
          <a:xfrm xmlns:a="http://schemas.openxmlformats.org/drawingml/2006/main">
            <a:off x="628650" y="18002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01</a:t>
            </a:r>
          </a:p>
        </p:txBody>
      </p:sp>
      <p:sp>
        <p:nvSpPr>
          <p:cNvPr id="7" name="Võ Hữu Thắng bổ sung đề bài.">
            <a:extLst xmlns:a="http://schemas.openxmlformats.org/drawingml/2006/main">
              <a:ext uri="{FF2B5EF4-FFF2-40B4-BE49-F238E27FC236}">
                <a16:creationId xmlns:a16="http://schemas.microsoft.com/office/drawing/2014/main" id="{26B8353B-3796-4CA3-A2CA-4FCD17634703}"/>
              </a:ext>
            </a:extLst>
          </p:cNvPr>
          <p:cNvSpPr>
            <a:spLocks xmlns:a="http://schemas.openxmlformats.org/drawingml/2006/main" noGrp="1"/>
          </p:cNvSpPr>
          <p:nvPr/>
        </p:nvSpPr>
        <p:spPr>
          <a:xfrm xmlns:a="http://schemas.openxmlformats.org/drawingml/2006/main">
            <a:off x="1257300" y="17811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Võ Hữu Thắng bổ sung đề bài.</a:t>
            </a:r>
          </a:p>
        </p:txBody>
      </p:sp>
      <p:sp>
        <p:nvSpPr>
          <p:cNvPr id="8" name="02">
            <a:extLst xmlns:a="http://schemas.openxmlformats.org/drawingml/2006/main">
              <a:ext uri="{FF2B5EF4-FFF2-40B4-BE49-F238E27FC236}">
                <a16:creationId xmlns:a16="http://schemas.microsoft.com/office/drawing/2014/main" id="{EC368A21-E3D2-4F92-A6A2-F5E9F4CBEE34}"/>
              </a:ext>
            </a:extLst>
          </p:cNvPr>
          <p:cNvSpPr>
            <a:spLocks xmlns:a="http://schemas.openxmlformats.org/drawingml/2006/main" noGrp="1"/>
          </p:cNvSpPr>
          <p:nvPr/>
        </p:nvSpPr>
        <p:spPr>
          <a:xfrm xmlns:a="http://schemas.openxmlformats.org/drawingml/2006/main">
            <a:off x="628650" y="27527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02</a:t>
            </a:r>
          </a:p>
        </p:txBody>
      </p:sp>
      <p:sp>
        <p:nvSpPr>
          <p:cNvPr id="9" name="Bổ sung test plan hoặc dữ liệu cho người học.">
            <a:extLst xmlns:a="http://schemas.openxmlformats.org/drawingml/2006/main">
              <a:ext uri="{FF2B5EF4-FFF2-40B4-BE49-F238E27FC236}">
                <a16:creationId xmlns:a16="http://schemas.microsoft.com/office/drawing/2014/main" id="{57015977-5A32-4EFC-8F8F-550C79628100}"/>
              </a:ext>
            </a:extLst>
          </p:cNvPr>
          <p:cNvSpPr>
            <a:spLocks xmlns:a="http://schemas.openxmlformats.org/drawingml/2006/main" noGrp="1"/>
          </p:cNvSpPr>
          <p:nvPr/>
        </p:nvSpPr>
        <p:spPr>
          <a:xfrm xmlns:a="http://schemas.openxmlformats.org/drawingml/2006/main">
            <a:off x="1257300" y="27336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Bổ sung test plan hoặc dữ liệu cho người học.</a:t>
            </a:r>
          </a:p>
        </p:txBody>
      </p:sp>
      <p:sp>
        <p:nvSpPr>
          <p:cNvPr id="10" name="03">
            <a:extLst xmlns:a="http://schemas.openxmlformats.org/drawingml/2006/main">
              <a:ext uri="{FF2B5EF4-FFF2-40B4-BE49-F238E27FC236}">
                <a16:creationId xmlns:a16="http://schemas.microsoft.com/office/drawing/2014/main" id="{B64928CF-BF43-4DBE-B3AE-7D80351D08B3}"/>
              </a:ext>
            </a:extLst>
          </p:cNvPr>
          <p:cNvSpPr>
            <a:spLocks xmlns:a="http://schemas.openxmlformats.org/drawingml/2006/main" noGrp="1"/>
          </p:cNvSpPr>
          <p:nvPr/>
        </p:nvSpPr>
        <p:spPr>
          <a:xfrm xmlns:a="http://schemas.openxmlformats.org/drawingml/2006/main">
            <a:off x="628650" y="37052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03</a:t>
            </a:r>
          </a:p>
        </p:txBody>
      </p:sp>
      <p:sp>
        <p:nvSpPr>
          <p:cNvPr id="11" name="Bổ sung gợi ý và cách kiểm tra kết quả.">
            <a:extLst xmlns:a="http://schemas.openxmlformats.org/drawingml/2006/main">
              <a:ext uri="{FF2B5EF4-FFF2-40B4-BE49-F238E27FC236}">
                <a16:creationId xmlns:a16="http://schemas.microsoft.com/office/drawing/2014/main" id="{BC93D37E-B844-4745-AD1F-AEB3F2F64BE5}"/>
              </a:ext>
            </a:extLst>
          </p:cNvPr>
          <p:cNvSpPr>
            <a:spLocks xmlns:a="http://schemas.openxmlformats.org/drawingml/2006/main" noGrp="1"/>
          </p:cNvSpPr>
          <p:nvPr/>
        </p:nvSpPr>
        <p:spPr>
          <a:xfrm xmlns:a="http://schemas.openxmlformats.org/drawingml/2006/main">
            <a:off x="1257300" y="36861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Bổ sung gợi ý và cách kiểm tra kết quả.</a:t>
            </a:r>
          </a:p>
        </p:txBody>
      </p:sp>
    </p:spTree>
    <p:extLst>
      <p:ext uri="{BB962C8B-B14F-4D97-AF65-F5344CB8AC3E}">
        <p14:creationId xmlns:p14="http://schemas.microsoft.com/office/powerpoint/2010/main" val="399606572"/>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WEB AUDIT / MINH THẮNG">
            <a:extLst xmlns:a="http://schemas.openxmlformats.org/drawingml/2006/main">
              <a:ext uri="{FF2B5EF4-FFF2-40B4-BE49-F238E27FC236}">
                <a16:creationId xmlns:a16="http://schemas.microsoft.com/office/drawing/2014/main" id="{DDE8C96C-78DA-4BCD-A549-FF1360A7D5FB}"/>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WEB AUDIT / MINH THẮNG</a:t>
            </a:r>
          </a:p>
        </p:txBody>
      </p:sp>
      <p:sp>
        <p:nvSpPr>
          <p:cNvPr id="3" name="HAR và dữ liệu nhạy cảm">
            <a:extLst xmlns:a="http://schemas.openxmlformats.org/drawingml/2006/main">
              <a:ext uri="{FF2B5EF4-FFF2-40B4-BE49-F238E27FC236}">
                <a16:creationId xmlns:a16="http://schemas.microsoft.com/office/drawing/2014/main" id="{FD401BE0-0493-49EF-A3EC-F6BDCCA5AE91}"/>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HAR và dữ liệu nhạy cảm</a:t>
            </a:r>
          </a:p>
        </p:txBody>
      </p:sp>
      <p:sp>
        <p:nvSpPr>
          <p:cNvPr id="4" name="Performance Testing trên EShop">
            <a:extLst xmlns:a="http://schemas.openxmlformats.org/drawingml/2006/main">
              <a:ext uri="{FF2B5EF4-FFF2-40B4-BE49-F238E27FC236}">
                <a16:creationId xmlns:a16="http://schemas.microsoft.com/office/drawing/2014/main" id="{D37EF558-A9B6-4CBC-A92E-87B9418375C1}"/>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32">
            <a:extLst xmlns:a="http://schemas.openxmlformats.org/drawingml/2006/main">
              <a:ext uri="{FF2B5EF4-FFF2-40B4-BE49-F238E27FC236}">
                <a16:creationId xmlns:a16="http://schemas.microsoft.com/office/drawing/2014/main" id="{63CB4686-FD43-4ABB-9A47-EFE0C437EF23}"/>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54</a:t>
            </a:r>
          </a:p>
        </p:txBody>
      </p:sp>
      <p:sp>
        <p:nvSpPr>
          <p:cNvPr id="6" name="01">
            <a:extLst xmlns:a="http://schemas.openxmlformats.org/drawingml/2006/main">
              <a:ext uri="{FF2B5EF4-FFF2-40B4-BE49-F238E27FC236}">
                <a16:creationId xmlns:a16="http://schemas.microsoft.com/office/drawing/2014/main" id="{9B6591AD-3CE1-49F9-8BD8-42871C5D2C70}"/>
              </a:ext>
            </a:extLst>
          </p:cNvPr>
          <p:cNvSpPr>
            <a:spLocks xmlns:a="http://schemas.openxmlformats.org/drawingml/2006/main" noGrp="1"/>
          </p:cNvSpPr>
          <p:nvPr/>
        </p:nvSpPr>
        <p:spPr>
          <a:xfrm xmlns:a="http://schemas.openxmlformats.org/drawingml/2006/main">
            <a:off x="628650" y="18002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01</a:t>
            </a:r>
          </a:p>
        </p:txBody>
      </p:sp>
      <p:sp>
        <p:nvSpPr>
          <p:cNvPr id="7" name="HAR ghi traffic HTTP của một phiên thao tác.">
            <a:extLst xmlns:a="http://schemas.openxmlformats.org/drawingml/2006/main">
              <a:ext uri="{FF2B5EF4-FFF2-40B4-BE49-F238E27FC236}">
                <a16:creationId xmlns:a16="http://schemas.microsoft.com/office/drawing/2014/main" id="{7EFE1127-6172-4416-9E3E-7898CC7B0ACF}"/>
              </a:ext>
            </a:extLst>
          </p:cNvPr>
          <p:cNvSpPr>
            <a:spLocks xmlns:a="http://schemas.openxmlformats.org/drawingml/2006/main" noGrp="1"/>
          </p:cNvSpPr>
          <p:nvPr/>
        </p:nvSpPr>
        <p:spPr>
          <a:xfrm xmlns:a="http://schemas.openxmlformats.org/drawingml/2006/main">
            <a:off x="1257300" y="17811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HAR (HTTP Archive) là file JSON ghi các giao dịch HTTP của một phiên trình duyệt.</a:t>
            </a:r>
          </a:p>
        </p:txBody>
      </p:sp>
      <p:sp>
        <p:nvSpPr>
          <p:cNvPr id="8" name="02">
            <a:extLst xmlns:a="http://schemas.openxmlformats.org/drawingml/2006/main">
              <a:ext uri="{FF2B5EF4-FFF2-40B4-BE49-F238E27FC236}">
                <a16:creationId xmlns:a16="http://schemas.microsoft.com/office/drawing/2014/main" id="{14ACBA17-81B6-4234-AEE3-E1768B5D3BBD}"/>
              </a:ext>
            </a:extLst>
          </p:cNvPr>
          <p:cNvSpPr>
            <a:spLocks xmlns:a="http://schemas.openxmlformats.org/drawingml/2006/main" noGrp="1"/>
          </p:cNvSpPr>
          <p:nvPr/>
        </p:nvSpPr>
        <p:spPr>
          <a:xfrm xmlns:a="http://schemas.openxmlformats.org/drawingml/2006/main">
            <a:off x="628650" y="27527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02</a:t>
            </a:r>
          </a:p>
        </p:txBody>
      </p:sp>
      <p:sp>
        <p:nvSpPr>
          <p:cNvPr id="9" name="Phân biệt API nghiệp vụ với assets, OPTIONS và cache.">
            <a:extLst xmlns:a="http://schemas.openxmlformats.org/drawingml/2006/main">
              <a:ext uri="{FF2B5EF4-FFF2-40B4-BE49-F238E27FC236}">
                <a16:creationId xmlns:a16="http://schemas.microsoft.com/office/drawing/2014/main" id="{BAB6D7EE-9A93-4AB1-87E3-73F6988CD693}"/>
              </a:ext>
            </a:extLst>
          </p:cNvPr>
          <p:cNvSpPr>
            <a:spLocks xmlns:a="http://schemas.openxmlformats.org/drawingml/2006/main" noGrp="1"/>
          </p:cNvSpPr>
          <p:nvPr/>
        </p:nvSpPr>
        <p:spPr>
          <a:xfrm xmlns:a="http://schemas.openxmlformats.org/drawingml/2006/main">
            <a:off x="1257300" y="27336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Một lần bấm có thể sinh nhiều request. HAR chứa cả API, assets và preflight OPTIONS.</a:t>
            </a:r>
          </a:p>
        </p:txBody>
      </p:sp>
      <p:sp>
        <p:nvSpPr>
          <p:cNvPr id="10" name="03">
            <a:extLst xmlns:a="http://schemas.openxmlformats.org/drawingml/2006/main">
              <a:ext uri="{FF2B5EF4-FFF2-40B4-BE49-F238E27FC236}">
                <a16:creationId xmlns:a16="http://schemas.microsoft.com/office/drawing/2014/main" id="{CD5460FD-F87D-44F1-9C91-F0496DEA7C53}"/>
              </a:ext>
            </a:extLst>
          </p:cNvPr>
          <p:cNvSpPr>
            <a:spLocks xmlns:a="http://schemas.openxmlformats.org/drawingml/2006/main" noGrp="1"/>
          </p:cNvSpPr>
          <p:nvPr/>
        </p:nvSpPr>
        <p:spPr>
          <a:xfrm xmlns:a="http://schemas.openxmlformats.org/drawingml/2006/main">
            <a:off x="628650" y="37052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03</a:t>
            </a:r>
          </a:p>
        </p:txBody>
      </p:sp>
      <p:sp>
        <p:nvSpPr>
          <p:cNvPr id="11" name="Che password, token, cookie và thông tin cá nhân.">
            <a:extLst xmlns:a="http://schemas.openxmlformats.org/drawingml/2006/main">
              <a:ext uri="{FF2B5EF4-FFF2-40B4-BE49-F238E27FC236}">
                <a16:creationId xmlns:a16="http://schemas.microsoft.com/office/drawing/2014/main" id="{2AA7D544-0EB0-4D86-8447-37636ECB8042}"/>
              </a:ext>
            </a:extLst>
          </p:cNvPr>
          <p:cNvSpPr>
            <a:spLocks xmlns:a="http://schemas.openxmlformats.org/drawingml/2006/main" noGrp="1"/>
          </p:cNvSpPr>
          <p:nvPr/>
        </p:nvSpPr>
        <p:spPr>
          <a:xfrm xmlns:a="http://schemas.openxmlformats.org/drawingml/2006/main">
            <a:off x="1257300" y="36861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Che password, token, cookie và dữ liệu cá nhân trong URL, headers lẫn body.</a:t>
            </a:r>
          </a:p>
        </p:txBody>
      </p:sp>
      <p:sp>
        <p:nvSpPr>
          <p:cNvPr id="12" name="04">
            <a:extLst xmlns:a="http://schemas.openxmlformats.org/drawingml/2006/main">
              <a:ext uri="{FF2B5EF4-FFF2-40B4-BE49-F238E27FC236}">
                <a16:creationId xmlns:a16="http://schemas.microsoft.com/office/drawing/2014/main" id="{D46F3BF2-E6B2-419A-928A-5E23146ABA6A}"/>
              </a:ext>
            </a:extLst>
          </p:cNvPr>
          <p:cNvSpPr>
            <a:spLocks xmlns:a="http://schemas.openxmlformats.org/drawingml/2006/main" noGrp="1"/>
          </p:cNvSpPr>
          <p:nvPr/>
        </p:nvSpPr>
        <p:spPr>
          <a:xfrm xmlns:a="http://schemas.openxmlformats.org/drawingml/2006/main">
            <a:off x="628650" y="46577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04</a:t>
            </a:r>
          </a:p>
        </p:txBody>
      </p:sp>
      <p:sp>
        <p:nvSpPr>
          <p:cNvPr id="13" name="Giữ contract làm chuẩn khi HAR chỉ có một nhánh hoặc thiếu dữ liệ">
            <a:extLst xmlns:a="http://schemas.openxmlformats.org/drawingml/2006/main">
              <a:ext uri="{FF2B5EF4-FFF2-40B4-BE49-F238E27FC236}">
                <a16:creationId xmlns:a16="http://schemas.microsoft.com/office/drawing/2014/main" id="{395A4112-770D-48FB-B02A-26435C1A12CE}"/>
              </a:ext>
            </a:extLst>
          </p:cNvPr>
          <p:cNvSpPr>
            <a:spLocks xmlns:a="http://schemas.openxmlformats.org/drawingml/2006/main" noGrp="1"/>
          </p:cNvSpPr>
          <p:nvPr/>
        </p:nvSpPr>
        <p:spPr>
          <a:xfrm xmlns:a="http://schemas.openxmlformats.org/drawingml/2006/main">
            <a:off x="1257300" y="46386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Dùng HAR để hiểu traffic đã ghi, rồi đối chiếu contract và lấy token mới khi chạy test.</a:t>
            </a:r>
          </a:p>
        </p:txBody>
      </p:sp>
    </p:spTree>
    <p:extLst>
      <p:ext uri="{BB962C8B-B14F-4D97-AF65-F5344CB8AC3E}">
        <p14:creationId xmlns:p14="http://schemas.microsoft.com/office/powerpoint/2010/main" val="1312782911"/>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HAR / CẤU TRÚC">
            <a:extLst xmlns:a="http://schemas.openxmlformats.org/drawingml/2006/main">
              <a:ext uri="{FF2B5EF4-FFF2-40B4-BE49-F238E27FC236}">
                <a16:creationId xmlns:a16="http://schemas.microsoft.com/office/drawing/2014/main" id="{04E9E393-CAEC-4C84-8E9C-E7CC9D214902}"/>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HAR / CẤU TRÚC</a:t>
            </a:r>
          </a:p>
        </p:txBody>
      </p:sp>
      <p:sp>
        <p:nvSpPr>
          <p:cNvPr id="3" name="Cấu trúc HAR cơ bản: đối tượng log">
            <a:extLst xmlns:a="http://schemas.openxmlformats.org/drawingml/2006/main">
              <a:ext uri="{FF2B5EF4-FFF2-40B4-BE49-F238E27FC236}">
                <a16:creationId xmlns:a16="http://schemas.microsoft.com/office/drawing/2014/main" id="{575C8617-AC2D-49DE-96EC-9C6C7B46CE42}"/>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Cấu trúc HAR cơ bản: đối tượng log</a:t>
            </a:r>
          </a:p>
        </p:txBody>
      </p:sp>
      <p:sp>
        <p:nvSpPr>
          <p:cNvPr id="4" name="Performance Testing trên EShop">
            <a:extLst xmlns:a="http://schemas.openxmlformats.org/drawingml/2006/main">
              <a:ext uri="{FF2B5EF4-FFF2-40B4-BE49-F238E27FC236}">
                <a16:creationId xmlns:a16="http://schemas.microsoft.com/office/drawing/2014/main" id="{780CD995-5EBD-4E99-BE4C-5C052CA36A68}"/>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PAGE_NUMBER">
            <a:extLst xmlns:a="http://schemas.openxmlformats.org/drawingml/2006/main">
              <a:ext uri="{FF2B5EF4-FFF2-40B4-BE49-F238E27FC236}">
                <a16:creationId xmlns:a16="http://schemas.microsoft.com/office/drawing/2014/main" id="{30B46B48-1E72-45B6-8834-34C543174319}"/>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55</a:t>
            </a:r>
          </a:p>
        </p:txBody>
      </p:sp>
      <p:graphicFrame>
        <p:nvGraphicFramePr>
          <p:cNvPr id="6" name="">
            <a:extLst xmlns:a="http://schemas.openxmlformats.org/drawingml/2006/main">
              <a:ext uri="{FF2B5EF4-FFF2-40B4-BE49-F238E27FC236}">
                <a16:creationId xmlns:a16="http://schemas.microsoft.com/office/drawing/2014/main" id="{40CC9693-667C-47A9-A63C-B4D495066E66}"/>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2857500"/>
                <a:gridCol w="4095750"/>
                <a:gridCol w="4019550"/>
              </a:tblGrid>
              <a:tr h="864870">
                <a:tc>
                  <a:txBody>
                    <a:bodyPr/>
                    <a:lstStyle/>
                    <a:p>
                      <a:r>
                        <a:rPr sz="1800" b="1">
                          <a:solidFill>
                            <a:srgbClr val="153E75"/>
                          </a:solidFill>
                          <a:latin typeface="Arial"/>
                          <a:ea typeface="Arial"/>
                          <a:cs typeface="Arial"/>
                        </a:rPr>
                        <a:t>Đường dẫn</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Chứa gì?</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Điểm cần nhớ</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864870">
                <a:tc>
                  <a:txBody>
                    <a:bodyPr/>
                    <a:lstStyle/>
                    <a:p>
                      <a:r>
                        <a:rPr sz="1800">
                          <a:solidFill>
                            <a:srgbClr val="151B23"/>
                          </a:solidFill>
                          <a:latin typeface="Arial"/>
                          <a:ea typeface="Arial"/>
                          <a:cs typeface="Arial"/>
                        </a:rPr>
                        <a:t>log.version / creator</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Phiên bản HAR và công cụ xuất</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Metadata của file</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log.pages[]</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Trang đã ghi, id và pageTimings</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Có thể vắng hoặc rỗng</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log.entries[]</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Danh sách giao dịch HTTP</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Nơi đọc request API</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entries[i].pageref</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Liên kết entry với pages[].id</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Tùy chọn, không phải URL</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1446551480"/>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HAR / ENTRY">
            <a:extLst xmlns:a="http://schemas.openxmlformats.org/drawingml/2006/main">
              <a:ext uri="{FF2B5EF4-FFF2-40B4-BE49-F238E27FC236}">
                <a16:creationId xmlns:a16="http://schemas.microsoft.com/office/drawing/2014/main" id="{2017EC49-747E-445F-B8DC-4429AD0888A3}"/>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HAR / ENTRY</a:t>
            </a:r>
          </a:p>
        </p:txBody>
      </p:sp>
      <p:sp>
        <p:nvSpPr>
          <p:cNvPr id="3" name="Một entry HAR mô tả một giao dịch HTTP">
            <a:extLst xmlns:a="http://schemas.openxmlformats.org/drawingml/2006/main">
              <a:ext uri="{FF2B5EF4-FFF2-40B4-BE49-F238E27FC236}">
                <a16:creationId xmlns:a16="http://schemas.microsoft.com/office/drawing/2014/main" id="{496E29AF-8D25-48FA-A0FB-FD34A1A62E43}"/>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Một entry HAR mô tả một giao dịch HTTP</a:t>
            </a:r>
          </a:p>
        </p:txBody>
      </p:sp>
      <p:sp>
        <p:nvSpPr>
          <p:cNvPr id="4" name="Performance Testing trên EShop">
            <a:extLst xmlns:a="http://schemas.openxmlformats.org/drawingml/2006/main">
              <a:ext uri="{FF2B5EF4-FFF2-40B4-BE49-F238E27FC236}">
                <a16:creationId xmlns:a16="http://schemas.microsoft.com/office/drawing/2014/main" id="{936861C1-B6BD-4266-9EA7-514E809BC45E}"/>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PAGE_NUMBER">
            <a:extLst xmlns:a="http://schemas.openxmlformats.org/drawingml/2006/main">
              <a:ext uri="{FF2B5EF4-FFF2-40B4-BE49-F238E27FC236}">
                <a16:creationId xmlns:a16="http://schemas.microsoft.com/office/drawing/2014/main" id="{F12A4D23-9FF5-4E04-938F-A4BCB24A49B7}"/>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56</a:t>
            </a:r>
          </a:p>
        </p:txBody>
      </p:sp>
      <p:graphicFrame>
        <p:nvGraphicFramePr>
          <p:cNvPr id="6" name="">
            <a:extLst xmlns:a="http://schemas.openxmlformats.org/drawingml/2006/main">
              <a:ext uri="{FF2B5EF4-FFF2-40B4-BE49-F238E27FC236}">
                <a16:creationId xmlns:a16="http://schemas.microsoft.com/office/drawing/2014/main" id="{D39E44D9-5663-49D9-B6F2-AD91619E1BF6}"/>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3143250"/>
                <a:gridCol w="4095750"/>
                <a:gridCol w="3733800"/>
              </a:tblGrid>
              <a:tr h="864870">
                <a:tc>
                  <a:txBody>
                    <a:bodyPr/>
                    <a:lstStyle/>
                    <a:p>
                      <a:r>
                        <a:rPr sz="1800" b="1">
                          <a:solidFill>
                            <a:srgbClr val="153E75"/>
                          </a:solidFill>
                          <a:latin typeface="Arial"/>
                          <a:ea typeface="Arial"/>
                          <a:cs typeface="Arial"/>
                        </a:rPr>
                        <a:t>Trường trong entries[i]</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Nội dung</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Ứng dụng khi audit</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864870">
                <a:tc>
                  <a:txBody>
                    <a:bodyPr/>
                    <a:lstStyle/>
                    <a:p>
                      <a:r>
                        <a:rPr sz="1800">
                          <a:solidFill>
                            <a:srgbClr val="151B23"/>
                          </a:solidFill>
                          <a:latin typeface="Arial"/>
                          <a:ea typeface="Arial"/>
                          <a:cs typeface="Arial"/>
                        </a:rPr>
                        <a:t>startedDateTime / time</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Thời điểm bắt đầu / thời gian ms</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Sắp thứ tự và đọc độ dài request</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request</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Method, URL, headers và payload</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Dựng lại lời gọi API</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response</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Status, headers và content</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Tìm dữ liệu trả về để kiểm tra</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timings / cache</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Các pha thời gian / thông tin cache</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Giải thích số đo và cache hit</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1075339762"/>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HAR / REQUEST">
            <a:extLst xmlns:a="http://schemas.openxmlformats.org/drawingml/2006/main">
              <a:ext uri="{FF2B5EF4-FFF2-40B4-BE49-F238E27FC236}">
                <a16:creationId xmlns:a16="http://schemas.microsoft.com/office/drawing/2014/main" id="{2EC3709A-96E8-4990-9975-4D756B181FAA}"/>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HAR / REQUEST</a:t>
            </a:r>
          </a:p>
        </p:txBody>
      </p:sp>
      <p:sp>
        <p:nvSpPr>
          <p:cNvPr id="3" name="HAR request: dữ liệu gửi đến server">
            <a:extLst xmlns:a="http://schemas.openxmlformats.org/drawingml/2006/main">
              <a:ext uri="{FF2B5EF4-FFF2-40B4-BE49-F238E27FC236}">
                <a16:creationId xmlns:a16="http://schemas.microsoft.com/office/drawing/2014/main" id="{B103A8FE-90DB-46C7-9647-2EB633B8BF5E}"/>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HAR request: dữ liệu gửi đến server</a:t>
            </a:r>
          </a:p>
        </p:txBody>
      </p:sp>
      <p:sp>
        <p:nvSpPr>
          <p:cNvPr id="4" name="Performance Testing trên EShop">
            <a:extLst xmlns:a="http://schemas.openxmlformats.org/drawingml/2006/main">
              <a:ext uri="{FF2B5EF4-FFF2-40B4-BE49-F238E27FC236}">
                <a16:creationId xmlns:a16="http://schemas.microsoft.com/office/drawing/2014/main" id="{CEC0AA81-BF62-4D1A-8905-E332004333AA}"/>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PAGE_NUMBER">
            <a:extLst xmlns:a="http://schemas.openxmlformats.org/drawingml/2006/main">
              <a:ext uri="{FF2B5EF4-FFF2-40B4-BE49-F238E27FC236}">
                <a16:creationId xmlns:a16="http://schemas.microsoft.com/office/drawing/2014/main" id="{F620B5C9-AEB5-4CBF-9C73-1D3D579CDE7E}"/>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57</a:t>
            </a:r>
          </a:p>
        </p:txBody>
      </p:sp>
      <p:graphicFrame>
        <p:nvGraphicFramePr>
          <p:cNvPr id="6" name="">
            <a:extLst xmlns:a="http://schemas.openxmlformats.org/drawingml/2006/main">
              <a:ext uri="{FF2B5EF4-FFF2-40B4-BE49-F238E27FC236}">
                <a16:creationId xmlns:a16="http://schemas.microsoft.com/office/drawing/2014/main" id="{EB0A2D0A-70DE-4CA3-A312-7F415C43DBFB}"/>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2667000"/>
                <a:gridCol w="4095750"/>
                <a:gridCol w="4210050"/>
              </a:tblGrid>
              <a:tr h="864870">
                <a:tc>
                  <a:txBody>
                    <a:bodyPr/>
                    <a:lstStyle/>
                    <a:p>
                      <a:r>
                        <a:rPr sz="1800" b="1">
                          <a:solidFill>
                            <a:srgbClr val="153E75"/>
                          </a:solidFill>
                          <a:latin typeface="Arial"/>
                          <a:ea typeface="Arial"/>
                          <a:cs typeface="Arial"/>
                        </a:rPr>
                        <a:t>Trường</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Cách đọc</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Ví dụ EShop</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864870">
                <a:tc>
                  <a:txBody>
                    <a:bodyPr/>
                    <a:lstStyle/>
                    <a:p>
                      <a:r>
                        <a:rPr sz="1800">
                          <a:solidFill>
                            <a:srgbClr val="151B23"/>
                          </a:solidFill>
                          <a:latin typeface="Arial"/>
                          <a:ea typeface="Arial"/>
                          <a:cs typeface="Arial"/>
                        </a:rPr>
                        <a:t>method / url</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Hành động HTTP và địa chỉ tuyệt đối</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POST http://localhost:3000/api/login</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headers[] / cookies[]</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Các cặp tên–giá trị và cookie</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Content-Type: application/json</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queryString[]</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Tham số query ở URL</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search = iPhone</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postData</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Kiểu body và text hoặc params</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JSON có email, password</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221967158"/>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HAR / RESPONSE">
            <a:extLst xmlns:a="http://schemas.openxmlformats.org/drawingml/2006/main">
              <a:ext uri="{FF2B5EF4-FFF2-40B4-BE49-F238E27FC236}">
                <a16:creationId xmlns:a16="http://schemas.microsoft.com/office/drawing/2014/main" id="{00974A91-7CD5-4FA1-AE38-23FB6CEB995B}"/>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HAR / RESPONSE</a:t>
            </a:r>
          </a:p>
        </p:txBody>
      </p:sp>
      <p:sp>
        <p:nvSpPr>
          <p:cNvPr id="3" name="HAR response: kết quả server trả về">
            <a:extLst xmlns:a="http://schemas.openxmlformats.org/drawingml/2006/main">
              <a:ext uri="{FF2B5EF4-FFF2-40B4-BE49-F238E27FC236}">
                <a16:creationId xmlns:a16="http://schemas.microsoft.com/office/drawing/2014/main" id="{A5E0ECDB-1CA9-4BA1-AB2D-FAFBECD1AB86}"/>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HAR response: kết quả server trả về</a:t>
            </a:r>
          </a:p>
        </p:txBody>
      </p:sp>
      <p:sp>
        <p:nvSpPr>
          <p:cNvPr id="4" name="Performance Testing trên EShop">
            <a:extLst xmlns:a="http://schemas.openxmlformats.org/drawingml/2006/main">
              <a:ext uri="{FF2B5EF4-FFF2-40B4-BE49-F238E27FC236}">
                <a16:creationId xmlns:a16="http://schemas.microsoft.com/office/drawing/2014/main" id="{8E8443EF-47EC-4AF4-BBB9-C4FA74D593B0}"/>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PAGE_NUMBER">
            <a:extLst xmlns:a="http://schemas.openxmlformats.org/drawingml/2006/main">
              <a:ext uri="{FF2B5EF4-FFF2-40B4-BE49-F238E27FC236}">
                <a16:creationId xmlns:a16="http://schemas.microsoft.com/office/drawing/2014/main" id="{79E9A4EE-353E-4357-8EDE-6D36FFC59979}"/>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58</a:t>
            </a:r>
          </a:p>
        </p:txBody>
      </p:sp>
      <p:graphicFrame>
        <p:nvGraphicFramePr>
          <p:cNvPr id="6" name="">
            <a:extLst xmlns:a="http://schemas.openxmlformats.org/drawingml/2006/main">
              <a:ext uri="{FF2B5EF4-FFF2-40B4-BE49-F238E27FC236}">
                <a16:creationId xmlns:a16="http://schemas.microsoft.com/office/drawing/2014/main" id="{6E6C476F-3B08-4764-A1BA-6491322F58AC}"/>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3143250"/>
                <a:gridCol w="3810000"/>
                <a:gridCol w="4019550"/>
              </a:tblGrid>
              <a:tr h="864870">
                <a:tc>
                  <a:txBody>
                    <a:bodyPr/>
                    <a:lstStyle/>
                    <a:p>
                      <a:r>
                        <a:rPr sz="1800" b="1">
                          <a:solidFill>
                            <a:srgbClr val="153E75"/>
                          </a:solidFill>
                          <a:latin typeface="Arial"/>
                          <a:ea typeface="Arial"/>
                          <a:cs typeface="Arial"/>
                        </a:rPr>
                        <a:t>Trường</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Ý nghĩa</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Cách dùng cho script</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864870">
                <a:tc>
                  <a:txBody>
                    <a:bodyPr/>
                    <a:lstStyle/>
                    <a:p>
                      <a:r>
                        <a:rPr sz="1800">
                          <a:solidFill>
                            <a:srgbClr val="151B23"/>
                          </a:solidFill>
                          <a:latin typeface="Arial"/>
                          <a:ea typeface="Arial"/>
                          <a:cs typeface="Arial"/>
                        </a:rPr>
                        <a:t>status / statusText</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Mã HTTP và mô tả</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Đặt check theo contract</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headers[] / cookies[]</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Header và cookie phản hồi</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Đọc Content-Type, quản lý phiên</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content.mimeType / text</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Loại dữ liệu và body nếu có</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Parse JSON, tìm token/orderId</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content.encoding / size</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Mã hóa nếu có / kích thước byte</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Giải mã base64 khi cần</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810892282"/>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HAR / TIMING">
            <a:extLst xmlns:a="http://schemas.openxmlformats.org/drawingml/2006/main">
              <a:ext uri="{FF2B5EF4-FFF2-40B4-BE49-F238E27FC236}">
                <a16:creationId xmlns:a16="http://schemas.microsoft.com/office/drawing/2014/main" id="{37EB7D64-81ED-4419-8E6A-2295B96426B1}"/>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HAR / TIMING</a:t>
            </a:r>
          </a:p>
        </p:txBody>
      </p:sp>
      <p:sp>
        <p:nvSpPr>
          <p:cNvPr id="3" name="HAR timings: thời gian nằm ở đâu?">
            <a:extLst xmlns:a="http://schemas.openxmlformats.org/drawingml/2006/main">
              <a:ext uri="{FF2B5EF4-FFF2-40B4-BE49-F238E27FC236}">
                <a16:creationId xmlns:a16="http://schemas.microsoft.com/office/drawing/2014/main" id="{8EF2C378-1841-461D-A83F-8BD28F62DE4E}"/>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HAR timings: thời gian nằm ở đâu?</a:t>
            </a:r>
          </a:p>
        </p:txBody>
      </p:sp>
      <p:sp>
        <p:nvSpPr>
          <p:cNvPr id="4" name="Performance Testing trên EShop">
            <a:extLst xmlns:a="http://schemas.openxmlformats.org/drawingml/2006/main">
              <a:ext uri="{FF2B5EF4-FFF2-40B4-BE49-F238E27FC236}">
                <a16:creationId xmlns:a16="http://schemas.microsoft.com/office/drawing/2014/main" id="{55C928F2-6978-4E3F-B1D4-D217DFE66A51}"/>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PAGE_NUMBER">
            <a:extLst xmlns:a="http://schemas.openxmlformats.org/drawingml/2006/main">
              <a:ext uri="{FF2B5EF4-FFF2-40B4-BE49-F238E27FC236}">
                <a16:creationId xmlns:a16="http://schemas.microsoft.com/office/drawing/2014/main" id="{98FFBFD7-167C-4E33-8708-A1BB6AF4D913}"/>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59</a:t>
            </a:r>
          </a:p>
        </p:txBody>
      </p:sp>
      <p:graphicFrame>
        <p:nvGraphicFramePr>
          <p:cNvPr id="6" name="">
            <a:extLst xmlns:a="http://schemas.openxmlformats.org/drawingml/2006/main">
              <a:ext uri="{FF2B5EF4-FFF2-40B4-BE49-F238E27FC236}">
                <a16:creationId xmlns:a16="http://schemas.microsoft.com/office/drawing/2014/main" id="{7F3ABCAA-C231-4260-A9FE-9B7B7874F3FB}"/>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2667000"/>
                <a:gridCol w="4095750"/>
                <a:gridCol w="4210050"/>
              </a:tblGrid>
              <a:tr h="864870">
                <a:tc>
                  <a:txBody>
                    <a:bodyPr/>
                    <a:lstStyle/>
                    <a:p>
                      <a:r>
                        <a:rPr sz="1800" b="1">
                          <a:solidFill>
                            <a:srgbClr val="153E75"/>
                          </a:solidFill>
                          <a:latin typeface="Arial"/>
                          <a:ea typeface="Arial"/>
                          <a:cs typeface="Arial"/>
                        </a:rPr>
                        <a:t>Pha</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Ý nghĩa</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Lưu ý</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864870">
                <a:tc>
                  <a:txBody>
                    <a:bodyPr/>
                    <a:lstStyle/>
                    <a:p>
                      <a:r>
                        <a:rPr sz="1800">
                          <a:solidFill>
                            <a:srgbClr val="151B23"/>
                          </a:solidFill>
                          <a:latin typeface="Arial"/>
                          <a:ea typeface="Arial"/>
                          <a:cs typeface="Arial"/>
                        </a:rPr>
                        <a:t>blocked / dns</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Chờ kết nối / phân giải tên miền</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Có thể -1 nếu không áp dụng</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connect / ssl</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Kết nối TCP / bắt tay TLS</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ssl nằm trong connect, tránh cộng hai lần</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send / wait / receive</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Gửi request / chờ / nhận response</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wait chịu ảnh hưởng mạng và server</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entry.time</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Tổng các pha áp dụng của request</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Khác thời gian tải cả trang</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892069136"/>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HAR / VÍ DỤ RÚT GỌN">
            <a:extLst xmlns:a="http://schemas.openxmlformats.org/drawingml/2006/main">
              <a:ext uri="{FF2B5EF4-FFF2-40B4-BE49-F238E27FC236}">
                <a16:creationId xmlns:a16="http://schemas.microsoft.com/office/drawing/2014/main" id="{4A43330B-BCDA-4B60-80AF-126F020497F7}"/>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HAR / VÍ DỤ RÚT GỌN</a:t>
            </a:r>
          </a:p>
        </p:txBody>
      </p:sp>
      <p:sp>
        <p:nvSpPr>
          <p:cNvPr id="3" name="HAR mẫu: đọc một request Search">
            <a:extLst xmlns:a="http://schemas.openxmlformats.org/drawingml/2006/main">
              <a:ext uri="{FF2B5EF4-FFF2-40B4-BE49-F238E27FC236}">
                <a16:creationId xmlns:a16="http://schemas.microsoft.com/office/drawing/2014/main" id="{E529CE74-713B-4705-936A-A8CE452D5382}"/>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HAR mẫu: đọc một request Search</a:t>
            </a:r>
          </a:p>
        </p:txBody>
      </p:sp>
      <p:sp>
        <p:nvSpPr>
          <p:cNvPr id="4" name="Performance Testing trên EShop">
            <a:extLst xmlns:a="http://schemas.openxmlformats.org/drawingml/2006/main">
              <a:ext uri="{FF2B5EF4-FFF2-40B4-BE49-F238E27FC236}">
                <a16:creationId xmlns:a16="http://schemas.microsoft.com/office/drawing/2014/main" id="{3520CC08-251F-40DA-BFAE-CDEB9214CB59}"/>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PAGE_NUMBER">
            <a:extLst xmlns:a="http://schemas.openxmlformats.org/drawingml/2006/main">
              <a:ext uri="{FF2B5EF4-FFF2-40B4-BE49-F238E27FC236}">
                <a16:creationId xmlns:a16="http://schemas.microsoft.com/office/drawing/2014/main" id="{E61A1951-1E11-45C3-955D-5F1881B1F847}"/>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60</a:t>
            </a:r>
          </a:p>
        </p:txBody>
      </p:sp>
      <p:sp>
        <p:nvSpPr>
          <p:cNvPr id="6" name="{&#10;  &quot;request&quot;: {&#10;    &quot;method&quot;: &quot;GET&quot;,&#10;    &quot;url&quot;: &quot;http://localhos">
            <a:extLst xmlns:a="http://schemas.openxmlformats.org/drawingml/2006/main">
              <a:ext uri="{FF2B5EF4-FFF2-40B4-BE49-F238E27FC236}">
                <a16:creationId xmlns:a16="http://schemas.microsoft.com/office/drawing/2014/main" id="{F0DB2F16-732B-4B41-98C0-5EE10E37CB9B}"/>
              </a:ext>
            </a:extLst>
          </p:cNvPr>
          <p:cNvSpPr>
            <a:spLocks xmlns:a="http://schemas.openxmlformats.org/drawingml/2006/main" noGrp="1"/>
          </p:cNvSpPr>
          <p:nvPr/>
        </p:nvSpPr>
        <p:spPr>
          <a:xfrm xmlns:a="http://schemas.openxmlformats.org/drawingml/2006/main">
            <a:off x="609600" y="1752600"/>
            <a:ext cx="109728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51B23"/>
                </a:solidFill>
                <a:latin typeface="Arial"/>
                <a:ea typeface="Arial"/>
                <a:cs typeface="Arial"/>
              </a:defRPr>
            </a:defPPr>
            <a:lvl1pPr>
              <a:defRPr sz="1800" b="0">
                <a:solidFill>
                  <a:srgbClr val="151B23"/>
                </a:solidFill>
                <a:latin typeface="Arial"/>
                <a:ea typeface="Arial"/>
                <a:cs typeface="Arial"/>
              </a:defRPr>
            </a:lvl1pPr>
            <a:lvl2pPr>
              <a:defRPr sz="1800" b="0">
                <a:solidFill>
                  <a:srgbClr val="151B23"/>
                </a:solidFill>
                <a:latin typeface="Arial"/>
                <a:ea typeface="Arial"/>
                <a:cs typeface="Arial"/>
              </a:defRPr>
            </a:lvl2pPr>
            <a:lvl3pPr>
              <a:defRPr sz="1800" b="0">
                <a:solidFill>
                  <a:srgbClr val="151B23"/>
                </a:solidFill>
                <a:latin typeface="Arial"/>
                <a:ea typeface="Arial"/>
                <a:cs typeface="Arial"/>
              </a:defRPr>
            </a:lvl3pPr>
            <a:lvl4pPr>
              <a:defRPr sz="1800" b="0">
                <a:solidFill>
                  <a:srgbClr val="151B23"/>
                </a:solidFill>
                <a:latin typeface="Arial"/>
                <a:ea typeface="Arial"/>
                <a:cs typeface="Arial"/>
              </a:defRPr>
            </a:lvl4pPr>
            <a:lvl5pPr>
              <a:defRPr sz="1800" b="0">
                <a:solidFill>
                  <a:srgbClr val="151B23"/>
                </a:solidFill>
                <a:latin typeface="Arial"/>
                <a:ea typeface="Arial"/>
                <a:cs typeface="Arial"/>
              </a:defRPr>
            </a:lvl5pPr>
            <a:lvl6pPr>
              <a:defRPr sz="1800" b="0">
                <a:solidFill>
                  <a:srgbClr val="151B23"/>
                </a:solidFill>
                <a:latin typeface="Arial"/>
                <a:ea typeface="Arial"/>
                <a:cs typeface="Arial"/>
              </a:defRPr>
            </a:lvl6pPr>
            <a:lvl7pPr>
              <a:defRPr sz="1800" b="0">
                <a:solidFill>
                  <a:srgbClr val="151B23"/>
                </a:solidFill>
                <a:latin typeface="Arial"/>
                <a:ea typeface="Arial"/>
                <a:cs typeface="Arial"/>
              </a:defRPr>
            </a:lvl7pPr>
            <a:lvl8pPr>
              <a:defRPr sz="1800" b="0">
                <a:solidFill>
                  <a:srgbClr val="151B23"/>
                </a:solidFill>
                <a:latin typeface="Arial"/>
                <a:ea typeface="Arial"/>
                <a:cs typeface="Arial"/>
              </a:defRPr>
            </a:lvl8pPr>
            <a:lvl9pPr>
              <a:defRPr sz="1800" b="0">
                <a:solidFill>
                  <a:srgbClr val="151B23"/>
                </a:solidFill>
                <a:latin typeface="Arial"/>
                <a:ea typeface="Arial"/>
                <a:cs typeface="Arial"/>
              </a:defRPr>
            </a:lvl9pPr>
          </a:lstStyle>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"request": {</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"method": "GET",</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"url": "http://localhost:3000/api/products?search=iPhone",</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"queryString": [{"name":"search", "value":"iPhone"}]</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"response": {</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"status": 200,</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"content": {"mimeType":"application/json"}</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"time": 42,</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"timings": {"send":1, "wait":39, "receive":2}</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a:t>
            </a:r>
          </a:p>
        </p:txBody>
      </p:sp>
      <p:sp>
        <p:nvSpPr>
          <p:cNvPr id="7" name="Fragment minh họa đã lược trường. time = 1 + 39 + 2 = 42 ms khi k">
            <a:extLst xmlns:a="http://schemas.openxmlformats.org/drawingml/2006/main">
              <a:ext uri="{FF2B5EF4-FFF2-40B4-BE49-F238E27FC236}">
                <a16:creationId xmlns:a16="http://schemas.microsoft.com/office/drawing/2014/main" id="{3EA2E04A-3BD5-4065-A7A4-E500D32B64B8}"/>
              </a:ext>
            </a:extLst>
          </p:cNvPr>
          <p:cNvSpPr>
            <a:spLocks xmlns:a="http://schemas.openxmlformats.org/drawingml/2006/main" noGrp="1"/>
          </p:cNvSpPr>
          <p:nvPr/>
        </p:nvSpPr>
        <p:spPr>
          <a:xfrm xmlns:a="http://schemas.openxmlformats.org/drawingml/2006/main">
            <a:off x="609600" y="56864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2456A6"/>
                </a:solidFill>
                <a:latin typeface="Arial"/>
                <a:ea typeface="Arial"/>
                <a:cs typeface="Arial"/>
              </a:defRPr>
            </a:defPPr>
            <a:lvl1pPr>
              <a:defRPr sz="1800" b="0">
                <a:solidFill>
                  <a:srgbClr val="2456A6"/>
                </a:solidFill>
                <a:latin typeface="Arial"/>
                <a:ea typeface="Arial"/>
                <a:cs typeface="Arial"/>
              </a:defRPr>
            </a:lvl1pPr>
            <a:lvl2pPr>
              <a:defRPr sz="1800" b="0">
                <a:solidFill>
                  <a:srgbClr val="2456A6"/>
                </a:solidFill>
                <a:latin typeface="Arial"/>
                <a:ea typeface="Arial"/>
                <a:cs typeface="Arial"/>
              </a:defRPr>
            </a:lvl2pPr>
            <a:lvl3pPr>
              <a:defRPr sz="1800" b="0">
                <a:solidFill>
                  <a:srgbClr val="2456A6"/>
                </a:solidFill>
                <a:latin typeface="Arial"/>
                <a:ea typeface="Arial"/>
                <a:cs typeface="Arial"/>
              </a:defRPr>
            </a:lvl3pPr>
            <a:lvl4pPr>
              <a:defRPr sz="1800" b="0">
                <a:solidFill>
                  <a:srgbClr val="2456A6"/>
                </a:solidFill>
                <a:latin typeface="Arial"/>
                <a:ea typeface="Arial"/>
                <a:cs typeface="Arial"/>
              </a:defRPr>
            </a:lvl4pPr>
            <a:lvl5pPr>
              <a:defRPr sz="1800" b="0">
                <a:solidFill>
                  <a:srgbClr val="2456A6"/>
                </a:solidFill>
                <a:latin typeface="Arial"/>
                <a:ea typeface="Arial"/>
                <a:cs typeface="Arial"/>
              </a:defRPr>
            </a:lvl5pPr>
            <a:lvl6pPr>
              <a:defRPr sz="1800" b="0">
                <a:solidFill>
                  <a:srgbClr val="2456A6"/>
                </a:solidFill>
                <a:latin typeface="Arial"/>
                <a:ea typeface="Arial"/>
                <a:cs typeface="Arial"/>
              </a:defRPr>
            </a:lvl6pPr>
            <a:lvl7pPr>
              <a:defRPr sz="1800" b="0">
                <a:solidFill>
                  <a:srgbClr val="2456A6"/>
                </a:solidFill>
                <a:latin typeface="Arial"/>
                <a:ea typeface="Arial"/>
                <a:cs typeface="Arial"/>
              </a:defRPr>
            </a:lvl7pPr>
            <a:lvl8pPr>
              <a:defRPr sz="1800" b="0">
                <a:solidFill>
                  <a:srgbClr val="2456A6"/>
                </a:solidFill>
                <a:latin typeface="Arial"/>
                <a:ea typeface="Arial"/>
                <a:cs typeface="Arial"/>
              </a:defRPr>
            </a:lvl8pPr>
            <a:lvl9pPr>
              <a:defRPr sz="1800" b="0">
                <a:solidFill>
                  <a:srgbClr val="2456A6"/>
                </a:solidFill>
                <a:latin typeface="Arial"/>
                <a:ea typeface="Arial"/>
                <a:cs typeface="Arial"/>
              </a:defRPr>
            </a:lvl9pPr>
          </a:lstStyle>
          <a:p xmlns:a="http://schemas.openxmlformats.org/drawingml/2006/main">
            <a:pPr>
              <a:defRPr sz="1800" b="0">
                <a:solidFill>
                  <a:srgbClr val="2456A6"/>
                </a:solidFill>
                <a:latin typeface="Arial"/>
                <a:ea typeface="Arial"/>
                <a:cs typeface="Arial"/>
              </a:defRPr>
            </a:pPr>
            <a:r>
              <a:rPr sz="1800" b="0">
                <a:solidFill>
                  <a:srgbClr val="2456A6"/>
                </a:solidFill>
                <a:latin typeface="Arial"/>
                <a:ea typeface="Arial"/>
                <a:cs typeface="Arial"/>
              </a:rPr>
              <a:t>Fragment minh họa đã lược trường. time = 1 + 39 + 2 = 42 ms khi không có pha bổ sung.</a:t>
            </a:r>
          </a:p>
        </p:txBody>
      </p:sp>
    </p:spTree>
    <p:extLst>
      <p:ext uri="{BB962C8B-B14F-4D97-AF65-F5344CB8AC3E}">
        <p14:creationId xmlns:p14="http://schemas.microsoft.com/office/powerpoint/2010/main" val="356428320"/>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HAR / VẬN DỤNG">
            <a:extLst xmlns:a="http://schemas.openxmlformats.org/drawingml/2006/main">
              <a:ext uri="{FF2B5EF4-FFF2-40B4-BE49-F238E27FC236}">
                <a16:creationId xmlns:a16="http://schemas.microsoft.com/office/drawing/2014/main" id="{792D98BB-0810-41B3-92AF-557E7E1511BE}"/>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HAR / VẬN DỤNG</a:t>
            </a:r>
          </a:p>
        </p:txBody>
      </p:sp>
      <p:sp>
        <p:nvSpPr>
          <p:cNvPr id="3" name="Từ HAR đến script k6 có thể chạy lại">
            <a:extLst xmlns:a="http://schemas.openxmlformats.org/drawingml/2006/main">
              <a:ext uri="{FF2B5EF4-FFF2-40B4-BE49-F238E27FC236}">
                <a16:creationId xmlns:a16="http://schemas.microsoft.com/office/drawing/2014/main" id="{24CA5A56-9C0E-4053-BEBD-9885CAC233B5}"/>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Từ HAR đến script k6 có thể chạy lại</a:t>
            </a:r>
          </a:p>
        </p:txBody>
      </p:sp>
      <p:sp>
        <p:nvSpPr>
          <p:cNvPr id="4" name="Performance Testing trên EShop">
            <a:extLst xmlns:a="http://schemas.openxmlformats.org/drawingml/2006/main">
              <a:ext uri="{FF2B5EF4-FFF2-40B4-BE49-F238E27FC236}">
                <a16:creationId xmlns:a16="http://schemas.microsoft.com/office/drawing/2014/main" id="{7EC8940E-96E5-43E4-B773-3E1C52EAACFA}"/>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PAGE_NUMBER">
            <a:extLst xmlns:a="http://schemas.openxmlformats.org/drawingml/2006/main">
              <a:ext uri="{FF2B5EF4-FFF2-40B4-BE49-F238E27FC236}">
                <a16:creationId xmlns:a16="http://schemas.microsoft.com/office/drawing/2014/main" id="{745962C0-0691-4A45-9F3B-58F5481605F1}"/>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61</a:t>
            </a:r>
          </a:p>
        </p:txBody>
      </p:sp>
      <p:sp>
        <p:nvSpPr>
          <p:cNvPr id="6" name="1. Chọn đúng request">
            <a:extLst xmlns:a="http://schemas.openxmlformats.org/drawingml/2006/main">
              <a:ext uri="{FF2B5EF4-FFF2-40B4-BE49-F238E27FC236}">
                <a16:creationId xmlns:a16="http://schemas.microsoft.com/office/drawing/2014/main" id="{3FD0833B-72E0-4CE3-93AF-68BDFBEB6CD0}"/>
              </a:ext>
            </a:extLst>
          </p:cNvPr>
          <p:cNvSpPr>
            <a:spLocks xmlns:a="http://schemas.openxmlformats.org/drawingml/2006/main" noGrp="1"/>
          </p:cNvSpPr>
          <p:nvPr/>
        </p:nvSpPr>
        <p:spPr>
          <a:xfrm xmlns:a="http://schemas.openxmlformats.org/drawingml/2006/main">
            <a:off x="609600" y="17526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1. Chọn đúng request</a:t>
            </a:r>
          </a:p>
        </p:txBody>
      </p:sp>
      <p:sp>
        <p:nvSpPr>
          <p:cNvPr id="7" name="Giữ API nghiệp vụ cần test. Tách assets và OPTIONS khỏi workload ">
            <a:extLst xmlns:a="http://schemas.openxmlformats.org/drawingml/2006/main">
              <a:ext uri="{FF2B5EF4-FFF2-40B4-BE49-F238E27FC236}">
                <a16:creationId xmlns:a16="http://schemas.microsoft.com/office/drawing/2014/main" id="{84B8E465-78FE-4FBE-BFE5-A74ED3E18808}"/>
              </a:ext>
            </a:extLst>
          </p:cNvPr>
          <p:cNvSpPr>
            <a:spLocks xmlns:a="http://schemas.openxmlformats.org/drawingml/2006/main" noGrp="1"/>
          </p:cNvSpPr>
          <p:nvPr/>
        </p:nvSpPr>
        <p:spPr>
          <a:xfrm xmlns:a="http://schemas.openxmlformats.org/drawingml/2006/main">
            <a:off x="609600" y="2143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Giữ API nghiệp vụ cần test. Tách assets và OPTIONS khỏi workload nếu không thuộc phạm vi.</a:t>
            </a:r>
          </a:p>
        </p:txBody>
      </p:sp>
      <p:sp>
        <p:nvSpPr>
          <p:cNvPr id="8" name="2. Dựng lời gọi">
            <a:extLst xmlns:a="http://schemas.openxmlformats.org/drawingml/2006/main">
              <a:ext uri="{FF2B5EF4-FFF2-40B4-BE49-F238E27FC236}">
                <a16:creationId xmlns:a16="http://schemas.microsoft.com/office/drawing/2014/main" id="{8E83E2F0-FD33-4E98-9ABB-7BC28897D910}"/>
              </a:ext>
            </a:extLst>
          </p:cNvPr>
          <p:cNvSpPr>
            <a:spLocks xmlns:a="http://schemas.openxmlformats.org/drawingml/2006/main" noGrp="1"/>
          </p:cNvSpPr>
          <p:nvPr/>
        </p:nvSpPr>
        <p:spPr>
          <a:xfrm xmlns:a="http://schemas.openxmlformats.org/drawingml/2006/main">
            <a:off x="609600" y="28003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2. Dựng lời gọi</a:t>
            </a:r>
          </a:p>
        </p:txBody>
      </p:sp>
      <p:sp>
        <p:nvSpPr>
          <p:cNvPr id="9" name="GET/POST, path, query, headers và body trở thành http.get hoặc ht">
            <a:extLst xmlns:a="http://schemas.openxmlformats.org/drawingml/2006/main">
              <a:ext uri="{FF2B5EF4-FFF2-40B4-BE49-F238E27FC236}">
                <a16:creationId xmlns:a16="http://schemas.microsoft.com/office/drawing/2014/main" id="{F0510012-B22D-49A4-A729-77B255C7E15D}"/>
              </a:ext>
            </a:extLst>
          </p:cNvPr>
          <p:cNvSpPr>
            <a:spLocks xmlns:a="http://schemas.openxmlformats.org/drawingml/2006/main" noGrp="1"/>
          </p:cNvSpPr>
          <p:nvPr/>
        </p:nvSpPr>
        <p:spPr>
          <a:xfrm xmlns:a="http://schemas.openxmlformats.org/drawingml/2006/main">
            <a:off x="609600" y="31908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GET/POST, path, query, headers và body trở thành http.get hoặc http.post trong k6.</a:t>
            </a:r>
          </a:p>
        </p:txBody>
      </p:sp>
      <p:sp>
        <p:nvSpPr>
          <p:cNvPr id="10" name="3. Thay dữ liệu tĩnh">
            <a:extLst xmlns:a="http://schemas.openxmlformats.org/drawingml/2006/main">
              <a:ext uri="{FF2B5EF4-FFF2-40B4-BE49-F238E27FC236}">
                <a16:creationId xmlns:a16="http://schemas.microsoft.com/office/drawing/2014/main" id="{96DEC440-D6D5-422D-A7B1-9A47EFC5849B}"/>
              </a:ext>
            </a:extLst>
          </p:cNvPr>
          <p:cNvSpPr>
            <a:spLocks xmlns:a="http://schemas.openxmlformats.org/drawingml/2006/main" noGrp="1"/>
          </p:cNvSpPr>
          <p:nvPr/>
        </p:nvSpPr>
        <p:spPr>
          <a:xfrm xmlns:a="http://schemas.openxmlformats.org/drawingml/2006/main">
            <a:off x="609600" y="38481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3. Thay dữ liệu tĩnh</a:t>
            </a:r>
          </a:p>
        </p:txBody>
      </p:sp>
      <p:sp>
        <p:nvSpPr>
          <p:cNvPr id="11" name="Dùng BASE_URL, tài khoản test và keyword. Lấy token mới từ respon">
            <a:extLst xmlns:a="http://schemas.openxmlformats.org/drawingml/2006/main">
              <a:ext uri="{FF2B5EF4-FFF2-40B4-BE49-F238E27FC236}">
                <a16:creationId xmlns:a16="http://schemas.microsoft.com/office/drawing/2014/main" id="{46FE2FDB-F929-4460-8EB6-1E3B7E03CA6E}"/>
              </a:ext>
            </a:extLst>
          </p:cNvPr>
          <p:cNvSpPr>
            <a:spLocks xmlns:a="http://schemas.openxmlformats.org/drawingml/2006/main" noGrp="1"/>
          </p:cNvSpPr>
          <p:nvPr/>
        </p:nvSpPr>
        <p:spPr>
          <a:xfrm xmlns:a="http://schemas.openxmlformats.org/drawingml/2006/main">
            <a:off x="609600" y="42386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Dùng BASE_URL, tài khoản test và keyword. Lấy token mới từ response login ở mỗi phiên.</a:t>
            </a:r>
          </a:p>
        </p:txBody>
      </p:sp>
      <p:sp>
        <p:nvSpPr>
          <p:cNvPr id="12" name="4. Bổ sung thiết kế test">
            <a:extLst xmlns:a="http://schemas.openxmlformats.org/drawingml/2006/main">
              <a:ext uri="{FF2B5EF4-FFF2-40B4-BE49-F238E27FC236}">
                <a16:creationId xmlns:a16="http://schemas.microsoft.com/office/drawing/2014/main" id="{D499D0C1-AA0C-4054-8103-69548911D265}"/>
              </a:ext>
            </a:extLst>
          </p:cNvPr>
          <p:cNvSpPr>
            <a:spLocks xmlns:a="http://schemas.openxmlformats.org/drawingml/2006/main" noGrp="1"/>
          </p:cNvSpPr>
          <p:nvPr/>
        </p:nvSpPr>
        <p:spPr>
          <a:xfrm xmlns:a="http://schemas.openxmlformats.org/drawingml/2006/main">
            <a:off x="609600" y="48958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456A6"/>
                </a:solidFill>
                <a:latin typeface="Arial"/>
                <a:ea typeface="Arial"/>
                <a:cs typeface="Arial"/>
              </a:defRPr>
            </a:defPPr>
            <a:lvl1pPr>
              <a:defRPr sz="2025" b="1">
                <a:solidFill>
                  <a:srgbClr val="2456A6"/>
                </a:solidFill>
                <a:latin typeface="Arial"/>
                <a:ea typeface="Arial"/>
                <a:cs typeface="Arial"/>
              </a:defRPr>
            </a:lvl1pPr>
            <a:lvl2pPr>
              <a:defRPr sz="2025" b="1">
                <a:solidFill>
                  <a:srgbClr val="2456A6"/>
                </a:solidFill>
                <a:latin typeface="Arial"/>
                <a:ea typeface="Arial"/>
                <a:cs typeface="Arial"/>
              </a:defRPr>
            </a:lvl2pPr>
            <a:lvl3pPr>
              <a:defRPr sz="2025" b="1">
                <a:solidFill>
                  <a:srgbClr val="2456A6"/>
                </a:solidFill>
                <a:latin typeface="Arial"/>
                <a:ea typeface="Arial"/>
                <a:cs typeface="Arial"/>
              </a:defRPr>
            </a:lvl3pPr>
            <a:lvl4pPr>
              <a:defRPr sz="2025" b="1">
                <a:solidFill>
                  <a:srgbClr val="2456A6"/>
                </a:solidFill>
                <a:latin typeface="Arial"/>
                <a:ea typeface="Arial"/>
                <a:cs typeface="Arial"/>
              </a:defRPr>
            </a:lvl4pPr>
            <a:lvl5pPr>
              <a:defRPr sz="2025" b="1">
                <a:solidFill>
                  <a:srgbClr val="2456A6"/>
                </a:solidFill>
                <a:latin typeface="Arial"/>
                <a:ea typeface="Arial"/>
                <a:cs typeface="Arial"/>
              </a:defRPr>
            </a:lvl5pPr>
            <a:lvl6pPr>
              <a:defRPr sz="2025" b="1">
                <a:solidFill>
                  <a:srgbClr val="2456A6"/>
                </a:solidFill>
                <a:latin typeface="Arial"/>
                <a:ea typeface="Arial"/>
                <a:cs typeface="Arial"/>
              </a:defRPr>
            </a:lvl6pPr>
            <a:lvl7pPr>
              <a:defRPr sz="2025" b="1">
                <a:solidFill>
                  <a:srgbClr val="2456A6"/>
                </a:solidFill>
                <a:latin typeface="Arial"/>
                <a:ea typeface="Arial"/>
                <a:cs typeface="Arial"/>
              </a:defRPr>
            </a:lvl7pPr>
            <a:lvl8pPr>
              <a:defRPr sz="2025" b="1">
                <a:solidFill>
                  <a:srgbClr val="2456A6"/>
                </a:solidFill>
                <a:latin typeface="Arial"/>
                <a:ea typeface="Arial"/>
                <a:cs typeface="Arial"/>
              </a:defRPr>
            </a:lvl8pPr>
            <a:lvl9pPr>
              <a:defRPr sz="2025" b="1">
                <a:solidFill>
                  <a:srgbClr val="2456A6"/>
                </a:solidFill>
                <a:latin typeface="Arial"/>
                <a:ea typeface="Arial"/>
                <a:cs typeface="Arial"/>
              </a:defRPr>
            </a:lvl9pPr>
          </a:lstStyle>
          <a:p xmlns:a="http://schemas.openxmlformats.org/drawingml/2006/main">
            <a:pPr>
              <a:defRPr sz="2025" b="1">
                <a:solidFill>
                  <a:srgbClr val="2456A6"/>
                </a:solidFill>
                <a:latin typeface="Arial"/>
                <a:ea typeface="Arial"/>
                <a:cs typeface="Arial"/>
              </a:defRPr>
            </a:pPr>
            <a:r>
              <a:rPr sz="2025" b="1">
                <a:solidFill>
                  <a:srgbClr val="2456A6"/>
                </a:solidFill>
                <a:latin typeface="Arial"/>
                <a:ea typeface="Arial"/>
                <a:cs typeface="Arial"/>
              </a:rPr>
              <a:t>4. Bổ sung thiết kế test</a:t>
            </a:r>
          </a:p>
        </p:txBody>
      </p:sp>
      <p:sp>
        <p:nvSpPr>
          <p:cNvPr id="13" name="Thêm workload, think-time, checks và thresholds. HAR không tự cun">
            <a:extLst xmlns:a="http://schemas.openxmlformats.org/drawingml/2006/main">
              <a:ext uri="{FF2B5EF4-FFF2-40B4-BE49-F238E27FC236}">
                <a16:creationId xmlns:a16="http://schemas.microsoft.com/office/drawing/2014/main" id="{C641C11C-E936-43C7-81CA-5D294A80407E}"/>
              </a:ext>
            </a:extLst>
          </p:cNvPr>
          <p:cNvSpPr>
            <a:spLocks xmlns:a="http://schemas.openxmlformats.org/drawingml/2006/main" noGrp="1"/>
          </p:cNvSpPr>
          <p:nvPr/>
        </p:nvSpPr>
        <p:spPr>
          <a:xfrm xmlns:a="http://schemas.openxmlformats.org/drawingml/2006/main">
            <a:off x="609600" y="52863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1B23"/>
                </a:solidFill>
                <a:latin typeface="Arial"/>
                <a:ea typeface="Arial"/>
                <a:cs typeface="Arial"/>
              </a:defRPr>
            </a:defPPr>
            <a:lvl1pPr>
              <a:defRPr sz="2100" b="0">
                <a:solidFill>
                  <a:srgbClr val="151B23"/>
                </a:solidFill>
                <a:latin typeface="Arial"/>
                <a:ea typeface="Arial"/>
                <a:cs typeface="Arial"/>
              </a:defRPr>
            </a:lvl1pPr>
            <a:lvl2pPr>
              <a:defRPr sz="2100" b="0">
                <a:solidFill>
                  <a:srgbClr val="151B23"/>
                </a:solidFill>
                <a:latin typeface="Arial"/>
                <a:ea typeface="Arial"/>
                <a:cs typeface="Arial"/>
              </a:defRPr>
            </a:lvl2pPr>
            <a:lvl3pPr>
              <a:defRPr sz="2100" b="0">
                <a:solidFill>
                  <a:srgbClr val="151B23"/>
                </a:solidFill>
                <a:latin typeface="Arial"/>
                <a:ea typeface="Arial"/>
                <a:cs typeface="Arial"/>
              </a:defRPr>
            </a:lvl3pPr>
            <a:lvl4pPr>
              <a:defRPr sz="2100" b="0">
                <a:solidFill>
                  <a:srgbClr val="151B23"/>
                </a:solidFill>
                <a:latin typeface="Arial"/>
                <a:ea typeface="Arial"/>
                <a:cs typeface="Arial"/>
              </a:defRPr>
            </a:lvl4pPr>
            <a:lvl5pPr>
              <a:defRPr sz="2100" b="0">
                <a:solidFill>
                  <a:srgbClr val="151B23"/>
                </a:solidFill>
                <a:latin typeface="Arial"/>
                <a:ea typeface="Arial"/>
                <a:cs typeface="Arial"/>
              </a:defRPr>
            </a:lvl5pPr>
            <a:lvl6pPr>
              <a:defRPr sz="2100" b="0">
                <a:solidFill>
                  <a:srgbClr val="151B23"/>
                </a:solidFill>
                <a:latin typeface="Arial"/>
                <a:ea typeface="Arial"/>
                <a:cs typeface="Arial"/>
              </a:defRPr>
            </a:lvl6pPr>
            <a:lvl7pPr>
              <a:defRPr sz="2100" b="0">
                <a:solidFill>
                  <a:srgbClr val="151B23"/>
                </a:solidFill>
                <a:latin typeface="Arial"/>
                <a:ea typeface="Arial"/>
                <a:cs typeface="Arial"/>
              </a:defRPr>
            </a:lvl7pPr>
            <a:lvl8pPr>
              <a:defRPr sz="2100" b="0">
                <a:solidFill>
                  <a:srgbClr val="151B23"/>
                </a:solidFill>
                <a:latin typeface="Arial"/>
                <a:ea typeface="Arial"/>
                <a:cs typeface="Arial"/>
              </a:defRPr>
            </a:lvl8pPr>
            <a:lvl9pPr>
              <a:defRPr sz="2100" b="0">
                <a:solidFill>
                  <a:srgbClr val="151B23"/>
                </a:solidFill>
                <a:latin typeface="Arial"/>
                <a:ea typeface="Arial"/>
                <a:cs typeface="Arial"/>
              </a:defRPr>
            </a:lvl9pPr>
          </a:lstStyle>
          <a:p xmlns:a="http://schemas.openxmlformats.org/drawingml/2006/main">
            <a:pPr>
              <a:defRPr sz="2100" b="0">
                <a:solidFill>
                  <a:srgbClr val="151B23"/>
                </a:solidFill>
                <a:latin typeface="Arial"/>
                <a:ea typeface="Arial"/>
                <a:cs typeface="Arial"/>
              </a:defRPr>
            </a:pPr>
            <a:r>
              <a:rPr sz="2100" b="0">
                <a:solidFill>
                  <a:srgbClr val="151B23"/>
                </a:solidFill>
                <a:latin typeface="Arial"/>
                <a:ea typeface="Arial"/>
                <a:cs typeface="Arial"/>
              </a:rPr>
              <a:t>Thêm workload, think-time, checks và thresholds. HAR không tự cung cấp các mục tiêu này.</a:t>
            </a:r>
          </a:p>
        </p:txBody>
      </p:sp>
    </p:spTree>
    <p:extLst>
      <p:ext uri="{BB962C8B-B14F-4D97-AF65-F5344CB8AC3E}">
        <p14:creationId xmlns:p14="http://schemas.microsoft.com/office/powerpoint/2010/main" val="1867104413"/>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WEB AUDIT / AI SINH CODE">
            <a:extLst xmlns:a="http://schemas.openxmlformats.org/drawingml/2006/main">
              <a:ext uri="{FF2B5EF4-FFF2-40B4-BE49-F238E27FC236}">
                <a16:creationId xmlns:a16="http://schemas.microsoft.com/office/drawing/2014/main" id="{BDA4A2B9-DB40-442B-80CC-9609A1416BBF}"/>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WEB AUDIT / AI SINH CODE</a:t>
            </a:r>
          </a:p>
        </p:txBody>
      </p:sp>
      <p:sp>
        <p:nvSpPr>
          <p:cNvPr id="3" name="Sinh hai script từ cùng HAR và prompt">
            <a:extLst xmlns:a="http://schemas.openxmlformats.org/drawingml/2006/main">
              <a:ext uri="{FF2B5EF4-FFF2-40B4-BE49-F238E27FC236}">
                <a16:creationId xmlns:a16="http://schemas.microsoft.com/office/drawing/2014/main" id="{B7827511-7A5D-4D5E-9E59-3637A8A84452}"/>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Sinh hai script từ cùng HAR và prompt</a:t>
            </a:r>
          </a:p>
        </p:txBody>
      </p:sp>
      <p:sp>
        <p:nvSpPr>
          <p:cNvPr id="4" name="Performance Testing trên EShop">
            <a:extLst xmlns:a="http://schemas.openxmlformats.org/drawingml/2006/main">
              <a:ext uri="{FF2B5EF4-FFF2-40B4-BE49-F238E27FC236}">
                <a16:creationId xmlns:a16="http://schemas.microsoft.com/office/drawing/2014/main" id="{06FC7537-8E58-4335-8AE8-B21535D0A188}"/>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33">
            <a:extLst xmlns:a="http://schemas.openxmlformats.org/drawingml/2006/main">
              <a:ext uri="{FF2B5EF4-FFF2-40B4-BE49-F238E27FC236}">
                <a16:creationId xmlns:a16="http://schemas.microsoft.com/office/drawing/2014/main" id="{B13DF9B5-16D1-4C69-B526-FDDBBFF8FBBD}"/>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62</a:t>
            </a:r>
          </a:p>
        </p:txBody>
      </p:sp>
      <p:sp>
        <p:nvSpPr>
          <p:cNvPr id="6" name="01">
            <a:extLst xmlns:a="http://schemas.openxmlformats.org/drawingml/2006/main">
              <a:ext uri="{FF2B5EF4-FFF2-40B4-BE49-F238E27FC236}">
                <a16:creationId xmlns:a16="http://schemas.microsoft.com/office/drawing/2014/main" id="{DEF1B1C2-3419-4ACD-89A2-DEB014D11634}"/>
              </a:ext>
            </a:extLst>
          </p:cNvPr>
          <p:cNvSpPr>
            <a:spLocks xmlns:a="http://schemas.openxmlformats.org/drawingml/2006/main" noGrp="1"/>
          </p:cNvSpPr>
          <p:nvPr/>
        </p:nvSpPr>
        <p:spPr>
          <a:xfrm xmlns:a="http://schemas.openxmlformats.org/drawingml/2006/main">
            <a:off x="628650" y="18002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01</a:t>
            </a:r>
          </a:p>
        </p:txBody>
      </p:sp>
      <p:sp>
        <p:nvSpPr>
          <p:cNvPr id="7" name="Cung cấp cùng contract và yêu cầu workload cho hai LLM.">
            <a:extLst xmlns:a="http://schemas.openxmlformats.org/drawingml/2006/main">
              <a:ext uri="{FF2B5EF4-FFF2-40B4-BE49-F238E27FC236}">
                <a16:creationId xmlns:a16="http://schemas.microsoft.com/office/drawing/2014/main" id="{9DBFAC35-D494-450E-935D-6B411D1035CA}"/>
              </a:ext>
            </a:extLst>
          </p:cNvPr>
          <p:cNvSpPr>
            <a:spLocks xmlns:a="http://schemas.openxmlformats.org/drawingml/2006/main" noGrp="1"/>
          </p:cNvSpPr>
          <p:nvPr/>
        </p:nvSpPr>
        <p:spPr>
          <a:xfrm xmlns:a="http://schemas.openxmlformats.org/drawingml/2006/main">
            <a:off x="1257300" y="17811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Cung cấp cùng contract và yêu cầu workload cho hai LLM.</a:t>
            </a:r>
          </a:p>
        </p:txBody>
      </p:sp>
      <p:sp>
        <p:nvSpPr>
          <p:cNvPr id="8" name="02">
            <a:extLst xmlns:a="http://schemas.openxmlformats.org/drawingml/2006/main">
              <a:ext uri="{FF2B5EF4-FFF2-40B4-BE49-F238E27FC236}">
                <a16:creationId xmlns:a16="http://schemas.microsoft.com/office/drawing/2014/main" id="{B7A0D9D9-FF7E-46D2-BB4F-FCA25899CFF3}"/>
              </a:ext>
            </a:extLst>
          </p:cNvPr>
          <p:cNvSpPr>
            <a:spLocks xmlns:a="http://schemas.openxmlformats.org/drawingml/2006/main" noGrp="1"/>
          </p:cNvSpPr>
          <p:nvPr/>
        </p:nvSpPr>
        <p:spPr>
          <a:xfrm xmlns:a="http://schemas.openxmlformats.org/drawingml/2006/main">
            <a:off x="628650" y="27527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02</a:t>
            </a:r>
          </a:p>
        </p:txBody>
      </p:sp>
      <p:sp>
        <p:nvSpPr>
          <p:cNvPr id="9" name="Giữ source Gemini và Claude nguyên bản để audit.">
            <a:extLst xmlns:a="http://schemas.openxmlformats.org/drawingml/2006/main">
              <a:ext uri="{FF2B5EF4-FFF2-40B4-BE49-F238E27FC236}">
                <a16:creationId xmlns:a16="http://schemas.microsoft.com/office/drawing/2014/main" id="{E7C74A32-80B2-4E26-93B8-00AF882E8DEC}"/>
              </a:ext>
            </a:extLst>
          </p:cNvPr>
          <p:cNvSpPr>
            <a:spLocks xmlns:a="http://schemas.openxmlformats.org/drawingml/2006/main" noGrp="1"/>
          </p:cNvSpPr>
          <p:nvPr/>
        </p:nvSpPr>
        <p:spPr>
          <a:xfrm xmlns:a="http://schemas.openxmlformats.org/drawingml/2006/main">
            <a:off x="1257300" y="27336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Giữ source Gemini và Claude nguyên bản để audit.</a:t>
            </a:r>
          </a:p>
        </p:txBody>
      </p:sp>
      <p:sp>
        <p:nvSpPr>
          <p:cNvPr id="10" name="03">
            <a:extLst xmlns:a="http://schemas.openxmlformats.org/drawingml/2006/main">
              <a:ext uri="{FF2B5EF4-FFF2-40B4-BE49-F238E27FC236}">
                <a16:creationId xmlns:a16="http://schemas.microsoft.com/office/drawing/2014/main" id="{3449CB9D-E58F-426B-A413-F0519E90DEAF}"/>
              </a:ext>
            </a:extLst>
          </p:cNvPr>
          <p:cNvSpPr>
            <a:spLocks xmlns:a="http://schemas.openxmlformats.org/drawingml/2006/main" noGrp="1"/>
          </p:cNvSpPr>
          <p:nvPr/>
        </p:nvSpPr>
        <p:spPr>
          <a:xfrm xmlns:a="http://schemas.openxmlformats.org/drawingml/2006/main">
            <a:off x="628650" y="37052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03</a:t>
            </a:r>
          </a:p>
        </p:txBody>
      </p:sp>
      <p:sp>
        <p:nvSpPr>
          <p:cNvPr id="11" name="Yêu cầu token runtime, JSON POST và guard khi login lỗi.">
            <a:extLst xmlns:a="http://schemas.openxmlformats.org/drawingml/2006/main">
              <a:ext uri="{FF2B5EF4-FFF2-40B4-BE49-F238E27FC236}">
                <a16:creationId xmlns:a16="http://schemas.microsoft.com/office/drawing/2014/main" id="{8B697DAD-E76F-4470-974A-2D8FC6C0436B}"/>
              </a:ext>
            </a:extLst>
          </p:cNvPr>
          <p:cNvSpPr>
            <a:spLocks xmlns:a="http://schemas.openxmlformats.org/drawingml/2006/main" noGrp="1"/>
          </p:cNvSpPr>
          <p:nvPr/>
        </p:nvSpPr>
        <p:spPr>
          <a:xfrm xmlns:a="http://schemas.openxmlformats.org/drawingml/2006/main">
            <a:off x="1257300" y="36861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Yêu cầu token runtime, JSON POST và guard khi login lỗi.</a:t>
            </a:r>
          </a:p>
        </p:txBody>
      </p:sp>
      <p:sp>
        <p:nvSpPr>
          <p:cNvPr id="12" name="04">
            <a:extLst xmlns:a="http://schemas.openxmlformats.org/drawingml/2006/main">
              <a:ext uri="{FF2B5EF4-FFF2-40B4-BE49-F238E27FC236}">
                <a16:creationId xmlns:a16="http://schemas.microsoft.com/office/drawing/2014/main" id="{C3A71A52-FC90-46C8-85F4-A3758E80CF3B}"/>
              </a:ext>
            </a:extLst>
          </p:cNvPr>
          <p:cNvSpPr>
            <a:spLocks xmlns:a="http://schemas.openxmlformats.org/drawingml/2006/main" noGrp="1"/>
          </p:cNvSpPr>
          <p:nvPr/>
        </p:nvSpPr>
        <p:spPr>
          <a:xfrm xmlns:a="http://schemas.openxmlformats.org/drawingml/2006/main">
            <a:off x="628650" y="46577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04</a:t>
            </a:r>
          </a:p>
        </p:txBody>
      </p:sp>
      <p:sp>
        <p:nvSpPr>
          <p:cNvPr id="13" name="So sánh bằng cùng rubric, không dựa tên nhà cung cấp.">
            <a:extLst xmlns:a="http://schemas.openxmlformats.org/drawingml/2006/main">
              <a:ext uri="{FF2B5EF4-FFF2-40B4-BE49-F238E27FC236}">
                <a16:creationId xmlns:a16="http://schemas.microsoft.com/office/drawing/2014/main" id="{06269357-EF37-4AA6-8B49-DCBD72CCB489}"/>
              </a:ext>
            </a:extLst>
          </p:cNvPr>
          <p:cNvSpPr>
            <a:spLocks xmlns:a="http://schemas.openxmlformats.org/drawingml/2006/main" noGrp="1"/>
          </p:cNvSpPr>
          <p:nvPr/>
        </p:nvSpPr>
        <p:spPr>
          <a:xfrm xmlns:a="http://schemas.openxmlformats.org/drawingml/2006/main">
            <a:off x="1257300" y="46386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So sánh bằng cùng rubric, không dựa tên nhà cung cấp.</a:t>
            </a:r>
          </a:p>
        </p:txBody>
      </p:sp>
    </p:spTree>
    <p:extLst>
      <p:ext uri="{BB962C8B-B14F-4D97-AF65-F5344CB8AC3E}">
        <p14:creationId xmlns:p14="http://schemas.microsoft.com/office/powerpoint/2010/main" val="292352656"/>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WEB AUDIT / CÀI ĐẶT">
            <a:extLst xmlns:a="http://schemas.openxmlformats.org/drawingml/2006/main">
              <a:ext uri="{FF2B5EF4-FFF2-40B4-BE49-F238E27FC236}">
                <a16:creationId xmlns:a16="http://schemas.microsoft.com/office/drawing/2014/main" id="{1F08F483-DCBC-4547-A7A1-416FAF5E00B7}"/>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WEB AUDIT / CÀI ĐẶT</a:t>
            </a:r>
          </a:p>
        </p:txBody>
      </p:sp>
      <p:sp>
        <p:nvSpPr>
          <p:cNvPr id="3" name="Web audit: cách cài và chạy">
            <a:extLst xmlns:a="http://schemas.openxmlformats.org/drawingml/2006/main">
              <a:ext uri="{FF2B5EF4-FFF2-40B4-BE49-F238E27FC236}">
                <a16:creationId xmlns:a16="http://schemas.microsoft.com/office/drawing/2014/main" id="{66A817FF-F3C7-443B-9756-3F74B573ED8B}"/>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Web audit: cách cài và chạy</a:t>
            </a:r>
          </a:p>
        </p:txBody>
      </p:sp>
      <p:sp>
        <p:nvSpPr>
          <p:cNvPr id="4" name="Performance Testing trên EShop">
            <a:extLst xmlns:a="http://schemas.openxmlformats.org/drawingml/2006/main">
              <a:ext uri="{FF2B5EF4-FFF2-40B4-BE49-F238E27FC236}">
                <a16:creationId xmlns:a16="http://schemas.microsoft.com/office/drawing/2014/main" id="{28799D1E-ACB3-41C8-AAB3-CE50B985D2A2}"/>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34">
            <a:extLst xmlns:a="http://schemas.openxmlformats.org/drawingml/2006/main">
              <a:ext uri="{FF2B5EF4-FFF2-40B4-BE49-F238E27FC236}">
                <a16:creationId xmlns:a16="http://schemas.microsoft.com/office/drawing/2014/main" id="{1856BFFC-1A16-43B9-90B3-4AAF09E8138B}"/>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63</a:t>
            </a:r>
          </a:p>
        </p:txBody>
      </p:sp>
      <p:sp>
        <p:nvSpPr>
          <p:cNvPr id="6" name="01">
            <a:extLst xmlns:a="http://schemas.openxmlformats.org/drawingml/2006/main">
              <a:ext uri="{FF2B5EF4-FFF2-40B4-BE49-F238E27FC236}">
                <a16:creationId xmlns:a16="http://schemas.microsoft.com/office/drawing/2014/main" id="{6674A123-198C-4021-B3EF-8C8FDE059883}"/>
              </a:ext>
            </a:extLst>
          </p:cNvPr>
          <p:cNvSpPr>
            <a:spLocks xmlns:a="http://schemas.openxmlformats.org/drawingml/2006/main" noGrp="1"/>
          </p:cNvSpPr>
          <p:nvPr/>
        </p:nvSpPr>
        <p:spPr>
          <a:xfrm xmlns:a="http://schemas.openxmlformats.org/drawingml/2006/main">
            <a:off x="628650" y="18002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01</a:t>
            </a:r>
          </a:p>
        </p:txBody>
      </p:sp>
      <p:sp>
        <p:nvSpPr>
          <p:cNvPr id="7" name="Cài Node.js/npm cùng k6 CLI.">
            <a:extLst xmlns:a="http://schemas.openxmlformats.org/drawingml/2006/main">
              <a:ext uri="{FF2B5EF4-FFF2-40B4-BE49-F238E27FC236}">
                <a16:creationId xmlns:a16="http://schemas.microsoft.com/office/drawing/2014/main" id="{15526972-967A-4422-ACCE-D1DA3716E14A}"/>
              </a:ext>
            </a:extLst>
          </p:cNvPr>
          <p:cNvSpPr>
            <a:spLocks xmlns:a="http://schemas.openxmlformats.org/drawingml/2006/main" noGrp="1"/>
          </p:cNvSpPr>
          <p:nvPr/>
        </p:nvSpPr>
        <p:spPr>
          <a:xfrm xmlns:a="http://schemas.openxmlformats.org/drawingml/2006/main">
            <a:off x="1257300" y="17811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Cài Node.js/npm cùng k6 CLI.</a:t>
            </a:r>
          </a:p>
        </p:txBody>
      </p:sp>
      <p:sp>
        <p:nvSpPr>
          <p:cNvPr id="8" name="02">
            <a:extLst xmlns:a="http://schemas.openxmlformats.org/drawingml/2006/main">
              <a:ext uri="{FF2B5EF4-FFF2-40B4-BE49-F238E27FC236}">
                <a16:creationId xmlns:a16="http://schemas.microsoft.com/office/drawing/2014/main" id="{889C852E-8600-4F59-891A-AC751BCE4505}"/>
              </a:ext>
            </a:extLst>
          </p:cNvPr>
          <p:cNvSpPr>
            <a:spLocks xmlns:a="http://schemas.openxmlformats.org/drawingml/2006/main" noGrp="1"/>
          </p:cNvSpPr>
          <p:nvPr/>
        </p:nvSpPr>
        <p:spPr>
          <a:xfrm xmlns:a="http://schemas.openxmlformats.org/drawingml/2006/main">
            <a:off x="628650" y="27527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02</a:t>
            </a:r>
          </a:p>
        </p:txBody>
      </p:sp>
      <p:sp>
        <p:nvSpPr>
          <p:cNvPr id="9" name="Chạy SUT API ở cổng 3000 trước.">
            <a:extLst xmlns:a="http://schemas.openxmlformats.org/drawingml/2006/main">
              <a:ext uri="{FF2B5EF4-FFF2-40B4-BE49-F238E27FC236}">
                <a16:creationId xmlns:a16="http://schemas.microsoft.com/office/drawing/2014/main" id="{FBFE84B5-8CC1-4066-904E-FDBA715522DE}"/>
              </a:ext>
            </a:extLst>
          </p:cNvPr>
          <p:cNvSpPr>
            <a:spLocks xmlns:a="http://schemas.openxmlformats.org/drawingml/2006/main" noGrp="1"/>
          </p:cNvSpPr>
          <p:nvPr/>
        </p:nvSpPr>
        <p:spPr>
          <a:xfrm xmlns:a="http://schemas.openxmlformats.org/drawingml/2006/main">
            <a:off x="1257300" y="27336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Chạy SUT API ở cổng 3000 trước.</a:t>
            </a:r>
          </a:p>
        </p:txBody>
      </p:sp>
      <p:sp>
        <p:nvSpPr>
          <p:cNvPr id="10" name="03">
            <a:extLst xmlns:a="http://schemas.openxmlformats.org/drawingml/2006/main">
              <a:ext uri="{FF2B5EF4-FFF2-40B4-BE49-F238E27FC236}">
                <a16:creationId xmlns:a16="http://schemas.microsoft.com/office/drawing/2014/main" id="{B30BCA86-2FC2-4DC0-80F5-13AD5C2BBE80}"/>
              </a:ext>
            </a:extLst>
          </p:cNvPr>
          <p:cNvSpPr>
            <a:spLocks xmlns:a="http://schemas.openxmlformats.org/drawingml/2006/main" noGrp="1"/>
          </p:cNvSpPr>
          <p:nvPr/>
        </p:nvSpPr>
        <p:spPr>
          <a:xfrm xmlns:a="http://schemas.openxmlformats.org/drawingml/2006/main">
            <a:off x="628650" y="37052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03</a:t>
            </a:r>
          </a:p>
        </p:txBody>
      </p:sp>
      <p:sp>
        <p:nvSpPr>
          <p:cNvPr id="11" name="Trong test-web-performance: npm run install:all.">
            <a:extLst xmlns:a="http://schemas.openxmlformats.org/drawingml/2006/main">
              <a:ext uri="{FF2B5EF4-FFF2-40B4-BE49-F238E27FC236}">
                <a16:creationId xmlns:a16="http://schemas.microsoft.com/office/drawing/2014/main" id="{AA2BADB8-523D-4D28-9F2B-7FF53C35C8D5}"/>
              </a:ext>
            </a:extLst>
          </p:cNvPr>
          <p:cNvSpPr>
            <a:spLocks xmlns:a="http://schemas.openxmlformats.org/drawingml/2006/main" noGrp="1"/>
          </p:cNvSpPr>
          <p:nvPr/>
        </p:nvSpPr>
        <p:spPr>
          <a:xfrm xmlns:a="http://schemas.openxmlformats.org/drawingml/2006/main">
            <a:off x="1257300" y="36861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Trong test-web-performance: npm run install:all.</a:t>
            </a:r>
          </a:p>
        </p:txBody>
      </p:sp>
      <p:sp>
        <p:nvSpPr>
          <p:cNvPr id="12" name="04">
            <a:extLst xmlns:a="http://schemas.openxmlformats.org/drawingml/2006/main">
              <a:ext uri="{FF2B5EF4-FFF2-40B4-BE49-F238E27FC236}">
                <a16:creationId xmlns:a16="http://schemas.microsoft.com/office/drawing/2014/main" id="{5F3BC132-3E3D-48D5-8AFA-A57ABC7B7118}"/>
              </a:ext>
            </a:extLst>
          </p:cNvPr>
          <p:cNvSpPr>
            <a:spLocks xmlns:a="http://schemas.openxmlformats.org/drawingml/2006/main" noGrp="1"/>
          </p:cNvSpPr>
          <p:nvPr/>
        </p:nvSpPr>
        <p:spPr>
          <a:xfrm xmlns:a="http://schemas.openxmlformats.org/drawingml/2006/main">
            <a:off x="628650" y="46577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04</a:t>
            </a:r>
          </a:p>
        </p:txBody>
      </p:sp>
      <p:sp>
        <p:nvSpPr>
          <p:cNvPr id="13" name="Chạy dev:server và dev:frontend ở hai cửa sổ.">
            <a:extLst xmlns:a="http://schemas.openxmlformats.org/drawingml/2006/main">
              <a:ext uri="{FF2B5EF4-FFF2-40B4-BE49-F238E27FC236}">
                <a16:creationId xmlns:a16="http://schemas.microsoft.com/office/drawing/2014/main" id="{24A5D5A9-8C12-4B8C-8C1A-59C6B98404C9}"/>
              </a:ext>
            </a:extLst>
          </p:cNvPr>
          <p:cNvSpPr>
            <a:spLocks xmlns:a="http://schemas.openxmlformats.org/drawingml/2006/main" noGrp="1"/>
          </p:cNvSpPr>
          <p:nvPr/>
        </p:nvSpPr>
        <p:spPr>
          <a:xfrm xmlns:a="http://schemas.openxmlformats.org/drawingml/2006/main">
            <a:off x="1257300" y="46386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Chạy dev:server và dev:frontend ở hai cửa sổ.</a:t>
            </a:r>
          </a:p>
        </p:txBody>
      </p:sp>
    </p:spTree>
    <p:extLst>
      <p:ext uri="{BB962C8B-B14F-4D97-AF65-F5344CB8AC3E}">
        <p14:creationId xmlns:p14="http://schemas.microsoft.com/office/powerpoint/2010/main" val="1698507892"/>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WEB AUDIT / NGUYÊN LÝ">
            <a:extLst xmlns:a="http://schemas.openxmlformats.org/drawingml/2006/main">
              <a:ext uri="{FF2B5EF4-FFF2-40B4-BE49-F238E27FC236}">
                <a16:creationId xmlns:a16="http://schemas.microsoft.com/office/drawing/2014/main" id="{7EB916EA-1EF5-414F-BACA-3C0FA6DA221E}"/>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WEB AUDIT / NGUYÊN LÝ</a:t>
            </a:r>
          </a:p>
        </p:txBody>
      </p:sp>
      <p:sp>
        <p:nvSpPr>
          <p:cNvPr id="3" name="Bộ chấm kết hợp source và runtime">
            <a:extLst xmlns:a="http://schemas.openxmlformats.org/drawingml/2006/main">
              <a:ext uri="{FF2B5EF4-FFF2-40B4-BE49-F238E27FC236}">
                <a16:creationId xmlns:a16="http://schemas.microsoft.com/office/drawing/2014/main" id="{6447F74D-6EEA-45F2-B800-D0F07611EE68}"/>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Bộ chấm kết hợp source và runtime</a:t>
            </a:r>
          </a:p>
        </p:txBody>
      </p:sp>
      <p:sp>
        <p:nvSpPr>
          <p:cNvPr id="4" name="Performance Testing trên EShop">
            <a:extLst xmlns:a="http://schemas.openxmlformats.org/drawingml/2006/main">
              <a:ext uri="{FF2B5EF4-FFF2-40B4-BE49-F238E27FC236}">
                <a16:creationId xmlns:a16="http://schemas.microsoft.com/office/drawing/2014/main" id="{E4E60DA1-4F00-42BB-9C5F-0446BFAA1F65}"/>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35">
            <a:extLst xmlns:a="http://schemas.openxmlformats.org/drawingml/2006/main">
              <a:ext uri="{FF2B5EF4-FFF2-40B4-BE49-F238E27FC236}">
                <a16:creationId xmlns:a16="http://schemas.microsoft.com/office/drawing/2014/main" id="{60AEC1B1-52DA-4C19-80A9-0E920D2BD5F9}"/>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64</a:t>
            </a:r>
          </a:p>
        </p:txBody>
      </p:sp>
      <p:graphicFrame>
        <p:nvGraphicFramePr>
          <p:cNvPr id="6" name="">
            <a:extLst xmlns:a="http://schemas.openxmlformats.org/drawingml/2006/main">
              <a:ext uri="{FF2B5EF4-FFF2-40B4-BE49-F238E27FC236}">
                <a16:creationId xmlns:a16="http://schemas.microsoft.com/office/drawing/2014/main" id="{F713198E-38C9-486B-91DD-BB3FFB0CE97F}"/>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3657600"/>
                <a:gridCol w="3657600"/>
                <a:gridCol w="3657600"/>
              </a:tblGrid>
              <a:tr h="864870">
                <a:tc>
                  <a:txBody>
                    <a:bodyPr/>
                    <a:lstStyle/>
                    <a:p>
                      <a:r>
                        <a:rPr sz="1800" b="1">
                          <a:solidFill>
                            <a:srgbClr val="153E75"/>
                          </a:solidFill>
                          <a:latin typeface="Arial"/>
                          <a:ea typeface="Arial"/>
                          <a:cs typeface="Arial"/>
                        </a:rPr>
                        <a:t>Lớp kiểm tra</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Cơ chế</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Phạm vi evidence</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864870">
                <a:tc>
                  <a:txBody>
                    <a:bodyPr/>
                    <a:lstStyle/>
                    <a:p>
                      <a:r>
                        <a:rPr sz="1800">
                          <a:solidFill>
                            <a:srgbClr val="151B23"/>
                          </a:solidFill>
                          <a:latin typeface="Arial"/>
                          <a:ea typeface="Arial"/>
                          <a:cs typeface="Arial"/>
                        </a:rPr>
                        <a:t>Source</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Acorn parse AST và theo dấu mẫu code</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Method, body, token, workload</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Runtime</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k6 smoke 1 VU, 1 iteration</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Nhánh thực tế đã chạy</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Người chấm</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Đọc evidence, duyệt/chỉnh điểm</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Quyết định có lý do</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AI</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Nhận xét và đề xuất theo yêu cầu</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Không tự ghi đè điểm</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1566423121"/>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WEB AUDIT / RUBRIC">
            <a:extLst xmlns:a="http://schemas.openxmlformats.org/drawingml/2006/main">
              <a:ext uri="{FF2B5EF4-FFF2-40B4-BE49-F238E27FC236}">
                <a16:creationId xmlns:a16="http://schemas.microsoft.com/office/drawing/2014/main" id="{434EE5AB-9236-4F67-93C2-8370A0FFDA97}"/>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WEB AUDIT / RUBRIC</a:t>
            </a:r>
          </a:p>
        </p:txBody>
      </p:sp>
      <p:sp>
        <p:nvSpPr>
          <p:cNvPr id="3" name="Rubric: tiêu chí 1–5">
            <a:extLst xmlns:a="http://schemas.openxmlformats.org/drawingml/2006/main">
              <a:ext uri="{FF2B5EF4-FFF2-40B4-BE49-F238E27FC236}">
                <a16:creationId xmlns:a16="http://schemas.microsoft.com/office/drawing/2014/main" id="{9B07C0AD-178C-4F0D-9D26-5E6EDCD12762}"/>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Rubric: tiêu chí 1–5</a:t>
            </a:r>
          </a:p>
        </p:txBody>
      </p:sp>
      <p:sp>
        <p:nvSpPr>
          <p:cNvPr id="4" name="Performance Testing trên EShop">
            <a:extLst xmlns:a="http://schemas.openxmlformats.org/drawingml/2006/main">
              <a:ext uri="{FF2B5EF4-FFF2-40B4-BE49-F238E27FC236}">
                <a16:creationId xmlns:a16="http://schemas.microsoft.com/office/drawing/2014/main" id="{F42F8D37-CDBC-4025-9B9D-02D8A953EDD1}"/>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36">
            <a:extLst xmlns:a="http://schemas.openxmlformats.org/drawingml/2006/main">
              <a:ext uri="{FF2B5EF4-FFF2-40B4-BE49-F238E27FC236}">
                <a16:creationId xmlns:a16="http://schemas.microsoft.com/office/drawing/2014/main" id="{B45C8EBE-455C-4968-A749-AAF33780790F}"/>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65</a:t>
            </a:r>
          </a:p>
        </p:txBody>
      </p:sp>
      <p:graphicFrame>
        <p:nvGraphicFramePr>
          <p:cNvPr id="6" name="">
            <a:extLst xmlns:a="http://schemas.openxmlformats.org/drawingml/2006/main">
              <a:ext uri="{FF2B5EF4-FFF2-40B4-BE49-F238E27FC236}">
                <a16:creationId xmlns:a16="http://schemas.microsoft.com/office/drawing/2014/main" id="{E96EC8EA-A9FA-4AEA-A681-646B1B190CB7}"/>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666750"/>
                <a:gridCol w="3524250"/>
                <a:gridCol w="6781800"/>
              </a:tblGrid>
              <a:tr h="720725">
                <a:tc>
                  <a:txBody>
                    <a:bodyPr/>
                    <a:lstStyle/>
                    <a:p>
                      <a:r>
                        <a:rPr sz="1800" b="1">
                          <a:solidFill>
                            <a:srgbClr val="153E75"/>
                          </a:solidFill>
                          <a:latin typeface="Arial"/>
                          <a:ea typeface="Arial"/>
                          <a:cs typeface="Arial"/>
                        </a:rPr>
                        <a:t>#</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Tiêu chí</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Evidence cần kiểm tra</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720725">
                <a:tc>
                  <a:txBody>
                    <a:bodyPr/>
                    <a:lstStyle/>
                    <a:p>
                      <a:r>
                        <a:rPr sz="1800">
                          <a:solidFill>
                            <a:srgbClr val="151B23"/>
                          </a:solidFill>
                          <a:latin typeface="Arial"/>
                          <a:ea typeface="Arial"/>
                          <a:cs typeface="Arial"/>
                        </a:rPr>
                        <a:t>1</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Endpoint</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Đúng contract thật</a:t>
                      </a:r>
                    </a:p>
                  </a:txBody>
                  <a:tcPr marL="114300" marR="95250" marT="76200" marB="57150">
                    <a:lnR w="9525">
                      <a:solidFill>
                        <a:srgbClr val="D7DDE4"/>
                      </a:solidFill>
                      <a:prstDash val="solid"/>
                    </a:lnR>
                    <a:lnB w="9525">
                      <a:solidFill>
                        <a:srgbClr val="D7DDE4"/>
                      </a:solidFill>
                      <a:prstDash val="solid"/>
                    </a:lnB>
                    <a:solidFill>
                      <a:srgbClr val="FFFFFF"/>
                    </a:solidFill>
                  </a:tcPr>
                </a:tc>
              </a:tr>
              <a:tr h="720725">
                <a:tc>
                  <a:txBody>
                    <a:bodyPr/>
                    <a:lstStyle/>
                    <a:p>
                      <a:r>
                        <a:rPr sz="1800">
                          <a:solidFill>
                            <a:srgbClr val="151B23"/>
                          </a:solidFill>
                          <a:latin typeface="Arial"/>
                          <a:ea typeface="Arial"/>
                          <a:cs typeface="Arial"/>
                        </a:rPr>
                        <a:t>2</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Method và body</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GET/POST, JSON và Content-Type</a:t>
                      </a:r>
                    </a:p>
                  </a:txBody>
                  <a:tcPr marL="114300" marR="95250" marT="76200" marB="57150">
                    <a:lnR w="9525">
                      <a:solidFill>
                        <a:srgbClr val="D7DDE4"/>
                      </a:solidFill>
                      <a:prstDash val="solid"/>
                    </a:lnR>
                    <a:lnB w="9525">
                      <a:solidFill>
                        <a:srgbClr val="D7DDE4"/>
                      </a:solidFill>
                      <a:prstDash val="solid"/>
                    </a:lnB>
                    <a:solidFill>
                      <a:srgbClr val="FFFFFF"/>
                    </a:solidFill>
                  </a:tcPr>
                </a:tc>
              </a:tr>
              <a:tr h="720725">
                <a:tc>
                  <a:txBody>
                    <a:bodyPr/>
                    <a:lstStyle/>
                    <a:p>
                      <a:r>
                        <a:rPr sz="1800">
                          <a:solidFill>
                            <a:srgbClr val="151B23"/>
                          </a:solidFill>
                          <a:latin typeface="Arial"/>
                          <a:ea typeface="Arial"/>
                          <a:cs typeface="Arial"/>
                        </a:rPr>
                        <a:t>3</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Flow và guard</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Chặn khi login/token không hợp lệ</a:t>
                      </a:r>
                    </a:p>
                  </a:txBody>
                  <a:tcPr marL="114300" marR="95250" marT="76200" marB="57150">
                    <a:lnR w="9525">
                      <a:solidFill>
                        <a:srgbClr val="D7DDE4"/>
                      </a:solidFill>
                      <a:prstDash val="solid"/>
                    </a:lnR>
                    <a:lnB w="9525">
                      <a:solidFill>
                        <a:srgbClr val="D7DDE4"/>
                      </a:solidFill>
                      <a:prstDash val="solid"/>
                    </a:lnB>
                    <a:solidFill>
                      <a:srgbClr val="FFFFFF"/>
                    </a:solidFill>
                  </a:tcPr>
                </a:tc>
              </a:tr>
              <a:tr h="720725">
                <a:tc>
                  <a:txBody>
                    <a:bodyPr/>
                    <a:lstStyle/>
                    <a:p>
                      <a:r>
                        <a:rPr sz="1800">
                          <a:solidFill>
                            <a:srgbClr val="151B23"/>
                          </a:solidFill>
                          <a:latin typeface="Arial"/>
                          <a:ea typeface="Arial"/>
                          <a:cs typeface="Arial"/>
                        </a:rPr>
                        <a:t>4</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Correlation</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Token login được dùng trong Bearer</a:t>
                      </a:r>
                    </a:p>
                  </a:txBody>
                  <a:tcPr marL="114300" marR="95250" marT="76200" marB="57150">
                    <a:lnR w="9525">
                      <a:solidFill>
                        <a:srgbClr val="D7DDE4"/>
                      </a:solidFill>
                      <a:prstDash val="solid"/>
                    </a:lnR>
                    <a:lnB w="9525">
                      <a:solidFill>
                        <a:srgbClr val="D7DDE4"/>
                      </a:solidFill>
                      <a:prstDash val="solid"/>
                    </a:lnB>
                    <a:solidFill>
                      <a:srgbClr val="FFFFFF"/>
                    </a:solidFill>
                  </a:tcPr>
                </a:tc>
              </a:tr>
              <a:tr h="720725">
                <a:tc>
                  <a:txBody>
                    <a:bodyPr/>
                    <a:lstStyle/>
                    <a:p>
                      <a:r>
                        <a:rPr sz="1800">
                          <a:solidFill>
                            <a:srgbClr val="151B23"/>
                          </a:solidFill>
                          <a:latin typeface="Arial"/>
                          <a:ea typeface="Arial"/>
                          <a:cs typeface="Arial"/>
                        </a:rPr>
                        <a:t>5</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Think-time</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Khoảng nghỉ random theo action</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2139244686"/>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WEB AUDIT / RUBRIC">
            <a:extLst xmlns:a="http://schemas.openxmlformats.org/drawingml/2006/main">
              <a:ext uri="{FF2B5EF4-FFF2-40B4-BE49-F238E27FC236}">
                <a16:creationId xmlns:a16="http://schemas.microsoft.com/office/drawing/2014/main" id="{E2F384C4-1797-4BC8-82D3-5E8FC6ADF811}"/>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WEB AUDIT / RUBRIC</a:t>
            </a:r>
          </a:p>
        </p:txBody>
      </p:sp>
      <p:sp>
        <p:nvSpPr>
          <p:cNvPr id="3" name="Rubric: tiêu chí 6–10">
            <a:extLst xmlns:a="http://schemas.openxmlformats.org/drawingml/2006/main">
              <a:ext uri="{FF2B5EF4-FFF2-40B4-BE49-F238E27FC236}">
                <a16:creationId xmlns:a16="http://schemas.microsoft.com/office/drawing/2014/main" id="{E19C2C06-0316-46FF-9C57-099777D2886E}"/>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Rubric: tiêu chí 6–10</a:t>
            </a:r>
          </a:p>
        </p:txBody>
      </p:sp>
      <p:sp>
        <p:nvSpPr>
          <p:cNvPr id="4" name="Performance Testing trên EShop">
            <a:extLst xmlns:a="http://schemas.openxmlformats.org/drawingml/2006/main">
              <a:ext uri="{FF2B5EF4-FFF2-40B4-BE49-F238E27FC236}">
                <a16:creationId xmlns:a16="http://schemas.microsoft.com/office/drawing/2014/main" id="{95142B83-D1D4-4C16-909F-9B3CAD487B58}"/>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37">
            <a:extLst xmlns:a="http://schemas.openxmlformats.org/drawingml/2006/main">
              <a:ext uri="{FF2B5EF4-FFF2-40B4-BE49-F238E27FC236}">
                <a16:creationId xmlns:a16="http://schemas.microsoft.com/office/drawing/2014/main" id="{409704F7-80D6-4D25-B789-0F7FB9DDDF7E}"/>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66</a:t>
            </a:r>
          </a:p>
        </p:txBody>
      </p:sp>
      <p:graphicFrame>
        <p:nvGraphicFramePr>
          <p:cNvPr id="6" name="">
            <a:extLst xmlns:a="http://schemas.openxmlformats.org/drawingml/2006/main">
              <a:ext uri="{FF2B5EF4-FFF2-40B4-BE49-F238E27FC236}">
                <a16:creationId xmlns:a16="http://schemas.microsoft.com/office/drawing/2014/main" id="{25411860-A7C8-4366-9C23-7A2EF698D125}"/>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666750"/>
                <a:gridCol w="3524250"/>
                <a:gridCol w="6781800"/>
              </a:tblGrid>
              <a:tr h="720725">
                <a:tc>
                  <a:txBody>
                    <a:bodyPr/>
                    <a:lstStyle/>
                    <a:p>
                      <a:r>
                        <a:rPr sz="1800" b="1">
                          <a:solidFill>
                            <a:srgbClr val="153E75"/>
                          </a:solidFill>
                          <a:latin typeface="Arial"/>
                          <a:ea typeface="Arial"/>
                          <a:cs typeface="Arial"/>
                        </a:rPr>
                        <a:t>#</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Tiêu chí</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Evidence cần kiểm tra</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720725">
                <a:tc>
                  <a:txBody>
                    <a:bodyPr/>
                    <a:lstStyle/>
                    <a:p>
                      <a:r>
                        <a:rPr sz="1800">
                          <a:solidFill>
                            <a:srgbClr val="151B23"/>
                          </a:solidFill>
                          <a:latin typeface="Arial"/>
                          <a:ea typeface="Arial"/>
                          <a:cs typeface="Arial"/>
                        </a:rPr>
                        <a:t>6</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Workload</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Xác suất action 55/25/20</a:t>
                      </a:r>
                    </a:p>
                  </a:txBody>
                  <a:tcPr marL="114300" marR="95250" marT="76200" marB="57150">
                    <a:lnR w="9525">
                      <a:solidFill>
                        <a:srgbClr val="D7DDE4"/>
                      </a:solidFill>
                      <a:prstDash val="solid"/>
                    </a:lnR>
                    <a:lnB w="9525">
                      <a:solidFill>
                        <a:srgbClr val="D7DDE4"/>
                      </a:solidFill>
                      <a:prstDash val="solid"/>
                    </a:lnB>
                    <a:solidFill>
                      <a:srgbClr val="FFFFFF"/>
                    </a:solidFill>
                  </a:tcPr>
                </a:tc>
              </a:tr>
              <a:tr h="720725">
                <a:tc>
                  <a:txBody>
                    <a:bodyPr/>
                    <a:lstStyle/>
                    <a:p>
                      <a:r>
                        <a:rPr sz="1800">
                          <a:solidFill>
                            <a:srgbClr val="151B23"/>
                          </a:solidFill>
                          <a:latin typeface="Arial"/>
                          <a:ea typeface="Arial"/>
                          <a:cs typeface="Arial"/>
                        </a:rPr>
                        <a:t>7</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Parameterization</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Keyword và product ID biến thiên</a:t>
                      </a:r>
                    </a:p>
                  </a:txBody>
                  <a:tcPr marL="114300" marR="95250" marT="76200" marB="57150">
                    <a:lnR w="9525">
                      <a:solidFill>
                        <a:srgbClr val="D7DDE4"/>
                      </a:solidFill>
                      <a:prstDash val="solid"/>
                    </a:lnR>
                    <a:lnB w="9525">
                      <a:solidFill>
                        <a:srgbClr val="D7DDE4"/>
                      </a:solidFill>
                      <a:prstDash val="solid"/>
                    </a:lnB>
                    <a:solidFill>
                      <a:srgbClr val="FFFFFF"/>
                    </a:solidFill>
                  </a:tcPr>
                </a:tc>
              </a:tr>
              <a:tr h="720725">
                <a:tc>
                  <a:txBody>
                    <a:bodyPr/>
                    <a:lstStyle/>
                    <a:p>
                      <a:r>
                        <a:rPr sz="1800">
                          <a:solidFill>
                            <a:srgbClr val="151B23"/>
                          </a:solidFill>
                          <a:latin typeface="Arial"/>
                          <a:ea typeface="Arial"/>
                          <a:cs typeface="Arial"/>
                        </a:rPr>
                        <a:t>8</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Checkpoints</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Status, token và orderId</a:t>
                      </a:r>
                    </a:p>
                  </a:txBody>
                  <a:tcPr marL="114300" marR="95250" marT="76200" marB="57150">
                    <a:lnR w="9525">
                      <a:solidFill>
                        <a:srgbClr val="D7DDE4"/>
                      </a:solidFill>
                      <a:prstDash val="solid"/>
                    </a:lnR>
                    <a:lnB w="9525">
                      <a:solidFill>
                        <a:srgbClr val="D7DDE4"/>
                      </a:solidFill>
                      <a:prstDash val="solid"/>
                    </a:lnB>
                    <a:solidFill>
                      <a:srgbClr val="FFFFFF"/>
                    </a:solidFill>
                  </a:tcPr>
                </a:tc>
              </a:tr>
              <a:tr h="720725">
                <a:tc>
                  <a:txBody>
                    <a:bodyPr/>
                    <a:lstStyle/>
                    <a:p>
                      <a:r>
                        <a:rPr sz="1800">
                          <a:solidFill>
                            <a:srgbClr val="151B23"/>
                          </a:solidFill>
                          <a:latin typeface="Arial"/>
                          <a:ea typeface="Arial"/>
                          <a:cs typeface="Arial"/>
                        </a:rPr>
                        <a:t>9</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Thresholds</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p95 và checks theo rubric</a:t>
                      </a:r>
                    </a:p>
                  </a:txBody>
                  <a:tcPr marL="114300" marR="95250" marT="76200" marB="57150">
                    <a:lnR w="9525">
                      <a:solidFill>
                        <a:srgbClr val="D7DDE4"/>
                      </a:solidFill>
                      <a:prstDash val="solid"/>
                    </a:lnR>
                    <a:lnB w="9525">
                      <a:solidFill>
                        <a:srgbClr val="D7DDE4"/>
                      </a:solidFill>
                      <a:prstDash val="solid"/>
                    </a:lnB>
                    <a:solidFill>
                      <a:srgbClr val="FFFFFF"/>
                    </a:solidFill>
                  </a:tcPr>
                </a:tc>
              </a:tr>
              <a:tr h="720725">
                <a:tc>
                  <a:txBody>
                    <a:bodyPr/>
                    <a:lstStyle/>
                    <a:p>
                      <a:r>
                        <a:rPr sz="1800">
                          <a:solidFill>
                            <a:srgbClr val="151B23"/>
                          </a:solidFill>
                          <a:latin typeface="Arial"/>
                          <a:ea typeface="Arial"/>
                          <a:cs typeface="Arial"/>
                        </a:rPr>
                        <a:t>10</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Runtime smoke</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Có request/check, đủ metric, không lỗi</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1096638406"/>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WEB AUDIT / AI">
            <a:extLst xmlns:a="http://schemas.openxmlformats.org/drawingml/2006/main">
              <a:ext uri="{FF2B5EF4-FFF2-40B4-BE49-F238E27FC236}">
                <a16:creationId xmlns:a16="http://schemas.microsoft.com/office/drawing/2014/main" id="{667A6684-534B-401B-8995-AED9BFFF3436}"/>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WEB AUDIT / AI</a:t>
            </a:r>
          </a:p>
        </p:txBody>
      </p:sp>
      <p:sp>
        <p:nvSpPr>
          <p:cNvPr id="3" name="Luna: nhận xét và gợi ý hiệu năng">
            <a:extLst xmlns:a="http://schemas.openxmlformats.org/drawingml/2006/main">
              <a:ext uri="{FF2B5EF4-FFF2-40B4-BE49-F238E27FC236}">
                <a16:creationId xmlns:a16="http://schemas.microsoft.com/office/drawing/2014/main" id="{7C503956-CC75-443D-80A2-52D63A71D32A}"/>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Luna: nhận xét và gợi ý hiệu năng</a:t>
            </a:r>
          </a:p>
        </p:txBody>
      </p:sp>
      <p:sp>
        <p:nvSpPr>
          <p:cNvPr id="4" name="Performance Testing trên EShop">
            <a:extLst xmlns:a="http://schemas.openxmlformats.org/drawingml/2006/main">
              <a:ext uri="{FF2B5EF4-FFF2-40B4-BE49-F238E27FC236}">
                <a16:creationId xmlns:a16="http://schemas.microsoft.com/office/drawing/2014/main" id="{61237BA8-E25B-453B-9CD0-5605F4D0E66F}"/>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38">
            <a:extLst xmlns:a="http://schemas.openxmlformats.org/drawingml/2006/main">
              <a:ext uri="{FF2B5EF4-FFF2-40B4-BE49-F238E27FC236}">
                <a16:creationId xmlns:a16="http://schemas.microsoft.com/office/drawing/2014/main" id="{4370EDBF-3170-44CF-9E40-50ED5E579069}"/>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67</a:t>
            </a:r>
          </a:p>
        </p:txBody>
      </p:sp>
      <p:graphicFrame>
        <p:nvGraphicFramePr>
          <p:cNvPr id="6" name="">
            <a:extLst xmlns:a="http://schemas.openxmlformats.org/drawingml/2006/main">
              <a:ext uri="{FF2B5EF4-FFF2-40B4-BE49-F238E27FC236}">
                <a16:creationId xmlns:a16="http://schemas.microsoft.com/office/drawing/2014/main" id="{FB0984CB-2F4F-4AF0-A842-095F4AF1AC2D}"/>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3657600"/>
                <a:gridCol w="3657600"/>
                <a:gridCol w="3657600"/>
              </a:tblGrid>
              <a:tr h="864870">
                <a:tc>
                  <a:txBody>
                    <a:bodyPr/>
                    <a:lstStyle/>
                    <a:p>
                      <a:r>
                        <a:rPr sz="1800" b="1">
                          <a:solidFill>
                            <a:srgbClr val="153E75"/>
                          </a:solidFill>
                          <a:latin typeface="Arial"/>
                          <a:ea typeface="Arial"/>
                          <a:cs typeface="Arial"/>
                        </a:rPr>
                        <a:t>Chức năng</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Đầu vào</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Đầu ra</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864870">
                <a:tc>
                  <a:txBody>
                    <a:bodyPr/>
                    <a:lstStyle/>
                    <a:p>
                      <a:r>
                        <a:rPr sz="1800">
                          <a:solidFill>
                            <a:srgbClr val="151B23"/>
                          </a:solidFill>
                          <a:latin typeface="Arial"/>
                          <a:ea typeface="Arial"/>
                          <a:cs typeface="Arial"/>
                        </a:rPr>
                        <a:t>Nhận xét script</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Source, rubric, k6 evidence</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Markdown có rủi ro và cách sửa</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Threshold</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Metric, số mẫu và mục tiêu</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Ngưỡng gợi ý, lý do, kiểm chứng</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Correlation</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Dữ liệu động trong flow</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Nguồn lấy và nơi sử dụng</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Kiểm soát</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Schema và phiên được cấp quyền</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Người dùng review nội dung</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1228738799"/>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WEB AUDIT / THỰC HÀNH">
            <a:extLst xmlns:a="http://schemas.openxmlformats.org/drawingml/2006/main">
              <a:ext uri="{FF2B5EF4-FFF2-40B4-BE49-F238E27FC236}">
                <a16:creationId xmlns:a16="http://schemas.microsoft.com/office/drawing/2014/main" id="{0DCBFC68-29A8-4CFA-8A97-5AC681DFAA7B}"/>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WEB AUDIT / THỰC HÀNH</a:t>
            </a:r>
          </a:p>
        </p:txBody>
      </p:sp>
      <p:sp>
        <p:nvSpPr>
          <p:cNvPr id="3" name="Web audit: các thao tác người dùng">
            <a:extLst xmlns:a="http://schemas.openxmlformats.org/drawingml/2006/main">
              <a:ext uri="{FF2B5EF4-FFF2-40B4-BE49-F238E27FC236}">
                <a16:creationId xmlns:a16="http://schemas.microsoft.com/office/drawing/2014/main" id="{D4E4C213-7D12-4E15-BFB9-5D12DC443360}"/>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Web audit: các thao tác người dùng</a:t>
            </a:r>
          </a:p>
        </p:txBody>
      </p:sp>
      <p:sp>
        <p:nvSpPr>
          <p:cNvPr id="4" name="Performance Testing trên EShop">
            <a:extLst xmlns:a="http://schemas.openxmlformats.org/drawingml/2006/main">
              <a:ext uri="{FF2B5EF4-FFF2-40B4-BE49-F238E27FC236}">
                <a16:creationId xmlns:a16="http://schemas.microsoft.com/office/drawing/2014/main" id="{469275C9-A408-4D56-BD7F-A17C3A6AEEED}"/>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39">
            <a:extLst xmlns:a="http://schemas.openxmlformats.org/drawingml/2006/main">
              <a:ext uri="{FF2B5EF4-FFF2-40B4-BE49-F238E27FC236}">
                <a16:creationId xmlns:a16="http://schemas.microsoft.com/office/drawing/2014/main" id="{9605A2AE-9E0A-4D5C-B387-0BA4B5891419}"/>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68</a:t>
            </a:r>
          </a:p>
        </p:txBody>
      </p:sp>
      <p:pic>
        <p:nvPicPr>
          <p:cNvPr id="6" name="">
            <a:extLst xmlns:a="http://schemas.openxmlformats.org/drawingml/2006/main">
              <a:ext uri="{FF2B5EF4-FFF2-40B4-BE49-F238E27FC236}">
                <a16:creationId xmlns:a16="http://schemas.microsoft.com/office/drawing/2014/main" id="{64A89F8B-AE02-4A3E-AD25-81382A7BD591}"/>
              </a:ext>
            </a:extLst>
          </p:cNvPr>
          <p:cNvPicPr>
            <a:picLocks xmlns:a="http://schemas.openxmlformats.org/drawingml/2006/main" noChangeAspect="1"/>
          </p:cNvPicPr>
          <p:nvPr/>
        </p:nvPicPr>
        <p:blipFill>
          <a:blip xmlns:r="http://schemas.openxmlformats.org/officeDocument/2006/relationships" xmlns:a="http://schemas.openxmlformats.org/drawingml/2006/main" r:embed="R578a6d0d0af8435e"/>
          <a:stretch xmlns:a="http://schemas.openxmlformats.org/drawingml/2006/main"/>
        </p:blipFill>
        <p:spPr>
          <a:xfrm xmlns:a="http://schemas.openxmlformats.org/drawingml/2006/main">
            <a:off x="2208951" y="1676400"/>
            <a:ext cx="7774099" cy="4095750"/>
          </a:xfrm>
          <a:prstGeom xmlns:a="http://schemas.openxmlformats.org/drawingml/2006/main" prst="rect">
            <a:avLst/>
          </a:prstGeom>
        </p:spPr>
      </p:pic>
      <p:sp>
        <p:nvSpPr>
          <p:cNvPr id="7" name="HAR đã redacted và hai source gốc làm đầu vào">
            <a:extLst xmlns:a="http://schemas.openxmlformats.org/drawingml/2006/main">
              <a:ext uri="{FF2B5EF4-FFF2-40B4-BE49-F238E27FC236}">
                <a16:creationId xmlns:a16="http://schemas.microsoft.com/office/drawing/2014/main" id="{30C1F95C-6F52-4271-940B-184E0E4CF24F}"/>
              </a:ext>
            </a:extLst>
          </p:cNvPr>
          <p:cNvSpPr>
            <a:spLocks xmlns:a="http://schemas.openxmlformats.org/drawingml/2006/main" noGrp="1"/>
          </p:cNvSpPr>
          <p:nvPr/>
        </p:nvSpPr>
        <p:spPr>
          <a:xfrm xmlns:a="http://schemas.openxmlformats.org/drawingml/2006/main">
            <a:off x="609600" y="5905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151B23"/>
                </a:solidFill>
                <a:latin typeface="Arial"/>
                <a:ea typeface="Arial"/>
                <a:cs typeface="Arial"/>
              </a:defRPr>
            </a:defPPr>
            <a:lvl1pPr>
              <a:defRPr sz="1650" b="0">
                <a:solidFill>
                  <a:srgbClr val="151B23"/>
                </a:solidFill>
                <a:latin typeface="Arial"/>
                <a:ea typeface="Arial"/>
                <a:cs typeface="Arial"/>
              </a:defRPr>
            </a:lvl1pPr>
            <a:lvl2pPr>
              <a:defRPr sz="1650" b="0">
                <a:solidFill>
                  <a:srgbClr val="151B23"/>
                </a:solidFill>
                <a:latin typeface="Arial"/>
                <a:ea typeface="Arial"/>
                <a:cs typeface="Arial"/>
              </a:defRPr>
            </a:lvl2pPr>
            <a:lvl3pPr>
              <a:defRPr sz="1650" b="0">
                <a:solidFill>
                  <a:srgbClr val="151B23"/>
                </a:solidFill>
                <a:latin typeface="Arial"/>
                <a:ea typeface="Arial"/>
                <a:cs typeface="Arial"/>
              </a:defRPr>
            </a:lvl3pPr>
            <a:lvl4pPr>
              <a:defRPr sz="1650" b="0">
                <a:solidFill>
                  <a:srgbClr val="151B23"/>
                </a:solidFill>
                <a:latin typeface="Arial"/>
                <a:ea typeface="Arial"/>
                <a:cs typeface="Arial"/>
              </a:defRPr>
            </a:lvl4pPr>
            <a:lvl5pPr>
              <a:defRPr sz="1650" b="0">
                <a:solidFill>
                  <a:srgbClr val="151B23"/>
                </a:solidFill>
                <a:latin typeface="Arial"/>
                <a:ea typeface="Arial"/>
                <a:cs typeface="Arial"/>
              </a:defRPr>
            </a:lvl5pPr>
            <a:lvl6pPr>
              <a:defRPr sz="1650" b="0">
                <a:solidFill>
                  <a:srgbClr val="151B23"/>
                </a:solidFill>
                <a:latin typeface="Arial"/>
                <a:ea typeface="Arial"/>
                <a:cs typeface="Arial"/>
              </a:defRPr>
            </a:lvl6pPr>
            <a:lvl7pPr>
              <a:defRPr sz="1650" b="0">
                <a:solidFill>
                  <a:srgbClr val="151B23"/>
                </a:solidFill>
                <a:latin typeface="Arial"/>
                <a:ea typeface="Arial"/>
                <a:cs typeface="Arial"/>
              </a:defRPr>
            </a:lvl7pPr>
            <a:lvl8pPr>
              <a:defRPr sz="1650" b="0">
                <a:solidFill>
                  <a:srgbClr val="151B23"/>
                </a:solidFill>
                <a:latin typeface="Arial"/>
                <a:ea typeface="Arial"/>
                <a:cs typeface="Arial"/>
              </a:defRPr>
            </a:lvl8pPr>
            <a:lvl9pPr>
              <a:defRPr sz="1650" b="0">
                <a:solidFill>
                  <a:srgbClr val="151B23"/>
                </a:solidFill>
                <a:latin typeface="Arial"/>
                <a:ea typeface="Arial"/>
                <a:cs typeface="Arial"/>
              </a:defRPr>
            </a:lvl9pPr>
          </a:lstStyle>
          <a:p xmlns:a="http://schemas.openxmlformats.org/drawingml/2006/main">
            <a:pPr>
              <a:defRPr sz="1650" b="0">
                <a:solidFill>
                  <a:srgbClr val="151B23"/>
                </a:solidFill>
                <a:latin typeface="Arial"/>
                <a:ea typeface="Arial"/>
                <a:cs typeface="Arial"/>
              </a:defRPr>
            </a:pPr>
            <a:r>
              <a:rPr sz="1650" b="0">
                <a:solidFill>
                  <a:srgbClr val="151B23"/>
                </a:solidFill>
                <a:latin typeface="Arial"/>
                <a:ea typeface="Arial"/>
                <a:cs typeface="Arial"/>
              </a:rPr>
              <a:t>HAR đã redacted và hai source gốc làm đầu vào</a:t>
            </a:r>
          </a:p>
        </p:txBody>
      </p:sp>
    </p:spTree>
    <p:extLst>
      <p:ext uri="{BB962C8B-B14F-4D97-AF65-F5344CB8AC3E}">
        <p14:creationId xmlns:p14="http://schemas.microsoft.com/office/powerpoint/2010/main" val="263687439"/>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DEMO CỦA TRỊNH HỒ MINH THẮNG">
            <a:extLst xmlns:a="http://schemas.openxmlformats.org/drawingml/2006/main">
              <a:ext uri="{FF2B5EF4-FFF2-40B4-BE49-F238E27FC236}">
                <a16:creationId xmlns:a16="http://schemas.microsoft.com/office/drawing/2014/main" id="{CAF2A515-7FE3-4304-9949-EF1C330D6520}"/>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DEMO CỦA TRỊNH HỒ MINH THẮNG</a:t>
            </a:r>
          </a:p>
        </p:txBody>
      </p:sp>
      <p:sp>
        <p:nvSpPr>
          <p:cNvPr id="3" name="Video demo 3: web audit và Luna">
            <a:extLst xmlns:a="http://schemas.openxmlformats.org/drawingml/2006/main">
              <a:ext uri="{FF2B5EF4-FFF2-40B4-BE49-F238E27FC236}">
                <a16:creationId xmlns:a16="http://schemas.microsoft.com/office/drawing/2014/main" id="{4B17A0BA-2772-47C0-A5B0-8758678652CA}"/>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Video demo 3: web audit và Luna</a:t>
            </a:r>
          </a:p>
        </p:txBody>
      </p:sp>
      <p:sp>
        <p:nvSpPr>
          <p:cNvPr id="4" name="Performance Testing trên EShop">
            <a:extLst xmlns:a="http://schemas.openxmlformats.org/drawingml/2006/main">
              <a:ext uri="{FF2B5EF4-FFF2-40B4-BE49-F238E27FC236}">
                <a16:creationId xmlns:a16="http://schemas.microsoft.com/office/drawing/2014/main" id="{8F3DE3B0-B75F-4C5F-856F-90A01738CC13}"/>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40">
            <a:extLst xmlns:a="http://schemas.openxmlformats.org/drawingml/2006/main">
              <a:ext uri="{FF2B5EF4-FFF2-40B4-BE49-F238E27FC236}">
                <a16:creationId xmlns:a16="http://schemas.microsoft.com/office/drawing/2014/main" id="{3E05D671-3E12-4BBB-B907-9B407F425B8A}"/>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69</a:t>
            </a:r>
          </a:p>
        </p:txBody>
      </p:sp>
      <p:sp>
        <p:nvSpPr>
          <p:cNvPr id="6" name="Trịnh Hồ Minh Thắng">
            <a:extLst xmlns:a="http://schemas.openxmlformats.org/drawingml/2006/main">
              <a:ext uri="{FF2B5EF4-FFF2-40B4-BE49-F238E27FC236}">
                <a16:creationId xmlns:a16="http://schemas.microsoft.com/office/drawing/2014/main" id="{EEBEE5B0-A4BB-472F-9E92-E77A381F081E}"/>
              </a:ext>
            </a:extLst>
          </p:cNvPr>
          <p:cNvSpPr>
            <a:spLocks xmlns:a="http://schemas.openxmlformats.org/drawingml/2006/main" noGrp="1"/>
          </p:cNvSpPr>
          <p:nvPr/>
        </p:nvSpPr>
        <p:spPr>
          <a:xfrm xmlns:a="http://schemas.openxmlformats.org/drawingml/2006/main">
            <a:off x="609600" y="17526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456A6"/>
                </a:solidFill>
                <a:latin typeface="Arial"/>
                <a:ea typeface="Arial"/>
                <a:cs typeface="Arial"/>
              </a:defRPr>
            </a:defPPr>
            <a:lvl1pPr>
              <a:defRPr sz="2250" b="1">
                <a:solidFill>
                  <a:srgbClr val="2456A6"/>
                </a:solidFill>
                <a:latin typeface="Arial"/>
                <a:ea typeface="Arial"/>
                <a:cs typeface="Arial"/>
              </a:defRPr>
            </a:lvl1pPr>
            <a:lvl2pPr>
              <a:defRPr sz="2250" b="1">
                <a:solidFill>
                  <a:srgbClr val="2456A6"/>
                </a:solidFill>
                <a:latin typeface="Arial"/>
                <a:ea typeface="Arial"/>
                <a:cs typeface="Arial"/>
              </a:defRPr>
            </a:lvl2pPr>
            <a:lvl3pPr>
              <a:defRPr sz="2250" b="1">
                <a:solidFill>
                  <a:srgbClr val="2456A6"/>
                </a:solidFill>
                <a:latin typeface="Arial"/>
                <a:ea typeface="Arial"/>
                <a:cs typeface="Arial"/>
              </a:defRPr>
            </a:lvl3pPr>
            <a:lvl4pPr>
              <a:defRPr sz="2250" b="1">
                <a:solidFill>
                  <a:srgbClr val="2456A6"/>
                </a:solidFill>
                <a:latin typeface="Arial"/>
                <a:ea typeface="Arial"/>
                <a:cs typeface="Arial"/>
              </a:defRPr>
            </a:lvl4pPr>
            <a:lvl5pPr>
              <a:defRPr sz="2250" b="1">
                <a:solidFill>
                  <a:srgbClr val="2456A6"/>
                </a:solidFill>
                <a:latin typeface="Arial"/>
                <a:ea typeface="Arial"/>
                <a:cs typeface="Arial"/>
              </a:defRPr>
            </a:lvl5pPr>
            <a:lvl6pPr>
              <a:defRPr sz="2250" b="1">
                <a:solidFill>
                  <a:srgbClr val="2456A6"/>
                </a:solidFill>
                <a:latin typeface="Arial"/>
                <a:ea typeface="Arial"/>
                <a:cs typeface="Arial"/>
              </a:defRPr>
            </a:lvl6pPr>
            <a:lvl7pPr>
              <a:defRPr sz="2250" b="1">
                <a:solidFill>
                  <a:srgbClr val="2456A6"/>
                </a:solidFill>
                <a:latin typeface="Arial"/>
                <a:ea typeface="Arial"/>
                <a:cs typeface="Arial"/>
              </a:defRPr>
            </a:lvl7pPr>
            <a:lvl8pPr>
              <a:defRPr sz="2250" b="1">
                <a:solidFill>
                  <a:srgbClr val="2456A6"/>
                </a:solidFill>
                <a:latin typeface="Arial"/>
                <a:ea typeface="Arial"/>
                <a:cs typeface="Arial"/>
              </a:defRPr>
            </a:lvl8pPr>
            <a:lvl9pPr>
              <a:defRPr sz="2250" b="1">
                <a:solidFill>
                  <a:srgbClr val="2456A6"/>
                </a:solidFill>
                <a:latin typeface="Arial"/>
                <a:ea typeface="Arial"/>
                <a:cs typeface="Arial"/>
              </a:defRPr>
            </a:lvl9pPr>
          </a:lstStyle>
          <a:p xmlns:a="http://schemas.openxmlformats.org/drawingml/2006/main">
            <a:pPr>
              <a:defRPr sz="2250" b="1">
                <a:solidFill>
                  <a:srgbClr val="2456A6"/>
                </a:solidFill>
                <a:latin typeface="Arial"/>
                <a:ea typeface="Arial"/>
                <a:cs typeface="Arial"/>
              </a:defRPr>
            </a:pPr>
            <a:r>
              <a:rPr sz="2250" b="1">
                <a:solidFill>
                  <a:srgbClr val="2456A6"/>
                </a:solidFill>
                <a:latin typeface="Arial"/>
                <a:ea typeface="Arial"/>
                <a:cs typeface="Arial"/>
              </a:rPr>
              <a:t>Trịnh Hồ Minh Thắng</a:t>
            </a:r>
          </a:p>
        </p:txBody>
      </p:sp>
      <p:sp>
        <p:nvSpPr>
          <p:cNvPr id="7" name="1. Khởi động SUT, server audit và React.">
            <a:extLst xmlns:a="http://schemas.openxmlformats.org/drawingml/2006/main">
              <a:ext uri="{FF2B5EF4-FFF2-40B4-BE49-F238E27FC236}">
                <a16:creationId xmlns:a16="http://schemas.microsoft.com/office/drawing/2014/main" id="{0CAC69B5-F169-4617-B4F2-F90BE346654E}"/>
              </a:ext>
            </a:extLst>
          </p:cNvPr>
          <p:cNvSpPr>
            <a:spLocks xmlns:a="http://schemas.openxmlformats.org/drawingml/2006/main" noGrp="1"/>
          </p:cNvSpPr>
          <p:nvPr/>
        </p:nvSpPr>
        <p:spPr>
          <a:xfrm xmlns:a="http://schemas.openxmlformats.org/drawingml/2006/main">
            <a:off x="609600" y="24384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1. Khởi động SUT, server audit và React.</a:t>
            </a:r>
          </a:p>
        </p:txBody>
      </p:sp>
      <p:sp>
        <p:nvSpPr>
          <p:cNvPr id="8" name="2. Nộp HAR/hai script, đọc rubric và log smoke.">
            <a:extLst xmlns:a="http://schemas.openxmlformats.org/drawingml/2006/main">
              <a:ext uri="{FF2B5EF4-FFF2-40B4-BE49-F238E27FC236}">
                <a16:creationId xmlns:a16="http://schemas.microsoft.com/office/drawing/2014/main" id="{B68A8A6B-9231-49E9-80B1-CA3C012B6CB7}"/>
              </a:ext>
            </a:extLst>
          </p:cNvPr>
          <p:cNvSpPr>
            <a:spLocks xmlns:a="http://schemas.openxmlformats.org/drawingml/2006/main" noGrp="1"/>
          </p:cNvSpPr>
          <p:nvPr/>
        </p:nvSpPr>
        <p:spPr>
          <a:xfrm xmlns:a="http://schemas.openxmlformats.org/drawingml/2006/main">
            <a:off x="609600" y="32004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2. Nộp HAR/hai script, đọc rubric và log smoke.</a:t>
            </a:r>
          </a:p>
        </p:txBody>
      </p:sp>
      <p:sp>
        <p:nvSpPr>
          <p:cNvPr id="9" name="3. Đăng nhập AI, nhận xét, tạo đề xuất và tải scorecard.">
            <a:extLst xmlns:a="http://schemas.openxmlformats.org/drawingml/2006/main">
              <a:ext uri="{FF2B5EF4-FFF2-40B4-BE49-F238E27FC236}">
                <a16:creationId xmlns:a16="http://schemas.microsoft.com/office/drawing/2014/main" id="{0F6D666F-40C6-4FB7-A662-FA808D7C5295}"/>
              </a:ext>
            </a:extLst>
          </p:cNvPr>
          <p:cNvSpPr>
            <a:spLocks xmlns:a="http://schemas.openxmlformats.org/drawingml/2006/main" noGrp="1"/>
          </p:cNvSpPr>
          <p:nvPr/>
        </p:nvSpPr>
        <p:spPr>
          <a:xfrm xmlns:a="http://schemas.openxmlformats.org/drawingml/2006/main">
            <a:off x="609600" y="39624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3. Đăng nhập AI, nhận xét, tạo đề xuất và tải scorecard.</a:t>
            </a:r>
          </a:p>
        </p:txBody>
      </p:sp>
      <p:sp>
        <p:nvSpPr>
          <p:cNvPr id="10" name="LINK_VIDEO_3">
            <a:extLst xmlns:a="http://schemas.openxmlformats.org/drawingml/2006/main">
              <a:ext uri="{FF2B5EF4-FFF2-40B4-BE49-F238E27FC236}">
                <a16:creationId xmlns:a16="http://schemas.microsoft.com/office/drawing/2014/main" id="{A2CB0CC7-4F99-4625-AAC7-9DC5BD34DFA4}"/>
              </a:ext>
            </a:extLst>
          </p:cNvPr>
          <p:cNvSpPr>
            <a:spLocks xmlns:a="http://schemas.openxmlformats.org/drawingml/2006/main" noGrp="1"/>
          </p:cNvSpPr>
          <p:nvPr/>
        </p:nvSpPr>
        <p:spPr>
          <a:xfrm xmlns:a="http://schemas.openxmlformats.org/drawingml/2006/main">
            <a:off x="609600" y="51816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2456A6"/>
                </a:solidFill>
                <a:latin typeface="Arial"/>
                <a:ea typeface="Arial"/>
                <a:cs typeface="Arial"/>
              </a:defRPr>
            </a:defPPr>
            <a:lvl1pPr>
              <a:defRPr sz="2100" b="1">
                <a:solidFill>
                  <a:srgbClr val="2456A6"/>
                </a:solidFill>
                <a:latin typeface="Arial"/>
                <a:ea typeface="Arial"/>
                <a:cs typeface="Arial"/>
              </a:defRPr>
            </a:lvl1pPr>
            <a:lvl2pPr>
              <a:defRPr sz="2100" b="1">
                <a:solidFill>
                  <a:srgbClr val="2456A6"/>
                </a:solidFill>
                <a:latin typeface="Arial"/>
                <a:ea typeface="Arial"/>
                <a:cs typeface="Arial"/>
              </a:defRPr>
            </a:lvl2pPr>
            <a:lvl3pPr>
              <a:defRPr sz="2100" b="1">
                <a:solidFill>
                  <a:srgbClr val="2456A6"/>
                </a:solidFill>
                <a:latin typeface="Arial"/>
                <a:ea typeface="Arial"/>
                <a:cs typeface="Arial"/>
              </a:defRPr>
            </a:lvl3pPr>
            <a:lvl4pPr>
              <a:defRPr sz="2100" b="1">
                <a:solidFill>
                  <a:srgbClr val="2456A6"/>
                </a:solidFill>
                <a:latin typeface="Arial"/>
                <a:ea typeface="Arial"/>
                <a:cs typeface="Arial"/>
              </a:defRPr>
            </a:lvl4pPr>
            <a:lvl5pPr>
              <a:defRPr sz="2100" b="1">
                <a:solidFill>
                  <a:srgbClr val="2456A6"/>
                </a:solidFill>
                <a:latin typeface="Arial"/>
                <a:ea typeface="Arial"/>
                <a:cs typeface="Arial"/>
              </a:defRPr>
            </a:lvl5pPr>
            <a:lvl6pPr>
              <a:defRPr sz="2100" b="1">
                <a:solidFill>
                  <a:srgbClr val="2456A6"/>
                </a:solidFill>
                <a:latin typeface="Arial"/>
                <a:ea typeface="Arial"/>
                <a:cs typeface="Arial"/>
              </a:defRPr>
            </a:lvl6pPr>
            <a:lvl7pPr>
              <a:defRPr sz="2100" b="1">
                <a:solidFill>
                  <a:srgbClr val="2456A6"/>
                </a:solidFill>
                <a:latin typeface="Arial"/>
                <a:ea typeface="Arial"/>
                <a:cs typeface="Arial"/>
              </a:defRPr>
            </a:lvl7pPr>
            <a:lvl8pPr>
              <a:defRPr sz="2100" b="1">
                <a:solidFill>
                  <a:srgbClr val="2456A6"/>
                </a:solidFill>
                <a:latin typeface="Arial"/>
                <a:ea typeface="Arial"/>
                <a:cs typeface="Arial"/>
              </a:defRPr>
            </a:lvl8pPr>
            <a:lvl9pPr>
              <a:defRPr sz="2100" b="1">
                <a:solidFill>
                  <a:srgbClr val="2456A6"/>
                </a:solidFill>
                <a:latin typeface="Arial"/>
                <a:ea typeface="Arial"/>
                <a:cs typeface="Arial"/>
              </a:defRPr>
            </a:lvl9pPr>
          </a:lstStyle>
          <a:p xmlns:a="http://schemas.openxmlformats.org/drawingml/2006/main">
            <a:pPr>
              <a:defRPr sz="2100" b="1">
                <a:solidFill>
                  <a:srgbClr val="2456A6"/>
                </a:solidFill>
                <a:latin typeface="Arial"/>
                <a:ea typeface="Arial"/>
                <a:cs typeface="Arial"/>
              </a:defRPr>
            </a:pPr>
            <a:r>
              <a:rPr sz="2100" b="1">
                <a:solidFill>
                  <a:srgbClr val="2456A6"/>
                </a:solidFill>
                <a:latin typeface="Arial"/>
                <a:ea typeface="Arial"/>
                <a:cs typeface="Arial"/>
              </a:rPr>
              <a:t>Link YouTube: [Thêm link video 3 tại đây]</a:t>
            </a:r>
          </a:p>
        </p:txBody>
      </p:sp>
      <p:sp>
        <p:nvSpPr>
          <p:cNvPr id="11" name="Nội dung video bám theo các thao tác vừa trình bày">
            <a:extLst xmlns:a="http://schemas.openxmlformats.org/drawingml/2006/main">
              <a:ext uri="{FF2B5EF4-FFF2-40B4-BE49-F238E27FC236}">
                <a16:creationId xmlns:a16="http://schemas.microsoft.com/office/drawing/2014/main" id="{70845A2A-0E73-4DF2-A321-F264C06ACD39}"/>
              </a:ext>
            </a:extLst>
          </p:cNvPr>
          <p:cNvSpPr>
            <a:spLocks xmlns:a="http://schemas.openxmlformats.org/drawingml/2006/main" noGrp="1"/>
          </p:cNvSpPr>
          <p:nvPr/>
        </p:nvSpPr>
        <p:spPr>
          <a:xfrm xmlns:a="http://schemas.openxmlformats.org/drawingml/2006/main">
            <a:off x="609600" y="58578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151B23"/>
                </a:solidFill>
                <a:latin typeface="Arial"/>
                <a:ea typeface="Arial"/>
                <a:cs typeface="Arial"/>
              </a:defRPr>
            </a:defPPr>
            <a:lvl1pPr>
              <a:defRPr sz="1725" b="0">
                <a:solidFill>
                  <a:srgbClr val="151B23"/>
                </a:solidFill>
                <a:latin typeface="Arial"/>
                <a:ea typeface="Arial"/>
                <a:cs typeface="Arial"/>
              </a:defRPr>
            </a:lvl1pPr>
            <a:lvl2pPr>
              <a:defRPr sz="1725" b="0">
                <a:solidFill>
                  <a:srgbClr val="151B23"/>
                </a:solidFill>
                <a:latin typeface="Arial"/>
                <a:ea typeface="Arial"/>
                <a:cs typeface="Arial"/>
              </a:defRPr>
            </a:lvl2pPr>
            <a:lvl3pPr>
              <a:defRPr sz="1725" b="0">
                <a:solidFill>
                  <a:srgbClr val="151B23"/>
                </a:solidFill>
                <a:latin typeface="Arial"/>
                <a:ea typeface="Arial"/>
                <a:cs typeface="Arial"/>
              </a:defRPr>
            </a:lvl3pPr>
            <a:lvl4pPr>
              <a:defRPr sz="1725" b="0">
                <a:solidFill>
                  <a:srgbClr val="151B23"/>
                </a:solidFill>
                <a:latin typeface="Arial"/>
                <a:ea typeface="Arial"/>
                <a:cs typeface="Arial"/>
              </a:defRPr>
            </a:lvl4pPr>
            <a:lvl5pPr>
              <a:defRPr sz="1725" b="0">
                <a:solidFill>
                  <a:srgbClr val="151B23"/>
                </a:solidFill>
                <a:latin typeface="Arial"/>
                <a:ea typeface="Arial"/>
                <a:cs typeface="Arial"/>
              </a:defRPr>
            </a:lvl5pPr>
            <a:lvl6pPr>
              <a:defRPr sz="1725" b="0">
                <a:solidFill>
                  <a:srgbClr val="151B23"/>
                </a:solidFill>
                <a:latin typeface="Arial"/>
                <a:ea typeface="Arial"/>
                <a:cs typeface="Arial"/>
              </a:defRPr>
            </a:lvl6pPr>
            <a:lvl7pPr>
              <a:defRPr sz="1725" b="0">
                <a:solidFill>
                  <a:srgbClr val="151B23"/>
                </a:solidFill>
                <a:latin typeface="Arial"/>
                <a:ea typeface="Arial"/>
                <a:cs typeface="Arial"/>
              </a:defRPr>
            </a:lvl7pPr>
            <a:lvl8pPr>
              <a:defRPr sz="1725" b="0">
                <a:solidFill>
                  <a:srgbClr val="151B23"/>
                </a:solidFill>
                <a:latin typeface="Arial"/>
                <a:ea typeface="Arial"/>
                <a:cs typeface="Arial"/>
              </a:defRPr>
            </a:lvl8pPr>
            <a:lvl9pPr>
              <a:defRPr sz="1725" b="0">
                <a:solidFill>
                  <a:srgbClr val="151B23"/>
                </a:solidFill>
                <a:latin typeface="Arial"/>
                <a:ea typeface="Arial"/>
                <a:cs typeface="Arial"/>
              </a:defRPr>
            </a:lvl9pPr>
          </a:lstStyle>
          <a:p xmlns:a="http://schemas.openxmlformats.org/drawingml/2006/main">
            <a:pPr>
              <a:defRPr sz="1725" b="0">
                <a:solidFill>
                  <a:srgbClr val="151B23"/>
                </a:solidFill>
                <a:latin typeface="Arial"/>
                <a:ea typeface="Arial"/>
                <a:cs typeface="Arial"/>
              </a:defRPr>
            </a:pPr>
            <a:r>
              <a:rPr sz="1725" b="0">
                <a:solidFill>
                  <a:srgbClr val="151B23"/>
                </a:solidFill>
                <a:latin typeface="Arial"/>
                <a:ea typeface="Arial"/>
                <a:cs typeface="Arial"/>
              </a:rPr>
              <a:t>Nội dung video bám theo các thao tác vừa trình bày</a:t>
            </a:r>
          </a:p>
        </p:txBody>
      </p:sp>
    </p:spTree>
    <p:extLst>
      <p:ext uri="{BB962C8B-B14F-4D97-AF65-F5344CB8AC3E}">
        <p14:creationId xmlns:p14="http://schemas.microsoft.com/office/powerpoint/2010/main" val="1892989035"/>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WEB AUDIT / KẾT QUẢ">
            <a:extLst xmlns:a="http://schemas.openxmlformats.org/drawingml/2006/main">
              <a:ext uri="{FF2B5EF4-FFF2-40B4-BE49-F238E27FC236}">
                <a16:creationId xmlns:a16="http://schemas.microsoft.com/office/drawing/2014/main" id="{A0B62A8E-9AA8-45BD-9364-2EC41A714715}"/>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WEB AUDIT / KẾT QUẢ</a:t>
            </a:r>
          </a:p>
        </p:txBody>
      </p:sp>
      <p:sp>
        <p:nvSpPr>
          <p:cNvPr id="3" name="Hai script thật: smoke của audit E85CDC">
            <a:extLst xmlns:a="http://schemas.openxmlformats.org/drawingml/2006/main">
              <a:ext uri="{FF2B5EF4-FFF2-40B4-BE49-F238E27FC236}">
                <a16:creationId xmlns:a16="http://schemas.microsoft.com/office/drawing/2014/main" id="{A8EADDC4-CCA2-4943-8E0E-983473C8C3FD}"/>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Hai script thật: smoke của audit E85CDC</a:t>
            </a:r>
          </a:p>
        </p:txBody>
      </p:sp>
      <p:sp>
        <p:nvSpPr>
          <p:cNvPr id="4" name="Performance Testing trên EShop">
            <a:extLst xmlns:a="http://schemas.openxmlformats.org/drawingml/2006/main">
              <a:ext uri="{FF2B5EF4-FFF2-40B4-BE49-F238E27FC236}">
                <a16:creationId xmlns:a16="http://schemas.microsoft.com/office/drawing/2014/main" id="{096E11D1-4074-4A46-8DCF-E541171C89A0}"/>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41">
            <a:extLst xmlns:a="http://schemas.openxmlformats.org/drawingml/2006/main">
              <a:ext uri="{FF2B5EF4-FFF2-40B4-BE49-F238E27FC236}">
                <a16:creationId xmlns:a16="http://schemas.microsoft.com/office/drawing/2014/main" id="{1FD64985-1C91-42EB-A90E-FD5768D18D0F}"/>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70</a:t>
            </a:r>
          </a:p>
        </p:txBody>
      </p:sp>
      <p:graphicFrame>
        <p:nvGraphicFramePr>
          <p:cNvPr id="6" name="">
            <a:extLst xmlns:a="http://schemas.openxmlformats.org/drawingml/2006/main">
              <a:ext uri="{FF2B5EF4-FFF2-40B4-BE49-F238E27FC236}">
                <a16:creationId xmlns:a16="http://schemas.microsoft.com/office/drawing/2014/main" id="{FAA2A165-5DB0-489F-88E9-8EA98318A6A6}"/>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3657600"/>
                <a:gridCol w="3657600"/>
                <a:gridCol w="3657600"/>
              </a:tblGrid>
              <a:tr h="720725">
                <a:tc>
                  <a:txBody>
                    <a:bodyPr/>
                    <a:lstStyle/>
                    <a:p>
                      <a:r>
                        <a:rPr sz="1800" b="1">
                          <a:solidFill>
                            <a:srgbClr val="153E75"/>
                          </a:solidFill>
                          <a:latin typeface="Arial"/>
                          <a:ea typeface="Arial"/>
                          <a:cs typeface="Arial"/>
                        </a:rPr>
                        <a:t>Chỉ số</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Script 1: Gemini</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Script 2: Claude</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720725">
                <a:tc>
                  <a:txBody>
                    <a:bodyPr/>
                    <a:lstStyle/>
                    <a:p>
                      <a:r>
                        <a:rPr sz="1800">
                          <a:solidFill>
                            <a:srgbClr val="151B23"/>
                          </a:solidFill>
                          <a:latin typeface="Arial"/>
                          <a:ea typeface="Arial"/>
                          <a:cs typeface="Arial"/>
                        </a:rPr>
                        <a:t>Điểm rubric</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10/10</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10/10</a:t>
                      </a:r>
                    </a:p>
                  </a:txBody>
                  <a:tcPr marL="114300" marR="95250" marT="76200" marB="57150">
                    <a:lnR w="9525">
                      <a:solidFill>
                        <a:srgbClr val="D7DDE4"/>
                      </a:solidFill>
                      <a:prstDash val="solid"/>
                    </a:lnR>
                    <a:lnB w="9525">
                      <a:solidFill>
                        <a:srgbClr val="D7DDE4"/>
                      </a:solidFill>
                      <a:prstDash val="solid"/>
                    </a:lnB>
                    <a:solidFill>
                      <a:srgbClr val="FFFFFF"/>
                    </a:solidFill>
                  </a:tcPr>
                </a:tc>
              </a:tr>
              <a:tr h="720725">
                <a:tc>
                  <a:txBody>
                    <a:bodyPr/>
                    <a:lstStyle/>
                    <a:p>
                      <a:r>
                        <a:rPr sz="1800">
                          <a:solidFill>
                            <a:srgbClr val="151B23"/>
                          </a:solidFill>
                          <a:latin typeface="Arial"/>
                          <a:ea typeface="Arial"/>
                          <a:cs typeface="Arial"/>
                        </a:rPr>
                        <a:t>HTTP requests</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2</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2</a:t>
                      </a:r>
                    </a:p>
                  </a:txBody>
                  <a:tcPr marL="114300" marR="95250" marT="76200" marB="57150">
                    <a:lnR w="9525">
                      <a:solidFill>
                        <a:srgbClr val="D7DDE4"/>
                      </a:solidFill>
                      <a:prstDash val="solid"/>
                    </a:lnR>
                    <a:lnB w="9525">
                      <a:solidFill>
                        <a:srgbClr val="D7DDE4"/>
                      </a:solidFill>
                      <a:prstDash val="solid"/>
                    </a:lnB>
                    <a:solidFill>
                      <a:srgbClr val="FFFFFF"/>
                    </a:solidFill>
                  </a:tcPr>
                </a:tc>
              </a:tr>
              <a:tr h="720725">
                <a:tc>
                  <a:txBody>
                    <a:bodyPr/>
                    <a:lstStyle/>
                    <a:p>
                      <a:r>
                        <a:rPr sz="1800">
                          <a:solidFill>
                            <a:srgbClr val="151B23"/>
                          </a:solidFill>
                          <a:latin typeface="Arial"/>
                          <a:ea typeface="Arial"/>
                          <a:cs typeface="Arial"/>
                        </a:rPr>
                        <a:t>Checks đạt</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3/3</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4/4</a:t>
                      </a:r>
                    </a:p>
                  </a:txBody>
                  <a:tcPr marL="114300" marR="95250" marT="76200" marB="57150">
                    <a:lnR w="9525">
                      <a:solidFill>
                        <a:srgbClr val="D7DDE4"/>
                      </a:solidFill>
                      <a:prstDash val="solid"/>
                    </a:lnR>
                    <a:lnB w="9525">
                      <a:solidFill>
                        <a:srgbClr val="D7DDE4"/>
                      </a:solidFill>
                      <a:prstDash val="solid"/>
                    </a:lnB>
                    <a:solidFill>
                      <a:srgbClr val="FFFFFF"/>
                    </a:solidFill>
                  </a:tcPr>
                </a:tc>
              </a:tr>
              <a:tr h="720725">
                <a:tc>
                  <a:txBody>
                    <a:bodyPr/>
                    <a:lstStyle/>
                    <a:p>
                      <a:r>
                        <a:rPr sz="1800">
                          <a:solidFill>
                            <a:srgbClr val="151B23"/>
                          </a:solidFill>
                          <a:latin typeface="Arial"/>
                          <a:ea typeface="Arial"/>
                          <a:cs typeface="Arial"/>
                        </a:rPr>
                        <a:t>HTTP lỗi / p95</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0% / 33,62 ms</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0% / 3,92 ms</a:t>
                      </a:r>
                    </a:p>
                  </a:txBody>
                  <a:tcPr marL="114300" marR="95250" marT="76200" marB="57150">
                    <a:lnR w="9525">
                      <a:solidFill>
                        <a:srgbClr val="D7DDE4"/>
                      </a:solidFill>
                      <a:prstDash val="solid"/>
                    </a:lnR>
                    <a:lnB w="9525">
                      <a:solidFill>
                        <a:srgbClr val="D7DDE4"/>
                      </a:solidFill>
                      <a:prstDash val="solid"/>
                    </a:lnB>
                    <a:solidFill>
                      <a:srgbClr val="FFFFFF"/>
                    </a:solidFill>
                  </a:tcPr>
                </a:tc>
              </a:tr>
              <a:tr h="720725">
                <a:tc>
                  <a:txBody>
                    <a:bodyPr/>
                    <a:lstStyle/>
                    <a:p>
                      <a:r>
                        <a:rPr sz="1800">
                          <a:solidFill>
                            <a:srgbClr val="151B23"/>
                          </a:solidFill>
                          <a:latin typeface="Arial"/>
                          <a:ea typeface="Arial"/>
                          <a:cs typeface="Arial"/>
                        </a:rPr>
                        <a:t>Nhánh đã chạy</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Login và Search</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Login và Detail</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758165156"/>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WEB AUDIT / EVIDENCE">
            <a:extLst xmlns:a="http://schemas.openxmlformats.org/drawingml/2006/main">
              <a:ext uri="{FF2B5EF4-FFF2-40B4-BE49-F238E27FC236}">
                <a16:creationId xmlns:a16="http://schemas.microsoft.com/office/drawing/2014/main" id="{EB482B0B-3F8F-499A-90A4-B5958953409D}"/>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WEB AUDIT / EVIDENCE</a:t>
            </a:r>
          </a:p>
        </p:txBody>
      </p:sp>
      <p:sp>
        <p:nvSpPr>
          <p:cNvPr id="3" name="Nhận xét AI trên giao diện">
            <a:extLst xmlns:a="http://schemas.openxmlformats.org/drawingml/2006/main">
              <a:ext uri="{FF2B5EF4-FFF2-40B4-BE49-F238E27FC236}">
                <a16:creationId xmlns:a16="http://schemas.microsoft.com/office/drawing/2014/main" id="{64851247-9577-48E5-97F7-71585CEA3493}"/>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Nhận xét AI trên giao diện</a:t>
            </a:r>
          </a:p>
        </p:txBody>
      </p:sp>
      <p:sp>
        <p:nvSpPr>
          <p:cNvPr id="4" name="Performance Testing trên EShop">
            <a:extLst xmlns:a="http://schemas.openxmlformats.org/drawingml/2006/main">
              <a:ext uri="{FF2B5EF4-FFF2-40B4-BE49-F238E27FC236}">
                <a16:creationId xmlns:a16="http://schemas.microsoft.com/office/drawing/2014/main" id="{DF4DA38F-5745-4F31-9860-57D5156DD0F8}"/>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42">
            <a:extLst xmlns:a="http://schemas.openxmlformats.org/drawingml/2006/main">
              <a:ext uri="{FF2B5EF4-FFF2-40B4-BE49-F238E27FC236}">
                <a16:creationId xmlns:a16="http://schemas.microsoft.com/office/drawing/2014/main" id="{7AFEA585-DCCA-4905-BDB1-8F3BCCB84F54}"/>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71</a:t>
            </a:r>
          </a:p>
        </p:txBody>
      </p:sp>
      <p:pic>
        <p:nvPicPr>
          <p:cNvPr id="6" name="">
            <a:extLst xmlns:a="http://schemas.openxmlformats.org/drawingml/2006/main">
              <a:ext uri="{FF2B5EF4-FFF2-40B4-BE49-F238E27FC236}">
                <a16:creationId xmlns:a16="http://schemas.microsoft.com/office/drawing/2014/main" id="{D4948069-9D41-4165-8169-84B10BA2EA05}"/>
              </a:ext>
            </a:extLst>
          </p:cNvPr>
          <p:cNvPicPr>
            <a:picLocks xmlns:a="http://schemas.openxmlformats.org/drawingml/2006/main" noChangeAspect="1"/>
          </p:cNvPicPr>
          <p:nvPr/>
        </p:nvPicPr>
        <p:blipFill>
          <a:blip xmlns:r="http://schemas.openxmlformats.org/officeDocument/2006/relationships" xmlns:a="http://schemas.openxmlformats.org/drawingml/2006/main" r:embed="R371e9076432a4f75"/>
          <a:stretch xmlns:a="http://schemas.openxmlformats.org/drawingml/2006/main"/>
        </p:blipFill>
        <p:spPr>
          <a:xfrm xmlns:a="http://schemas.openxmlformats.org/drawingml/2006/main">
            <a:off x="2179626" y="1676400"/>
            <a:ext cx="7832748" cy="4095750"/>
          </a:xfrm>
          <a:prstGeom xmlns:a="http://schemas.openxmlformats.org/drawingml/2006/main" prst="rect">
            <a:avLst/>
          </a:prstGeom>
        </p:spPr>
      </p:pic>
      <p:sp>
        <p:nvSpPr>
          <p:cNvPr id="7" name="Luna nêu chất lượng source, rủi ro và evidence chưa chứng minh">
            <a:extLst xmlns:a="http://schemas.openxmlformats.org/drawingml/2006/main">
              <a:ext uri="{FF2B5EF4-FFF2-40B4-BE49-F238E27FC236}">
                <a16:creationId xmlns:a16="http://schemas.microsoft.com/office/drawing/2014/main" id="{CB842625-A7F7-4227-9826-B71EEB24F88D}"/>
              </a:ext>
            </a:extLst>
          </p:cNvPr>
          <p:cNvSpPr>
            <a:spLocks xmlns:a="http://schemas.openxmlformats.org/drawingml/2006/main" noGrp="1"/>
          </p:cNvSpPr>
          <p:nvPr/>
        </p:nvSpPr>
        <p:spPr>
          <a:xfrm xmlns:a="http://schemas.openxmlformats.org/drawingml/2006/main">
            <a:off x="609600" y="5905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151B23"/>
                </a:solidFill>
                <a:latin typeface="Arial"/>
                <a:ea typeface="Arial"/>
                <a:cs typeface="Arial"/>
              </a:defRPr>
            </a:defPPr>
            <a:lvl1pPr>
              <a:defRPr sz="1650" b="0">
                <a:solidFill>
                  <a:srgbClr val="151B23"/>
                </a:solidFill>
                <a:latin typeface="Arial"/>
                <a:ea typeface="Arial"/>
                <a:cs typeface="Arial"/>
              </a:defRPr>
            </a:lvl1pPr>
            <a:lvl2pPr>
              <a:defRPr sz="1650" b="0">
                <a:solidFill>
                  <a:srgbClr val="151B23"/>
                </a:solidFill>
                <a:latin typeface="Arial"/>
                <a:ea typeface="Arial"/>
                <a:cs typeface="Arial"/>
              </a:defRPr>
            </a:lvl2pPr>
            <a:lvl3pPr>
              <a:defRPr sz="1650" b="0">
                <a:solidFill>
                  <a:srgbClr val="151B23"/>
                </a:solidFill>
                <a:latin typeface="Arial"/>
                <a:ea typeface="Arial"/>
                <a:cs typeface="Arial"/>
              </a:defRPr>
            </a:lvl3pPr>
            <a:lvl4pPr>
              <a:defRPr sz="1650" b="0">
                <a:solidFill>
                  <a:srgbClr val="151B23"/>
                </a:solidFill>
                <a:latin typeface="Arial"/>
                <a:ea typeface="Arial"/>
                <a:cs typeface="Arial"/>
              </a:defRPr>
            </a:lvl4pPr>
            <a:lvl5pPr>
              <a:defRPr sz="1650" b="0">
                <a:solidFill>
                  <a:srgbClr val="151B23"/>
                </a:solidFill>
                <a:latin typeface="Arial"/>
                <a:ea typeface="Arial"/>
                <a:cs typeface="Arial"/>
              </a:defRPr>
            </a:lvl5pPr>
            <a:lvl6pPr>
              <a:defRPr sz="1650" b="0">
                <a:solidFill>
                  <a:srgbClr val="151B23"/>
                </a:solidFill>
                <a:latin typeface="Arial"/>
                <a:ea typeface="Arial"/>
                <a:cs typeface="Arial"/>
              </a:defRPr>
            </a:lvl6pPr>
            <a:lvl7pPr>
              <a:defRPr sz="1650" b="0">
                <a:solidFill>
                  <a:srgbClr val="151B23"/>
                </a:solidFill>
                <a:latin typeface="Arial"/>
                <a:ea typeface="Arial"/>
                <a:cs typeface="Arial"/>
              </a:defRPr>
            </a:lvl7pPr>
            <a:lvl8pPr>
              <a:defRPr sz="1650" b="0">
                <a:solidFill>
                  <a:srgbClr val="151B23"/>
                </a:solidFill>
                <a:latin typeface="Arial"/>
                <a:ea typeface="Arial"/>
                <a:cs typeface="Arial"/>
              </a:defRPr>
            </a:lvl8pPr>
            <a:lvl9pPr>
              <a:defRPr sz="1650" b="0">
                <a:solidFill>
                  <a:srgbClr val="151B23"/>
                </a:solidFill>
                <a:latin typeface="Arial"/>
                <a:ea typeface="Arial"/>
                <a:cs typeface="Arial"/>
              </a:defRPr>
            </a:lvl9pPr>
          </a:lstStyle>
          <a:p xmlns:a="http://schemas.openxmlformats.org/drawingml/2006/main">
            <a:pPr>
              <a:defRPr sz="1650" b="0">
                <a:solidFill>
                  <a:srgbClr val="151B23"/>
                </a:solidFill>
                <a:latin typeface="Arial"/>
                <a:ea typeface="Arial"/>
                <a:cs typeface="Arial"/>
              </a:defRPr>
            </a:pPr>
            <a:r>
              <a:rPr sz="1650" b="0">
                <a:solidFill>
                  <a:srgbClr val="151B23"/>
                </a:solidFill>
                <a:latin typeface="Arial"/>
                <a:ea typeface="Arial"/>
                <a:cs typeface="Arial"/>
              </a:rPr>
              <a:t>Luna nêu chất lượng source, rủi ro và evidence chưa chứng minh</a:t>
            </a:r>
          </a:p>
        </p:txBody>
      </p:sp>
    </p:spTree>
    <p:extLst>
      <p:ext uri="{BB962C8B-B14F-4D97-AF65-F5344CB8AC3E}">
        <p14:creationId xmlns:p14="http://schemas.microsoft.com/office/powerpoint/2010/main" val="1448469270"/>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WEB AUDIT / GỢI Ý">
            <a:extLst xmlns:a="http://schemas.openxmlformats.org/drawingml/2006/main">
              <a:ext uri="{FF2B5EF4-FFF2-40B4-BE49-F238E27FC236}">
                <a16:creationId xmlns:a16="http://schemas.microsoft.com/office/drawing/2014/main" id="{8C4456C2-8FC6-4095-AD2D-687AC0BD3018}"/>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WEB AUDIT / GỢI Ý</a:t>
            </a:r>
          </a:p>
        </p:txBody>
      </p:sp>
      <p:sp>
        <p:nvSpPr>
          <p:cNvPr id="3" name="Threshold: đề xuất khác với số đo">
            <a:extLst xmlns:a="http://schemas.openxmlformats.org/drawingml/2006/main">
              <a:ext uri="{FF2B5EF4-FFF2-40B4-BE49-F238E27FC236}">
                <a16:creationId xmlns:a16="http://schemas.microsoft.com/office/drawing/2014/main" id="{FE8FA17A-946D-446D-88FF-53084F5C852E}"/>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Threshold: đề xuất khác với số đo</a:t>
            </a:r>
          </a:p>
        </p:txBody>
      </p:sp>
      <p:sp>
        <p:nvSpPr>
          <p:cNvPr id="4" name="Performance Testing trên EShop">
            <a:extLst xmlns:a="http://schemas.openxmlformats.org/drawingml/2006/main">
              <a:ext uri="{FF2B5EF4-FFF2-40B4-BE49-F238E27FC236}">
                <a16:creationId xmlns:a16="http://schemas.microsoft.com/office/drawing/2014/main" id="{E50F76E2-4107-4E1F-BA99-EA10880CE9C5}"/>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43">
            <a:extLst xmlns:a="http://schemas.openxmlformats.org/drawingml/2006/main">
              <a:ext uri="{FF2B5EF4-FFF2-40B4-BE49-F238E27FC236}">
                <a16:creationId xmlns:a16="http://schemas.microsoft.com/office/drawing/2014/main" id="{148594F5-A3D5-4789-ACCB-E18CC809C887}"/>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72</a:t>
            </a:r>
          </a:p>
        </p:txBody>
      </p:sp>
      <p:graphicFrame>
        <p:nvGraphicFramePr>
          <p:cNvPr id="6" name="">
            <a:extLst xmlns:a="http://schemas.openxmlformats.org/drawingml/2006/main">
              <a:ext uri="{FF2B5EF4-FFF2-40B4-BE49-F238E27FC236}">
                <a16:creationId xmlns:a16="http://schemas.microsoft.com/office/drawing/2014/main" id="{11D07B35-426E-4944-9141-820A308F4E1B}"/>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3657600"/>
                <a:gridCol w="3657600"/>
                <a:gridCol w="3657600"/>
              </a:tblGrid>
              <a:tr h="864870">
                <a:tc>
                  <a:txBody>
                    <a:bodyPr/>
                    <a:lstStyle/>
                    <a:p>
                      <a:r>
                        <a:rPr sz="1800" b="1">
                          <a:solidFill>
                            <a:srgbClr val="153E75"/>
                          </a:solidFill>
                          <a:latin typeface="Arial"/>
                          <a:ea typeface="Arial"/>
                          <a:cs typeface="Arial"/>
                        </a:rPr>
                        <a:t>Script</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Metric</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Đề xuất đã lưu</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864870">
                <a:tc>
                  <a:txBody>
                    <a:bodyPr/>
                    <a:lstStyle/>
                    <a:p>
                      <a:r>
                        <a:rPr sz="1800">
                          <a:solidFill>
                            <a:srgbClr val="151B23"/>
                          </a:solidFill>
                          <a:latin typeface="Arial"/>
                          <a:ea typeface="Arial"/>
                          <a:cs typeface="Arial"/>
                        </a:rPr>
                        <a:t>Gemini</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http_req_duration</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p(95)&lt;400</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Claude</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http_req_duration</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p(95)&lt;300</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Cả hai</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checks</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rate&gt;=0.99</a:t>
                      </a:r>
                    </a:p>
                  </a:txBody>
                  <a:tcPr marL="114300" marR="95250" marT="76200" marB="57150">
                    <a:lnR w="9525">
                      <a:solidFill>
                        <a:srgbClr val="D7DDE4"/>
                      </a:solidFill>
                      <a:prstDash val="solid"/>
                    </a:lnR>
                    <a:lnB w="9525">
                      <a:solidFill>
                        <a:srgbClr val="D7DDE4"/>
                      </a:solidFill>
                      <a:prstDash val="solid"/>
                    </a:lnB>
                    <a:solidFill>
                      <a:srgbClr val="FFFFFF"/>
                    </a:solidFill>
                  </a:tcPr>
                </a:tc>
              </a:tr>
              <a:tr h="864870">
                <a:tc>
                  <a:txBody>
                    <a:bodyPr/>
                    <a:lstStyle/>
                    <a:p>
                      <a:r>
                        <a:rPr sz="1800">
                          <a:solidFill>
                            <a:srgbClr val="151B23"/>
                          </a:solidFill>
                          <a:latin typeface="Arial"/>
                          <a:ea typeface="Arial"/>
                          <a:cs typeface="Arial"/>
                        </a:rPr>
                        <a:t>Cả hai</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http_req_failed</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rate&lt;0.01</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2067805695"/>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WEB AUDIT / CORRELATION">
            <a:extLst xmlns:a="http://schemas.openxmlformats.org/drawingml/2006/main">
              <a:ext uri="{FF2B5EF4-FFF2-40B4-BE49-F238E27FC236}">
                <a16:creationId xmlns:a16="http://schemas.microsoft.com/office/drawing/2014/main" id="{DDC4E396-89ED-43C2-86A2-6CD28A570FA2}"/>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WEB AUDIT / CORRELATION</a:t>
            </a:r>
          </a:p>
        </p:txBody>
      </p:sp>
      <p:sp>
        <p:nvSpPr>
          <p:cNvPr id="3" name="Correlation: token và orderId">
            <a:extLst xmlns:a="http://schemas.openxmlformats.org/drawingml/2006/main">
              <a:ext uri="{FF2B5EF4-FFF2-40B4-BE49-F238E27FC236}">
                <a16:creationId xmlns:a16="http://schemas.microsoft.com/office/drawing/2014/main" id="{052C6EDB-09EB-42A8-A6F6-89386A410C19}"/>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Correlation: token và orderId</a:t>
            </a:r>
          </a:p>
        </p:txBody>
      </p:sp>
      <p:sp>
        <p:nvSpPr>
          <p:cNvPr id="4" name="Performance Testing trên EShop">
            <a:extLst xmlns:a="http://schemas.openxmlformats.org/drawingml/2006/main">
              <a:ext uri="{FF2B5EF4-FFF2-40B4-BE49-F238E27FC236}">
                <a16:creationId xmlns:a16="http://schemas.microsoft.com/office/drawing/2014/main" id="{BFD7699C-D3DC-4363-94C5-E70AEE909082}"/>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44">
            <a:extLst xmlns:a="http://schemas.openxmlformats.org/drawingml/2006/main">
              <a:ext uri="{FF2B5EF4-FFF2-40B4-BE49-F238E27FC236}">
                <a16:creationId xmlns:a16="http://schemas.microsoft.com/office/drawing/2014/main" id="{E7B9B2EA-4898-4BEE-91F1-9D29B342948B}"/>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73</a:t>
            </a:r>
          </a:p>
        </p:txBody>
      </p:sp>
      <p:graphicFrame>
        <p:nvGraphicFramePr>
          <p:cNvPr id="6" name="">
            <a:extLst xmlns:a="http://schemas.openxmlformats.org/drawingml/2006/main">
              <a:ext uri="{FF2B5EF4-FFF2-40B4-BE49-F238E27FC236}">
                <a16:creationId xmlns:a16="http://schemas.microsoft.com/office/drawing/2014/main" id="{78BC3EC4-4B29-482B-91E5-E01BEFBE7EA7}"/>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3657600"/>
                <a:gridCol w="3657600"/>
                <a:gridCol w="3657600"/>
              </a:tblGrid>
              <a:tr h="1081088">
                <a:tc>
                  <a:txBody>
                    <a:bodyPr/>
                    <a:lstStyle/>
                    <a:p>
                      <a:r>
                        <a:rPr sz="1800" b="1">
                          <a:solidFill>
                            <a:srgbClr val="153E75"/>
                          </a:solidFill>
                          <a:latin typeface="Arial"/>
                          <a:ea typeface="Arial"/>
                          <a:cs typeface="Arial"/>
                        </a:rPr>
                        <a:t>Dữ liệu</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Nguồn</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Nơi dùng</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1081088">
                <a:tc>
                  <a:txBody>
                    <a:bodyPr/>
                    <a:lstStyle/>
                    <a:p>
                      <a:r>
                        <a:rPr sz="1800">
                          <a:solidFill>
                            <a:srgbClr val="151B23"/>
                          </a:solidFill>
                          <a:latin typeface="Arial"/>
                          <a:ea typeface="Arial"/>
                          <a:cs typeface="Arial"/>
                        </a:rPr>
                        <a:t>token</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JSON response POST /api/login</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Bearer header khi checkout</a:t>
                      </a:r>
                    </a:p>
                  </a:txBody>
                  <a:tcPr marL="114300" marR="95250" marT="76200" marB="57150">
                    <a:lnR w="9525">
                      <a:solidFill>
                        <a:srgbClr val="D7DDE4"/>
                      </a:solidFill>
                      <a:prstDash val="solid"/>
                    </a:lnR>
                    <a:lnB w="9525">
                      <a:solidFill>
                        <a:srgbClr val="D7DDE4"/>
                      </a:solidFill>
                      <a:prstDash val="solid"/>
                    </a:lnB>
                    <a:solidFill>
                      <a:srgbClr val="FFFFFF"/>
                    </a:solidFill>
                  </a:tcPr>
                </a:tc>
              </a:tr>
              <a:tr h="1081088">
                <a:tc>
                  <a:txBody>
                    <a:bodyPr/>
                    <a:lstStyle/>
                    <a:p>
                      <a:r>
                        <a:rPr sz="1800">
                          <a:solidFill>
                            <a:srgbClr val="151B23"/>
                          </a:solidFill>
                          <a:latin typeface="Arial"/>
                          <a:ea typeface="Arial"/>
                          <a:cs typeface="Arial"/>
                        </a:rPr>
                        <a:t>Guard</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Status, JSON và token hợp lệ</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Chặn request cần quyền khi lỗi</a:t>
                      </a:r>
                    </a:p>
                  </a:txBody>
                  <a:tcPr marL="114300" marR="95250" marT="76200" marB="57150">
                    <a:lnR w="9525">
                      <a:solidFill>
                        <a:srgbClr val="D7DDE4"/>
                      </a:solidFill>
                      <a:prstDash val="solid"/>
                    </a:lnR>
                    <a:lnB w="9525">
                      <a:solidFill>
                        <a:srgbClr val="D7DDE4"/>
                      </a:solidFill>
                      <a:prstDash val="solid"/>
                    </a:lnB>
                    <a:solidFill>
                      <a:srgbClr val="FFFFFF"/>
                    </a:solidFill>
                  </a:tcPr>
                </a:tc>
              </a:tr>
              <a:tr h="1081088">
                <a:tc>
                  <a:txBody>
                    <a:bodyPr/>
                    <a:lstStyle/>
                    <a:p>
                      <a:r>
                        <a:rPr sz="1800">
                          <a:solidFill>
                            <a:srgbClr val="151B23"/>
                          </a:solidFill>
                          <a:latin typeface="Arial"/>
                          <a:ea typeface="Arial"/>
                          <a:cs typeface="Arial"/>
                        </a:rPr>
                        <a:t>orderId</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JSON response checkout</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Check kết quả bước cuối</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1992702134"/>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WEB AUDIT / ĐỘ TIN CẬY">
            <a:extLst xmlns:a="http://schemas.openxmlformats.org/drawingml/2006/main">
              <a:ext uri="{FF2B5EF4-FFF2-40B4-BE49-F238E27FC236}">
                <a16:creationId xmlns:a16="http://schemas.microsoft.com/office/drawing/2014/main" id="{98D97F00-73B8-4CD6-AABC-530976DE2440}"/>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WEB AUDIT / ĐỘ TIN CẬY</a:t>
            </a:r>
          </a:p>
        </p:txBody>
      </p:sp>
      <p:sp>
        <p:nvSpPr>
          <p:cNvPr id="3" name="Kiểm thử hồi quy bộ đánh giá">
            <a:extLst xmlns:a="http://schemas.openxmlformats.org/drawingml/2006/main">
              <a:ext uri="{FF2B5EF4-FFF2-40B4-BE49-F238E27FC236}">
                <a16:creationId xmlns:a16="http://schemas.microsoft.com/office/drawing/2014/main" id="{D0A4420E-DF6C-44B4-B100-3A072154DA6E}"/>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Kiểm thử hồi quy bộ đánh giá</a:t>
            </a:r>
          </a:p>
        </p:txBody>
      </p:sp>
      <p:sp>
        <p:nvSpPr>
          <p:cNvPr id="4" name="Performance Testing trên EShop">
            <a:extLst xmlns:a="http://schemas.openxmlformats.org/drawingml/2006/main">
              <a:ext uri="{FF2B5EF4-FFF2-40B4-BE49-F238E27FC236}">
                <a16:creationId xmlns:a16="http://schemas.microsoft.com/office/drawing/2014/main" id="{5CF7C86C-6ABC-420D-BFE2-293056ED36D2}"/>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45">
            <a:extLst xmlns:a="http://schemas.openxmlformats.org/drawingml/2006/main">
              <a:ext uri="{FF2B5EF4-FFF2-40B4-BE49-F238E27FC236}">
                <a16:creationId xmlns:a16="http://schemas.microsoft.com/office/drawing/2014/main" id="{B3123D17-6E25-47B0-8FCC-6C70A139AD54}"/>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74</a:t>
            </a:r>
          </a:p>
        </p:txBody>
      </p:sp>
      <p:pic>
        <p:nvPicPr>
          <p:cNvPr id="6" name="">
            <a:extLst xmlns:a="http://schemas.openxmlformats.org/drawingml/2006/main">
              <a:ext uri="{FF2B5EF4-FFF2-40B4-BE49-F238E27FC236}">
                <a16:creationId xmlns:a16="http://schemas.microsoft.com/office/drawing/2014/main" id="{A541A1F0-C023-4790-971B-A0443B46CCBD}"/>
              </a:ext>
            </a:extLst>
          </p:cNvPr>
          <p:cNvPicPr>
            <a:picLocks xmlns:a="http://schemas.openxmlformats.org/drawingml/2006/main" noChangeAspect="1"/>
          </p:cNvPicPr>
          <p:nvPr/>
        </p:nvPicPr>
        <p:blipFill>
          <a:blip xmlns:r="http://schemas.openxmlformats.org/officeDocument/2006/relationships" xmlns:a="http://schemas.openxmlformats.org/drawingml/2006/main" r:embed="R245fc1337c704a59"/>
          <a:stretch xmlns:a="http://schemas.openxmlformats.org/drawingml/2006/main"/>
        </p:blipFill>
        <p:spPr>
          <a:xfrm xmlns:a="http://schemas.openxmlformats.org/drawingml/2006/main">
            <a:off x="609600" y="2099582"/>
            <a:ext cx="10972800" cy="3249386"/>
          </a:xfrm>
          <a:prstGeom xmlns:a="http://schemas.openxmlformats.org/drawingml/2006/main" prst="rect">
            <a:avLst/>
          </a:prstGeom>
        </p:spPr>
      </p:pic>
      <p:sp>
        <p:nvSpPr>
          <p:cNvPr id="7" name="15 test đạt cho evaluator, parser và xử lý phiên">
            <a:extLst xmlns:a="http://schemas.openxmlformats.org/drawingml/2006/main">
              <a:ext uri="{FF2B5EF4-FFF2-40B4-BE49-F238E27FC236}">
                <a16:creationId xmlns:a16="http://schemas.microsoft.com/office/drawing/2014/main" id="{9B92B48C-39C6-4C14-9863-2628C8AE53A1}"/>
              </a:ext>
            </a:extLst>
          </p:cNvPr>
          <p:cNvSpPr>
            <a:spLocks xmlns:a="http://schemas.openxmlformats.org/drawingml/2006/main" noGrp="1"/>
          </p:cNvSpPr>
          <p:nvPr/>
        </p:nvSpPr>
        <p:spPr>
          <a:xfrm xmlns:a="http://schemas.openxmlformats.org/drawingml/2006/main">
            <a:off x="609600" y="5905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151B23"/>
                </a:solidFill>
                <a:latin typeface="Arial"/>
                <a:ea typeface="Arial"/>
                <a:cs typeface="Arial"/>
              </a:defRPr>
            </a:defPPr>
            <a:lvl1pPr>
              <a:defRPr sz="1650" b="0">
                <a:solidFill>
                  <a:srgbClr val="151B23"/>
                </a:solidFill>
                <a:latin typeface="Arial"/>
                <a:ea typeface="Arial"/>
                <a:cs typeface="Arial"/>
              </a:defRPr>
            </a:lvl1pPr>
            <a:lvl2pPr>
              <a:defRPr sz="1650" b="0">
                <a:solidFill>
                  <a:srgbClr val="151B23"/>
                </a:solidFill>
                <a:latin typeface="Arial"/>
                <a:ea typeface="Arial"/>
                <a:cs typeface="Arial"/>
              </a:defRPr>
            </a:lvl2pPr>
            <a:lvl3pPr>
              <a:defRPr sz="1650" b="0">
                <a:solidFill>
                  <a:srgbClr val="151B23"/>
                </a:solidFill>
                <a:latin typeface="Arial"/>
                <a:ea typeface="Arial"/>
                <a:cs typeface="Arial"/>
              </a:defRPr>
            </a:lvl3pPr>
            <a:lvl4pPr>
              <a:defRPr sz="1650" b="0">
                <a:solidFill>
                  <a:srgbClr val="151B23"/>
                </a:solidFill>
                <a:latin typeface="Arial"/>
                <a:ea typeface="Arial"/>
                <a:cs typeface="Arial"/>
              </a:defRPr>
            </a:lvl4pPr>
            <a:lvl5pPr>
              <a:defRPr sz="1650" b="0">
                <a:solidFill>
                  <a:srgbClr val="151B23"/>
                </a:solidFill>
                <a:latin typeface="Arial"/>
                <a:ea typeface="Arial"/>
                <a:cs typeface="Arial"/>
              </a:defRPr>
            </a:lvl5pPr>
            <a:lvl6pPr>
              <a:defRPr sz="1650" b="0">
                <a:solidFill>
                  <a:srgbClr val="151B23"/>
                </a:solidFill>
                <a:latin typeface="Arial"/>
                <a:ea typeface="Arial"/>
                <a:cs typeface="Arial"/>
              </a:defRPr>
            </a:lvl6pPr>
            <a:lvl7pPr>
              <a:defRPr sz="1650" b="0">
                <a:solidFill>
                  <a:srgbClr val="151B23"/>
                </a:solidFill>
                <a:latin typeface="Arial"/>
                <a:ea typeface="Arial"/>
                <a:cs typeface="Arial"/>
              </a:defRPr>
            </a:lvl7pPr>
            <a:lvl8pPr>
              <a:defRPr sz="1650" b="0">
                <a:solidFill>
                  <a:srgbClr val="151B23"/>
                </a:solidFill>
                <a:latin typeface="Arial"/>
                <a:ea typeface="Arial"/>
                <a:cs typeface="Arial"/>
              </a:defRPr>
            </a:lvl8pPr>
            <a:lvl9pPr>
              <a:defRPr sz="1650" b="0">
                <a:solidFill>
                  <a:srgbClr val="151B23"/>
                </a:solidFill>
                <a:latin typeface="Arial"/>
                <a:ea typeface="Arial"/>
                <a:cs typeface="Arial"/>
              </a:defRPr>
            </a:lvl9pPr>
          </a:lstStyle>
          <a:p xmlns:a="http://schemas.openxmlformats.org/drawingml/2006/main">
            <a:pPr>
              <a:defRPr sz="1650" b="0">
                <a:solidFill>
                  <a:srgbClr val="151B23"/>
                </a:solidFill>
                <a:latin typeface="Arial"/>
                <a:ea typeface="Arial"/>
                <a:cs typeface="Arial"/>
              </a:defRPr>
            </a:pPr>
            <a:r>
              <a:rPr sz="1650" b="0">
                <a:solidFill>
                  <a:srgbClr val="151B23"/>
                </a:solidFill>
                <a:latin typeface="Arial"/>
                <a:ea typeface="Arial"/>
                <a:cs typeface="Arial"/>
              </a:rPr>
              <a:t>15 test đạt cho evaluator, parser và xử lý phiên</a:t>
            </a:r>
          </a:p>
        </p:txBody>
      </p:sp>
    </p:spTree>
    <p:extLst>
      <p:ext uri="{BB962C8B-B14F-4D97-AF65-F5344CB8AC3E}">
        <p14:creationId xmlns:p14="http://schemas.microsoft.com/office/powerpoint/2010/main" val="155584521"/>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BÀI TẬP CỦA MINH THẮNG">
            <a:extLst xmlns:a="http://schemas.openxmlformats.org/drawingml/2006/main">
              <a:ext uri="{FF2B5EF4-FFF2-40B4-BE49-F238E27FC236}">
                <a16:creationId xmlns:a16="http://schemas.microsoft.com/office/drawing/2014/main" id="{38875110-8CF6-451F-BC9E-E12D4E47751F}"/>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BÀI TẬP CỦA MINH THẮNG</a:t>
            </a:r>
          </a:p>
        </p:txBody>
      </p:sp>
      <p:sp>
        <p:nvSpPr>
          <p:cNvPr id="3" name="Bài tập 3: audit hai script k6">
            <a:extLst xmlns:a="http://schemas.openxmlformats.org/drawingml/2006/main">
              <a:ext uri="{FF2B5EF4-FFF2-40B4-BE49-F238E27FC236}">
                <a16:creationId xmlns:a16="http://schemas.microsoft.com/office/drawing/2014/main" id="{DE221868-E081-4D7A-BC66-FD63E5175285}"/>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Bài tập 3: audit hai script k6</a:t>
            </a:r>
          </a:p>
        </p:txBody>
      </p:sp>
      <p:sp>
        <p:nvSpPr>
          <p:cNvPr id="4" name="Performance Testing trên EShop">
            <a:extLst xmlns:a="http://schemas.openxmlformats.org/drawingml/2006/main">
              <a:ext uri="{FF2B5EF4-FFF2-40B4-BE49-F238E27FC236}">
                <a16:creationId xmlns:a16="http://schemas.microsoft.com/office/drawing/2014/main" id="{B9D8504E-FC82-4DC5-94FD-68420C97B5A0}"/>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46">
            <a:extLst xmlns:a="http://schemas.openxmlformats.org/drawingml/2006/main">
              <a:ext uri="{FF2B5EF4-FFF2-40B4-BE49-F238E27FC236}">
                <a16:creationId xmlns:a16="http://schemas.microsoft.com/office/drawing/2014/main" id="{92F8D12B-1F00-4E43-85B6-7095D9A6C67F}"/>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75</a:t>
            </a:r>
          </a:p>
        </p:txBody>
      </p:sp>
      <p:sp>
        <p:nvSpPr>
          <p:cNvPr id="6" name="01">
            <a:extLst xmlns:a="http://schemas.openxmlformats.org/drawingml/2006/main">
              <a:ext uri="{FF2B5EF4-FFF2-40B4-BE49-F238E27FC236}">
                <a16:creationId xmlns:a16="http://schemas.microsoft.com/office/drawing/2014/main" id="{8EE5FC01-CD6C-4E50-B3DA-F021D99A30A9}"/>
              </a:ext>
            </a:extLst>
          </p:cNvPr>
          <p:cNvSpPr>
            <a:spLocks xmlns:a="http://schemas.openxmlformats.org/drawingml/2006/main" noGrp="1"/>
          </p:cNvSpPr>
          <p:nvPr/>
        </p:nvSpPr>
        <p:spPr>
          <a:xfrm xmlns:a="http://schemas.openxmlformats.org/drawingml/2006/main">
            <a:off x="628650" y="18002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01</a:t>
            </a:r>
          </a:p>
        </p:txBody>
      </p:sp>
      <p:sp>
        <p:nvSpPr>
          <p:cNvPr id="7" name="Chạy web với HAR đã redacted và hai script thật.">
            <a:extLst xmlns:a="http://schemas.openxmlformats.org/drawingml/2006/main">
              <a:ext uri="{FF2B5EF4-FFF2-40B4-BE49-F238E27FC236}">
                <a16:creationId xmlns:a16="http://schemas.microsoft.com/office/drawing/2014/main" id="{DB350D84-9CAC-4F15-BFD3-9625C047262C}"/>
              </a:ext>
            </a:extLst>
          </p:cNvPr>
          <p:cNvSpPr>
            <a:spLocks xmlns:a="http://schemas.openxmlformats.org/drawingml/2006/main" noGrp="1"/>
          </p:cNvSpPr>
          <p:nvPr/>
        </p:nvSpPr>
        <p:spPr>
          <a:xfrm xmlns:a="http://schemas.openxmlformats.org/drawingml/2006/main">
            <a:off x="1257300" y="17811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Chạy web với HAR đã redacted và hai script thật.</a:t>
            </a:r>
          </a:p>
        </p:txBody>
      </p:sp>
      <p:sp>
        <p:nvSpPr>
          <p:cNvPr id="8" name="02">
            <a:extLst xmlns:a="http://schemas.openxmlformats.org/drawingml/2006/main">
              <a:ext uri="{FF2B5EF4-FFF2-40B4-BE49-F238E27FC236}">
                <a16:creationId xmlns:a16="http://schemas.microsoft.com/office/drawing/2014/main" id="{FBC7BDE1-1989-4A9E-9E6D-C37BD70C59B0}"/>
              </a:ext>
            </a:extLst>
          </p:cNvPr>
          <p:cNvSpPr>
            <a:spLocks xmlns:a="http://schemas.openxmlformats.org/drawingml/2006/main" noGrp="1"/>
          </p:cNvSpPr>
          <p:nvPr/>
        </p:nvSpPr>
        <p:spPr>
          <a:xfrm xmlns:a="http://schemas.openxmlformats.org/drawingml/2006/main">
            <a:off x="628650" y="27527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02</a:t>
            </a:r>
          </a:p>
        </p:txBody>
      </p:sp>
      <p:sp>
        <p:nvSpPr>
          <p:cNvPr id="9" name="Ghi điểm, smoke, số mẫu và nhánh thực thi của từng script.">
            <a:extLst xmlns:a="http://schemas.openxmlformats.org/drawingml/2006/main">
              <a:ext uri="{FF2B5EF4-FFF2-40B4-BE49-F238E27FC236}">
                <a16:creationId xmlns:a16="http://schemas.microsoft.com/office/drawing/2014/main" id="{E86CD6E2-A408-4736-9CEC-195597F42471}"/>
              </a:ext>
            </a:extLst>
          </p:cNvPr>
          <p:cNvSpPr>
            <a:spLocks xmlns:a="http://schemas.openxmlformats.org/drawingml/2006/main" noGrp="1"/>
          </p:cNvSpPr>
          <p:nvPr/>
        </p:nvSpPr>
        <p:spPr>
          <a:xfrm xmlns:a="http://schemas.openxmlformats.org/drawingml/2006/main">
            <a:off x="1257300" y="27336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Ghi điểm, smoke, số mẫu và nhánh thực thi của từng script.</a:t>
            </a:r>
          </a:p>
        </p:txBody>
      </p:sp>
      <p:sp>
        <p:nvSpPr>
          <p:cNvPr id="10" name="03">
            <a:extLst xmlns:a="http://schemas.openxmlformats.org/drawingml/2006/main">
              <a:ext uri="{FF2B5EF4-FFF2-40B4-BE49-F238E27FC236}">
                <a16:creationId xmlns:a16="http://schemas.microsoft.com/office/drawing/2014/main" id="{DB3D9B2B-300F-4AD5-A891-59BFE892C06E}"/>
              </a:ext>
            </a:extLst>
          </p:cNvPr>
          <p:cNvSpPr>
            <a:spLocks xmlns:a="http://schemas.openxmlformats.org/drawingml/2006/main" noGrp="1"/>
          </p:cNvSpPr>
          <p:nvPr/>
        </p:nvSpPr>
        <p:spPr>
          <a:xfrm xmlns:a="http://schemas.openxmlformats.org/drawingml/2006/main">
            <a:off x="628650" y="37052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03</a:t>
            </a:r>
          </a:p>
        </p:txBody>
      </p:sp>
      <p:sp>
        <p:nvSpPr>
          <p:cNvPr id="11" name="Đánh giá một threshold và đường đi token từ output Luna.">
            <a:extLst xmlns:a="http://schemas.openxmlformats.org/drawingml/2006/main">
              <a:ext uri="{FF2B5EF4-FFF2-40B4-BE49-F238E27FC236}">
                <a16:creationId xmlns:a16="http://schemas.microsoft.com/office/drawing/2014/main" id="{5F7AB1E7-8FB6-4751-BE4D-9AAA8BF63A2E}"/>
              </a:ext>
            </a:extLst>
          </p:cNvPr>
          <p:cNvSpPr>
            <a:spLocks xmlns:a="http://schemas.openxmlformats.org/drawingml/2006/main" noGrp="1"/>
          </p:cNvSpPr>
          <p:nvPr/>
        </p:nvSpPr>
        <p:spPr>
          <a:xfrm xmlns:a="http://schemas.openxmlformats.org/drawingml/2006/main">
            <a:off x="1257300" y="36861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Đánh giá một threshold và đường đi token từ output Luna.</a:t>
            </a:r>
          </a:p>
        </p:txBody>
      </p:sp>
      <p:sp>
        <p:nvSpPr>
          <p:cNvPr id="12" name="04">
            <a:extLst xmlns:a="http://schemas.openxmlformats.org/drawingml/2006/main">
              <a:ext uri="{FF2B5EF4-FFF2-40B4-BE49-F238E27FC236}">
                <a16:creationId xmlns:a16="http://schemas.microsoft.com/office/drawing/2014/main" id="{C83B9202-0DD6-48B9-A6F0-7DFD2A50E57C}"/>
              </a:ext>
            </a:extLst>
          </p:cNvPr>
          <p:cNvSpPr>
            <a:spLocks xmlns:a="http://schemas.openxmlformats.org/drawingml/2006/main" noGrp="1"/>
          </p:cNvSpPr>
          <p:nvPr/>
        </p:nvSpPr>
        <p:spPr>
          <a:xfrm xmlns:a="http://schemas.openxmlformats.org/drawingml/2006/main">
            <a:off x="628650" y="46577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04</a:t>
            </a:r>
          </a:p>
        </p:txBody>
      </p:sp>
      <p:sp>
        <p:nvSpPr>
          <p:cNvPr id="13" name="Nộp scorecard, ảnh/log và kết luận có giới hạn.">
            <a:extLst xmlns:a="http://schemas.openxmlformats.org/drawingml/2006/main">
              <a:ext uri="{FF2B5EF4-FFF2-40B4-BE49-F238E27FC236}">
                <a16:creationId xmlns:a16="http://schemas.microsoft.com/office/drawing/2014/main" id="{DF0D7811-96C3-4F3E-903E-214D49B61404}"/>
              </a:ext>
            </a:extLst>
          </p:cNvPr>
          <p:cNvSpPr>
            <a:spLocks xmlns:a="http://schemas.openxmlformats.org/drawingml/2006/main" noGrp="1"/>
          </p:cNvSpPr>
          <p:nvPr/>
        </p:nvSpPr>
        <p:spPr>
          <a:xfrm xmlns:a="http://schemas.openxmlformats.org/drawingml/2006/main">
            <a:off x="1257300" y="46386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Nộp scorecard, ảnh/log và kết luận có giới hạn.</a:t>
            </a:r>
          </a:p>
        </p:txBody>
      </p:sp>
    </p:spTree>
    <p:extLst>
      <p:ext uri="{BB962C8B-B14F-4D97-AF65-F5344CB8AC3E}">
        <p14:creationId xmlns:p14="http://schemas.microsoft.com/office/powerpoint/2010/main" val="1697270324"/>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ỔNG KẾT KỸ THUẬT">
            <a:extLst xmlns:a="http://schemas.openxmlformats.org/drawingml/2006/main">
              <a:ext uri="{FF2B5EF4-FFF2-40B4-BE49-F238E27FC236}">
                <a16:creationId xmlns:a16="http://schemas.microsoft.com/office/drawing/2014/main" id="{11F40CCB-37BB-4E60-BE41-6219632E49F4}"/>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TỔNG KẾT KỸ THUẬT</a:t>
            </a:r>
          </a:p>
        </p:txBody>
      </p:sp>
      <p:sp>
        <p:nvSpPr>
          <p:cNvPr id="3" name="Giới hạn và khả năng tái sử dụng">
            <a:extLst xmlns:a="http://schemas.openxmlformats.org/drawingml/2006/main">
              <a:ext uri="{FF2B5EF4-FFF2-40B4-BE49-F238E27FC236}">
                <a16:creationId xmlns:a16="http://schemas.microsoft.com/office/drawing/2014/main" id="{B918B2D6-B237-4C7F-9148-9D89E16AD8E7}"/>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Giới hạn và khả năng tái sử dụng</a:t>
            </a:r>
          </a:p>
        </p:txBody>
      </p:sp>
      <p:sp>
        <p:nvSpPr>
          <p:cNvPr id="4" name="Performance Testing trên EShop">
            <a:extLst xmlns:a="http://schemas.openxmlformats.org/drawingml/2006/main">
              <a:ext uri="{FF2B5EF4-FFF2-40B4-BE49-F238E27FC236}">
                <a16:creationId xmlns:a16="http://schemas.microsoft.com/office/drawing/2014/main" id="{074C5465-E20B-46A2-8868-FD80CA2DD6E1}"/>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47">
            <a:extLst xmlns:a="http://schemas.openxmlformats.org/drawingml/2006/main">
              <a:ext uri="{FF2B5EF4-FFF2-40B4-BE49-F238E27FC236}">
                <a16:creationId xmlns:a16="http://schemas.microsoft.com/office/drawing/2014/main" id="{D67EC147-9159-48E6-B6B1-029696426872}"/>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76</a:t>
            </a:r>
          </a:p>
        </p:txBody>
      </p:sp>
      <p:sp>
        <p:nvSpPr>
          <p:cNvPr id="6" name="01">
            <a:extLst xmlns:a="http://schemas.openxmlformats.org/drawingml/2006/main">
              <a:ext uri="{FF2B5EF4-FFF2-40B4-BE49-F238E27FC236}">
                <a16:creationId xmlns:a16="http://schemas.microsoft.com/office/drawing/2014/main" id="{3A995DC1-FA61-47A2-9040-5A520A9F5514}"/>
              </a:ext>
            </a:extLst>
          </p:cNvPr>
          <p:cNvSpPr>
            <a:spLocks xmlns:a="http://schemas.openxmlformats.org/drawingml/2006/main" noGrp="1"/>
          </p:cNvSpPr>
          <p:nvPr/>
        </p:nvSpPr>
        <p:spPr>
          <a:xfrm xmlns:a="http://schemas.openxmlformats.org/drawingml/2006/main">
            <a:off x="628650" y="18002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01</a:t>
            </a:r>
          </a:p>
        </p:txBody>
      </p:sp>
      <p:sp>
        <p:nvSpPr>
          <p:cNvPr id="7" name="Smoke nhỏ chỉ xác nhận đường đi thực tế đã chạy.">
            <a:extLst xmlns:a="http://schemas.openxmlformats.org/drawingml/2006/main">
              <a:ext uri="{FF2B5EF4-FFF2-40B4-BE49-F238E27FC236}">
                <a16:creationId xmlns:a16="http://schemas.microsoft.com/office/drawing/2014/main" id="{795C7927-424E-411E-A46A-B4A83E4F4764}"/>
              </a:ext>
            </a:extLst>
          </p:cNvPr>
          <p:cNvSpPr>
            <a:spLocks xmlns:a="http://schemas.openxmlformats.org/drawingml/2006/main" noGrp="1"/>
          </p:cNvSpPr>
          <p:nvPr/>
        </p:nvSpPr>
        <p:spPr>
          <a:xfrm xmlns:a="http://schemas.openxmlformats.org/drawingml/2006/main">
            <a:off x="1257300" y="1781175"/>
            <a:ext cx="102679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Smoke nhỏ chỉ xác nhận đường đi thực tế đã chạy.</a:t>
            </a:r>
          </a:p>
        </p:txBody>
      </p:sp>
      <p:sp>
        <p:nvSpPr>
          <p:cNvPr id="8" name="02">
            <a:extLst xmlns:a="http://schemas.openxmlformats.org/drawingml/2006/main">
              <a:ext uri="{FF2B5EF4-FFF2-40B4-BE49-F238E27FC236}">
                <a16:creationId xmlns:a16="http://schemas.microsoft.com/office/drawing/2014/main" id="{7FD96766-F4B6-4462-A928-F1D9E6166F60}"/>
              </a:ext>
            </a:extLst>
          </p:cNvPr>
          <p:cNvSpPr>
            <a:spLocks xmlns:a="http://schemas.openxmlformats.org/drawingml/2006/main" noGrp="1"/>
          </p:cNvSpPr>
          <p:nvPr/>
        </p:nvSpPr>
        <p:spPr>
          <a:xfrm xmlns:a="http://schemas.openxmlformats.org/drawingml/2006/main">
            <a:off x="628650" y="2647950"/>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02</a:t>
            </a:r>
          </a:p>
        </p:txBody>
      </p:sp>
      <p:sp>
        <p:nvSpPr>
          <p:cNvPr id="9" name="Rubric hiện gắn với API contract và workload EShop.">
            <a:extLst xmlns:a="http://schemas.openxmlformats.org/drawingml/2006/main">
              <a:ext uri="{FF2B5EF4-FFF2-40B4-BE49-F238E27FC236}">
                <a16:creationId xmlns:a16="http://schemas.microsoft.com/office/drawing/2014/main" id="{F4A0A570-B23E-463F-813D-A62BBEC7250E}"/>
              </a:ext>
            </a:extLst>
          </p:cNvPr>
          <p:cNvSpPr>
            <a:spLocks xmlns:a="http://schemas.openxmlformats.org/drawingml/2006/main" noGrp="1"/>
          </p:cNvSpPr>
          <p:nvPr/>
        </p:nvSpPr>
        <p:spPr>
          <a:xfrm xmlns:a="http://schemas.openxmlformats.org/drawingml/2006/main">
            <a:off x="1257300" y="2628900"/>
            <a:ext cx="102679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Rubric hiện gắn với API contract và workload EShop.</a:t>
            </a:r>
          </a:p>
        </p:txBody>
      </p:sp>
      <p:sp>
        <p:nvSpPr>
          <p:cNvPr id="10" name="03">
            <a:extLst xmlns:a="http://schemas.openxmlformats.org/drawingml/2006/main">
              <a:ext uri="{FF2B5EF4-FFF2-40B4-BE49-F238E27FC236}">
                <a16:creationId xmlns:a16="http://schemas.microsoft.com/office/drawing/2014/main" id="{1ED1306B-ECCF-4C70-996E-30D470558948}"/>
              </a:ext>
            </a:extLst>
          </p:cNvPr>
          <p:cNvSpPr>
            <a:spLocks xmlns:a="http://schemas.openxmlformats.org/drawingml/2006/main" noGrp="1"/>
          </p:cNvSpPr>
          <p:nvPr/>
        </p:nvSpPr>
        <p:spPr>
          <a:xfrm xmlns:a="http://schemas.openxmlformats.org/drawingml/2006/main">
            <a:off x="628650" y="349567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03</a:t>
            </a:r>
          </a:p>
        </p:txBody>
      </p:sp>
      <p:sp>
        <p:nvSpPr>
          <p:cNvPr id="11" name="AST hỗ trợ mẫu phổ biến, cần người chấm khi code quá động.">
            <a:extLst xmlns:a="http://schemas.openxmlformats.org/drawingml/2006/main">
              <a:ext uri="{FF2B5EF4-FFF2-40B4-BE49-F238E27FC236}">
                <a16:creationId xmlns:a16="http://schemas.microsoft.com/office/drawing/2014/main" id="{934B7B58-F74E-418A-9897-508E46740D82}"/>
              </a:ext>
            </a:extLst>
          </p:cNvPr>
          <p:cNvSpPr>
            <a:spLocks xmlns:a="http://schemas.openxmlformats.org/drawingml/2006/main" noGrp="1"/>
          </p:cNvSpPr>
          <p:nvPr/>
        </p:nvSpPr>
        <p:spPr>
          <a:xfrm xmlns:a="http://schemas.openxmlformats.org/drawingml/2006/main">
            <a:off x="1257300" y="3476625"/>
            <a:ext cx="102679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AST hỗ trợ mẫu phổ biến, cần người chấm khi code quá động.</a:t>
            </a:r>
          </a:p>
        </p:txBody>
      </p:sp>
      <p:sp>
        <p:nvSpPr>
          <p:cNvPr id="12" name="04">
            <a:extLst xmlns:a="http://schemas.openxmlformats.org/drawingml/2006/main">
              <a:ext uri="{FF2B5EF4-FFF2-40B4-BE49-F238E27FC236}">
                <a16:creationId xmlns:a16="http://schemas.microsoft.com/office/drawing/2014/main" id="{5016F706-8790-4FCE-8D46-0B19F0353627}"/>
              </a:ext>
            </a:extLst>
          </p:cNvPr>
          <p:cNvSpPr>
            <a:spLocks xmlns:a="http://schemas.openxmlformats.org/drawingml/2006/main" noGrp="1"/>
          </p:cNvSpPr>
          <p:nvPr/>
        </p:nvSpPr>
        <p:spPr>
          <a:xfrm xmlns:a="http://schemas.openxmlformats.org/drawingml/2006/main">
            <a:off x="628650" y="4343400"/>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04</a:t>
            </a:r>
          </a:p>
        </p:txBody>
      </p:sp>
      <p:sp>
        <p:nvSpPr>
          <p:cNvPr id="13" name="Chạy script upload có rủi ro, bộ lọc chưa là sandbox công cộng.">
            <a:extLst xmlns:a="http://schemas.openxmlformats.org/drawingml/2006/main">
              <a:ext uri="{FF2B5EF4-FFF2-40B4-BE49-F238E27FC236}">
                <a16:creationId xmlns:a16="http://schemas.microsoft.com/office/drawing/2014/main" id="{D607F493-143C-4623-B340-DC29885BD7BC}"/>
              </a:ext>
            </a:extLst>
          </p:cNvPr>
          <p:cNvSpPr>
            <a:spLocks xmlns:a="http://schemas.openxmlformats.org/drawingml/2006/main" noGrp="1"/>
          </p:cNvSpPr>
          <p:nvPr/>
        </p:nvSpPr>
        <p:spPr>
          <a:xfrm xmlns:a="http://schemas.openxmlformats.org/drawingml/2006/main">
            <a:off x="1257300" y="4324350"/>
            <a:ext cx="102679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Chạy script upload có rủi ro, bộ lọc chưa là sandbox công cộng.</a:t>
            </a:r>
          </a:p>
        </p:txBody>
      </p:sp>
      <p:sp>
        <p:nvSpPr>
          <p:cNvPr id="14" name="05">
            <a:extLst xmlns:a="http://schemas.openxmlformats.org/drawingml/2006/main">
              <a:ext uri="{FF2B5EF4-FFF2-40B4-BE49-F238E27FC236}">
                <a16:creationId xmlns:a16="http://schemas.microsoft.com/office/drawing/2014/main" id="{B8C890A0-31B8-4F5D-BCEE-87F266C71FF9}"/>
              </a:ext>
            </a:extLst>
          </p:cNvPr>
          <p:cNvSpPr>
            <a:spLocks xmlns:a="http://schemas.openxmlformats.org/drawingml/2006/main" noGrp="1"/>
          </p:cNvSpPr>
          <p:nvPr/>
        </p:nvSpPr>
        <p:spPr>
          <a:xfrm xmlns:a="http://schemas.openxmlformats.org/drawingml/2006/main">
            <a:off x="628650" y="51911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05</a:t>
            </a:r>
          </a:p>
        </p:txBody>
      </p:sp>
      <p:sp>
        <p:nvSpPr>
          <p:cNvPr id="15" name="Ứng dụng SUT khác cần thay contract, rubric và cấu hình địa chỉ.">
            <a:extLst xmlns:a="http://schemas.openxmlformats.org/drawingml/2006/main">
              <a:ext uri="{FF2B5EF4-FFF2-40B4-BE49-F238E27FC236}">
                <a16:creationId xmlns:a16="http://schemas.microsoft.com/office/drawing/2014/main" id="{FF79D0E3-960B-40F0-AB83-0595693BF9D4}"/>
              </a:ext>
            </a:extLst>
          </p:cNvPr>
          <p:cNvSpPr>
            <a:spLocks xmlns:a="http://schemas.openxmlformats.org/drawingml/2006/main" noGrp="1"/>
          </p:cNvSpPr>
          <p:nvPr/>
        </p:nvSpPr>
        <p:spPr>
          <a:xfrm xmlns:a="http://schemas.openxmlformats.org/drawingml/2006/main">
            <a:off x="1257300" y="5172075"/>
            <a:ext cx="102679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Ứng dụng SUT khác cần thay contract, rubric và cấu hình địa chỉ.</a:t>
            </a:r>
          </a:p>
        </p:txBody>
      </p:sp>
    </p:spTree>
    <p:extLst>
      <p:ext uri="{BB962C8B-B14F-4D97-AF65-F5344CB8AC3E}">
        <p14:creationId xmlns:p14="http://schemas.microsoft.com/office/powerpoint/2010/main" val="647486613"/>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PHÂN CÔNG">
            <a:extLst xmlns:a="http://schemas.openxmlformats.org/drawingml/2006/main">
              <a:ext uri="{FF2B5EF4-FFF2-40B4-BE49-F238E27FC236}">
                <a16:creationId xmlns:a16="http://schemas.microsoft.com/office/drawing/2014/main" id="{698DFF1E-53F1-41FC-9927-832829989A41}"/>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PHÂN CÔNG</a:t>
            </a:r>
          </a:p>
        </p:txBody>
      </p:sp>
      <p:sp>
        <p:nvSpPr>
          <p:cNvPr id="3" name="Đóng góp phần C theo ba tuần">
            <a:extLst xmlns:a="http://schemas.openxmlformats.org/drawingml/2006/main">
              <a:ext uri="{FF2B5EF4-FFF2-40B4-BE49-F238E27FC236}">
                <a16:creationId xmlns:a16="http://schemas.microsoft.com/office/drawing/2014/main" id="{A571A07E-E22E-4618-B41F-BF57DF9B9537}"/>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Đóng góp phần C theo ba tuần</a:t>
            </a:r>
          </a:p>
        </p:txBody>
      </p:sp>
      <p:sp>
        <p:nvSpPr>
          <p:cNvPr id="4" name="Performance Testing trên EShop">
            <a:extLst xmlns:a="http://schemas.openxmlformats.org/drawingml/2006/main">
              <a:ext uri="{FF2B5EF4-FFF2-40B4-BE49-F238E27FC236}">
                <a16:creationId xmlns:a16="http://schemas.microsoft.com/office/drawing/2014/main" id="{D019990D-C3CC-4D5C-B387-9B1C9A3D5498}"/>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48">
            <a:extLst xmlns:a="http://schemas.openxmlformats.org/drawingml/2006/main">
              <a:ext uri="{FF2B5EF4-FFF2-40B4-BE49-F238E27FC236}">
                <a16:creationId xmlns:a16="http://schemas.microsoft.com/office/drawing/2014/main" id="{3FC031F5-B751-42F4-9612-F0A7EEC305B6}"/>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77</a:t>
            </a:r>
          </a:p>
        </p:txBody>
      </p:sp>
      <p:graphicFrame>
        <p:nvGraphicFramePr>
          <p:cNvPr id="6" name="">
            <a:extLst xmlns:a="http://schemas.openxmlformats.org/drawingml/2006/main">
              <a:ext uri="{FF2B5EF4-FFF2-40B4-BE49-F238E27FC236}">
                <a16:creationId xmlns:a16="http://schemas.microsoft.com/office/drawing/2014/main" id="{01D592DE-56AE-45D5-AC5E-6858FCBA7910}"/>
              </a:ext>
            </a:extLst>
          </p:cNvPr>
          <p:cNvGraphicFramePr/>
          <p:nvPr/>
        </p:nvGraphicFramePr>
        <p:xfrm>
          <a:off xmlns:a="http://schemas.openxmlformats.org/drawingml/2006/main" x="609600" y="1724025"/>
          <a:ext xmlns:a="http://schemas.openxmlformats.org/drawingml/2006/main" cx="10972800" cy="4324350"/>
        </p:xfrm>
        <a:graphic xmlns:a="http://schemas.openxmlformats.org/drawingml/2006/main">
          <a:graphicData uri="http://schemas.openxmlformats.org/drawingml/2006/table">
            <a:tbl>
              <a:tblPr/>
              <a:tblGrid>
                <a:gridCol w="3657600"/>
                <a:gridCol w="3657600"/>
                <a:gridCol w="3657600"/>
              </a:tblGrid>
              <a:tr h="1081088">
                <a:tc>
                  <a:txBody>
                    <a:bodyPr/>
                    <a:lstStyle/>
                    <a:p>
                      <a:r>
                        <a:rPr sz="1800" b="1">
                          <a:solidFill>
                            <a:srgbClr val="153E75"/>
                          </a:solidFill>
                          <a:latin typeface="Arial"/>
                          <a:ea typeface="Arial"/>
                          <a:cs typeface="Arial"/>
                        </a:rPr>
                        <a:t>Tuần</a:t>
                      </a:r>
                    </a:p>
                  </a:txBody>
                  <a:tcPr marL="114300" marR="95250" marT="76200" marB="57150">
                    <a:lnL w="9525">
                      <a:solidFill>
                        <a:srgbClr val="D7DDE4"/>
                      </a:solidFill>
                      <a:prstDash val="solid"/>
                    </a:lnL>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Hạng mục</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c>
                  <a:txBody>
                    <a:bodyPr/>
                    <a:lstStyle/>
                    <a:p>
                      <a:r>
                        <a:rPr sz="1800" b="1">
                          <a:solidFill>
                            <a:srgbClr val="153E75"/>
                          </a:solidFill>
                          <a:latin typeface="Arial"/>
                          <a:ea typeface="Arial"/>
                          <a:cs typeface="Arial"/>
                        </a:rPr>
                        <a:t>Đầu ra</a:t>
                      </a:r>
                    </a:p>
                  </a:txBody>
                  <a:tcPr marL="114300" marR="95250" marT="76200" marB="57150">
                    <a:lnR w="9525">
                      <a:solidFill>
                        <a:srgbClr val="D7DDE4"/>
                      </a:solidFill>
                      <a:prstDash val="solid"/>
                    </a:lnR>
                    <a:lnT w="9525">
                      <a:solidFill>
                        <a:srgbClr val="D7DDE4"/>
                      </a:solidFill>
                      <a:prstDash val="solid"/>
                    </a:lnT>
                    <a:lnB w="9525">
                      <a:solidFill>
                        <a:srgbClr val="D7DDE4"/>
                      </a:solidFill>
                      <a:prstDash val="solid"/>
                    </a:lnB>
                    <a:solidFill>
                      <a:srgbClr val="EAF0F9"/>
                    </a:solidFill>
                  </a:tcPr>
                </a:tc>
              </a:tr>
              <a:tr h="1081088">
                <a:tc>
                  <a:txBody>
                    <a:bodyPr/>
                    <a:lstStyle/>
                    <a:p>
                      <a:r>
                        <a:rPr sz="1800">
                          <a:solidFill>
                            <a:srgbClr val="151B23"/>
                          </a:solidFill>
                          <a:latin typeface="Arial"/>
                          <a:ea typeface="Arial"/>
                          <a:cs typeface="Arial"/>
                        </a:rPr>
                        <a:t>1: chuẩn bị</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HAR, prompt, rubric, contract</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SCRUM-22–25</a:t>
                      </a:r>
                    </a:p>
                  </a:txBody>
                  <a:tcPr marL="114300" marR="95250" marT="76200" marB="57150">
                    <a:lnR w="9525">
                      <a:solidFill>
                        <a:srgbClr val="D7DDE4"/>
                      </a:solidFill>
                      <a:prstDash val="solid"/>
                    </a:lnR>
                    <a:lnB w="9525">
                      <a:solidFill>
                        <a:srgbClr val="D7DDE4"/>
                      </a:solidFill>
                      <a:prstDash val="solid"/>
                    </a:lnB>
                    <a:solidFill>
                      <a:srgbClr val="FFFFFF"/>
                    </a:solidFill>
                  </a:tcPr>
                </a:tc>
              </a:tr>
              <a:tr h="1081088">
                <a:tc>
                  <a:txBody>
                    <a:bodyPr/>
                    <a:lstStyle/>
                    <a:p>
                      <a:r>
                        <a:rPr sz="1800">
                          <a:solidFill>
                            <a:srgbClr val="151B23"/>
                          </a:solidFill>
                          <a:latin typeface="Arial"/>
                          <a:ea typeface="Arial"/>
                          <a:cs typeface="Arial"/>
                        </a:rPr>
                        <a:t>2: triển khai</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Hai source và web audit</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SCRUM-33–35</a:t>
                      </a:r>
                    </a:p>
                  </a:txBody>
                  <a:tcPr marL="114300" marR="95250" marT="76200" marB="57150">
                    <a:lnR w="9525">
                      <a:solidFill>
                        <a:srgbClr val="D7DDE4"/>
                      </a:solidFill>
                      <a:prstDash val="solid"/>
                    </a:lnR>
                    <a:lnB w="9525">
                      <a:solidFill>
                        <a:srgbClr val="D7DDE4"/>
                      </a:solidFill>
                      <a:prstDash val="solid"/>
                    </a:lnB>
                    <a:solidFill>
                      <a:srgbClr val="FFFFFF"/>
                    </a:solidFill>
                  </a:tcPr>
                </a:tc>
              </a:tr>
              <a:tr h="1081088">
                <a:tc>
                  <a:txBody>
                    <a:bodyPr/>
                    <a:lstStyle/>
                    <a:p>
                      <a:r>
                        <a:rPr sz="1800">
                          <a:solidFill>
                            <a:srgbClr val="151B23"/>
                          </a:solidFill>
                          <a:latin typeface="Arial"/>
                          <a:ea typeface="Arial"/>
                          <a:cs typeface="Arial"/>
                        </a:rPr>
                        <a:t>3: hoàn thiện</a:t>
                      </a:r>
                    </a:p>
                  </a:txBody>
                  <a:tcPr marL="114300" marR="95250" marT="76200" marB="57150">
                    <a:lnL w="9525">
                      <a:solidFill>
                        <a:srgbClr val="D7DDE4"/>
                      </a:solidFill>
                      <a:prstDash val="solid"/>
                    </a:lnL>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AST/parser, Luna, test, báo cáo</a:t>
                      </a:r>
                    </a:p>
                  </a:txBody>
                  <a:tcPr marL="114300" marR="95250" marT="76200" marB="57150">
                    <a:lnR w="9525">
                      <a:solidFill>
                        <a:srgbClr val="D7DDE4"/>
                      </a:solidFill>
                      <a:prstDash val="solid"/>
                    </a:lnR>
                    <a:lnB w="9525">
                      <a:solidFill>
                        <a:srgbClr val="D7DDE4"/>
                      </a:solidFill>
                      <a:prstDash val="solid"/>
                    </a:lnB>
                    <a:solidFill>
                      <a:srgbClr val="FFFFFF"/>
                    </a:solidFill>
                  </a:tcPr>
                </a:tc>
                <a:tc>
                  <a:txBody>
                    <a:bodyPr/>
                    <a:lstStyle/>
                    <a:p>
                      <a:r>
                        <a:rPr sz="1800">
                          <a:solidFill>
                            <a:srgbClr val="151B23"/>
                          </a:solidFill>
                          <a:latin typeface="Arial"/>
                          <a:ea typeface="Arial"/>
                          <a:cs typeface="Arial"/>
                        </a:rPr>
                        <a:t>SCRUM-42–45</a:t>
                      </a:r>
                    </a:p>
                  </a:txBody>
                  <a:tcPr marL="114300" marR="95250" marT="76200" marB="57150">
                    <a:lnR w="9525">
                      <a:solidFill>
                        <a:srgbClr val="D7DDE4"/>
                      </a:solidFill>
                      <a:prstDash val="solid"/>
                    </a:lnR>
                    <a:lnB w="9525">
                      <a:solidFill>
                        <a:srgbClr val="D7DDE4"/>
                      </a:solidFill>
                      <a:prstDash val="solid"/>
                    </a:lnB>
                    <a:solidFill>
                      <a:srgbClr val="FFFFFF"/>
                    </a:solidFill>
                  </a:tcPr>
                </a:tc>
              </a:tr>
            </a:tbl>
          </a:graphicData>
        </a:graphic>
      </p:graphicFrame>
    </p:spTree>
    <p:extLst>
      <p:ext uri="{BB962C8B-B14F-4D97-AF65-F5344CB8AC3E}">
        <p14:creationId xmlns:p14="http://schemas.microsoft.com/office/powerpoint/2010/main" val="755367133"/>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ẢN LÝ NHÓM">
            <a:extLst xmlns:a="http://schemas.openxmlformats.org/drawingml/2006/main">
              <a:ext uri="{FF2B5EF4-FFF2-40B4-BE49-F238E27FC236}">
                <a16:creationId xmlns:a16="http://schemas.microsoft.com/office/drawing/2014/main" id="{C5138FC6-CDF8-406A-A59A-29205EB2216E}"/>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QUẢN LÝ NHÓM</a:t>
            </a:r>
          </a:p>
        </p:txBody>
      </p:sp>
      <p:sp>
        <p:nvSpPr>
          <p:cNvPr id="3" name="Jira: phân công tuần 1">
            <a:extLst xmlns:a="http://schemas.openxmlformats.org/drawingml/2006/main">
              <a:ext uri="{FF2B5EF4-FFF2-40B4-BE49-F238E27FC236}">
                <a16:creationId xmlns:a16="http://schemas.microsoft.com/office/drawing/2014/main" id="{013B49AB-0F82-4DE7-9B8B-F6B4D6BA4D8B}"/>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Jira: phân công tuần 1</a:t>
            </a:r>
          </a:p>
        </p:txBody>
      </p:sp>
      <p:sp>
        <p:nvSpPr>
          <p:cNvPr id="4" name="Performance Testing trên EShop">
            <a:extLst xmlns:a="http://schemas.openxmlformats.org/drawingml/2006/main">
              <a:ext uri="{FF2B5EF4-FFF2-40B4-BE49-F238E27FC236}">
                <a16:creationId xmlns:a16="http://schemas.microsoft.com/office/drawing/2014/main" id="{E5BEFA92-3AC4-4CF3-AECE-D2D9D3054E99}"/>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49">
            <a:extLst xmlns:a="http://schemas.openxmlformats.org/drawingml/2006/main">
              <a:ext uri="{FF2B5EF4-FFF2-40B4-BE49-F238E27FC236}">
                <a16:creationId xmlns:a16="http://schemas.microsoft.com/office/drawing/2014/main" id="{F02B33F9-B5D9-45A4-BFB6-D08EC56B7C68}"/>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78</a:t>
            </a:r>
          </a:p>
        </p:txBody>
      </p:sp>
      <p:pic>
        <p:nvPicPr>
          <p:cNvPr id="6" name="">
            <a:extLst xmlns:a="http://schemas.openxmlformats.org/drawingml/2006/main">
              <a:ext uri="{FF2B5EF4-FFF2-40B4-BE49-F238E27FC236}">
                <a16:creationId xmlns:a16="http://schemas.microsoft.com/office/drawing/2014/main" id="{7C27620D-9093-4C30-A5BB-A700FAE5FE6A}"/>
              </a:ext>
            </a:extLst>
          </p:cNvPr>
          <p:cNvPicPr>
            <a:picLocks xmlns:a="http://schemas.openxmlformats.org/drawingml/2006/main" noChangeAspect="1"/>
          </p:cNvPicPr>
          <p:nvPr/>
        </p:nvPicPr>
        <p:blipFill>
          <a:blip xmlns:r="http://schemas.openxmlformats.org/officeDocument/2006/relationships" xmlns:a="http://schemas.openxmlformats.org/drawingml/2006/main" r:embed="R7b6ee200670c4c39"/>
          <a:stretch xmlns:a="http://schemas.openxmlformats.org/drawingml/2006/main"/>
        </p:blipFill>
        <p:spPr>
          <a:xfrm xmlns:a="http://schemas.openxmlformats.org/drawingml/2006/main">
            <a:off x="1655687" y="1676400"/>
            <a:ext cx="8880626" cy="4095750"/>
          </a:xfrm>
          <a:prstGeom xmlns:a="http://schemas.openxmlformats.org/drawingml/2006/main" prst="rect">
            <a:avLst/>
          </a:prstGeom>
        </p:spPr>
      </p:pic>
      <p:sp>
        <p:nvSpPr>
          <p:cNvPr id="7" name="11 task, 22 điểm. Chuẩn bị công cụ, dữ liệu và chuẩn đánh giá">
            <a:extLst xmlns:a="http://schemas.openxmlformats.org/drawingml/2006/main">
              <a:ext uri="{FF2B5EF4-FFF2-40B4-BE49-F238E27FC236}">
                <a16:creationId xmlns:a16="http://schemas.microsoft.com/office/drawing/2014/main" id="{25E45683-5766-485F-9DF9-6C3CBB94AAD3}"/>
              </a:ext>
            </a:extLst>
          </p:cNvPr>
          <p:cNvSpPr>
            <a:spLocks xmlns:a="http://schemas.openxmlformats.org/drawingml/2006/main" noGrp="1"/>
          </p:cNvSpPr>
          <p:nvPr/>
        </p:nvSpPr>
        <p:spPr>
          <a:xfrm xmlns:a="http://schemas.openxmlformats.org/drawingml/2006/main">
            <a:off x="609600" y="5905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151B23"/>
                </a:solidFill>
                <a:latin typeface="Arial"/>
                <a:ea typeface="Arial"/>
                <a:cs typeface="Arial"/>
              </a:defRPr>
            </a:defPPr>
            <a:lvl1pPr>
              <a:defRPr sz="1650" b="0">
                <a:solidFill>
                  <a:srgbClr val="151B23"/>
                </a:solidFill>
                <a:latin typeface="Arial"/>
                <a:ea typeface="Arial"/>
                <a:cs typeface="Arial"/>
              </a:defRPr>
            </a:lvl1pPr>
            <a:lvl2pPr>
              <a:defRPr sz="1650" b="0">
                <a:solidFill>
                  <a:srgbClr val="151B23"/>
                </a:solidFill>
                <a:latin typeface="Arial"/>
                <a:ea typeface="Arial"/>
                <a:cs typeface="Arial"/>
              </a:defRPr>
            </a:lvl2pPr>
            <a:lvl3pPr>
              <a:defRPr sz="1650" b="0">
                <a:solidFill>
                  <a:srgbClr val="151B23"/>
                </a:solidFill>
                <a:latin typeface="Arial"/>
                <a:ea typeface="Arial"/>
                <a:cs typeface="Arial"/>
              </a:defRPr>
            </a:lvl3pPr>
            <a:lvl4pPr>
              <a:defRPr sz="1650" b="0">
                <a:solidFill>
                  <a:srgbClr val="151B23"/>
                </a:solidFill>
                <a:latin typeface="Arial"/>
                <a:ea typeface="Arial"/>
                <a:cs typeface="Arial"/>
              </a:defRPr>
            </a:lvl4pPr>
            <a:lvl5pPr>
              <a:defRPr sz="1650" b="0">
                <a:solidFill>
                  <a:srgbClr val="151B23"/>
                </a:solidFill>
                <a:latin typeface="Arial"/>
                <a:ea typeface="Arial"/>
                <a:cs typeface="Arial"/>
              </a:defRPr>
            </a:lvl5pPr>
            <a:lvl6pPr>
              <a:defRPr sz="1650" b="0">
                <a:solidFill>
                  <a:srgbClr val="151B23"/>
                </a:solidFill>
                <a:latin typeface="Arial"/>
                <a:ea typeface="Arial"/>
                <a:cs typeface="Arial"/>
              </a:defRPr>
            </a:lvl6pPr>
            <a:lvl7pPr>
              <a:defRPr sz="1650" b="0">
                <a:solidFill>
                  <a:srgbClr val="151B23"/>
                </a:solidFill>
                <a:latin typeface="Arial"/>
                <a:ea typeface="Arial"/>
                <a:cs typeface="Arial"/>
              </a:defRPr>
            </a:lvl7pPr>
            <a:lvl8pPr>
              <a:defRPr sz="1650" b="0">
                <a:solidFill>
                  <a:srgbClr val="151B23"/>
                </a:solidFill>
                <a:latin typeface="Arial"/>
                <a:ea typeface="Arial"/>
                <a:cs typeface="Arial"/>
              </a:defRPr>
            </a:lvl8pPr>
            <a:lvl9pPr>
              <a:defRPr sz="1650" b="0">
                <a:solidFill>
                  <a:srgbClr val="151B23"/>
                </a:solidFill>
                <a:latin typeface="Arial"/>
                <a:ea typeface="Arial"/>
                <a:cs typeface="Arial"/>
              </a:defRPr>
            </a:lvl9pPr>
          </a:lstStyle>
          <a:p xmlns:a="http://schemas.openxmlformats.org/drawingml/2006/main">
            <a:pPr>
              <a:defRPr sz="1650" b="0">
                <a:solidFill>
                  <a:srgbClr val="151B23"/>
                </a:solidFill>
                <a:latin typeface="Arial"/>
                <a:ea typeface="Arial"/>
                <a:cs typeface="Arial"/>
              </a:defRPr>
            </a:pPr>
            <a:r>
              <a:rPr sz="1650" b="0">
                <a:solidFill>
                  <a:srgbClr val="151B23"/>
                </a:solidFill>
                <a:latin typeface="Arial"/>
                <a:ea typeface="Arial"/>
                <a:cs typeface="Arial"/>
              </a:rPr>
              <a:t>11 task, 22 điểm. Chuẩn bị công cụ, dữ liệu và chuẩn đánh giá</a:t>
            </a:r>
          </a:p>
        </p:txBody>
      </p:sp>
    </p:spTree>
    <p:extLst>
      <p:ext uri="{BB962C8B-B14F-4D97-AF65-F5344CB8AC3E}">
        <p14:creationId xmlns:p14="http://schemas.microsoft.com/office/powerpoint/2010/main" val="1340062599"/>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ẢN LÝ NHÓM">
            <a:extLst xmlns:a="http://schemas.openxmlformats.org/drawingml/2006/main">
              <a:ext uri="{FF2B5EF4-FFF2-40B4-BE49-F238E27FC236}">
                <a16:creationId xmlns:a16="http://schemas.microsoft.com/office/drawing/2014/main" id="{927211B6-C493-48A5-92FA-139BA4A9D58B}"/>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QUẢN LÝ NHÓM</a:t>
            </a:r>
          </a:p>
        </p:txBody>
      </p:sp>
      <p:sp>
        <p:nvSpPr>
          <p:cNvPr id="3" name="Jira: phân công tuần 2">
            <a:extLst xmlns:a="http://schemas.openxmlformats.org/drawingml/2006/main">
              <a:ext uri="{FF2B5EF4-FFF2-40B4-BE49-F238E27FC236}">
                <a16:creationId xmlns:a16="http://schemas.microsoft.com/office/drawing/2014/main" id="{09ADDEF4-5710-4002-8E04-771647202F5E}"/>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Jira: phân công tuần 2</a:t>
            </a:r>
          </a:p>
        </p:txBody>
      </p:sp>
      <p:sp>
        <p:nvSpPr>
          <p:cNvPr id="4" name="Performance Testing trên EShop">
            <a:extLst xmlns:a="http://schemas.openxmlformats.org/drawingml/2006/main">
              <a:ext uri="{FF2B5EF4-FFF2-40B4-BE49-F238E27FC236}">
                <a16:creationId xmlns:a16="http://schemas.microsoft.com/office/drawing/2014/main" id="{49CA17F5-6703-4759-95A9-7323E3B6D1EA}"/>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50">
            <a:extLst xmlns:a="http://schemas.openxmlformats.org/drawingml/2006/main">
              <a:ext uri="{FF2B5EF4-FFF2-40B4-BE49-F238E27FC236}">
                <a16:creationId xmlns:a16="http://schemas.microsoft.com/office/drawing/2014/main" id="{FD371165-7310-4EE5-90A4-C11E8AF04583}"/>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79</a:t>
            </a:r>
          </a:p>
        </p:txBody>
      </p:sp>
      <p:pic>
        <p:nvPicPr>
          <p:cNvPr id="6" name="">
            <a:extLst xmlns:a="http://schemas.openxmlformats.org/drawingml/2006/main">
              <a:ext uri="{FF2B5EF4-FFF2-40B4-BE49-F238E27FC236}">
                <a16:creationId xmlns:a16="http://schemas.microsoft.com/office/drawing/2014/main" id="{0752B73D-C1D7-4E93-891B-583B544B5566}"/>
              </a:ext>
            </a:extLst>
          </p:cNvPr>
          <p:cNvPicPr>
            <a:picLocks xmlns:a="http://schemas.openxmlformats.org/drawingml/2006/main" noChangeAspect="1"/>
          </p:cNvPicPr>
          <p:nvPr/>
        </p:nvPicPr>
        <p:blipFill>
          <a:blip xmlns:r="http://schemas.openxmlformats.org/officeDocument/2006/relationships" xmlns:a="http://schemas.openxmlformats.org/drawingml/2006/main" r:embed="R39561bd2f5174f9e"/>
          <a:stretch xmlns:a="http://schemas.openxmlformats.org/drawingml/2006/main"/>
        </p:blipFill>
        <p:spPr>
          <a:xfrm xmlns:a="http://schemas.openxmlformats.org/drawingml/2006/main">
            <a:off x="1419963" y="1676400"/>
            <a:ext cx="9352075" cy="4095750"/>
          </a:xfrm>
          <a:prstGeom xmlns:a="http://schemas.openxmlformats.org/drawingml/2006/main" prst="rect">
            <a:avLst/>
          </a:prstGeom>
        </p:spPr>
      </p:pic>
      <p:sp>
        <p:nvSpPr>
          <p:cNvPr id="7" name="10 task, 20 điểm. k6, JMeter và web audit">
            <a:extLst xmlns:a="http://schemas.openxmlformats.org/drawingml/2006/main">
              <a:ext uri="{FF2B5EF4-FFF2-40B4-BE49-F238E27FC236}">
                <a16:creationId xmlns:a16="http://schemas.microsoft.com/office/drawing/2014/main" id="{D285C08D-BD51-4890-97A4-A4122915A084}"/>
              </a:ext>
            </a:extLst>
          </p:cNvPr>
          <p:cNvSpPr>
            <a:spLocks xmlns:a="http://schemas.openxmlformats.org/drawingml/2006/main" noGrp="1"/>
          </p:cNvSpPr>
          <p:nvPr/>
        </p:nvSpPr>
        <p:spPr>
          <a:xfrm xmlns:a="http://schemas.openxmlformats.org/drawingml/2006/main">
            <a:off x="609600" y="5905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151B23"/>
                </a:solidFill>
                <a:latin typeface="Arial"/>
                <a:ea typeface="Arial"/>
                <a:cs typeface="Arial"/>
              </a:defRPr>
            </a:defPPr>
            <a:lvl1pPr>
              <a:defRPr sz="1650" b="0">
                <a:solidFill>
                  <a:srgbClr val="151B23"/>
                </a:solidFill>
                <a:latin typeface="Arial"/>
                <a:ea typeface="Arial"/>
                <a:cs typeface="Arial"/>
              </a:defRPr>
            </a:lvl1pPr>
            <a:lvl2pPr>
              <a:defRPr sz="1650" b="0">
                <a:solidFill>
                  <a:srgbClr val="151B23"/>
                </a:solidFill>
                <a:latin typeface="Arial"/>
                <a:ea typeface="Arial"/>
                <a:cs typeface="Arial"/>
              </a:defRPr>
            </a:lvl2pPr>
            <a:lvl3pPr>
              <a:defRPr sz="1650" b="0">
                <a:solidFill>
                  <a:srgbClr val="151B23"/>
                </a:solidFill>
                <a:latin typeface="Arial"/>
                <a:ea typeface="Arial"/>
                <a:cs typeface="Arial"/>
              </a:defRPr>
            </a:lvl3pPr>
            <a:lvl4pPr>
              <a:defRPr sz="1650" b="0">
                <a:solidFill>
                  <a:srgbClr val="151B23"/>
                </a:solidFill>
                <a:latin typeface="Arial"/>
                <a:ea typeface="Arial"/>
                <a:cs typeface="Arial"/>
              </a:defRPr>
            </a:lvl4pPr>
            <a:lvl5pPr>
              <a:defRPr sz="1650" b="0">
                <a:solidFill>
                  <a:srgbClr val="151B23"/>
                </a:solidFill>
                <a:latin typeface="Arial"/>
                <a:ea typeface="Arial"/>
                <a:cs typeface="Arial"/>
              </a:defRPr>
            </a:lvl5pPr>
            <a:lvl6pPr>
              <a:defRPr sz="1650" b="0">
                <a:solidFill>
                  <a:srgbClr val="151B23"/>
                </a:solidFill>
                <a:latin typeface="Arial"/>
                <a:ea typeface="Arial"/>
                <a:cs typeface="Arial"/>
              </a:defRPr>
            </a:lvl6pPr>
            <a:lvl7pPr>
              <a:defRPr sz="1650" b="0">
                <a:solidFill>
                  <a:srgbClr val="151B23"/>
                </a:solidFill>
                <a:latin typeface="Arial"/>
                <a:ea typeface="Arial"/>
                <a:cs typeface="Arial"/>
              </a:defRPr>
            </a:lvl7pPr>
            <a:lvl8pPr>
              <a:defRPr sz="1650" b="0">
                <a:solidFill>
                  <a:srgbClr val="151B23"/>
                </a:solidFill>
                <a:latin typeface="Arial"/>
                <a:ea typeface="Arial"/>
                <a:cs typeface="Arial"/>
              </a:defRPr>
            </a:lvl8pPr>
            <a:lvl9pPr>
              <a:defRPr sz="1650" b="0">
                <a:solidFill>
                  <a:srgbClr val="151B23"/>
                </a:solidFill>
                <a:latin typeface="Arial"/>
                <a:ea typeface="Arial"/>
                <a:cs typeface="Arial"/>
              </a:defRPr>
            </a:lvl9pPr>
          </a:lstStyle>
          <a:p xmlns:a="http://schemas.openxmlformats.org/drawingml/2006/main">
            <a:pPr>
              <a:defRPr sz="1650" b="0">
                <a:solidFill>
                  <a:srgbClr val="151B23"/>
                </a:solidFill>
                <a:latin typeface="Arial"/>
                <a:ea typeface="Arial"/>
                <a:cs typeface="Arial"/>
              </a:defRPr>
            </a:pPr>
            <a:r>
              <a:rPr sz="1650" b="0">
                <a:solidFill>
                  <a:srgbClr val="151B23"/>
                </a:solidFill>
                <a:latin typeface="Arial"/>
                <a:ea typeface="Arial"/>
                <a:cs typeface="Arial"/>
              </a:rPr>
              <a:t>10 task, 20 điểm. k6, JMeter và web audit</a:t>
            </a:r>
          </a:p>
        </p:txBody>
      </p:sp>
    </p:spTree>
    <p:extLst>
      <p:ext uri="{BB962C8B-B14F-4D97-AF65-F5344CB8AC3E}">
        <p14:creationId xmlns:p14="http://schemas.microsoft.com/office/powerpoint/2010/main" val="2136694330"/>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ẢN LÝ NHÓM">
            <a:extLst xmlns:a="http://schemas.openxmlformats.org/drawingml/2006/main">
              <a:ext uri="{FF2B5EF4-FFF2-40B4-BE49-F238E27FC236}">
                <a16:creationId xmlns:a16="http://schemas.microsoft.com/office/drawing/2014/main" id="{D8609BE9-5A1D-44E0-BE4B-85BAD86C399B}"/>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QUẢN LÝ NHÓM</a:t>
            </a:r>
          </a:p>
        </p:txBody>
      </p:sp>
      <p:sp>
        <p:nvSpPr>
          <p:cNvPr id="3" name="Jira: phân công tuần 3">
            <a:extLst xmlns:a="http://schemas.openxmlformats.org/drawingml/2006/main">
              <a:ext uri="{FF2B5EF4-FFF2-40B4-BE49-F238E27FC236}">
                <a16:creationId xmlns:a16="http://schemas.microsoft.com/office/drawing/2014/main" id="{12DB8E0B-4665-4562-A72B-9079E68B49C9}"/>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Jira: phân công tuần 3</a:t>
            </a:r>
          </a:p>
        </p:txBody>
      </p:sp>
      <p:sp>
        <p:nvSpPr>
          <p:cNvPr id="4" name="Performance Testing trên EShop">
            <a:extLst xmlns:a="http://schemas.openxmlformats.org/drawingml/2006/main">
              <a:ext uri="{FF2B5EF4-FFF2-40B4-BE49-F238E27FC236}">
                <a16:creationId xmlns:a16="http://schemas.microsoft.com/office/drawing/2014/main" id="{2AE016C8-463D-4EF3-8B2F-0C9A83DE5A68}"/>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51">
            <a:extLst xmlns:a="http://schemas.openxmlformats.org/drawingml/2006/main">
              <a:ext uri="{FF2B5EF4-FFF2-40B4-BE49-F238E27FC236}">
                <a16:creationId xmlns:a16="http://schemas.microsoft.com/office/drawing/2014/main" id="{0227A9EC-821A-4A3C-9348-37504B8ED2F1}"/>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80</a:t>
            </a:r>
          </a:p>
        </p:txBody>
      </p:sp>
      <p:pic>
        <p:nvPicPr>
          <p:cNvPr id="6" name="">
            <a:extLst xmlns:a="http://schemas.openxmlformats.org/drawingml/2006/main">
              <a:ext uri="{FF2B5EF4-FFF2-40B4-BE49-F238E27FC236}">
                <a16:creationId xmlns:a16="http://schemas.microsoft.com/office/drawing/2014/main" id="{89CD7E47-204E-42A3-A10A-2176C43705A5}"/>
              </a:ext>
            </a:extLst>
          </p:cNvPr>
          <p:cNvPicPr>
            <a:picLocks xmlns:a="http://schemas.openxmlformats.org/drawingml/2006/main" noChangeAspect="1"/>
          </p:cNvPicPr>
          <p:nvPr/>
        </p:nvPicPr>
        <p:blipFill>
          <a:blip xmlns:r="http://schemas.openxmlformats.org/officeDocument/2006/relationships" xmlns:a="http://schemas.openxmlformats.org/drawingml/2006/main" r:embed="R340282f4d43149a2"/>
          <a:stretch xmlns:a="http://schemas.openxmlformats.org/drawingml/2006/main"/>
        </p:blipFill>
        <p:spPr>
          <a:xfrm xmlns:a="http://schemas.openxmlformats.org/drawingml/2006/main">
            <a:off x="1447324" y="1676400"/>
            <a:ext cx="9297353" cy="4095750"/>
          </a:xfrm>
          <a:prstGeom xmlns:a="http://schemas.openxmlformats.org/drawingml/2006/main" prst="rect">
            <a:avLst/>
          </a:prstGeom>
        </p:spPr>
      </p:pic>
      <p:sp>
        <p:nvSpPr>
          <p:cNvPr id="7" name="10 task, 20 điểm. Tuning, AI, kiểm thử và báo cáo">
            <a:extLst xmlns:a="http://schemas.openxmlformats.org/drawingml/2006/main">
              <a:ext uri="{FF2B5EF4-FFF2-40B4-BE49-F238E27FC236}">
                <a16:creationId xmlns:a16="http://schemas.microsoft.com/office/drawing/2014/main" id="{5211AE7D-A2A4-4D94-8B00-853D9728ADD3}"/>
              </a:ext>
            </a:extLst>
          </p:cNvPr>
          <p:cNvSpPr>
            <a:spLocks xmlns:a="http://schemas.openxmlformats.org/drawingml/2006/main" noGrp="1"/>
          </p:cNvSpPr>
          <p:nvPr/>
        </p:nvSpPr>
        <p:spPr>
          <a:xfrm xmlns:a="http://schemas.openxmlformats.org/drawingml/2006/main">
            <a:off x="609600" y="5905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151B23"/>
                </a:solidFill>
                <a:latin typeface="Arial"/>
                <a:ea typeface="Arial"/>
                <a:cs typeface="Arial"/>
              </a:defRPr>
            </a:defPPr>
            <a:lvl1pPr>
              <a:defRPr sz="1650" b="0">
                <a:solidFill>
                  <a:srgbClr val="151B23"/>
                </a:solidFill>
                <a:latin typeface="Arial"/>
                <a:ea typeface="Arial"/>
                <a:cs typeface="Arial"/>
              </a:defRPr>
            </a:lvl1pPr>
            <a:lvl2pPr>
              <a:defRPr sz="1650" b="0">
                <a:solidFill>
                  <a:srgbClr val="151B23"/>
                </a:solidFill>
                <a:latin typeface="Arial"/>
                <a:ea typeface="Arial"/>
                <a:cs typeface="Arial"/>
              </a:defRPr>
            </a:lvl2pPr>
            <a:lvl3pPr>
              <a:defRPr sz="1650" b="0">
                <a:solidFill>
                  <a:srgbClr val="151B23"/>
                </a:solidFill>
                <a:latin typeface="Arial"/>
                <a:ea typeface="Arial"/>
                <a:cs typeface="Arial"/>
              </a:defRPr>
            </a:lvl3pPr>
            <a:lvl4pPr>
              <a:defRPr sz="1650" b="0">
                <a:solidFill>
                  <a:srgbClr val="151B23"/>
                </a:solidFill>
                <a:latin typeface="Arial"/>
                <a:ea typeface="Arial"/>
                <a:cs typeface="Arial"/>
              </a:defRPr>
            </a:lvl4pPr>
            <a:lvl5pPr>
              <a:defRPr sz="1650" b="0">
                <a:solidFill>
                  <a:srgbClr val="151B23"/>
                </a:solidFill>
                <a:latin typeface="Arial"/>
                <a:ea typeface="Arial"/>
                <a:cs typeface="Arial"/>
              </a:defRPr>
            </a:lvl5pPr>
            <a:lvl6pPr>
              <a:defRPr sz="1650" b="0">
                <a:solidFill>
                  <a:srgbClr val="151B23"/>
                </a:solidFill>
                <a:latin typeface="Arial"/>
                <a:ea typeface="Arial"/>
                <a:cs typeface="Arial"/>
              </a:defRPr>
            </a:lvl6pPr>
            <a:lvl7pPr>
              <a:defRPr sz="1650" b="0">
                <a:solidFill>
                  <a:srgbClr val="151B23"/>
                </a:solidFill>
                <a:latin typeface="Arial"/>
                <a:ea typeface="Arial"/>
                <a:cs typeface="Arial"/>
              </a:defRPr>
            </a:lvl7pPr>
            <a:lvl8pPr>
              <a:defRPr sz="1650" b="0">
                <a:solidFill>
                  <a:srgbClr val="151B23"/>
                </a:solidFill>
                <a:latin typeface="Arial"/>
                <a:ea typeface="Arial"/>
                <a:cs typeface="Arial"/>
              </a:defRPr>
            </a:lvl8pPr>
            <a:lvl9pPr>
              <a:defRPr sz="1650" b="0">
                <a:solidFill>
                  <a:srgbClr val="151B23"/>
                </a:solidFill>
                <a:latin typeface="Arial"/>
                <a:ea typeface="Arial"/>
                <a:cs typeface="Arial"/>
              </a:defRPr>
            </a:lvl9pPr>
          </a:lstStyle>
          <a:p xmlns:a="http://schemas.openxmlformats.org/drawingml/2006/main">
            <a:pPr>
              <a:defRPr sz="1650" b="0">
                <a:solidFill>
                  <a:srgbClr val="151B23"/>
                </a:solidFill>
                <a:latin typeface="Arial"/>
                <a:ea typeface="Arial"/>
                <a:cs typeface="Arial"/>
              </a:defRPr>
            </a:pPr>
            <a:r>
              <a:rPr sz="1650" b="0">
                <a:solidFill>
                  <a:srgbClr val="151B23"/>
                </a:solidFill>
                <a:latin typeface="Arial"/>
                <a:ea typeface="Arial"/>
                <a:cs typeface="Arial"/>
              </a:rPr>
              <a:t>10 task, 20 điểm. Tuning, AI, kiểm thử và báo cáo</a:t>
            </a:r>
          </a:p>
        </p:txBody>
      </p:sp>
    </p:spTree>
    <p:extLst>
      <p:ext uri="{BB962C8B-B14F-4D97-AF65-F5344CB8AC3E}">
        <p14:creationId xmlns:p14="http://schemas.microsoft.com/office/powerpoint/2010/main" val="1798364086"/>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KẾT LUẬN">
            <a:extLst xmlns:a="http://schemas.openxmlformats.org/drawingml/2006/main">
              <a:ext uri="{FF2B5EF4-FFF2-40B4-BE49-F238E27FC236}">
                <a16:creationId xmlns:a16="http://schemas.microsoft.com/office/drawing/2014/main" id="{05422208-56CB-4918-93C9-7EE1C70F746D}"/>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KẾT LUẬN</a:t>
            </a:r>
          </a:p>
        </p:txBody>
      </p:sp>
      <p:sp>
        <p:nvSpPr>
          <p:cNvPr id="3" name="Kết luận">
            <a:extLst xmlns:a="http://schemas.openxmlformats.org/drawingml/2006/main">
              <a:ext uri="{FF2B5EF4-FFF2-40B4-BE49-F238E27FC236}">
                <a16:creationId xmlns:a16="http://schemas.microsoft.com/office/drawing/2014/main" id="{FDE5A048-DAD5-40D3-899D-94E1A45694DD}"/>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Kết luận</a:t>
            </a:r>
          </a:p>
        </p:txBody>
      </p:sp>
      <p:sp>
        <p:nvSpPr>
          <p:cNvPr id="4" name="Performance Testing trên EShop">
            <a:extLst xmlns:a="http://schemas.openxmlformats.org/drawingml/2006/main">
              <a:ext uri="{FF2B5EF4-FFF2-40B4-BE49-F238E27FC236}">
                <a16:creationId xmlns:a16="http://schemas.microsoft.com/office/drawing/2014/main" id="{9306D137-275B-496B-A82F-3AEBC7D2A897}"/>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52">
            <a:extLst xmlns:a="http://schemas.openxmlformats.org/drawingml/2006/main">
              <a:ext uri="{FF2B5EF4-FFF2-40B4-BE49-F238E27FC236}">
                <a16:creationId xmlns:a16="http://schemas.microsoft.com/office/drawing/2014/main" id="{AF5078E0-AE37-4E83-96BC-99FB7114D77E}"/>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81</a:t>
            </a:r>
          </a:p>
        </p:txBody>
      </p:sp>
      <p:sp>
        <p:nvSpPr>
          <p:cNvPr id="6" name="01">
            <a:extLst xmlns:a="http://schemas.openxmlformats.org/drawingml/2006/main">
              <a:ext uri="{FF2B5EF4-FFF2-40B4-BE49-F238E27FC236}">
                <a16:creationId xmlns:a16="http://schemas.microsoft.com/office/drawing/2014/main" id="{C5B692A7-4475-454E-9141-0E553E80BE78}"/>
              </a:ext>
            </a:extLst>
          </p:cNvPr>
          <p:cNvSpPr>
            <a:spLocks xmlns:a="http://schemas.openxmlformats.org/drawingml/2006/main" noGrp="1"/>
          </p:cNvSpPr>
          <p:nvPr/>
        </p:nvSpPr>
        <p:spPr>
          <a:xfrm xmlns:a="http://schemas.openxmlformats.org/drawingml/2006/main">
            <a:off x="628650" y="18002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01</a:t>
            </a:r>
          </a:p>
        </p:txBody>
      </p:sp>
      <p:sp>
        <p:nvSpPr>
          <p:cNvPr id="7" name="Script cần đúng contract trước khi dùng để tạo tải.">
            <a:extLst xmlns:a="http://schemas.openxmlformats.org/drawingml/2006/main">
              <a:ext uri="{FF2B5EF4-FFF2-40B4-BE49-F238E27FC236}">
                <a16:creationId xmlns:a16="http://schemas.microsoft.com/office/drawing/2014/main" id="{95D69443-EDDA-44AE-B053-24A1FC0FBFCF}"/>
              </a:ext>
            </a:extLst>
          </p:cNvPr>
          <p:cNvSpPr>
            <a:spLocks xmlns:a="http://schemas.openxmlformats.org/drawingml/2006/main" noGrp="1"/>
          </p:cNvSpPr>
          <p:nvPr/>
        </p:nvSpPr>
        <p:spPr>
          <a:xfrm xmlns:a="http://schemas.openxmlformats.org/drawingml/2006/main">
            <a:off x="1257300" y="1781175"/>
            <a:ext cx="102679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Script cần đúng contract trước khi dùng để tạo tải.</a:t>
            </a:r>
          </a:p>
        </p:txBody>
      </p:sp>
      <p:sp>
        <p:nvSpPr>
          <p:cNvPr id="8" name="02">
            <a:extLst xmlns:a="http://schemas.openxmlformats.org/drawingml/2006/main">
              <a:ext uri="{FF2B5EF4-FFF2-40B4-BE49-F238E27FC236}">
                <a16:creationId xmlns:a16="http://schemas.microsoft.com/office/drawing/2014/main" id="{0CE84669-D826-424A-A85D-AA2FAB2CF726}"/>
              </a:ext>
            </a:extLst>
          </p:cNvPr>
          <p:cNvSpPr>
            <a:spLocks xmlns:a="http://schemas.openxmlformats.org/drawingml/2006/main" noGrp="1"/>
          </p:cNvSpPr>
          <p:nvPr/>
        </p:nvSpPr>
        <p:spPr>
          <a:xfrm xmlns:a="http://schemas.openxmlformats.org/drawingml/2006/main">
            <a:off x="628650" y="2647950"/>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02</a:t>
            </a:r>
          </a:p>
        </p:txBody>
      </p:sp>
      <p:sp>
        <p:nvSpPr>
          <p:cNvPr id="9" name="Metric cần workload, cửa sổ đo và số mẫu đi kèm.">
            <a:extLst xmlns:a="http://schemas.openxmlformats.org/drawingml/2006/main">
              <a:ext uri="{FF2B5EF4-FFF2-40B4-BE49-F238E27FC236}">
                <a16:creationId xmlns:a16="http://schemas.microsoft.com/office/drawing/2014/main" id="{F4989826-8F52-48CE-8601-95200CC27F41}"/>
              </a:ext>
            </a:extLst>
          </p:cNvPr>
          <p:cNvSpPr>
            <a:spLocks xmlns:a="http://schemas.openxmlformats.org/drawingml/2006/main" noGrp="1"/>
          </p:cNvSpPr>
          <p:nvPr/>
        </p:nvSpPr>
        <p:spPr>
          <a:xfrm xmlns:a="http://schemas.openxmlformats.org/drawingml/2006/main">
            <a:off x="1257300" y="2628900"/>
            <a:ext cx="102679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Metric cần workload, cửa sổ đo và số mẫu đi kèm.</a:t>
            </a:r>
          </a:p>
        </p:txBody>
      </p:sp>
      <p:sp>
        <p:nvSpPr>
          <p:cNvPr id="10" name="03">
            <a:extLst xmlns:a="http://schemas.openxmlformats.org/drawingml/2006/main">
              <a:ext uri="{FF2B5EF4-FFF2-40B4-BE49-F238E27FC236}">
                <a16:creationId xmlns:a16="http://schemas.microsoft.com/office/drawing/2014/main" id="{DF5E9F05-D837-46E0-B30F-E972614E547F}"/>
              </a:ext>
            </a:extLst>
          </p:cNvPr>
          <p:cNvSpPr>
            <a:spLocks xmlns:a="http://schemas.openxmlformats.org/drawingml/2006/main" noGrp="1"/>
          </p:cNvSpPr>
          <p:nvPr/>
        </p:nvSpPr>
        <p:spPr>
          <a:xfrm xmlns:a="http://schemas.openxmlformats.org/drawingml/2006/main">
            <a:off x="628650" y="349567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03</a:t>
            </a:r>
          </a:p>
        </p:txBody>
      </p:sp>
      <p:sp>
        <p:nvSpPr>
          <p:cNvPr id="11" name="k6 và JMeter cung cấp góc nhìn cần đối chiếu có điều kiện.">
            <a:extLst xmlns:a="http://schemas.openxmlformats.org/drawingml/2006/main">
              <a:ext uri="{FF2B5EF4-FFF2-40B4-BE49-F238E27FC236}">
                <a16:creationId xmlns:a16="http://schemas.microsoft.com/office/drawing/2014/main" id="{7B167EC5-0482-4851-ABE2-C08B36BF9C91}"/>
              </a:ext>
            </a:extLst>
          </p:cNvPr>
          <p:cNvSpPr>
            <a:spLocks xmlns:a="http://schemas.openxmlformats.org/drawingml/2006/main" noGrp="1"/>
          </p:cNvSpPr>
          <p:nvPr/>
        </p:nvSpPr>
        <p:spPr>
          <a:xfrm xmlns:a="http://schemas.openxmlformats.org/drawingml/2006/main">
            <a:off x="1257300" y="3476625"/>
            <a:ext cx="102679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k6 và JMeter cung cấp góc nhìn cần đối chiếu có điều kiện.</a:t>
            </a:r>
          </a:p>
        </p:txBody>
      </p:sp>
      <p:sp>
        <p:nvSpPr>
          <p:cNvPr id="12" name="04">
            <a:extLst xmlns:a="http://schemas.openxmlformats.org/drawingml/2006/main">
              <a:ext uri="{FF2B5EF4-FFF2-40B4-BE49-F238E27FC236}">
                <a16:creationId xmlns:a16="http://schemas.microsoft.com/office/drawing/2014/main" id="{58808EA6-37EC-4A85-97F2-69A01706AB61}"/>
              </a:ext>
            </a:extLst>
          </p:cNvPr>
          <p:cNvSpPr>
            <a:spLocks xmlns:a="http://schemas.openxmlformats.org/drawingml/2006/main" noGrp="1"/>
          </p:cNvSpPr>
          <p:nvPr/>
        </p:nvSpPr>
        <p:spPr>
          <a:xfrm xmlns:a="http://schemas.openxmlformats.org/drawingml/2006/main">
            <a:off x="628650" y="4343400"/>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04</a:t>
            </a:r>
          </a:p>
        </p:txBody>
      </p:sp>
      <p:sp>
        <p:nvSpPr>
          <p:cNvPr id="13" name="Web audit gom source và runtime evidence để người chấm review.">
            <a:extLst xmlns:a="http://schemas.openxmlformats.org/drawingml/2006/main">
              <a:ext uri="{FF2B5EF4-FFF2-40B4-BE49-F238E27FC236}">
                <a16:creationId xmlns:a16="http://schemas.microsoft.com/office/drawing/2014/main" id="{E0CCB05F-B278-4C16-B73D-1678485149AD}"/>
              </a:ext>
            </a:extLst>
          </p:cNvPr>
          <p:cNvSpPr>
            <a:spLocks xmlns:a="http://schemas.openxmlformats.org/drawingml/2006/main" noGrp="1"/>
          </p:cNvSpPr>
          <p:nvPr/>
        </p:nvSpPr>
        <p:spPr>
          <a:xfrm xmlns:a="http://schemas.openxmlformats.org/drawingml/2006/main">
            <a:off x="1257300" y="4324350"/>
            <a:ext cx="102679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Web audit gom source và runtime evidence để người chấm review.</a:t>
            </a:r>
          </a:p>
        </p:txBody>
      </p:sp>
      <p:sp>
        <p:nvSpPr>
          <p:cNvPr id="14" name="05">
            <a:extLst xmlns:a="http://schemas.openxmlformats.org/drawingml/2006/main">
              <a:ext uri="{FF2B5EF4-FFF2-40B4-BE49-F238E27FC236}">
                <a16:creationId xmlns:a16="http://schemas.microsoft.com/office/drawing/2014/main" id="{3B0E8582-B5E4-4375-A871-9BDA5E803F72}"/>
              </a:ext>
            </a:extLst>
          </p:cNvPr>
          <p:cNvSpPr>
            <a:spLocks xmlns:a="http://schemas.openxmlformats.org/drawingml/2006/main" noGrp="1"/>
          </p:cNvSpPr>
          <p:nvPr/>
        </p:nvSpPr>
        <p:spPr>
          <a:xfrm xmlns:a="http://schemas.openxmlformats.org/drawingml/2006/main">
            <a:off x="628650" y="51911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05</a:t>
            </a:r>
          </a:p>
        </p:txBody>
      </p:sp>
      <p:sp>
        <p:nvSpPr>
          <p:cNvPr id="15" name="AI hỗ trợ sinh code và phân tích, nhóm chịu trách nhiệm kết luận.">
            <a:extLst xmlns:a="http://schemas.openxmlformats.org/drawingml/2006/main">
              <a:ext uri="{FF2B5EF4-FFF2-40B4-BE49-F238E27FC236}">
                <a16:creationId xmlns:a16="http://schemas.microsoft.com/office/drawing/2014/main" id="{8C62BD62-CCFF-43EA-BBF8-AFBF8189B334}"/>
              </a:ext>
            </a:extLst>
          </p:cNvPr>
          <p:cNvSpPr>
            <a:spLocks xmlns:a="http://schemas.openxmlformats.org/drawingml/2006/main" noGrp="1"/>
          </p:cNvSpPr>
          <p:nvPr/>
        </p:nvSpPr>
        <p:spPr>
          <a:xfrm xmlns:a="http://schemas.openxmlformats.org/drawingml/2006/main">
            <a:off x="1257300" y="5172075"/>
            <a:ext cx="102679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AI hỗ trợ sinh code và phân tích, nhóm chịu trách nhiệm kết luận.</a:t>
            </a:r>
          </a:p>
        </p:txBody>
      </p:sp>
    </p:spTree>
    <p:extLst>
      <p:ext uri="{BB962C8B-B14F-4D97-AF65-F5344CB8AC3E}">
        <p14:creationId xmlns:p14="http://schemas.microsoft.com/office/powerpoint/2010/main" val="908890692"/>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HAM KHẢO">
            <a:extLst xmlns:a="http://schemas.openxmlformats.org/drawingml/2006/main">
              <a:ext uri="{FF2B5EF4-FFF2-40B4-BE49-F238E27FC236}">
                <a16:creationId xmlns:a16="http://schemas.microsoft.com/office/drawing/2014/main" id="{33591DD0-8DD4-449B-BD11-8052D85DB512}"/>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THAM KHẢO</a:t>
            </a:r>
          </a:p>
        </p:txBody>
      </p:sp>
      <p:sp>
        <p:nvSpPr>
          <p:cNvPr id="3" name="Tài liệu và mã nguồn">
            <a:extLst xmlns:a="http://schemas.openxmlformats.org/drawingml/2006/main">
              <a:ext uri="{FF2B5EF4-FFF2-40B4-BE49-F238E27FC236}">
                <a16:creationId xmlns:a16="http://schemas.microsoft.com/office/drawing/2014/main" id="{A3FFB530-21D2-419D-9F19-F18B112EA929}"/>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Tài liệu và mã nguồn</a:t>
            </a:r>
          </a:p>
        </p:txBody>
      </p:sp>
      <p:sp>
        <p:nvSpPr>
          <p:cNvPr id="4" name="Performance Testing trên EShop">
            <a:extLst xmlns:a="http://schemas.openxmlformats.org/drawingml/2006/main">
              <a:ext uri="{FF2B5EF4-FFF2-40B4-BE49-F238E27FC236}">
                <a16:creationId xmlns:a16="http://schemas.microsoft.com/office/drawing/2014/main" id="{71EFFE77-1ABB-4EFA-966E-43F19A0914C4}"/>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53">
            <a:extLst xmlns:a="http://schemas.openxmlformats.org/drawingml/2006/main">
              <a:ext uri="{FF2B5EF4-FFF2-40B4-BE49-F238E27FC236}">
                <a16:creationId xmlns:a16="http://schemas.microsoft.com/office/drawing/2014/main" id="{D12EA672-64E5-48F0-888D-D8572ACBE7F9}"/>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82</a:t>
            </a:r>
          </a:p>
        </p:txBody>
      </p:sp>
      <p:sp>
        <p:nvSpPr>
          <p:cNvPr id="6" name="01">
            <a:extLst xmlns:a="http://schemas.openxmlformats.org/drawingml/2006/main">
              <a:ext uri="{FF2B5EF4-FFF2-40B4-BE49-F238E27FC236}">
                <a16:creationId xmlns:a16="http://schemas.microsoft.com/office/drawing/2014/main" id="{11A1F820-0CD0-4D54-881B-3DD8E05B4851}"/>
              </a:ext>
            </a:extLst>
          </p:cNvPr>
          <p:cNvSpPr>
            <a:spLocks xmlns:a="http://schemas.openxmlformats.org/drawingml/2006/main" noGrp="1"/>
          </p:cNvSpPr>
          <p:nvPr/>
        </p:nvSpPr>
        <p:spPr>
          <a:xfrm xmlns:a="http://schemas.openxmlformats.org/drawingml/2006/main">
            <a:off x="628650" y="18002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01</a:t>
            </a:r>
          </a:p>
        </p:txBody>
      </p:sp>
      <p:sp>
        <p:nvSpPr>
          <p:cNvPr id="7" name="Repository: github.com/minhthang2k5/eshop-sut">
            <a:extLst xmlns:a="http://schemas.openxmlformats.org/drawingml/2006/main">
              <a:ext uri="{FF2B5EF4-FFF2-40B4-BE49-F238E27FC236}">
                <a16:creationId xmlns:a16="http://schemas.microsoft.com/office/drawing/2014/main" id="{F4EE3E96-9346-4D6E-AE28-6648109BE563}"/>
              </a:ext>
            </a:extLst>
          </p:cNvPr>
          <p:cNvSpPr>
            <a:spLocks xmlns:a="http://schemas.openxmlformats.org/drawingml/2006/main" noGrp="1"/>
          </p:cNvSpPr>
          <p:nvPr/>
        </p:nvSpPr>
        <p:spPr>
          <a:xfrm xmlns:a="http://schemas.openxmlformats.org/drawingml/2006/main">
            <a:off x="1257300" y="1781175"/>
            <a:ext cx="102679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Repository: github.com/minhthang2k5/eshop-sut</a:t>
            </a:r>
          </a:p>
        </p:txBody>
      </p:sp>
      <p:sp>
        <p:nvSpPr>
          <p:cNvPr id="8" name="02">
            <a:extLst xmlns:a="http://schemas.openxmlformats.org/drawingml/2006/main">
              <a:ext uri="{FF2B5EF4-FFF2-40B4-BE49-F238E27FC236}">
                <a16:creationId xmlns:a16="http://schemas.microsoft.com/office/drawing/2014/main" id="{6EF33679-A2BB-4878-9729-71627D14ECD3}"/>
              </a:ext>
            </a:extLst>
          </p:cNvPr>
          <p:cNvSpPr>
            <a:spLocks xmlns:a="http://schemas.openxmlformats.org/drawingml/2006/main" noGrp="1"/>
          </p:cNvSpPr>
          <p:nvPr/>
        </p:nvSpPr>
        <p:spPr>
          <a:xfrm xmlns:a="http://schemas.openxmlformats.org/drawingml/2006/main">
            <a:off x="628650" y="2647950"/>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02</a:t>
            </a:r>
          </a:p>
        </p:txBody>
      </p:sp>
      <p:sp>
        <p:nvSpPr>
          <p:cNvPr id="9" name="Báo cáo: submission/Bao_cao_seminar_Performance_Testing.md">
            <a:extLst xmlns:a="http://schemas.openxmlformats.org/drawingml/2006/main">
              <a:ext uri="{FF2B5EF4-FFF2-40B4-BE49-F238E27FC236}">
                <a16:creationId xmlns:a16="http://schemas.microsoft.com/office/drawing/2014/main" id="{3FAE3905-7E7A-40E2-816E-0EB2C30C9443}"/>
              </a:ext>
            </a:extLst>
          </p:cNvPr>
          <p:cNvSpPr>
            <a:spLocks xmlns:a="http://schemas.openxmlformats.org/drawingml/2006/main" noGrp="1"/>
          </p:cNvSpPr>
          <p:nvPr/>
        </p:nvSpPr>
        <p:spPr>
          <a:xfrm xmlns:a="http://schemas.openxmlformats.org/drawingml/2006/main">
            <a:off x="1257300" y="2628900"/>
            <a:ext cx="102679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Báo cáo: submission/Bao_cao_seminar_Performance_Testing.md</a:t>
            </a:r>
          </a:p>
        </p:txBody>
      </p:sp>
      <p:sp>
        <p:nvSpPr>
          <p:cNvPr id="10" name="03">
            <a:extLst xmlns:a="http://schemas.openxmlformats.org/drawingml/2006/main">
              <a:ext uri="{FF2B5EF4-FFF2-40B4-BE49-F238E27FC236}">
                <a16:creationId xmlns:a16="http://schemas.microsoft.com/office/drawing/2014/main" id="{40BAF795-E7BA-4133-872A-703093D01D52}"/>
              </a:ext>
            </a:extLst>
          </p:cNvPr>
          <p:cNvSpPr>
            <a:spLocks xmlns:a="http://schemas.openxmlformats.org/drawingml/2006/main" noGrp="1"/>
          </p:cNvSpPr>
          <p:nvPr/>
        </p:nvSpPr>
        <p:spPr>
          <a:xfrm xmlns:a="http://schemas.openxmlformats.org/drawingml/2006/main">
            <a:off x="628650" y="349567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03</a:t>
            </a:r>
          </a:p>
        </p:txBody>
      </p:sp>
      <p:sp>
        <p:nvSpPr>
          <p:cNvPr id="11" name="k6: performance/k6 và các report theo run">
            <a:extLst xmlns:a="http://schemas.openxmlformats.org/drawingml/2006/main">
              <a:ext uri="{FF2B5EF4-FFF2-40B4-BE49-F238E27FC236}">
                <a16:creationId xmlns:a16="http://schemas.microsoft.com/office/drawing/2014/main" id="{84EA00D1-DD73-44FC-A704-17B914BA342C}"/>
              </a:ext>
            </a:extLst>
          </p:cNvPr>
          <p:cNvSpPr>
            <a:spLocks xmlns:a="http://schemas.openxmlformats.org/drawingml/2006/main" noGrp="1"/>
          </p:cNvSpPr>
          <p:nvPr/>
        </p:nvSpPr>
        <p:spPr>
          <a:xfrm xmlns:a="http://schemas.openxmlformats.org/drawingml/2006/main">
            <a:off x="1257300" y="3476625"/>
            <a:ext cx="102679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k6: performance/k6 và các report theo run</a:t>
            </a:r>
          </a:p>
        </p:txBody>
      </p:sp>
      <p:sp>
        <p:nvSpPr>
          <p:cNvPr id="12" name="04">
            <a:extLst xmlns:a="http://schemas.openxmlformats.org/drawingml/2006/main">
              <a:ext uri="{FF2B5EF4-FFF2-40B4-BE49-F238E27FC236}">
                <a16:creationId xmlns:a16="http://schemas.microsoft.com/office/drawing/2014/main" id="{C63C3D3E-36BE-4A5E-8329-7B1D97EC7671}"/>
              </a:ext>
            </a:extLst>
          </p:cNvPr>
          <p:cNvSpPr>
            <a:spLocks xmlns:a="http://schemas.openxmlformats.org/drawingml/2006/main" noGrp="1"/>
          </p:cNvSpPr>
          <p:nvPr/>
        </p:nvSpPr>
        <p:spPr>
          <a:xfrm xmlns:a="http://schemas.openxmlformats.org/drawingml/2006/main">
            <a:off x="628650" y="4343400"/>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04</a:t>
            </a:r>
          </a:p>
        </p:txBody>
      </p:sp>
      <p:sp>
        <p:nvSpPr>
          <p:cNvPr id="13" name="JMeter: performance/jmeter và comparison_d2_vs_d3.md">
            <a:extLst xmlns:a="http://schemas.openxmlformats.org/drawingml/2006/main">
              <a:ext uri="{FF2B5EF4-FFF2-40B4-BE49-F238E27FC236}">
                <a16:creationId xmlns:a16="http://schemas.microsoft.com/office/drawing/2014/main" id="{36E7828F-4C52-4C14-9859-875A48D048AD}"/>
              </a:ext>
            </a:extLst>
          </p:cNvPr>
          <p:cNvSpPr>
            <a:spLocks xmlns:a="http://schemas.openxmlformats.org/drawingml/2006/main" noGrp="1"/>
          </p:cNvSpPr>
          <p:nvPr/>
        </p:nvSpPr>
        <p:spPr>
          <a:xfrm xmlns:a="http://schemas.openxmlformats.org/drawingml/2006/main">
            <a:off x="1257300" y="4324350"/>
            <a:ext cx="102679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JMeter: performance/jmeter và comparison_d2_vs_d3.md</a:t>
            </a:r>
          </a:p>
        </p:txBody>
      </p:sp>
      <p:sp>
        <p:nvSpPr>
          <p:cNvPr id="14" name="05">
            <a:extLst xmlns:a="http://schemas.openxmlformats.org/drawingml/2006/main">
              <a:ext uri="{FF2B5EF4-FFF2-40B4-BE49-F238E27FC236}">
                <a16:creationId xmlns:a16="http://schemas.microsoft.com/office/drawing/2014/main" id="{8A214508-03E3-4D48-B420-463326A44AC5}"/>
              </a:ext>
            </a:extLst>
          </p:cNvPr>
          <p:cNvSpPr>
            <a:spLocks xmlns:a="http://schemas.openxmlformats.org/drawingml/2006/main" noGrp="1"/>
          </p:cNvSpPr>
          <p:nvPr/>
        </p:nvSpPr>
        <p:spPr>
          <a:xfrm xmlns:a="http://schemas.openxmlformats.org/drawingml/2006/main">
            <a:off x="628650" y="51911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05</a:t>
            </a:r>
          </a:p>
        </p:txBody>
      </p:sp>
      <p:sp>
        <p:nvSpPr>
          <p:cNvPr id="15" name="Web audit: test-web-performance và submission/evidence">
            <a:extLst xmlns:a="http://schemas.openxmlformats.org/drawingml/2006/main">
              <a:ext uri="{FF2B5EF4-FFF2-40B4-BE49-F238E27FC236}">
                <a16:creationId xmlns:a16="http://schemas.microsoft.com/office/drawing/2014/main" id="{92423D47-C74D-4D4A-93E1-751A31EAC36A}"/>
              </a:ext>
            </a:extLst>
          </p:cNvPr>
          <p:cNvSpPr>
            <a:spLocks xmlns:a="http://schemas.openxmlformats.org/drawingml/2006/main" noGrp="1"/>
          </p:cNvSpPr>
          <p:nvPr/>
        </p:nvSpPr>
        <p:spPr>
          <a:xfrm xmlns:a="http://schemas.openxmlformats.org/drawingml/2006/main">
            <a:off x="1257300" y="5172075"/>
            <a:ext cx="102679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Web audit: test-web-performance và submission/evidence</a:t>
            </a:r>
          </a:p>
        </p:txBody>
      </p:sp>
    </p:spTree>
    <p:extLst>
      <p:ext uri="{BB962C8B-B14F-4D97-AF65-F5344CB8AC3E}">
        <p14:creationId xmlns:p14="http://schemas.microsoft.com/office/powerpoint/2010/main" val="368964241"/>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HAM KHẢO">
            <a:extLst xmlns:a="http://schemas.openxmlformats.org/drawingml/2006/main">
              <a:ext uri="{FF2B5EF4-FFF2-40B4-BE49-F238E27FC236}">
                <a16:creationId xmlns:a16="http://schemas.microsoft.com/office/drawing/2014/main" id="{F0564BF5-0F64-4300-A9B8-9F8D1338EAEF}"/>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2456A6"/>
                </a:solidFill>
                <a:latin typeface="Arial"/>
                <a:ea typeface="Arial"/>
                <a:cs typeface="Arial"/>
              </a:defRPr>
            </a:defPPr>
            <a:lvl1pPr>
              <a:defRPr sz="1275" b="1">
                <a:solidFill>
                  <a:srgbClr val="2456A6"/>
                </a:solidFill>
                <a:latin typeface="Arial"/>
                <a:ea typeface="Arial"/>
                <a:cs typeface="Arial"/>
              </a:defRPr>
            </a:lvl1pPr>
            <a:lvl2pPr>
              <a:defRPr sz="1275" b="1">
                <a:solidFill>
                  <a:srgbClr val="2456A6"/>
                </a:solidFill>
                <a:latin typeface="Arial"/>
                <a:ea typeface="Arial"/>
                <a:cs typeface="Arial"/>
              </a:defRPr>
            </a:lvl2pPr>
            <a:lvl3pPr>
              <a:defRPr sz="1275" b="1">
                <a:solidFill>
                  <a:srgbClr val="2456A6"/>
                </a:solidFill>
                <a:latin typeface="Arial"/>
                <a:ea typeface="Arial"/>
                <a:cs typeface="Arial"/>
              </a:defRPr>
            </a:lvl3pPr>
            <a:lvl4pPr>
              <a:defRPr sz="1275" b="1">
                <a:solidFill>
                  <a:srgbClr val="2456A6"/>
                </a:solidFill>
                <a:latin typeface="Arial"/>
                <a:ea typeface="Arial"/>
                <a:cs typeface="Arial"/>
              </a:defRPr>
            </a:lvl4pPr>
            <a:lvl5pPr>
              <a:defRPr sz="1275" b="1">
                <a:solidFill>
                  <a:srgbClr val="2456A6"/>
                </a:solidFill>
                <a:latin typeface="Arial"/>
                <a:ea typeface="Arial"/>
                <a:cs typeface="Arial"/>
              </a:defRPr>
            </a:lvl5pPr>
            <a:lvl6pPr>
              <a:defRPr sz="1275" b="1">
                <a:solidFill>
                  <a:srgbClr val="2456A6"/>
                </a:solidFill>
                <a:latin typeface="Arial"/>
                <a:ea typeface="Arial"/>
                <a:cs typeface="Arial"/>
              </a:defRPr>
            </a:lvl6pPr>
            <a:lvl7pPr>
              <a:defRPr sz="1275" b="1">
                <a:solidFill>
                  <a:srgbClr val="2456A6"/>
                </a:solidFill>
                <a:latin typeface="Arial"/>
                <a:ea typeface="Arial"/>
                <a:cs typeface="Arial"/>
              </a:defRPr>
            </a:lvl7pPr>
            <a:lvl8pPr>
              <a:defRPr sz="1275" b="1">
                <a:solidFill>
                  <a:srgbClr val="2456A6"/>
                </a:solidFill>
                <a:latin typeface="Arial"/>
                <a:ea typeface="Arial"/>
                <a:cs typeface="Arial"/>
              </a:defRPr>
            </a:lvl8pPr>
            <a:lvl9pPr>
              <a:defRPr sz="1275" b="1">
                <a:solidFill>
                  <a:srgbClr val="2456A6"/>
                </a:solidFill>
                <a:latin typeface="Arial"/>
                <a:ea typeface="Arial"/>
                <a:cs typeface="Arial"/>
              </a:defRPr>
            </a:lvl9pPr>
          </a:lstStyle>
          <a:p xmlns:a="http://schemas.openxmlformats.org/drawingml/2006/main">
            <a:pPr>
              <a:defRPr sz="1275" b="1">
                <a:solidFill>
                  <a:srgbClr val="2456A6"/>
                </a:solidFill>
                <a:latin typeface="Arial"/>
                <a:ea typeface="Arial"/>
                <a:cs typeface="Arial"/>
              </a:defRPr>
            </a:pPr>
            <a:r>
              <a:rPr sz="1275" b="1">
                <a:solidFill>
                  <a:srgbClr val="2456A6"/>
                </a:solidFill>
                <a:latin typeface="Arial"/>
                <a:ea typeface="Arial"/>
                <a:cs typeface="Arial"/>
              </a:rPr>
              <a:t>THAM KHẢO</a:t>
            </a:r>
          </a:p>
        </p:txBody>
      </p:sp>
      <p:sp>
        <p:nvSpPr>
          <p:cNvPr id="3" name="Nguồn kỹ thuật chính thức">
            <a:extLst xmlns:a="http://schemas.openxmlformats.org/drawingml/2006/main">
              <a:ext uri="{FF2B5EF4-FFF2-40B4-BE49-F238E27FC236}">
                <a16:creationId xmlns:a16="http://schemas.microsoft.com/office/drawing/2014/main" id="{F4115342-BCB0-4506-9EF2-38FBF53D60DA}"/>
              </a:ext>
            </a:extLst>
          </p:cNvPr>
          <p:cNvSpPr>
            <a:spLocks xmlns:a="http://schemas.openxmlformats.org/drawingml/2006/main" noGrp="1"/>
          </p:cNvSpPr>
          <p:nvPr/>
        </p:nvSpPr>
        <p:spPr>
          <a:xfrm xmlns:a="http://schemas.openxmlformats.org/drawingml/2006/main">
            <a:off x="609600" y="742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51B23"/>
                </a:solidFill>
                <a:latin typeface="Arial"/>
                <a:ea typeface="Arial"/>
                <a:cs typeface="Arial"/>
              </a:defRPr>
            </a:defPPr>
            <a:lvl1pPr>
              <a:defRPr sz="3225" b="1">
                <a:solidFill>
                  <a:srgbClr val="151B23"/>
                </a:solidFill>
                <a:latin typeface="Arial"/>
                <a:ea typeface="Arial"/>
                <a:cs typeface="Arial"/>
              </a:defRPr>
            </a:lvl1pPr>
            <a:lvl2pPr>
              <a:defRPr sz="3225" b="1">
                <a:solidFill>
                  <a:srgbClr val="151B23"/>
                </a:solidFill>
                <a:latin typeface="Arial"/>
                <a:ea typeface="Arial"/>
                <a:cs typeface="Arial"/>
              </a:defRPr>
            </a:lvl2pPr>
            <a:lvl3pPr>
              <a:defRPr sz="3225" b="1">
                <a:solidFill>
                  <a:srgbClr val="151B23"/>
                </a:solidFill>
                <a:latin typeface="Arial"/>
                <a:ea typeface="Arial"/>
                <a:cs typeface="Arial"/>
              </a:defRPr>
            </a:lvl3pPr>
            <a:lvl4pPr>
              <a:defRPr sz="3225" b="1">
                <a:solidFill>
                  <a:srgbClr val="151B23"/>
                </a:solidFill>
                <a:latin typeface="Arial"/>
                <a:ea typeface="Arial"/>
                <a:cs typeface="Arial"/>
              </a:defRPr>
            </a:lvl4pPr>
            <a:lvl5pPr>
              <a:defRPr sz="3225" b="1">
                <a:solidFill>
                  <a:srgbClr val="151B23"/>
                </a:solidFill>
                <a:latin typeface="Arial"/>
                <a:ea typeface="Arial"/>
                <a:cs typeface="Arial"/>
              </a:defRPr>
            </a:lvl5pPr>
            <a:lvl6pPr>
              <a:defRPr sz="3225" b="1">
                <a:solidFill>
                  <a:srgbClr val="151B23"/>
                </a:solidFill>
                <a:latin typeface="Arial"/>
                <a:ea typeface="Arial"/>
                <a:cs typeface="Arial"/>
              </a:defRPr>
            </a:lvl6pPr>
            <a:lvl7pPr>
              <a:defRPr sz="3225" b="1">
                <a:solidFill>
                  <a:srgbClr val="151B23"/>
                </a:solidFill>
                <a:latin typeface="Arial"/>
                <a:ea typeface="Arial"/>
                <a:cs typeface="Arial"/>
              </a:defRPr>
            </a:lvl7pPr>
            <a:lvl8pPr>
              <a:defRPr sz="3225" b="1">
                <a:solidFill>
                  <a:srgbClr val="151B23"/>
                </a:solidFill>
                <a:latin typeface="Arial"/>
                <a:ea typeface="Arial"/>
                <a:cs typeface="Arial"/>
              </a:defRPr>
            </a:lvl8pPr>
            <a:lvl9pPr>
              <a:defRPr sz="3225" b="1">
                <a:solidFill>
                  <a:srgbClr val="151B23"/>
                </a:solidFill>
                <a:latin typeface="Arial"/>
                <a:ea typeface="Arial"/>
                <a:cs typeface="Arial"/>
              </a:defRPr>
            </a:lvl9pPr>
          </a:lstStyle>
          <a:p xmlns:a="http://schemas.openxmlformats.org/drawingml/2006/main">
            <a:pPr>
              <a:defRPr sz="3225" b="1">
                <a:solidFill>
                  <a:srgbClr val="151B23"/>
                </a:solidFill>
                <a:latin typeface="Arial"/>
                <a:ea typeface="Arial"/>
                <a:cs typeface="Arial"/>
              </a:defRPr>
            </a:pPr>
            <a:r>
              <a:rPr sz="3225" b="1">
                <a:solidFill>
                  <a:srgbClr val="151B23"/>
                </a:solidFill>
                <a:latin typeface="Arial"/>
                <a:ea typeface="Arial"/>
                <a:cs typeface="Arial"/>
              </a:rPr>
              <a:t>Nguồn kỹ thuật chính thức</a:t>
            </a:r>
          </a:p>
        </p:txBody>
      </p:sp>
      <p:sp>
        <p:nvSpPr>
          <p:cNvPr id="4" name="Performance Testing trên EShop">
            <a:extLst xmlns:a="http://schemas.openxmlformats.org/drawingml/2006/main">
              <a:ext uri="{FF2B5EF4-FFF2-40B4-BE49-F238E27FC236}">
                <a16:creationId xmlns:a16="http://schemas.microsoft.com/office/drawing/2014/main" id="{979FA66E-3FD6-41AC-A58F-DF09A3863F38}"/>
              </a:ext>
            </a:extLst>
          </p:cNvPr>
          <p:cNvSpPr>
            <a:spLocks xmlns:a="http://schemas.openxmlformats.org/drawingml/2006/main" noGrp="1"/>
          </p:cNvSpPr>
          <p:nvPr/>
        </p:nvSpPr>
        <p:spPr>
          <a:xfrm xmlns:a="http://schemas.openxmlformats.org/drawingml/2006/main">
            <a:off x="60960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p>
        </p:txBody>
      </p:sp>
      <p:sp>
        <p:nvSpPr>
          <p:cNvPr id="5" name="54">
            <a:extLst xmlns:a="http://schemas.openxmlformats.org/drawingml/2006/main">
              <a:ext uri="{FF2B5EF4-FFF2-40B4-BE49-F238E27FC236}">
                <a16:creationId xmlns:a16="http://schemas.microsoft.com/office/drawing/2014/main" id="{77BEAD79-5BBA-478E-AD39-1CA0FDA37738}"/>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96471"/>
                </a:solidFill>
                <a:latin typeface="Arial"/>
                <a:ea typeface="Arial"/>
                <a:cs typeface="Arial"/>
              </a:defRPr>
            </a:defPPr>
            <a:lvl1pPr>
              <a:defRPr sz="1200" b="0">
                <a:solidFill>
                  <a:srgbClr val="596471"/>
                </a:solidFill>
                <a:latin typeface="Arial"/>
                <a:ea typeface="Arial"/>
                <a:cs typeface="Arial"/>
              </a:defRPr>
            </a:lvl1pPr>
            <a:lvl2pPr>
              <a:defRPr sz="1200" b="0">
                <a:solidFill>
                  <a:srgbClr val="596471"/>
                </a:solidFill>
                <a:latin typeface="Arial"/>
                <a:ea typeface="Arial"/>
                <a:cs typeface="Arial"/>
              </a:defRPr>
            </a:lvl2pPr>
            <a:lvl3pPr>
              <a:defRPr sz="1200" b="0">
                <a:solidFill>
                  <a:srgbClr val="596471"/>
                </a:solidFill>
                <a:latin typeface="Arial"/>
                <a:ea typeface="Arial"/>
                <a:cs typeface="Arial"/>
              </a:defRPr>
            </a:lvl3pPr>
            <a:lvl4pPr>
              <a:defRPr sz="1200" b="0">
                <a:solidFill>
                  <a:srgbClr val="596471"/>
                </a:solidFill>
                <a:latin typeface="Arial"/>
                <a:ea typeface="Arial"/>
                <a:cs typeface="Arial"/>
              </a:defRPr>
            </a:lvl4pPr>
            <a:lvl5pPr>
              <a:defRPr sz="1200" b="0">
                <a:solidFill>
                  <a:srgbClr val="596471"/>
                </a:solidFill>
                <a:latin typeface="Arial"/>
                <a:ea typeface="Arial"/>
                <a:cs typeface="Arial"/>
              </a:defRPr>
            </a:lvl5pPr>
            <a:lvl6pPr>
              <a:defRPr sz="1200" b="0">
                <a:solidFill>
                  <a:srgbClr val="596471"/>
                </a:solidFill>
                <a:latin typeface="Arial"/>
                <a:ea typeface="Arial"/>
                <a:cs typeface="Arial"/>
              </a:defRPr>
            </a:lvl6pPr>
            <a:lvl7pPr>
              <a:defRPr sz="1200" b="0">
                <a:solidFill>
                  <a:srgbClr val="596471"/>
                </a:solidFill>
                <a:latin typeface="Arial"/>
                <a:ea typeface="Arial"/>
                <a:cs typeface="Arial"/>
              </a:defRPr>
            </a:lvl7pPr>
            <a:lvl8pPr>
              <a:defRPr sz="1200" b="0">
                <a:solidFill>
                  <a:srgbClr val="596471"/>
                </a:solidFill>
                <a:latin typeface="Arial"/>
                <a:ea typeface="Arial"/>
                <a:cs typeface="Arial"/>
              </a:defRPr>
            </a:lvl8pPr>
            <a:lvl9pPr>
              <a:defRPr sz="1200" b="0">
                <a:solidFill>
                  <a:srgbClr val="596471"/>
                </a:solidFill>
                <a:latin typeface="Arial"/>
                <a:ea typeface="Arial"/>
                <a:cs typeface="Arial"/>
              </a:defRPr>
            </a:lvl9pPr>
          </a:lstStyle>
          <a:p xmlns:a="http://schemas.openxmlformats.org/drawingml/2006/main">
            <a:pPr>
              <a:defRPr sz="1200" b="0">
                <a:solidFill>
                  <a:srgbClr val="596471"/>
                </a:solidFill>
                <a:latin typeface="Arial"/>
                <a:ea typeface="Arial"/>
                <a:cs typeface="Arial"/>
              </a:defRPr>
            </a:pPr>
            <a:r>
              <a:rPr sz="1200" b="0">
                <a:solidFill>
                  <a:srgbClr val="596471"/>
                </a:solidFill>
                <a:latin typeface="Arial"/>
                <a:ea typeface="Arial"/>
                <a:cs typeface="Arial"/>
              </a:rPr>
              <a:t>83</a:t>
            </a:r>
          </a:p>
        </p:txBody>
      </p:sp>
      <p:sp>
        <p:nvSpPr>
          <p:cNvPr id="6" name="01">
            <a:extLst xmlns:a="http://schemas.openxmlformats.org/drawingml/2006/main">
              <a:ext uri="{FF2B5EF4-FFF2-40B4-BE49-F238E27FC236}">
                <a16:creationId xmlns:a16="http://schemas.microsoft.com/office/drawing/2014/main" id="{E01F146A-F800-493E-8274-611CB59AB50C}"/>
              </a:ext>
            </a:extLst>
          </p:cNvPr>
          <p:cNvSpPr>
            <a:spLocks xmlns:a="http://schemas.openxmlformats.org/drawingml/2006/main" noGrp="1"/>
          </p:cNvSpPr>
          <p:nvPr/>
        </p:nvSpPr>
        <p:spPr>
          <a:xfrm xmlns:a="http://schemas.openxmlformats.org/drawingml/2006/main">
            <a:off x="628650" y="18002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01</a:t>
            </a:r>
          </a:p>
        </p:txBody>
      </p:sp>
      <p:sp>
        <p:nvSpPr>
          <p:cNvPr id="7" name="Grafana k6: metrics, checks, thresholds và test lifecycle.">
            <a:extLst xmlns:a="http://schemas.openxmlformats.org/drawingml/2006/main">
              <a:ext uri="{FF2B5EF4-FFF2-40B4-BE49-F238E27FC236}">
                <a16:creationId xmlns:a16="http://schemas.microsoft.com/office/drawing/2014/main" id="{D499335D-AFDF-4B6B-9526-2C806DB49D24}"/>
              </a:ext>
            </a:extLst>
          </p:cNvPr>
          <p:cNvSpPr>
            <a:spLocks xmlns:a="http://schemas.openxmlformats.org/drawingml/2006/main" noGrp="1"/>
          </p:cNvSpPr>
          <p:nvPr/>
        </p:nvSpPr>
        <p:spPr>
          <a:xfrm xmlns:a="http://schemas.openxmlformats.org/drawingml/2006/main">
            <a:off x="1257300" y="17811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Grafana k6: metrics, checks, thresholds và test lifecycle.</a:t>
            </a:r>
          </a:p>
        </p:txBody>
      </p:sp>
      <p:sp>
        <p:nvSpPr>
          <p:cNvPr id="8" name="02">
            <a:extLst xmlns:a="http://schemas.openxmlformats.org/drawingml/2006/main">
              <a:ext uri="{FF2B5EF4-FFF2-40B4-BE49-F238E27FC236}">
                <a16:creationId xmlns:a16="http://schemas.microsoft.com/office/drawing/2014/main" id="{1AAD5E7E-8E54-4675-99F2-894034F68E93}"/>
              </a:ext>
            </a:extLst>
          </p:cNvPr>
          <p:cNvSpPr>
            <a:spLocks xmlns:a="http://schemas.openxmlformats.org/drawingml/2006/main" noGrp="1"/>
          </p:cNvSpPr>
          <p:nvPr/>
        </p:nvSpPr>
        <p:spPr>
          <a:xfrm xmlns:a="http://schemas.openxmlformats.org/drawingml/2006/main">
            <a:off x="628650" y="27527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02</a:t>
            </a:r>
          </a:p>
        </p:txBody>
      </p:sp>
      <p:sp>
        <p:nvSpPr>
          <p:cNvPr id="9" name="Apache JMeter: User Manual và test plan.">
            <a:extLst xmlns:a="http://schemas.openxmlformats.org/drawingml/2006/main">
              <a:ext uri="{FF2B5EF4-FFF2-40B4-BE49-F238E27FC236}">
                <a16:creationId xmlns:a16="http://schemas.microsoft.com/office/drawing/2014/main" id="{7057F3F4-DFD8-4EAF-9693-70C692D14217}"/>
              </a:ext>
            </a:extLst>
          </p:cNvPr>
          <p:cNvSpPr>
            <a:spLocks xmlns:a="http://schemas.openxmlformats.org/drawingml/2006/main" noGrp="1"/>
          </p:cNvSpPr>
          <p:nvPr/>
        </p:nvSpPr>
        <p:spPr>
          <a:xfrm xmlns:a="http://schemas.openxmlformats.org/drawingml/2006/main">
            <a:off x="1257300" y="27336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Apache JMeter: User Manual và test plan.</a:t>
            </a:r>
          </a:p>
        </p:txBody>
      </p:sp>
      <p:sp>
        <p:nvSpPr>
          <p:cNvPr id="10" name="03">
            <a:extLst xmlns:a="http://schemas.openxmlformats.org/drawingml/2006/main">
              <a:ext uri="{FF2B5EF4-FFF2-40B4-BE49-F238E27FC236}">
                <a16:creationId xmlns:a16="http://schemas.microsoft.com/office/drawing/2014/main" id="{B73C246A-BE79-4731-9706-66830B030974}"/>
              </a:ext>
            </a:extLst>
          </p:cNvPr>
          <p:cNvSpPr>
            <a:spLocks xmlns:a="http://schemas.openxmlformats.org/drawingml/2006/main" noGrp="1"/>
          </p:cNvSpPr>
          <p:nvPr/>
        </p:nvSpPr>
        <p:spPr>
          <a:xfrm xmlns:a="http://schemas.openxmlformats.org/drawingml/2006/main">
            <a:off x="628650" y="37052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03</a:t>
            </a:r>
          </a:p>
        </p:txBody>
      </p:sp>
      <p:sp>
        <p:nvSpPr>
          <p:cNvPr id="11" name="Chrome DevTools: Network reference và HAR.">
            <a:extLst xmlns:a="http://schemas.openxmlformats.org/drawingml/2006/main">
              <a:ext uri="{FF2B5EF4-FFF2-40B4-BE49-F238E27FC236}">
                <a16:creationId xmlns:a16="http://schemas.microsoft.com/office/drawing/2014/main" id="{C74EECCD-8149-4A92-9011-BEA63993094D}"/>
              </a:ext>
            </a:extLst>
          </p:cNvPr>
          <p:cNvSpPr>
            <a:spLocks xmlns:a="http://schemas.openxmlformats.org/drawingml/2006/main" noGrp="1"/>
          </p:cNvSpPr>
          <p:nvPr/>
        </p:nvSpPr>
        <p:spPr>
          <a:xfrm xmlns:a="http://schemas.openxmlformats.org/drawingml/2006/main">
            <a:off x="1257300" y="36861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Chrome DevTools: Network reference và HAR.</a:t>
            </a:r>
          </a:p>
        </p:txBody>
      </p:sp>
      <p:sp>
        <p:nvSpPr>
          <p:cNvPr id="12" name="04">
            <a:extLst xmlns:a="http://schemas.openxmlformats.org/drawingml/2006/main">
              <a:ext uri="{FF2B5EF4-FFF2-40B4-BE49-F238E27FC236}">
                <a16:creationId xmlns:a16="http://schemas.microsoft.com/office/drawing/2014/main" id="{49F995A6-FF6E-442D-9453-9F0D088F4730}"/>
              </a:ext>
            </a:extLst>
          </p:cNvPr>
          <p:cNvSpPr>
            <a:spLocks xmlns:a="http://schemas.openxmlformats.org/drawingml/2006/main" noGrp="1"/>
          </p:cNvSpPr>
          <p:nvPr/>
        </p:nvSpPr>
        <p:spPr>
          <a:xfrm xmlns:a="http://schemas.openxmlformats.org/drawingml/2006/main">
            <a:off x="628650" y="46577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456A6"/>
                </a:solidFill>
                <a:latin typeface="Arial"/>
                <a:ea typeface="Arial"/>
                <a:cs typeface="Arial"/>
              </a:defRPr>
            </a:defPPr>
            <a:lvl1pPr>
              <a:defRPr sz="1800" b="1">
                <a:solidFill>
                  <a:srgbClr val="2456A6"/>
                </a:solidFill>
                <a:latin typeface="Arial"/>
                <a:ea typeface="Arial"/>
                <a:cs typeface="Arial"/>
              </a:defRPr>
            </a:lvl1pPr>
            <a:lvl2pPr>
              <a:defRPr sz="1800" b="1">
                <a:solidFill>
                  <a:srgbClr val="2456A6"/>
                </a:solidFill>
                <a:latin typeface="Arial"/>
                <a:ea typeface="Arial"/>
                <a:cs typeface="Arial"/>
              </a:defRPr>
            </a:lvl2pPr>
            <a:lvl3pPr>
              <a:defRPr sz="1800" b="1">
                <a:solidFill>
                  <a:srgbClr val="2456A6"/>
                </a:solidFill>
                <a:latin typeface="Arial"/>
                <a:ea typeface="Arial"/>
                <a:cs typeface="Arial"/>
              </a:defRPr>
            </a:lvl3pPr>
            <a:lvl4pPr>
              <a:defRPr sz="1800" b="1">
                <a:solidFill>
                  <a:srgbClr val="2456A6"/>
                </a:solidFill>
                <a:latin typeface="Arial"/>
                <a:ea typeface="Arial"/>
                <a:cs typeface="Arial"/>
              </a:defRPr>
            </a:lvl4pPr>
            <a:lvl5pPr>
              <a:defRPr sz="1800" b="1">
                <a:solidFill>
                  <a:srgbClr val="2456A6"/>
                </a:solidFill>
                <a:latin typeface="Arial"/>
                <a:ea typeface="Arial"/>
                <a:cs typeface="Arial"/>
              </a:defRPr>
            </a:lvl5pPr>
            <a:lvl6pPr>
              <a:defRPr sz="1800" b="1">
                <a:solidFill>
                  <a:srgbClr val="2456A6"/>
                </a:solidFill>
                <a:latin typeface="Arial"/>
                <a:ea typeface="Arial"/>
                <a:cs typeface="Arial"/>
              </a:defRPr>
            </a:lvl6pPr>
            <a:lvl7pPr>
              <a:defRPr sz="1800" b="1">
                <a:solidFill>
                  <a:srgbClr val="2456A6"/>
                </a:solidFill>
                <a:latin typeface="Arial"/>
                <a:ea typeface="Arial"/>
                <a:cs typeface="Arial"/>
              </a:defRPr>
            </a:lvl7pPr>
            <a:lvl8pPr>
              <a:defRPr sz="1800" b="1">
                <a:solidFill>
                  <a:srgbClr val="2456A6"/>
                </a:solidFill>
                <a:latin typeface="Arial"/>
                <a:ea typeface="Arial"/>
                <a:cs typeface="Arial"/>
              </a:defRPr>
            </a:lvl8pPr>
            <a:lvl9pPr>
              <a:defRPr sz="1800" b="1">
                <a:solidFill>
                  <a:srgbClr val="2456A6"/>
                </a:solidFill>
                <a:latin typeface="Arial"/>
                <a:ea typeface="Arial"/>
                <a:cs typeface="Arial"/>
              </a:defRPr>
            </a:lvl9pPr>
          </a:lstStyle>
          <a:p xmlns:a="http://schemas.openxmlformats.org/drawingml/2006/main">
            <a:pPr>
              <a:defRPr sz="1800" b="1">
                <a:solidFill>
                  <a:srgbClr val="2456A6"/>
                </a:solidFill>
                <a:latin typeface="Arial"/>
                <a:ea typeface="Arial"/>
                <a:cs typeface="Arial"/>
              </a:defRPr>
            </a:pPr>
            <a:r>
              <a:rPr sz="1800" b="1">
                <a:solidFill>
                  <a:srgbClr val="2456A6"/>
                </a:solidFill>
                <a:latin typeface="Arial"/>
                <a:ea typeface="Arial"/>
                <a:cs typeface="Arial"/>
              </a:rPr>
              <a:t>04</a:t>
            </a:r>
          </a:p>
        </p:txBody>
      </p:sp>
      <p:sp>
        <p:nvSpPr>
          <p:cNvPr id="13" name="Acorn: parser JavaScript và AST.">
            <a:extLst xmlns:a="http://schemas.openxmlformats.org/drawingml/2006/main">
              <a:ext uri="{FF2B5EF4-FFF2-40B4-BE49-F238E27FC236}">
                <a16:creationId xmlns:a16="http://schemas.microsoft.com/office/drawing/2014/main" id="{55D76EF1-D413-4AE9-9791-EDF6CE3E5430}"/>
              </a:ext>
            </a:extLst>
          </p:cNvPr>
          <p:cNvSpPr>
            <a:spLocks xmlns:a="http://schemas.openxmlformats.org/drawingml/2006/main" noGrp="1"/>
          </p:cNvSpPr>
          <p:nvPr/>
        </p:nvSpPr>
        <p:spPr>
          <a:xfrm xmlns:a="http://schemas.openxmlformats.org/drawingml/2006/main">
            <a:off x="1257300" y="4638675"/>
            <a:ext cx="1026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1B23"/>
                </a:solidFill>
                <a:latin typeface="Arial"/>
                <a:ea typeface="Arial"/>
                <a:cs typeface="Arial"/>
              </a:defRPr>
            </a:defPPr>
            <a:lvl1pPr>
              <a:defRPr sz="2175" b="0">
                <a:solidFill>
                  <a:srgbClr val="151B23"/>
                </a:solidFill>
                <a:latin typeface="Arial"/>
                <a:ea typeface="Arial"/>
                <a:cs typeface="Arial"/>
              </a:defRPr>
            </a:lvl1pPr>
            <a:lvl2pPr>
              <a:defRPr sz="2175" b="0">
                <a:solidFill>
                  <a:srgbClr val="151B23"/>
                </a:solidFill>
                <a:latin typeface="Arial"/>
                <a:ea typeface="Arial"/>
                <a:cs typeface="Arial"/>
              </a:defRPr>
            </a:lvl2pPr>
            <a:lvl3pPr>
              <a:defRPr sz="2175" b="0">
                <a:solidFill>
                  <a:srgbClr val="151B23"/>
                </a:solidFill>
                <a:latin typeface="Arial"/>
                <a:ea typeface="Arial"/>
                <a:cs typeface="Arial"/>
              </a:defRPr>
            </a:lvl3pPr>
            <a:lvl4pPr>
              <a:defRPr sz="2175" b="0">
                <a:solidFill>
                  <a:srgbClr val="151B23"/>
                </a:solidFill>
                <a:latin typeface="Arial"/>
                <a:ea typeface="Arial"/>
                <a:cs typeface="Arial"/>
              </a:defRPr>
            </a:lvl4pPr>
            <a:lvl5pPr>
              <a:defRPr sz="2175" b="0">
                <a:solidFill>
                  <a:srgbClr val="151B23"/>
                </a:solidFill>
                <a:latin typeface="Arial"/>
                <a:ea typeface="Arial"/>
                <a:cs typeface="Arial"/>
              </a:defRPr>
            </a:lvl5pPr>
            <a:lvl6pPr>
              <a:defRPr sz="2175" b="0">
                <a:solidFill>
                  <a:srgbClr val="151B23"/>
                </a:solidFill>
                <a:latin typeface="Arial"/>
                <a:ea typeface="Arial"/>
                <a:cs typeface="Arial"/>
              </a:defRPr>
            </a:lvl6pPr>
            <a:lvl7pPr>
              <a:defRPr sz="2175" b="0">
                <a:solidFill>
                  <a:srgbClr val="151B23"/>
                </a:solidFill>
                <a:latin typeface="Arial"/>
                <a:ea typeface="Arial"/>
                <a:cs typeface="Arial"/>
              </a:defRPr>
            </a:lvl7pPr>
            <a:lvl8pPr>
              <a:defRPr sz="2175" b="0">
                <a:solidFill>
                  <a:srgbClr val="151B23"/>
                </a:solidFill>
                <a:latin typeface="Arial"/>
                <a:ea typeface="Arial"/>
                <a:cs typeface="Arial"/>
              </a:defRPr>
            </a:lvl8pPr>
            <a:lvl9pPr>
              <a:defRPr sz="2175" b="0">
                <a:solidFill>
                  <a:srgbClr val="151B23"/>
                </a:solidFill>
                <a:latin typeface="Arial"/>
                <a:ea typeface="Arial"/>
                <a:cs typeface="Arial"/>
              </a:defRPr>
            </a:lvl9pPr>
          </a:lstStyle>
          <a:p xmlns:a="http://schemas.openxmlformats.org/drawingml/2006/main">
            <a:pPr>
              <a:defRPr sz="2175" b="0">
                <a:solidFill>
                  <a:srgbClr val="151B23"/>
                </a:solidFill>
                <a:latin typeface="Arial"/>
                <a:ea typeface="Arial"/>
                <a:cs typeface="Arial"/>
              </a:defRPr>
            </a:pPr>
            <a:r>
              <a:rPr sz="2175" b="0">
                <a:solidFill>
                  <a:srgbClr val="151B23"/>
                </a:solidFill>
                <a:latin typeface="Arial"/>
                <a:ea typeface="Arial"/>
                <a:cs typeface="Arial"/>
              </a:rPr>
              <a:t>Acorn: parser JavaScript và AST.</a:t>
            </a:r>
          </a:p>
        </p:txBody>
      </p:sp>
    </p:spTree>
    <p:extLst>
      <p:ext uri="{BB962C8B-B14F-4D97-AF65-F5344CB8AC3E}">
        <p14:creationId xmlns:p14="http://schemas.microsoft.com/office/powerpoint/2010/main" val="827825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2026-10-23T09:26:32.4630000Z</dcterms:created>
  <dcterms:modified xsi:type="dcterms:W3CDTF">2026-10-23T09:26:32.4630000Z</dcterms:modified>
</coreProperties>
</file>